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notesSlides/notesSlide1.xml" ContentType="application/vnd.openxmlformats-officedocument.presentationml.notesSlide+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notesSlides/notesSlide3.xml" ContentType="application/vnd.openxmlformats-officedocument.presentationml.notesSl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notesSlides/notesSlide4.xml" ContentType="application/vnd.openxmlformats-officedocument.presentationml.notesSlide+xml"/>
  <Override PartName="/ppt/theme/themeOverride14.xml" ContentType="application/vnd.openxmlformats-officedocument.themeOverride+xml"/>
  <Override PartName="/ppt/notesSlides/notesSlide5.xml" ContentType="application/vnd.openxmlformats-officedocument.presentationml.notesSlide+xml"/>
  <Override PartName="/ppt/theme/themeOverride15.xml" ContentType="application/vnd.openxmlformats-officedocument.themeOverride+xml"/>
  <Override PartName="/ppt/notesSlides/notesSlide6.xml" ContentType="application/vnd.openxmlformats-officedocument.presentationml.notesSlide+xml"/>
  <Override PartName="/ppt/theme/themeOverride16.xml" ContentType="application/vnd.openxmlformats-officedocument.themeOverride+xml"/>
  <Override PartName="/ppt/theme/themeOverride17.xml" ContentType="application/vnd.openxmlformats-officedocument.themeOverride+xml"/>
  <Override PartName="/ppt/notesSlides/notesSlide7.xml" ContentType="application/vnd.openxmlformats-officedocument.presentationml.notesSlide+xml"/>
  <Override PartName="/ppt/theme/themeOverride18.xml" ContentType="application/vnd.openxmlformats-officedocument.themeOverride+xml"/>
  <Override PartName="/ppt/theme/themeOverride19.xml" ContentType="application/vnd.openxmlformats-officedocument.themeOverride+xml"/>
  <Override PartName="/ppt/notesSlides/notesSlide8.xml" ContentType="application/vnd.openxmlformats-officedocument.presentationml.notesSlide+xml"/>
  <Override PartName="/ppt/theme/themeOverride20.xml" ContentType="application/vnd.openxmlformats-officedocument.themeOverride+xml"/>
  <Override PartName="/ppt/notesSlides/notesSlide9.xml" ContentType="application/vnd.openxmlformats-officedocument.presentationml.notesSlide+xml"/>
  <Override PartName="/ppt/theme/themeOverride21.xml" ContentType="application/vnd.openxmlformats-officedocument.themeOverride+xml"/>
  <Override PartName="/ppt/notesSlides/notesSlide10.xml" ContentType="application/vnd.openxmlformats-officedocument.presentationml.notesSlide+xml"/>
  <Override PartName="/ppt/theme/themeOverride22.xml" ContentType="application/vnd.openxmlformats-officedocument.themeOverride+xml"/>
  <Override PartName="/ppt/notesSlides/notesSlide11.xml" ContentType="application/vnd.openxmlformats-officedocument.presentationml.notesSlide+xml"/>
  <Override PartName="/ppt/theme/themeOverride23.xml" ContentType="application/vnd.openxmlformats-officedocument.themeOverride+xml"/>
  <Override PartName="/ppt/notesSlides/notesSlide12.xml" ContentType="application/vnd.openxmlformats-officedocument.presentationml.notesSlide+xml"/>
  <Override PartName="/ppt/theme/themeOverride24.xml" ContentType="application/vnd.openxmlformats-officedocument.themeOverride+xml"/>
  <Override PartName="/ppt/notesSlides/notesSlide13.xml" ContentType="application/vnd.openxmlformats-officedocument.presentationml.notesSlide+xml"/>
  <Override PartName="/ppt/theme/themeOverride25.xml" ContentType="application/vnd.openxmlformats-officedocument.themeOverride+xml"/>
  <Override PartName="/ppt/notesSlides/notesSlide14.xml" ContentType="application/vnd.openxmlformats-officedocument.presentationml.notesSlide+xml"/>
  <Override PartName="/ppt/theme/themeOverride26.xml" ContentType="application/vnd.openxmlformats-officedocument.themeOverride+xml"/>
  <Override PartName="/ppt/notesSlides/notesSlide15.xml" ContentType="application/vnd.openxmlformats-officedocument.presentationml.notesSlide+xml"/>
  <Override PartName="/ppt/theme/themeOverride27.xml" ContentType="application/vnd.openxmlformats-officedocument.themeOverride+xml"/>
  <Override PartName="/ppt/notesSlides/notesSlide16.xml" ContentType="application/vnd.openxmlformats-officedocument.presentationml.notesSlide+xml"/>
  <Override PartName="/ppt/theme/themeOverride28.xml" ContentType="application/vnd.openxmlformats-officedocument.themeOverride+xml"/>
  <Override PartName="/ppt/notesSlides/notesSlide17.xml" ContentType="application/vnd.openxmlformats-officedocument.presentationml.notesSlide+xml"/>
  <Override PartName="/ppt/theme/themeOverride29.xml" ContentType="application/vnd.openxmlformats-officedocument.themeOverride+xml"/>
  <Override PartName="/ppt/notesSlides/notesSlide18.xml" ContentType="application/vnd.openxmlformats-officedocument.presentationml.notesSlide+xml"/>
  <Override PartName="/ppt/theme/themeOverride30.xml" ContentType="application/vnd.openxmlformats-officedocument.themeOverride+xml"/>
  <Override PartName="/ppt/notesSlides/notesSlide19.xml" ContentType="application/vnd.openxmlformats-officedocument.presentationml.notesSl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notesSlides/notesSlide20.xml" ContentType="application/vnd.openxmlformats-officedocument.presentationml.notesSlide+xml"/>
  <Override PartName="/ppt/theme/themeOverride35.xml" ContentType="application/vnd.openxmlformats-officedocument.themeOverr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38"/>
  </p:notesMasterIdLst>
  <p:sldIdLst>
    <p:sldId id="256" r:id="rId2"/>
    <p:sldId id="299" r:id="rId3"/>
    <p:sldId id="297" r:id="rId4"/>
    <p:sldId id="307" r:id="rId5"/>
    <p:sldId id="302" r:id="rId6"/>
    <p:sldId id="316" r:id="rId7"/>
    <p:sldId id="304" r:id="rId8"/>
    <p:sldId id="315" r:id="rId9"/>
    <p:sldId id="291" r:id="rId10"/>
    <p:sldId id="288" r:id="rId11"/>
    <p:sldId id="289" r:id="rId12"/>
    <p:sldId id="290" r:id="rId13"/>
    <p:sldId id="296" r:id="rId14"/>
    <p:sldId id="276" r:id="rId15"/>
    <p:sldId id="278" r:id="rId16"/>
    <p:sldId id="277" r:id="rId17"/>
    <p:sldId id="314" r:id="rId18"/>
    <p:sldId id="313" r:id="rId19"/>
    <p:sldId id="292" r:id="rId20"/>
    <p:sldId id="305" r:id="rId21"/>
    <p:sldId id="306" r:id="rId22"/>
    <p:sldId id="301" r:id="rId23"/>
    <p:sldId id="269" r:id="rId24"/>
    <p:sldId id="285" r:id="rId25"/>
    <p:sldId id="286" r:id="rId26"/>
    <p:sldId id="293" r:id="rId27"/>
    <p:sldId id="312" r:id="rId28"/>
    <p:sldId id="309" r:id="rId29"/>
    <p:sldId id="308" r:id="rId30"/>
    <p:sldId id="311" r:id="rId31"/>
    <p:sldId id="300" r:id="rId32"/>
    <p:sldId id="294" r:id="rId33"/>
    <p:sldId id="295" r:id="rId34"/>
    <p:sldId id="317" r:id="rId35"/>
    <p:sldId id="267" r:id="rId36"/>
    <p:sldId id="26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5BDA3-14DC-4244-BB53-1BB314E6B673}" v="3092" dt="2026-07-09T20:59:30.4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ish Chopra" userId="73b777bb-d56d-4042-ab11-fa04ce11e99f" providerId="ADAL" clId="{375ACA70-C26F-4825-A925-AA60B44A12C0}"/>
    <pc:docChg chg="undo redo custSel addSld delSld modSld sldOrd">
      <pc:chgData name="Ashish Chopra" userId="73b777bb-d56d-4042-ab11-fa04ce11e99f" providerId="ADAL" clId="{375ACA70-C26F-4825-A925-AA60B44A12C0}" dt="2026-07-09T20:59:30.473" v="29984" actId="478"/>
      <pc:docMkLst>
        <pc:docMk/>
      </pc:docMkLst>
      <pc:sldChg chg="addSp delSp modSp mod setBg chgLayout">
        <pc:chgData name="Ashish Chopra" userId="73b777bb-d56d-4042-ab11-fa04ce11e99f" providerId="ADAL" clId="{375ACA70-C26F-4825-A925-AA60B44A12C0}" dt="2026-07-09T20:59:30.473" v="29984" actId="478"/>
        <pc:sldMkLst>
          <pc:docMk/>
          <pc:sldMk cId="0" sldId="256"/>
        </pc:sldMkLst>
        <pc:spChg chg="mod">
          <ac:chgData name="Ashish Chopra" userId="73b777bb-d56d-4042-ab11-fa04ce11e99f" providerId="ADAL" clId="{375ACA70-C26F-4825-A925-AA60B44A12C0}" dt="2026-07-09T06:25:46.076" v="29977" actId="1037"/>
          <ac:spMkLst>
            <pc:docMk/>
            <pc:sldMk cId="0" sldId="256"/>
            <ac:spMk id="3" creationId="{00000000-0000-0000-0000-000000000000}"/>
          </ac:spMkLst>
        </pc:spChg>
        <pc:spChg chg="add del mod">
          <ac:chgData name="Ashish Chopra" userId="73b777bb-d56d-4042-ab11-fa04ce11e99f" providerId="ADAL" clId="{375ACA70-C26F-4825-A925-AA60B44A12C0}" dt="2026-07-09T06:25:51.411" v="29978" actId="478"/>
          <ac:spMkLst>
            <pc:docMk/>
            <pc:sldMk cId="0" sldId="256"/>
            <ac:spMk id="4" creationId="{13261B64-EC20-20C1-9151-58ABBBDFF370}"/>
          </ac:spMkLst>
        </pc:spChg>
        <pc:spChg chg="mod">
          <ac:chgData name="Ashish Chopra" userId="73b777bb-d56d-4042-ab11-fa04ce11e99f" providerId="ADAL" clId="{375ACA70-C26F-4825-A925-AA60B44A12C0}" dt="2026-07-06T20:20:19.318" v="23206" actId="207"/>
          <ac:spMkLst>
            <pc:docMk/>
            <pc:sldMk cId="0" sldId="256"/>
            <ac:spMk id="5" creationId="{00000000-0000-0000-0000-000000000000}"/>
          </ac:spMkLst>
        </pc:spChg>
        <pc:spChg chg="add mod">
          <ac:chgData name="Ashish Chopra" userId="73b777bb-d56d-4042-ab11-fa04ce11e99f" providerId="ADAL" clId="{375ACA70-C26F-4825-A925-AA60B44A12C0}" dt="2026-07-07T03:30:47.794" v="27986" actId="1037"/>
          <ac:spMkLst>
            <pc:docMk/>
            <pc:sldMk cId="0" sldId="256"/>
            <ac:spMk id="6" creationId="{B92B44E7-4882-A3BA-63EA-36F9582271A9}"/>
          </ac:spMkLst>
        </pc:spChg>
        <pc:picChg chg="add del mod">
          <ac:chgData name="Ashish Chopra" userId="73b777bb-d56d-4042-ab11-fa04ce11e99f" providerId="ADAL" clId="{375ACA70-C26F-4825-A925-AA60B44A12C0}" dt="2026-07-09T20:59:30.473" v="29984" actId="478"/>
          <ac:picMkLst>
            <pc:docMk/>
            <pc:sldMk cId="0" sldId="256"/>
            <ac:picMk id="4" creationId="{61402FC0-7B9C-3B0E-B272-748587F8BF97}"/>
          </ac:picMkLst>
        </pc:picChg>
      </pc:sldChg>
      <pc:sldChg chg="delSp modSp mod ord setBg">
        <pc:chgData name="Ashish Chopra" userId="73b777bb-d56d-4042-ab11-fa04ce11e99f" providerId="ADAL" clId="{375ACA70-C26F-4825-A925-AA60B44A12C0}" dt="2026-07-06T21:29:40.926" v="24539"/>
        <pc:sldMkLst>
          <pc:docMk/>
          <pc:sldMk cId="0" sldId="267"/>
        </pc:sldMkLst>
        <pc:spChg chg="mod">
          <ac:chgData name="Ashish Chopra" userId="73b777bb-d56d-4042-ab11-fa04ce11e99f" providerId="ADAL" clId="{375ACA70-C26F-4825-A925-AA60B44A12C0}" dt="2026-07-06T20:34:21.917" v="23342" actId="207"/>
          <ac:spMkLst>
            <pc:docMk/>
            <pc:sldMk cId="0" sldId="267"/>
            <ac:spMk id="3" creationId="{00000000-0000-0000-0000-000000000000}"/>
          </ac:spMkLst>
        </pc:spChg>
        <pc:spChg chg="mod">
          <ac:chgData name="Ashish Chopra" userId="73b777bb-d56d-4042-ab11-fa04ce11e99f" providerId="ADAL" clId="{375ACA70-C26F-4825-A925-AA60B44A12C0}" dt="2026-07-06T20:34:35.727" v="23343" actId="692"/>
          <ac:spMkLst>
            <pc:docMk/>
            <pc:sldMk cId="0" sldId="267"/>
            <ac:spMk id="4" creationId="{00000000-0000-0000-0000-000000000000}"/>
          </ac:spMkLst>
        </pc:spChg>
        <pc:spChg chg="mod">
          <ac:chgData name="Ashish Chopra" userId="73b777bb-d56d-4042-ab11-fa04ce11e99f" providerId="ADAL" clId="{375ACA70-C26F-4825-A925-AA60B44A12C0}" dt="2026-07-06T20:40:10.250" v="23402" actId="692"/>
          <ac:spMkLst>
            <pc:docMk/>
            <pc:sldMk cId="0" sldId="267"/>
            <ac:spMk id="6" creationId="{00000000-0000-0000-0000-000000000000}"/>
          </ac:spMkLst>
        </pc:spChg>
        <pc:spChg chg="mod">
          <ac:chgData name="Ashish Chopra" userId="73b777bb-d56d-4042-ab11-fa04ce11e99f" providerId="ADAL" clId="{375ACA70-C26F-4825-A925-AA60B44A12C0}" dt="2026-07-06T20:40:10.250" v="23402" actId="692"/>
          <ac:spMkLst>
            <pc:docMk/>
            <pc:sldMk cId="0" sldId="267"/>
            <ac:spMk id="7" creationId="{00000000-0000-0000-0000-000000000000}"/>
          </ac:spMkLst>
        </pc:spChg>
        <pc:spChg chg="mod">
          <ac:chgData name="Ashish Chopra" userId="73b777bb-d56d-4042-ab11-fa04ce11e99f" providerId="ADAL" clId="{375ACA70-C26F-4825-A925-AA60B44A12C0}" dt="2026-07-06T20:40:10.250" v="23402" actId="692"/>
          <ac:spMkLst>
            <pc:docMk/>
            <pc:sldMk cId="0" sldId="267"/>
            <ac:spMk id="8" creationId="{00000000-0000-0000-0000-000000000000}"/>
          </ac:spMkLst>
        </pc:spChg>
        <pc:spChg chg="mod">
          <ac:chgData name="Ashish Chopra" userId="73b777bb-d56d-4042-ab11-fa04ce11e99f" providerId="ADAL" clId="{375ACA70-C26F-4825-A925-AA60B44A12C0}" dt="2026-07-06T20:40:10.250" v="23402" actId="692"/>
          <ac:spMkLst>
            <pc:docMk/>
            <pc:sldMk cId="0" sldId="267"/>
            <ac:spMk id="9" creationId="{00000000-0000-0000-0000-000000000000}"/>
          </ac:spMkLst>
        </pc:spChg>
        <pc:spChg chg="mod">
          <ac:chgData name="Ashish Chopra" userId="73b777bb-d56d-4042-ab11-fa04ce11e99f" providerId="ADAL" clId="{375ACA70-C26F-4825-A925-AA60B44A12C0}" dt="2026-07-06T20:34:35.727" v="23343" actId="692"/>
          <ac:spMkLst>
            <pc:docMk/>
            <pc:sldMk cId="0" sldId="267"/>
            <ac:spMk id="10" creationId="{00000000-0000-0000-0000-000000000000}"/>
          </ac:spMkLst>
        </pc:spChg>
        <pc:spChg chg="mod">
          <ac:chgData name="Ashish Chopra" userId="73b777bb-d56d-4042-ab11-fa04ce11e99f" providerId="ADAL" clId="{375ACA70-C26F-4825-A925-AA60B44A12C0}" dt="2026-07-06T20:35:53.164" v="23352" actId="207"/>
          <ac:spMkLst>
            <pc:docMk/>
            <pc:sldMk cId="0" sldId="267"/>
            <ac:spMk id="12" creationId="{00000000-0000-0000-0000-000000000000}"/>
          </ac:spMkLst>
        </pc:spChg>
        <pc:spChg chg="mod">
          <ac:chgData name="Ashish Chopra" userId="73b777bb-d56d-4042-ab11-fa04ce11e99f" providerId="ADAL" clId="{375ACA70-C26F-4825-A925-AA60B44A12C0}" dt="2026-07-06T20:40:19.669" v="23404" actId="692"/>
          <ac:spMkLst>
            <pc:docMk/>
            <pc:sldMk cId="0" sldId="267"/>
            <ac:spMk id="13" creationId="{00000000-0000-0000-0000-000000000000}"/>
          </ac:spMkLst>
        </pc:spChg>
        <pc:spChg chg="mod">
          <ac:chgData name="Ashish Chopra" userId="73b777bb-d56d-4042-ab11-fa04ce11e99f" providerId="ADAL" clId="{375ACA70-C26F-4825-A925-AA60B44A12C0}" dt="2026-07-06T20:35:53.164" v="23352" actId="207"/>
          <ac:spMkLst>
            <pc:docMk/>
            <pc:sldMk cId="0" sldId="267"/>
            <ac:spMk id="14" creationId="{00000000-0000-0000-0000-000000000000}"/>
          </ac:spMkLst>
        </pc:spChg>
        <pc:spChg chg="mod">
          <ac:chgData name="Ashish Chopra" userId="73b777bb-d56d-4042-ab11-fa04ce11e99f" providerId="ADAL" clId="{375ACA70-C26F-4825-A925-AA60B44A12C0}" dt="2026-07-06T20:40:33.535" v="23407" actId="2085"/>
          <ac:spMkLst>
            <pc:docMk/>
            <pc:sldMk cId="0" sldId="267"/>
            <ac:spMk id="15" creationId="{00000000-0000-0000-0000-000000000000}"/>
          </ac:spMkLst>
        </pc:spChg>
        <pc:spChg chg="mod">
          <ac:chgData name="Ashish Chopra" userId="73b777bb-d56d-4042-ab11-fa04ce11e99f" providerId="ADAL" clId="{375ACA70-C26F-4825-A925-AA60B44A12C0}" dt="2026-07-06T20:40:19.669" v="23404" actId="692"/>
          <ac:spMkLst>
            <pc:docMk/>
            <pc:sldMk cId="0" sldId="267"/>
            <ac:spMk id="16" creationId="{00000000-0000-0000-0000-000000000000}"/>
          </ac:spMkLst>
        </pc:spChg>
        <pc:spChg chg="mod">
          <ac:chgData name="Ashish Chopra" userId="73b777bb-d56d-4042-ab11-fa04ce11e99f" providerId="ADAL" clId="{375ACA70-C26F-4825-A925-AA60B44A12C0}" dt="2026-07-06T20:37:34.424" v="23370" actId="255"/>
          <ac:spMkLst>
            <pc:docMk/>
            <pc:sldMk cId="0" sldId="267"/>
            <ac:spMk id="17" creationId="{00000000-0000-0000-0000-000000000000}"/>
          </ac:spMkLst>
        </pc:spChg>
        <pc:spChg chg="mod">
          <ac:chgData name="Ashish Chopra" userId="73b777bb-d56d-4042-ab11-fa04ce11e99f" providerId="ADAL" clId="{375ACA70-C26F-4825-A925-AA60B44A12C0}" dt="2026-07-06T20:37:34.424" v="23370" actId="255"/>
          <ac:spMkLst>
            <pc:docMk/>
            <pc:sldMk cId="0" sldId="267"/>
            <ac:spMk id="18" creationId="{00000000-0000-0000-0000-000000000000}"/>
          </ac:spMkLst>
        </pc:spChg>
        <pc:spChg chg="mod">
          <ac:chgData name="Ashish Chopra" userId="73b777bb-d56d-4042-ab11-fa04ce11e99f" providerId="ADAL" clId="{375ACA70-C26F-4825-A925-AA60B44A12C0}" dt="2026-07-06T20:37:42.123" v="23371" actId="255"/>
          <ac:spMkLst>
            <pc:docMk/>
            <pc:sldMk cId="0" sldId="267"/>
            <ac:spMk id="19" creationId="{00000000-0000-0000-0000-000000000000}"/>
          </ac:spMkLst>
        </pc:spChg>
        <pc:spChg chg="mod">
          <ac:chgData name="Ashish Chopra" userId="73b777bb-d56d-4042-ab11-fa04ce11e99f" providerId="ADAL" clId="{375ACA70-C26F-4825-A925-AA60B44A12C0}" dt="2026-07-06T20:35:53.164" v="23352" actId="207"/>
          <ac:spMkLst>
            <pc:docMk/>
            <pc:sldMk cId="0" sldId="267"/>
            <ac:spMk id="20" creationId="{00000000-0000-0000-0000-000000000000}"/>
          </ac:spMkLst>
        </pc:spChg>
        <pc:spChg chg="mod">
          <ac:chgData name="Ashish Chopra" userId="73b777bb-d56d-4042-ab11-fa04ce11e99f" providerId="ADAL" clId="{375ACA70-C26F-4825-A925-AA60B44A12C0}" dt="2026-07-06T20:40:28.865" v="23406" actId="2085"/>
          <ac:spMkLst>
            <pc:docMk/>
            <pc:sldMk cId="0" sldId="267"/>
            <ac:spMk id="21" creationId="{00000000-0000-0000-0000-000000000000}"/>
          </ac:spMkLst>
        </pc:spChg>
        <pc:spChg chg="mod">
          <ac:chgData name="Ashish Chopra" userId="73b777bb-d56d-4042-ab11-fa04ce11e99f" providerId="ADAL" clId="{375ACA70-C26F-4825-A925-AA60B44A12C0}" dt="2026-07-06T20:40:19.669" v="23404" actId="692"/>
          <ac:spMkLst>
            <pc:docMk/>
            <pc:sldMk cId="0" sldId="267"/>
            <ac:spMk id="22" creationId="{00000000-0000-0000-0000-000000000000}"/>
          </ac:spMkLst>
        </pc:spChg>
        <pc:spChg chg="mod">
          <ac:chgData name="Ashish Chopra" userId="73b777bb-d56d-4042-ab11-fa04ce11e99f" providerId="ADAL" clId="{375ACA70-C26F-4825-A925-AA60B44A12C0}" dt="2026-07-06T20:37:34.424" v="23370" actId="255"/>
          <ac:spMkLst>
            <pc:docMk/>
            <pc:sldMk cId="0" sldId="267"/>
            <ac:spMk id="23" creationId="{00000000-0000-0000-0000-000000000000}"/>
          </ac:spMkLst>
        </pc:spChg>
        <pc:spChg chg="mod">
          <ac:chgData name="Ashish Chopra" userId="73b777bb-d56d-4042-ab11-fa04ce11e99f" providerId="ADAL" clId="{375ACA70-C26F-4825-A925-AA60B44A12C0}" dt="2026-07-06T20:37:34.424" v="23370" actId="255"/>
          <ac:spMkLst>
            <pc:docMk/>
            <pc:sldMk cId="0" sldId="267"/>
            <ac:spMk id="24" creationId="{00000000-0000-0000-0000-000000000000}"/>
          </ac:spMkLst>
        </pc:spChg>
        <pc:spChg chg="mod">
          <ac:chgData name="Ashish Chopra" userId="73b777bb-d56d-4042-ab11-fa04ce11e99f" providerId="ADAL" clId="{375ACA70-C26F-4825-A925-AA60B44A12C0}" dt="2026-07-06T20:40:19.669" v="23404" actId="692"/>
          <ac:spMkLst>
            <pc:docMk/>
            <pc:sldMk cId="0" sldId="267"/>
            <ac:spMk id="25" creationId="{00000000-0000-0000-0000-000000000000}"/>
          </ac:spMkLst>
        </pc:spChg>
        <pc:spChg chg="mod">
          <ac:chgData name="Ashish Chopra" userId="73b777bb-d56d-4042-ab11-fa04ce11e99f" providerId="ADAL" clId="{375ACA70-C26F-4825-A925-AA60B44A12C0}" dt="2026-07-06T20:35:53.164" v="23352" actId="207"/>
          <ac:spMkLst>
            <pc:docMk/>
            <pc:sldMk cId="0" sldId="267"/>
            <ac:spMk id="26" creationId="{00000000-0000-0000-0000-000000000000}"/>
          </ac:spMkLst>
        </pc:spChg>
        <pc:spChg chg="mod">
          <ac:chgData name="Ashish Chopra" userId="73b777bb-d56d-4042-ab11-fa04ce11e99f" providerId="ADAL" clId="{375ACA70-C26F-4825-A925-AA60B44A12C0}" dt="2026-07-06T20:40:19.669" v="23404" actId="692"/>
          <ac:spMkLst>
            <pc:docMk/>
            <pc:sldMk cId="0" sldId="267"/>
            <ac:spMk id="27" creationId="{00000000-0000-0000-0000-000000000000}"/>
          </ac:spMkLst>
        </pc:spChg>
        <pc:spChg chg="mod">
          <ac:chgData name="Ashish Chopra" userId="73b777bb-d56d-4042-ab11-fa04ce11e99f" providerId="ADAL" clId="{375ACA70-C26F-4825-A925-AA60B44A12C0}" dt="2026-07-06T20:40:19.669" v="23404" actId="692"/>
          <ac:spMkLst>
            <pc:docMk/>
            <pc:sldMk cId="0" sldId="267"/>
            <ac:spMk id="28" creationId="{00000000-0000-0000-0000-000000000000}"/>
          </ac:spMkLst>
        </pc:spChg>
        <pc:spChg chg="mod">
          <ac:chgData name="Ashish Chopra" userId="73b777bb-d56d-4042-ab11-fa04ce11e99f" providerId="ADAL" clId="{375ACA70-C26F-4825-A925-AA60B44A12C0}" dt="2026-07-06T20:40:48.735" v="23411" actId="2085"/>
          <ac:spMkLst>
            <pc:docMk/>
            <pc:sldMk cId="0" sldId="267"/>
            <ac:spMk id="29" creationId="{00000000-0000-0000-0000-000000000000}"/>
          </ac:spMkLst>
        </pc:spChg>
        <pc:spChg chg="mod">
          <ac:chgData name="Ashish Chopra" userId="73b777bb-d56d-4042-ab11-fa04ce11e99f" providerId="ADAL" clId="{375ACA70-C26F-4825-A925-AA60B44A12C0}" dt="2026-07-06T20:34:35.727" v="23343" actId="692"/>
          <ac:spMkLst>
            <pc:docMk/>
            <pc:sldMk cId="0" sldId="267"/>
            <ac:spMk id="30" creationId="{00000000-0000-0000-0000-000000000000}"/>
          </ac:spMkLst>
        </pc:spChg>
        <pc:spChg chg="mod">
          <ac:chgData name="Ashish Chopra" userId="73b777bb-d56d-4042-ab11-fa04ce11e99f" providerId="ADAL" clId="{375ACA70-C26F-4825-A925-AA60B44A12C0}" dt="2026-06-24T11:39:59.359" v="8616" actId="108"/>
          <ac:spMkLst>
            <pc:docMk/>
            <pc:sldMk cId="0" sldId="267"/>
            <ac:spMk id="31" creationId="{00000000-0000-0000-0000-000000000000}"/>
          </ac:spMkLst>
        </pc:spChg>
        <pc:spChg chg="mod">
          <ac:chgData name="Ashish Chopra" userId="73b777bb-d56d-4042-ab11-fa04ce11e99f" providerId="ADAL" clId="{375ACA70-C26F-4825-A925-AA60B44A12C0}" dt="2026-07-06T20:39:56.983" v="23400" actId="692"/>
          <ac:spMkLst>
            <pc:docMk/>
            <pc:sldMk cId="0" sldId="267"/>
            <ac:spMk id="32" creationId="{00000000-0000-0000-0000-000000000000}"/>
          </ac:spMkLst>
        </pc:spChg>
        <pc:spChg chg="mod">
          <ac:chgData name="Ashish Chopra" userId="73b777bb-d56d-4042-ab11-fa04ce11e99f" providerId="ADAL" clId="{375ACA70-C26F-4825-A925-AA60B44A12C0}" dt="2026-07-06T20:39:56.983" v="23400" actId="692"/>
          <ac:spMkLst>
            <pc:docMk/>
            <pc:sldMk cId="0" sldId="267"/>
            <ac:spMk id="33" creationId="{00000000-0000-0000-0000-000000000000}"/>
          </ac:spMkLst>
        </pc:spChg>
        <pc:spChg chg="mod">
          <ac:chgData name="Ashish Chopra" userId="73b777bb-d56d-4042-ab11-fa04ce11e99f" providerId="ADAL" clId="{375ACA70-C26F-4825-A925-AA60B44A12C0}" dt="2026-07-06T20:39:56.983" v="23400" actId="692"/>
          <ac:spMkLst>
            <pc:docMk/>
            <pc:sldMk cId="0" sldId="267"/>
            <ac:spMk id="34" creationId="{00000000-0000-0000-0000-000000000000}"/>
          </ac:spMkLst>
        </pc:spChg>
        <pc:spChg chg="mod">
          <ac:chgData name="Ashish Chopra" userId="73b777bb-d56d-4042-ab11-fa04ce11e99f" providerId="ADAL" clId="{375ACA70-C26F-4825-A925-AA60B44A12C0}" dt="2026-07-06T20:39:56.983" v="23400" actId="692"/>
          <ac:spMkLst>
            <pc:docMk/>
            <pc:sldMk cId="0" sldId="267"/>
            <ac:spMk id="35" creationId="{00000000-0000-0000-0000-000000000000}"/>
          </ac:spMkLst>
        </pc:spChg>
        <pc:spChg chg="mod">
          <ac:chgData name="Ashish Chopra" userId="73b777bb-d56d-4042-ab11-fa04ce11e99f" providerId="ADAL" clId="{375ACA70-C26F-4825-A925-AA60B44A12C0}" dt="2026-07-06T20:39:56.983" v="23400" actId="692"/>
          <ac:spMkLst>
            <pc:docMk/>
            <pc:sldMk cId="0" sldId="267"/>
            <ac:spMk id="36" creationId="{00000000-0000-0000-0000-000000000000}"/>
          </ac:spMkLst>
        </pc:spChg>
        <pc:spChg chg="mod">
          <ac:chgData name="Ashish Chopra" userId="73b777bb-d56d-4042-ab11-fa04ce11e99f" providerId="ADAL" clId="{375ACA70-C26F-4825-A925-AA60B44A12C0}" dt="2026-07-06T20:34:40.624" v="23344" actId="207"/>
          <ac:spMkLst>
            <pc:docMk/>
            <pc:sldMk cId="0" sldId="267"/>
            <ac:spMk id="46" creationId="{00000000-0000-0000-0000-000000000000}"/>
          </ac:spMkLst>
        </pc:spChg>
        <pc:spChg chg="mod">
          <ac:chgData name="Ashish Chopra" userId="73b777bb-d56d-4042-ab11-fa04ce11e99f" providerId="ADAL" clId="{375ACA70-C26F-4825-A925-AA60B44A12C0}" dt="2026-07-06T20:40:44.468" v="23410" actId="108"/>
          <ac:spMkLst>
            <pc:docMk/>
            <pc:sldMk cId="0" sldId="267"/>
            <ac:spMk id="47" creationId="{00000000-0000-0000-0000-000000000000}"/>
          </ac:spMkLst>
        </pc:spChg>
        <pc:spChg chg="mod">
          <ac:chgData name="Ashish Chopra" userId="73b777bb-d56d-4042-ab11-fa04ce11e99f" providerId="ADAL" clId="{375ACA70-C26F-4825-A925-AA60B44A12C0}" dt="2026-07-06T20:40:39.525" v="23409" actId="2085"/>
          <ac:spMkLst>
            <pc:docMk/>
            <pc:sldMk cId="0" sldId="267"/>
            <ac:spMk id="48" creationId="{00000000-0000-0000-0000-000000000000}"/>
          </ac:spMkLst>
        </pc:spChg>
        <pc:spChg chg="mod">
          <ac:chgData name="Ashish Chopra" userId="73b777bb-d56d-4042-ab11-fa04ce11e99f" providerId="ADAL" clId="{375ACA70-C26F-4825-A925-AA60B44A12C0}" dt="2026-07-06T20:34:43.963" v="23345" actId="207"/>
          <ac:spMkLst>
            <pc:docMk/>
            <pc:sldMk cId="0" sldId="267"/>
            <ac:spMk id="49" creationId="{00000000-0000-0000-0000-000000000000}"/>
          </ac:spMkLst>
        </pc:spChg>
        <pc:spChg chg="mod">
          <ac:chgData name="Ashish Chopra" userId="73b777bb-d56d-4042-ab11-fa04ce11e99f" providerId="ADAL" clId="{375ACA70-C26F-4825-A925-AA60B44A12C0}" dt="2026-07-06T20:40:52.709" v="23412" actId="207"/>
          <ac:spMkLst>
            <pc:docMk/>
            <pc:sldMk cId="0" sldId="267"/>
            <ac:spMk id="50" creationId="{00000000-0000-0000-0000-000000000000}"/>
          </ac:spMkLst>
        </pc:spChg>
        <pc:spChg chg="mod">
          <ac:chgData name="Ashish Chopra" userId="73b777bb-d56d-4042-ab11-fa04ce11e99f" providerId="ADAL" clId="{375ACA70-C26F-4825-A925-AA60B44A12C0}" dt="2026-07-06T20:40:10.250" v="23402" actId="692"/>
          <ac:spMkLst>
            <pc:docMk/>
            <pc:sldMk cId="0" sldId="267"/>
            <ac:spMk id="52" creationId="{8790405C-2B7B-5BDC-FC28-1EE2D7FE5591}"/>
          </ac:spMkLst>
        </pc:spChg>
      </pc:sldChg>
      <pc:sldChg chg="delSp modSp mod ord setBg">
        <pc:chgData name="Ashish Chopra" userId="73b777bb-d56d-4042-ab11-fa04ce11e99f" providerId="ADAL" clId="{375ACA70-C26F-4825-A925-AA60B44A12C0}" dt="2026-07-06T21:29:43.672" v="24540"/>
        <pc:sldMkLst>
          <pc:docMk/>
          <pc:sldMk cId="4237444820" sldId="268"/>
        </pc:sldMkLst>
        <pc:spChg chg="mod">
          <ac:chgData name="Ashish Chopra" userId="73b777bb-d56d-4042-ab11-fa04ce11e99f" providerId="ADAL" clId="{375ACA70-C26F-4825-A925-AA60B44A12C0}" dt="2026-07-06T20:34:18.024" v="23341" actId="207"/>
          <ac:spMkLst>
            <pc:docMk/>
            <pc:sldMk cId="4237444820" sldId="268"/>
            <ac:spMk id="3" creationId="{B12F12E5-0EC0-8EDD-B178-1CC9C967051E}"/>
          </ac:spMkLst>
        </pc:spChg>
        <pc:spChg chg="mod">
          <ac:chgData name="Ashish Chopra" userId="73b777bb-d56d-4042-ab11-fa04ce11e99f" providerId="ADAL" clId="{375ACA70-C26F-4825-A925-AA60B44A12C0}" dt="2026-07-06T20:38:47.105" v="23382" actId="692"/>
          <ac:spMkLst>
            <pc:docMk/>
            <pc:sldMk cId="4237444820" sldId="268"/>
            <ac:spMk id="10" creationId="{47266CC5-7BEA-86B4-F368-AC17D18B9D44}"/>
          </ac:spMkLst>
        </pc:spChg>
        <pc:spChg chg="mod">
          <ac:chgData name="Ashish Chopra" userId="73b777bb-d56d-4042-ab11-fa04ce11e99f" providerId="ADAL" clId="{375ACA70-C26F-4825-A925-AA60B44A12C0}" dt="2026-06-24T11:40:18.194" v="8619" actId="108"/>
          <ac:spMkLst>
            <pc:docMk/>
            <pc:sldMk cId="4237444820" sldId="268"/>
            <ac:spMk id="11" creationId="{F14C4C56-FCA9-133D-ADC3-DBED35262031}"/>
          </ac:spMkLst>
        </pc:spChg>
        <pc:spChg chg="mod">
          <ac:chgData name="Ashish Chopra" userId="73b777bb-d56d-4042-ab11-fa04ce11e99f" providerId="ADAL" clId="{375ACA70-C26F-4825-A925-AA60B44A12C0}" dt="2026-07-06T20:39:23.252" v="23386" actId="692"/>
          <ac:spMkLst>
            <pc:docMk/>
            <pc:sldMk cId="4237444820" sldId="268"/>
            <ac:spMk id="12" creationId="{0B5E3080-F201-6538-3100-82E3B653D975}"/>
          </ac:spMkLst>
        </pc:spChg>
        <pc:spChg chg="mod">
          <ac:chgData name="Ashish Chopra" userId="73b777bb-d56d-4042-ab11-fa04ce11e99f" providerId="ADAL" clId="{375ACA70-C26F-4825-A925-AA60B44A12C0}" dt="2026-07-06T20:39:23.252" v="23386" actId="692"/>
          <ac:spMkLst>
            <pc:docMk/>
            <pc:sldMk cId="4237444820" sldId="268"/>
            <ac:spMk id="13" creationId="{8AC854D5-C92D-CE95-4F41-94F6A82CEF0F}"/>
          </ac:spMkLst>
        </pc:spChg>
        <pc:spChg chg="mod">
          <ac:chgData name="Ashish Chopra" userId="73b777bb-d56d-4042-ab11-fa04ce11e99f" providerId="ADAL" clId="{375ACA70-C26F-4825-A925-AA60B44A12C0}" dt="2026-07-06T20:39:23.252" v="23386" actId="692"/>
          <ac:spMkLst>
            <pc:docMk/>
            <pc:sldMk cId="4237444820" sldId="268"/>
            <ac:spMk id="14" creationId="{2CF4AE9C-C99D-7FCD-0C1B-4688B1A09D27}"/>
          </ac:spMkLst>
        </pc:spChg>
        <pc:spChg chg="mod">
          <ac:chgData name="Ashish Chopra" userId="73b777bb-d56d-4042-ab11-fa04ce11e99f" providerId="ADAL" clId="{375ACA70-C26F-4825-A925-AA60B44A12C0}" dt="2026-07-06T20:39:37.463" v="23398" actId="2085"/>
          <ac:spMkLst>
            <pc:docMk/>
            <pc:sldMk cId="4237444820" sldId="268"/>
            <ac:spMk id="15" creationId="{7AF6829F-80B8-371D-05EC-54BF46220822}"/>
          </ac:spMkLst>
        </pc:spChg>
        <pc:spChg chg="mod">
          <ac:chgData name="Ashish Chopra" userId="73b777bb-d56d-4042-ab11-fa04ce11e99f" providerId="ADAL" clId="{375ACA70-C26F-4825-A925-AA60B44A12C0}" dt="2026-07-06T20:39:23.252" v="23386" actId="692"/>
          <ac:spMkLst>
            <pc:docMk/>
            <pc:sldMk cId="4237444820" sldId="268"/>
            <ac:spMk id="16" creationId="{4FF0E22A-F85B-B366-F738-EF9CEC480B20}"/>
          </ac:spMkLst>
        </pc:spChg>
        <pc:spChg chg="mod">
          <ac:chgData name="Ashish Chopra" userId="73b777bb-d56d-4042-ab11-fa04ce11e99f" providerId="ADAL" clId="{375ACA70-C26F-4825-A925-AA60B44A12C0}" dt="2026-07-06T20:38:15.945" v="23375" actId="113"/>
          <ac:spMkLst>
            <pc:docMk/>
            <pc:sldMk cId="4237444820" sldId="268"/>
            <ac:spMk id="17" creationId="{03BACDF5-645C-FFD9-FB28-2FE880492A11}"/>
          </ac:spMkLst>
        </pc:spChg>
        <pc:spChg chg="mod">
          <ac:chgData name="Ashish Chopra" userId="73b777bb-d56d-4042-ab11-fa04ce11e99f" providerId="ADAL" clId="{375ACA70-C26F-4825-A925-AA60B44A12C0}" dt="2026-07-06T20:38:15.945" v="23375" actId="113"/>
          <ac:spMkLst>
            <pc:docMk/>
            <pc:sldMk cId="4237444820" sldId="268"/>
            <ac:spMk id="18" creationId="{88062050-BC0A-D214-DC66-0EFC4A5A3AB9}"/>
          </ac:spMkLst>
        </pc:spChg>
        <pc:spChg chg="mod">
          <ac:chgData name="Ashish Chopra" userId="73b777bb-d56d-4042-ab11-fa04ce11e99f" providerId="ADAL" clId="{375ACA70-C26F-4825-A925-AA60B44A12C0}" dt="2026-07-06T20:39:23.252" v="23386" actId="692"/>
          <ac:spMkLst>
            <pc:docMk/>
            <pc:sldMk cId="4237444820" sldId="268"/>
            <ac:spMk id="19" creationId="{1104B588-0183-F783-F5E8-E6EBADA89D50}"/>
          </ac:spMkLst>
        </pc:spChg>
        <pc:spChg chg="mod">
          <ac:chgData name="Ashish Chopra" userId="73b777bb-d56d-4042-ab11-fa04ce11e99f" providerId="ADAL" clId="{375ACA70-C26F-4825-A925-AA60B44A12C0}" dt="2026-06-24T11:43:17.615" v="8631" actId="108"/>
          <ac:spMkLst>
            <pc:docMk/>
            <pc:sldMk cId="4237444820" sldId="268"/>
            <ac:spMk id="20" creationId="{282F0B92-8E99-809C-F30D-B836FEDB83D7}"/>
          </ac:spMkLst>
        </pc:spChg>
        <pc:spChg chg="mod">
          <ac:chgData name="Ashish Chopra" userId="73b777bb-d56d-4042-ab11-fa04ce11e99f" providerId="ADAL" clId="{375ACA70-C26F-4825-A925-AA60B44A12C0}" dt="2026-07-06T20:39:35.200" v="23397" actId="2085"/>
          <ac:spMkLst>
            <pc:docMk/>
            <pc:sldMk cId="4237444820" sldId="268"/>
            <ac:spMk id="21" creationId="{E60A3902-37ED-E245-4C31-9F7AF5BA0FEE}"/>
          </ac:spMkLst>
        </pc:spChg>
        <pc:spChg chg="mod">
          <ac:chgData name="Ashish Chopra" userId="73b777bb-d56d-4042-ab11-fa04ce11e99f" providerId="ADAL" clId="{375ACA70-C26F-4825-A925-AA60B44A12C0}" dt="2026-07-06T20:38:15.945" v="23375" actId="113"/>
          <ac:spMkLst>
            <pc:docMk/>
            <pc:sldMk cId="4237444820" sldId="268"/>
            <ac:spMk id="22" creationId="{F24AC9CC-A40D-E245-48DF-CE4CA9168363}"/>
          </ac:spMkLst>
        </pc:spChg>
        <pc:spChg chg="mod">
          <ac:chgData name="Ashish Chopra" userId="73b777bb-d56d-4042-ab11-fa04ce11e99f" providerId="ADAL" clId="{375ACA70-C26F-4825-A925-AA60B44A12C0}" dt="2026-07-06T20:39:23.252" v="23386" actId="692"/>
          <ac:spMkLst>
            <pc:docMk/>
            <pc:sldMk cId="4237444820" sldId="268"/>
            <ac:spMk id="23" creationId="{0C0BD7C8-6746-D484-6591-4510C3EC8FDA}"/>
          </ac:spMkLst>
        </pc:spChg>
        <pc:spChg chg="mod">
          <ac:chgData name="Ashish Chopra" userId="73b777bb-d56d-4042-ab11-fa04ce11e99f" providerId="ADAL" clId="{375ACA70-C26F-4825-A925-AA60B44A12C0}" dt="2026-07-06T20:38:15.945" v="23375" actId="113"/>
          <ac:spMkLst>
            <pc:docMk/>
            <pc:sldMk cId="4237444820" sldId="268"/>
            <ac:spMk id="24" creationId="{F00C474E-9FEB-E1C8-FA89-3F42B4694CF8}"/>
          </ac:spMkLst>
        </pc:spChg>
        <pc:spChg chg="mod">
          <ac:chgData name="Ashish Chopra" userId="73b777bb-d56d-4042-ab11-fa04ce11e99f" providerId="ADAL" clId="{375ACA70-C26F-4825-A925-AA60B44A12C0}" dt="2026-07-06T20:39:23.252" v="23386" actId="692"/>
          <ac:spMkLst>
            <pc:docMk/>
            <pc:sldMk cId="4237444820" sldId="268"/>
            <ac:spMk id="25" creationId="{F5251EAD-7188-5BF6-75C4-16BB33F63C11}"/>
          </ac:spMkLst>
        </pc:spChg>
        <pc:spChg chg="mod">
          <ac:chgData name="Ashish Chopra" userId="73b777bb-d56d-4042-ab11-fa04ce11e99f" providerId="ADAL" clId="{375ACA70-C26F-4825-A925-AA60B44A12C0}" dt="2026-06-24T11:43:28.855" v="8637" actId="108"/>
          <ac:spMkLst>
            <pc:docMk/>
            <pc:sldMk cId="4237444820" sldId="268"/>
            <ac:spMk id="26" creationId="{9B3DEE75-DDDC-9E53-818B-3D51533A80D7}"/>
          </ac:spMkLst>
        </pc:spChg>
        <pc:spChg chg="mod">
          <ac:chgData name="Ashish Chopra" userId="73b777bb-d56d-4042-ab11-fa04ce11e99f" providerId="ADAL" clId="{375ACA70-C26F-4825-A925-AA60B44A12C0}" dt="2026-06-24T11:40:37.414" v="8621" actId="207"/>
          <ac:spMkLst>
            <pc:docMk/>
            <pc:sldMk cId="4237444820" sldId="268"/>
            <ac:spMk id="27" creationId="{22683077-48FF-DB74-36BB-D6BCECEB8F00}"/>
          </ac:spMkLst>
        </pc:spChg>
        <pc:spChg chg="mod">
          <ac:chgData name="Ashish Chopra" userId="73b777bb-d56d-4042-ab11-fa04ce11e99f" providerId="ADAL" clId="{375ACA70-C26F-4825-A925-AA60B44A12C0}" dt="2026-07-06T20:39:23.252" v="23386" actId="692"/>
          <ac:spMkLst>
            <pc:docMk/>
            <pc:sldMk cId="4237444820" sldId="268"/>
            <ac:spMk id="28" creationId="{D1631F91-8173-9424-85B5-9F8066AE7F71}"/>
          </ac:spMkLst>
        </pc:spChg>
        <pc:spChg chg="mod">
          <ac:chgData name="Ashish Chopra" userId="73b777bb-d56d-4042-ab11-fa04ce11e99f" providerId="ADAL" clId="{375ACA70-C26F-4825-A925-AA60B44A12C0}" dt="2026-07-06T20:39:30.531" v="23396" actId="2085"/>
          <ac:spMkLst>
            <pc:docMk/>
            <pc:sldMk cId="4237444820" sldId="268"/>
            <ac:spMk id="29" creationId="{687FAC41-D658-3383-974C-1FE2EBD43824}"/>
          </ac:spMkLst>
        </pc:spChg>
        <pc:spChg chg="mod">
          <ac:chgData name="Ashish Chopra" userId="73b777bb-d56d-4042-ab11-fa04ce11e99f" providerId="ADAL" clId="{375ACA70-C26F-4825-A925-AA60B44A12C0}" dt="2026-07-06T20:39:08.728" v="23385" actId="692"/>
          <ac:spMkLst>
            <pc:docMk/>
            <pc:sldMk cId="4237444820" sldId="268"/>
            <ac:spMk id="39" creationId="{71B83846-C9B4-4D82-F6A0-C7687CE2E95D}"/>
          </ac:spMkLst>
        </pc:spChg>
        <pc:spChg chg="mod">
          <ac:chgData name="Ashish Chopra" userId="73b777bb-d56d-4042-ab11-fa04ce11e99f" providerId="ADAL" clId="{375ACA70-C26F-4825-A925-AA60B44A12C0}" dt="2026-07-06T20:38:31.567" v="23379" actId="207"/>
          <ac:spMkLst>
            <pc:docMk/>
            <pc:sldMk cId="4237444820" sldId="268"/>
            <ac:spMk id="47" creationId="{A21851D9-8065-535E-1844-3253120E9BA3}"/>
          </ac:spMkLst>
        </pc:spChg>
        <pc:spChg chg="mod">
          <ac:chgData name="Ashish Chopra" userId="73b777bb-d56d-4042-ab11-fa04ce11e99f" providerId="ADAL" clId="{375ACA70-C26F-4825-A925-AA60B44A12C0}" dt="2026-07-06T20:38:28.846" v="23378" actId="207"/>
          <ac:spMkLst>
            <pc:docMk/>
            <pc:sldMk cId="4237444820" sldId="268"/>
            <ac:spMk id="48" creationId="{A86C57CC-2DD4-AF31-89AF-2CC69489F042}"/>
          </ac:spMkLst>
        </pc:spChg>
      </pc:sldChg>
      <pc:sldChg chg="addSp delSp modSp mod ord setBg">
        <pc:chgData name="Ashish Chopra" userId="73b777bb-d56d-4042-ab11-fa04ce11e99f" providerId="ADAL" clId="{375ACA70-C26F-4825-A925-AA60B44A12C0}" dt="2026-07-07T02:51:41.023" v="27928" actId="20577"/>
        <pc:sldMkLst>
          <pc:docMk/>
          <pc:sldMk cId="3756374049" sldId="269"/>
        </pc:sldMkLst>
        <pc:spChg chg="mod">
          <ac:chgData name="Ashish Chopra" userId="73b777bb-d56d-4042-ab11-fa04ce11e99f" providerId="ADAL" clId="{375ACA70-C26F-4825-A925-AA60B44A12C0}" dt="2026-07-06T20:29:56.674" v="23295" actId="207"/>
          <ac:spMkLst>
            <pc:docMk/>
            <pc:sldMk cId="3756374049" sldId="269"/>
            <ac:spMk id="3" creationId="{DD0EAED6-91E5-49E7-F374-980DB0C8CC95}"/>
          </ac:spMkLst>
        </pc:spChg>
        <pc:spChg chg="mod">
          <ac:chgData name="Ashish Chopra" userId="73b777bb-d56d-4042-ab11-fa04ce11e99f" providerId="ADAL" clId="{375ACA70-C26F-4825-A925-AA60B44A12C0}" dt="2026-07-06T20:49:26.944" v="23465" actId="207"/>
          <ac:spMkLst>
            <pc:docMk/>
            <pc:sldMk cId="3756374049" sldId="269"/>
            <ac:spMk id="4" creationId="{C35171BC-F51B-8159-0A68-547290FE8C4D}"/>
          </ac:spMkLst>
        </pc:spChg>
        <pc:spChg chg="mod">
          <ac:chgData name="Ashish Chopra" userId="73b777bb-d56d-4042-ab11-fa04ce11e99f" providerId="ADAL" clId="{375ACA70-C26F-4825-A925-AA60B44A12C0}" dt="2026-07-06T20:29:58.964" v="23296" actId="207"/>
          <ac:spMkLst>
            <pc:docMk/>
            <pc:sldMk cId="3756374049" sldId="269"/>
            <ac:spMk id="38" creationId="{142255BE-2A90-687C-8A29-A262BA2D4283}"/>
          </ac:spMkLst>
        </pc:spChg>
        <pc:spChg chg="mod">
          <ac:chgData name="Ashish Chopra" userId="73b777bb-d56d-4042-ab11-fa04ce11e99f" providerId="ADAL" clId="{375ACA70-C26F-4825-A925-AA60B44A12C0}" dt="2026-07-06T20:49:26.944" v="23465" actId="207"/>
          <ac:spMkLst>
            <pc:docMk/>
            <pc:sldMk cId="3756374049" sldId="269"/>
            <ac:spMk id="61" creationId="{1CCE3681-69D6-E920-260F-DDF3F4EC6AD0}"/>
          </ac:spMkLst>
        </pc:spChg>
        <pc:spChg chg="mod">
          <ac:chgData name="Ashish Chopra" userId="73b777bb-d56d-4042-ab11-fa04ce11e99f" providerId="ADAL" clId="{375ACA70-C26F-4825-A925-AA60B44A12C0}" dt="2026-07-07T02:51:41.023" v="27928" actId="20577"/>
          <ac:spMkLst>
            <pc:docMk/>
            <pc:sldMk cId="3756374049" sldId="269"/>
            <ac:spMk id="62" creationId="{AB5092E9-E9DC-3BF8-3DD0-C873B688B83D}"/>
          </ac:spMkLst>
        </pc:spChg>
        <pc:spChg chg="mod">
          <ac:chgData name="Ashish Chopra" userId="73b777bb-d56d-4042-ab11-fa04ce11e99f" providerId="ADAL" clId="{375ACA70-C26F-4825-A925-AA60B44A12C0}" dt="2026-07-06T20:52:11.069" v="23478" actId="692"/>
          <ac:spMkLst>
            <pc:docMk/>
            <pc:sldMk cId="3756374049" sldId="269"/>
            <ac:spMk id="63" creationId="{EA6EC80F-9A39-5921-5CBC-14DC9BE5E511}"/>
          </ac:spMkLst>
        </pc:spChg>
        <pc:spChg chg="mod">
          <ac:chgData name="Ashish Chopra" userId="73b777bb-d56d-4042-ab11-fa04ce11e99f" providerId="ADAL" clId="{375ACA70-C26F-4825-A925-AA60B44A12C0}" dt="2026-07-06T20:52:11.069" v="23478" actId="692"/>
          <ac:spMkLst>
            <pc:docMk/>
            <pc:sldMk cId="3756374049" sldId="269"/>
            <ac:spMk id="64" creationId="{9CA16345-AF8B-7395-0B83-0C3230020EFE}"/>
          </ac:spMkLst>
        </pc:spChg>
        <pc:spChg chg="mod">
          <ac:chgData name="Ashish Chopra" userId="73b777bb-d56d-4042-ab11-fa04ce11e99f" providerId="ADAL" clId="{375ACA70-C26F-4825-A925-AA60B44A12C0}" dt="2026-07-06T20:52:11.069" v="23478" actId="692"/>
          <ac:spMkLst>
            <pc:docMk/>
            <pc:sldMk cId="3756374049" sldId="269"/>
            <ac:spMk id="65" creationId="{5D3B7977-C85E-CA78-0C7A-0ECAC76ED8A8}"/>
          </ac:spMkLst>
        </pc:spChg>
        <pc:spChg chg="mod">
          <ac:chgData name="Ashish Chopra" userId="73b777bb-d56d-4042-ab11-fa04ce11e99f" providerId="ADAL" clId="{375ACA70-C26F-4825-A925-AA60B44A12C0}" dt="2026-07-06T20:52:11.069" v="23478" actId="692"/>
          <ac:spMkLst>
            <pc:docMk/>
            <pc:sldMk cId="3756374049" sldId="269"/>
            <ac:spMk id="66" creationId="{BA322B97-A4EF-E04E-10AB-963A9A8CC250}"/>
          </ac:spMkLst>
        </pc:spChg>
        <pc:spChg chg="mod">
          <ac:chgData name="Ashish Chopra" userId="73b777bb-d56d-4042-ab11-fa04ce11e99f" providerId="ADAL" clId="{375ACA70-C26F-4825-A925-AA60B44A12C0}" dt="2026-07-06T20:52:11.069" v="23478" actId="692"/>
          <ac:spMkLst>
            <pc:docMk/>
            <pc:sldMk cId="3756374049" sldId="269"/>
            <ac:spMk id="67" creationId="{47CD6660-6B45-EFDC-642F-55FE00490BB5}"/>
          </ac:spMkLst>
        </pc:spChg>
        <pc:spChg chg="mod">
          <ac:chgData name="Ashish Chopra" userId="73b777bb-d56d-4042-ab11-fa04ce11e99f" providerId="ADAL" clId="{375ACA70-C26F-4825-A925-AA60B44A12C0}" dt="2026-07-06T20:52:11.069" v="23478" actId="692"/>
          <ac:spMkLst>
            <pc:docMk/>
            <pc:sldMk cId="3756374049" sldId="269"/>
            <ac:spMk id="68" creationId="{5B349C52-916B-50D9-9874-94208C0E32FC}"/>
          </ac:spMkLst>
        </pc:spChg>
        <pc:spChg chg="mod">
          <ac:chgData name="Ashish Chopra" userId="73b777bb-d56d-4042-ab11-fa04ce11e99f" providerId="ADAL" clId="{375ACA70-C26F-4825-A925-AA60B44A12C0}" dt="2026-07-06T20:52:11.069" v="23478" actId="692"/>
          <ac:spMkLst>
            <pc:docMk/>
            <pc:sldMk cId="3756374049" sldId="269"/>
            <ac:spMk id="69" creationId="{5E351C0B-6472-BE15-FB80-B78270F19C83}"/>
          </ac:spMkLst>
        </pc:spChg>
        <pc:spChg chg="mod">
          <ac:chgData name="Ashish Chopra" userId="73b777bb-d56d-4042-ab11-fa04ce11e99f" providerId="ADAL" clId="{375ACA70-C26F-4825-A925-AA60B44A12C0}" dt="2026-07-06T20:49:26.944" v="23465" actId="207"/>
          <ac:spMkLst>
            <pc:docMk/>
            <pc:sldMk cId="3756374049" sldId="269"/>
            <ac:spMk id="70" creationId="{BBB869F3-8C76-A3D4-876E-B47A13C70C36}"/>
          </ac:spMkLst>
        </pc:spChg>
        <pc:spChg chg="mod">
          <ac:chgData name="Ashish Chopra" userId="73b777bb-d56d-4042-ab11-fa04ce11e99f" providerId="ADAL" clId="{375ACA70-C26F-4825-A925-AA60B44A12C0}" dt="2026-07-07T02:49:59.361" v="27862" actId="255"/>
          <ac:spMkLst>
            <pc:docMk/>
            <pc:sldMk cId="3756374049" sldId="269"/>
            <ac:spMk id="71" creationId="{28DD05CE-3072-9807-42C1-CA9EDAB8132A}"/>
          </ac:spMkLst>
        </pc:spChg>
        <pc:spChg chg="mod">
          <ac:chgData name="Ashish Chopra" userId="73b777bb-d56d-4042-ab11-fa04ce11e99f" providerId="ADAL" clId="{375ACA70-C26F-4825-A925-AA60B44A12C0}" dt="2026-07-06T20:49:02.814" v="23462" actId="207"/>
          <ac:spMkLst>
            <pc:docMk/>
            <pc:sldMk cId="3756374049" sldId="269"/>
            <ac:spMk id="119" creationId="{BFF06D87-D4C1-1BE2-5328-6A3EA32EF023}"/>
          </ac:spMkLst>
        </pc:spChg>
        <pc:spChg chg="mod">
          <ac:chgData name="Ashish Chopra" userId="73b777bb-d56d-4042-ab11-fa04ce11e99f" providerId="ADAL" clId="{375ACA70-C26F-4825-A925-AA60B44A12C0}" dt="2026-07-06T20:49:02.814" v="23462" actId="207"/>
          <ac:spMkLst>
            <pc:docMk/>
            <pc:sldMk cId="3756374049" sldId="269"/>
            <ac:spMk id="120" creationId="{936ED402-6EAC-1744-0097-6E8C735A6CD9}"/>
          </ac:spMkLst>
        </pc:spChg>
        <pc:spChg chg="mod">
          <ac:chgData name="Ashish Chopra" userId="73b777bb-d56d-4042-ab11-fa04ce11e99f" providerId="ADAL" clId="{375ACA70-C26F-4825-A925-AA60B44A12C0}" dt="2026-07-06T20:49:02.814" v="23462" actId="207"/>
          <ac:spMkLst>
            <pc:docMk/>
            <pc:sldMk cId="3756374049" sldId="269"/>
            <ac:spMk id="121" creationId="{C88037EF-BE67-1D67-8EAF-01310CDA4333}"/>
          </ac:spMkLst>
        </pc:spChg>
        <pc:spChg chg="mod">
          <ac:chgData name="Ashish Chopra" userId="73b777bb-d56d-4042-ab11-fa04ce11e99f" providerId="ADAL" clId="{375ACA70-C26F-4825-A925-AA60B44A12C0}" dt="2026-07-06T20:49:02.814" v="23462" actId="207"/>
          <ac:spMkLst>
            <pc:docMk/>
            <pc:sldMk cId="3756374049" sldId="269"/>
            <ac:spMk id="123" creationId="{AD1BF331-9ECB-C61C-352B-CF4D7A957103}"/>
          </ac:spMkLst>
        </pc:spChg>
        <pc:spChg chg="mod">
          <ac:chgData name="Ashish Chopra" userId="73b777bb-d56d-4042-ab11-fa04ce11e99f" providerId="ADAL" clId="{375ACA70-C26F-4825-A925-AA60B44A12C0}" dt="2026-07-06T20:49:02.814" v="23462" actId="207"/>
          <ac:spMkLst>
            <pc:docMk/>
            <pc:sldMk cId="3756374049" sldId="269"/>
            <ac:spMk id="124" creationId="{59DDF44B-6611-E714-D31D-824A8478742C}"/>
          </ac:spMkLst>
        </pc:spChg>
        <pc:spChg chg="mod">
          <ac:chgData name="Ashish Chopra" userId="73b777bb-d56d-4042-ab11-fa04ce11e99f" providerId="ADAL" clId="{375ACA70-C26F-4825-A925-AA60B44A12C0}" dt="2026-07-06T20:50:28.012" v="23474" actId="108"/>
          <ac:spMkLst>
            <pc:docMk/>
            <pc:sldMk cId="3756374049" sldId="269"/>
            <ac:spMk id="127" creationId="{82E682AE-BE4D-72FC-CEA0-54AA2FA05619}"/>
          </ac:spMkLst>
        </pc:spChg>
        <pc:spChg chg="mod">
          <ac:chgData name="Ashish Chopra" userId="73b777bb-d56d-4042-ab11-fa04ce11e99f" providerId="ADAL" clId="{375ACA70-C26F-4825-A925-AA60B44A12C0}" dt="2026-07-06T20:50:17.336" v="23473" actId="108"/>
          <ac:spMkLst>
            <pc:docMk/>
            <pc:sldMk cId="3756374049" sldId="269"/>
            <ac:spMk id="128" creationId="{3539E7E0-E061-C045-CF0A-757F6E6186D0}"/>
          </ac:spMkLst>
        </pc:spChg>
        <pc:spChg chg="mod">
          <ac:chgData name="Ashish Chopra" userId="73b777bb-d56d-4042-ab11-fa04ce11e99f" providerId="ADAL" clId="{375ACA70-C26F-4825-A925-AA60B44A12C0}" dt="2026-07-06T20:50:14.777" v="23472" actId="108"/>
          <ac:spMkLst>
            <pc:docMk/>
            <pc:sldMk cId="3756374049" sldId="269"/>
            <ac:spMk id="129" creationId="{35A6AF96-DD26-221F-026D-9812C05BEB33}"/>
          </ac:spMkLst>
        </pc:spChg>
        <pc:spChg chg="mod">
          <ac:chgData name="Ashish Chopra" userId="73b777bb-d56d-4042-ab11-fa04ce11e99f" providerId="ADAL" clId="{375ACA70-C26F-4825-A925-AA60B44A12C0}" dt="2026-07-06T20:50:08.215" v="23471" actId="108"/>
          <ac:spMkLst>
            <pc:docMk/>
            <pc:sldMk cId="3756374049" sldId="269"/>
            <ac:spMk id="130" creationId="{2F5E1322-D103-2BAE-A044-2DC3E8920991}"/>
          </ac:spMkLst>
        </pc:spChg>
        <pc:spChg chg="mod">
          <ac:chgData name="Ashish Chopra" userId="73b777bb-d56d-4042-ab11-fa04ce11e99f" providerId="ADAL" clId="{375ACA70-C26F-4825-A925-AA60B44A12C0}" dt="2026-07-06T20:54:17.043" v="23495" actId="108"/>
          <ac:spMkLst>
            <pc:docMk/>
            <pc:sldMk cId="3756374049" sldId="269"/>
            <ac:spMk id="131" creationId="{A3C7B3C5-3E27-DE86-25F8-0D49AADFEBE7}"/>
          </ac:spMkLst>
        </pc:spChg>
        <pc:picChg chg="mod">
          <ac:chgData name="Ashish Chopra" userId="73b777bb-d56d-4042-ab11-fa04ce11e99f" providerId="ADAL" clId="{375ACA70-C26F-4825-A925-AA60B44A12C0}" dt="2026-07-06T20:49:33.599" v="23466" actId="207"/>
          <ac:picMkLst>
            <pc:docMk/>
            <pc:sldMk cId="3756374049" sldId="269"/>
            <ac:picMk id="57" creationId="{44AE9548-CADB-F825-4070-B14EAAD54EDB}"/>
          </ac:picMkLst>
        </pc:picChg>
        <pc:cxnChg chg="mod">
          <ac:chgData name="Ashish Chopra" userId="73b777bb-d56d-4042-ab11-fa04ce11e99f" providerId="ADAL" clId="{375ACA70-C26F-4825-A925-AA60B44A12C0}" dt="2026-07-06T20:50:46.836" v="23475" actId="692"/>
          <ac:cxnSpMkLst>
            <pc:docMk/>
            <pc:sldMk cId="3756374049" sldId="269"/>
            <ac:cxnSpMk id="73" creationId="{5BC214EB-6E93-F13A-F699-70BACD7A69D5}"/>
          </ac:cxnSpMkLst>
        </pc:cxnChg>
        <pc:cxnChg chg="mod">
          <ac:chgData name="Ashish Chopra" userId="73b777bb-d56d-4042-ab11-fa04ce11e99f" providerId="ADAL" clId="{375ACA70-C26F-4825-A925-AA60B44A12C0}" dt="2026-07-06T20:50:46.836" v="23475" actId="692"/>
          <ac:cxnSpMkLst>
            <pc:docMk/>
            <pc:sldMk cId="3756374049" sldId="269"/>
            <ac:cxnSpMk id="74" creationId="{3E9BB450-C5AF-9DE7-4673-840DE88E627A}"/>
          </ac:cxnSpMkLst>
        </pc:cxnChg>
        <pc:cxnChg chg="mod">
          <ac:chgData name="Ashish Chopra" userId="73b777bb-d56d-4042-ab11-fa04ce11e99f" providerId="ADAL" clId="{375ACA70-C26F-4825-A925-AA60B44A12C0}" dt="2026-07-07T02:49:45.989" v="27861" actId="14100"/>
          <ac:cxnSpMkLst>
            <pc:docMk/>
            <pc:sldMk cId="3756374049" sldId="269"/>
            <ac:cxnSpMk id="77" creationId="{5090F5A5-2EDB-F898-8694-D2286DFCDC45}"/>
          </ac:cxnSpMkLst>
        </pc:cxnChg>
        <pc:cxnChg chg="mod">
          <ac:chgData name="Ashish Chopra" userId="73b777bb-d56d-4042-ab11-fa04ce11e99f" providerId="ADAL" clId="{375ACA70-C26F-4825-A925-AA60B44A12C0}" dt="2026-06-28T22:29:42.013" v="12093" actId="108"/>
          <ac:cxnSpMkLst>
            <pc:docMk/>
            <pc:sldMk cId="3756374049" sldId="269"/>
            <ac:cxnSpMk id="80" creationId="{A4CE621B-76B1-D797-24AC-33718969708B}"/>
          </ac:cxnSpMkLst>
        </pc:cxnChg>
        <pc:cxnChg chg="mod">
          <ac:chgData name="Ashish Chopra" userId="73b777bb-d56d-4042-ab11-fa04ce11e99f" providerId="ADAL" clId="{375ACA70-C26F-4825-A925-AA60B44A12C0}" dt="2026-07-06T20:50:46.836" v="23475" actId="692"/>
          <ac:cxnSpMkLst>
            <pc:docMk/>
            <pc:sldMk cId="3756374049" sldId="269"/>
            <ac:cxnSpMk id="83" creationId="{7B8AFC78-D59B-19B4-3A2B-536454A2FC6E}"/>
          </ac:cxnSpMkLst>
        </pc:cxnChg>
        <pc:cxnChg chg="mod">
          <ac:chgData name="Ashish Chopra" userId="73b777bb-d56d-4042-ab11-fa04ce11e99f" providerId="ADAL" clId="{375ACA70-C26F-4825-A925-AA60B44A12C0}" dt="2026-07-06T20:50:46.836" v="23475" actId="692"/>
          <ac:cxnSpMkLst>
            <pc:docMk/>
            <pc:sldMk cId="3756374049" sldId="269"/>
            <ac:cxnSpMk id="86" creationId="{6BB622BA-BEEA-2860-AE44-C358C6E4D20D}"/>
          </ac:cxnSpMkLst>
        </pc:cxnChg>
        <pc:cxnChg chg="mod">
          <ac:chgData name="Ashish Chopra" userId="73b777bb-d56d-4042-ab11-fa04ce11e99f" providerId="ADAL" clId="{375ACA70-C26F-4825-A925-AA60B44A12C0}" dt="2026-07-06T20:50:46.836" v="23475" actId="692"/>
          <ac:cxnSpMkLst>
            <pc:docMk/>
            <pc:sldMk cId="3756374049" sldId="269"/>
            <ac:cxnSpMk id="89" creationId="{2C6841D7-7368-2840-A833-B2E03BF914F2}"/>
          </ac:cxnSpMkLst>
        </pc:cxnChg>
        <pc:cxnChg chg="mod">
          <ac:chgData name="Ashish Chopra" userId="73b777bb-d56d-4042-ab11-fa04ce11e99f" providerId="ADAL" clId="{375ACA70-C26F-4825-A925-AA60B44A12C0}" dt="2026-07-06T20:50:46.836" v="23475" actId="692"/>
          <ac:cxnSpMkLst>
            <pc:docMk/>
            <pc:sldMk cId="3756374049" sldId="269"/>
            <ac:cxnSpMk id="92" creationId="{CE26AFCD-4EED-1304-6359-DEE49B8FE787}"/>
          </ac:cxnSpMkLst>
        </pc:cxnChg>
        <pc:cxnChg chg="mod">
          <ac:chgData name="Ashish Chopra" userId="73b777bb-d56d-4042-ab11-fa04ce11e99f" providerId="ADAL" clId="{375ACA70-C26F-4825-A925-AA60B44A12C0}" dt="2026-07-06T20:50:46.836" v="23475" actId="692"/>
          <ac:cxnSpMkLst>
            <pc:docMk/>
            <pc:sldMk cId="3756374049" sldId="269"/>
            <ac:cxnSpMk id="95" creationId="{1B69456C-787B-6709-1E83-54D4C53958F3}"/>
          </ac:cxnSpMkLst>
        </pc:cxnChg>
        <pc:cxnChg chg="mod">
          <ac:chgData name="Ashish Chopra" userId="73b777bb-d56d-4042-ab11-fa04ce11e99f" providerId="ADAL" clId="{375ACA70-C26F-4825-A925-AA60B44A12C0}" dt="2026-07-06T20:50:46.836" v="23475" actId="692"/>
          <ac:cxnSpMkLst>
            <pc:docMk/>
            <pc:sldMk cId="3756374049" sldId="269"/>
            <ac:cxnSpMk id="98" creationId="{21CFDBE7-B01C-0649-9791-0FD0AE0F0E9B}"/>
          </ac:cxnSpMkLst>
        </pc:cxnChg>
        <pc:cxnChg chg="mod">
          <ac:chgData name="Ashish Chopra" userId="73b777bb-d56d-4042-ab11-fa04ce11e99f" providerId="ADAL" clId="{375ACA70-C26F-4825-A925-AA60B44A12C0}" dt="2026-07-06T20:50:46.836" v="23475" actId="692"/>
          <ac:cxnSpMkLst>
            <pc:docMk/>
            <pc:sldMk cId="3756374049" sldId="269"/>
            <ac:cxnSpMk id="101" creationId="{3D9D7570-7A8E-6366-683F-883CBC6B103E}"/>
          </ac:cxnSpMkLst>
        </pc:cxnChg>
      </pc:sldChg>
      <pc:sldChg chg="addSp delSp modSp mod ord setBg">
        <pc:chgData name="Ashish Chopra" userId="73b777bb-d56d-4042-ab11-fa04ce11e99f" providerId="ADAL" clId="{375ACA70-C26F-4825-A925-AA60B44A12C0}" dt="2026-07-07T05:26:45.698" v="28925" actId="14100"/>
        <pc:sldMkLst>
          <pc:docMk/>
          <pc:sldMk cId="3884354163" sldId="276"/>
        </pc:sldMkLst>
        <pc:spChg chg="add mod">
          <ac:chgData name="Ashish Chopra" userId="73b777bb-d56d-4042-ab11-fa04ce11e99f" providerId="ADAL" clId="{375ACA70-C26F-4825-A925-AA60B44A12C0}" dt="2026-07-07T05:26:45.698" v="28925" actId="14100"/>
          <ac:spMkLst>
            <pc:docMk/>
            <pc:sldMk cId="3884354163" sldId="276"/>
            <ac:spMk id="3" creationId="{EFFE4D18-019F-8077-2E51-89536A4E41A1}"/>
          </ac:spMkLst>
        </pc:spChg>
        <pc:spChg chg="add mod">
          <ac:chgData name="Ashish Chopra" userId="73b777bb-d56d-4042-ab11-fa04ce11e99f" providerId="ADAL" clId="{375ACA70-C26F-4825-A925-AA60B44A12C0}" dt="2026-07-07T05:26:39.659" v="28923" actId="208"/>
          <ac:spMkLst>
            <pc:docMk/>
            <pc:sldMk cId="3884354163" sldId="276"/>
            <ac:spMk id="4" creationId="{024D538D-8199-A390-0B49-DE884CA9FB5C}"/>
          </ac:spMkLst>
        </pc:spChg>
        <pc:spChg chg="add mod">
          <ac:chgData name="Ashish Chopra" userId="73b777bb-d56d-4042-ab11-fa04ce11e99f" providerId="ADAL" clId="{375ACA70-C26F-4825-A925-AA60B44A12C0}" dt="2026-07-07T05:26:13.746" v="28907" actId="21"/>
          <ac:spMkLst>
            <pc:docMk/>
            <pc:sldMk cId="3884354163" sldId="276"/>
            <ac:spMk id="5" creationId="{B117BC46-DABB-093A-0C63-0407188B7D3E}"/>
          </ac:spMkLst>
        </pc:spChg>
      </pc:sldChg>
      <pc:sldChg chg="addSp delSp modSp mod ord setBg">
        <pc:chgData name="Ashish Chopra" userId="73b777bb-d56d-4042-ab11-fa04ce11e99f" providerId="ADAL" clId="{375ACA70-C26F-4825-A925-AA60B44A12C0}" dt="2026-07-07T02:45:07.654" v="27794" actId="478"/>
        <pc:sldMkLst>
          <pc:docMk/>
          <pc:sldMk cId="2604069347" sldId="277"/>
        </pc:sldMkLst>
        <pc:spChg chg="mod">
          <ac:chgData name="Ashish Chopra" userId="73b777bb-d56d-4042-ab11-fa04ce11e99f" providerId="ADAL" clId="{375ACA70-C26F-4825-A925-AA60B44A12C0}" dt="2026-07-06T20:24:49.697" v="23252" actId="207"/>
          <ac:spMkLst>
            <pc:docMk/>
            <pc:sldMk cId="2604069347" sldId="277"/>
            <ac:spMk id="3" creationId="{543E0399-34D8-998D-E30D-4ADD570AAA3D}"/>
          </ac:spMkLst>
        </pc:spChg>
        <pc:spChg chg="mod">
          <ac:chgData name="Ashish Chopra" userId="73b777bb-d56d-4042-ab11-fa04ce11e99f" providerId="ADAL" clId="{375ACA70-C26F-4825-A925-AA60B44A12C0}" dt="2026-07-06T20:55:49.151" v="23509" actId="692"/>
          <ac:spMkLst>
            <pc:docMk/>
            <pc:sldMk cId="2604069347" sldId="277"/>
            <ac:spMk id="8" creationId="{E2AB4615-A89E-DE4D-2588-48BFFD593295}"/>
          </ac:spMkLst>
        </pc:spChg>
      </pc:sldChg>
      <pc:sldChg chg="addSp delSp modSp mod ord setBg">
        <pc:chgData name="Ashish Chopra" userId="73b777bb-d56d-4042-ab11-fa04ce11e99f" providerId="ADAL" clId="{375ACA70-C26F-4825-A925-AA60B44A12C0}" dt="2026-07-07T02:45:05.121" v="27793" actId="478"/>
        <pc:sldMkLst>
          <pc:docMk/>
          <pc:sldMk cId="2853644152" sldId="278"/>
        </pc:sldMkLst>
        <pc:spChg chg="add del mod">
          <ac:chgData name="Ashish Chopra" userId="73b777bb-d56d-4042-ab11-fa04ce11e99f" providerId="ADAL" clId="{375ACA70-C26F-4825-A925-AA60B44A12C0}" dt="2026-07-06T20:24:55.462" v="23253" actId="207"/>
          <ac:spMkLst>
            <pc:docMk/>
            <pc:sldMk cId="2853644152" sldId="278"/>
            <ac:spMk id="3" creationId="{73D9F6BF-1C23-215A-37E4-B9F18795D46C}"/>
          </ac:spMkLst>
        </pc:spChg>
        <pc:spChg chg="mod">
          <ac:chgData name="Ashish Chopra" userId="73b777bb-d56d-4042-ab11-fa04ce11e99f" providerId="ADAL" clId="{375ACA70-C26F-4825-A925-AA60B44A12C0}" dt="2026-07-06T20:55:56.866" v="23510" actId="692"/>
          <ac:spMkLst>
            <pc:docMk/>
            <pc:sldMk cId="2853644152" sldId="278"/>
            <ac:spMk id="5" creationId="{F8C67B91-4042-57E0-347B-2544B8D43D8A}"/>
          </ac:spMkLst>
        </pc:spChg>
        <pc:spChg chg="mod">
          <ac:chgData name="Ashish Chopra" userId="73b777bb-d56d-4042-ab11-fa04ce11e99f" providerId="ADAL" clId="{375ACA70-C26F-4825-A925-AA60B44A12C0}" dt="2026-07-06T20:24:55.462" v="23253" actId="207"/>
          <ac:spMkLst>
            <pc:docMk/>
            <pc:sldMk cId="2853644152" sldId="278"/>
            <ac:spMk id="9" creationId="{21EB368B-26B4-34E1-3A29-076040B6BB68}"/>
          </ac:spMkLst>
        </pc:spChg>
        <pc:spChg chg="mod">
          <ac:chgData name="Ashish Chopra" userId="73b777bb-d56d-4042-ab11-fa04ce11e99f" providerId="ADAL" clId="{375ACA70-C26F-4825-A925-AA60B44A12C0}" dt="2026-07-06T20:55:56.866" v="23510" actId="692"/>
          <ac:spMkLst>
            <pc:docMk/>
            <pc:sldMk cId="2853644152" sldId="278"/>
            <ac:spMk id="10" creationId="{0416396C-3EB5-1BF4-86D1-5FB274D4DEAA}"/>
          </ac:spMkLst>
        </pc:spChg>
      </pc:sldChg>
      <pc:sldChg chg="addSp delSp modSp mod setBg">
        <pc:chgData name="Ashish Chopra" userId="73b777bb-d56d-4042-ab11-fa04ce11e99f" providerId="ADAL" clId="{375ACA70-C26F-4825-A925-AA60B44A12C0}" dt="2026-07-07T02:45:32.228" v="27800" actId="478"/>
        <pc:sldMkLst>
          <pc:docMk/>
          <pc:sldMk cId="998053434" sldId="285"/>
        </pc:sldMkLst>
        <pc:spChg chg="mod">
          <ac:chgData name="Ashish Chopra" userId="73b777bb-d56d-4042-ab11-fa04ce11e99f" providerId="ADAL" clId="{375ACA70-C26F-4825-A925-AA60B44A12C0}" dt="2026-07-06T20:29:41.011" v="23293" actId="207"/>
          <ac:spMkLst>
            <pc:docMk/>
            <pc:sldMk cId="998053434" sldId="285"/>
            <ac:spMk id="3" creationId="{25D9646E-7BA9-72C5-B02F-A1BF66A0F0FB}"/>
          </ac:spMkLst>
        </pc:spChg>
        <pc:spChg chg="mod">
          <ac:chgData name="Ashish Chopra" userId="73b777bb-d56d-4042-ab11-fa04ce11e99f" providerId="ADAL" clId="{375ACA70-C26F-4825-A925-AA60B44A12C0}" dt="2026-07-06T20:29:41.011" v="23293" actId="207"/>
          <ac:spMkLst>
            <pc:docMk/>
            <pc:sldMk cId="998053434" sldId="285"/>
            <ac:spMk id="10" creationId="{6055F084-DEEC-9D53-7399-AA87B89741BD}"/>
          </ac:spMkLst>
        </pc:spChg>
        <pc:graphicFrameChg chg="mod modGraphic">
          <ac:chgData name="Ashish Chopra" userId="73b777bb-d56d-4042-ab11-fa04ce11e99f" providerId="ADAL" clId="{375ACA70-C26F-4825-A925-AA60B44A12C0}" dt="2026-07-06T20:48:29.902" v="23456"/>
          <ac:graphicFrameMkLst>
            <pc:docMk/>
            <pc:sldMk cId="998053434" sldId="285"/>
            <ac:graphicFrameMk id="11" creationId="{4CF4CEEB-AF00-5661-88A8-89A479A86FAF}"/>
          </ac:graphicFrameMkLst>
        </pc:graphicFrameChg>
        <pc:graphicFrameChg chg="mod modGraphic">
          <ac:chgData name="Ashish Chopra" userId="73b777bb-d56d-4042-ab11-fa04ce11e99f" providerId="ADAL" clId="{375ACA70-C26F-4825-A925-AA60B44A12C0}" dt="2026-07-06T20:48:36.356" v="23458"/>
          <ac:graphicFrameMkLst>
            <pc:docMk/>
            <pc:sldMk cId="998053434" sldId="285"/>
            <ac:graphicFrameMk id="16" creationId="{C545D69D-9C5C-CDAC-E34A-AB17591679AF}"/>
          </ac:graphicFrameMkLst>
        </pc:graphicFrameChg>
      </pc:sldChg>
      <pc:sldChg chg="addSp delSp modSp mod setBg">
        <pc:chgData name="Ashish Chopra" userId="73b777bb-d56d-4042-ab11-fa04ce11e99f" providerId="ADAL" clId="{375ACA70-C26F-4825-A925-AA60B44A12C0}" dt="2026-07-07T02:49:33.583" v="27860" actId="207"/>
        <pc:sldMkLst>
          <pc:docMk/>
          <pc:sldMk cId="2059441895" sldId="286"/>
        </pc:sldMkLst>
        <pc:spChg chg="mod">
          <ac:chgData name="Ashish Chopra" userId="73b777bb-d56d-4042-ab11-fa04ce11e99f" providerId="ADAL" clId="{375ACA70-C26F-4825-A925-AA60B44A12C0}" dt="2026-07-06T20:30:36.324" v="23302" actId="207"/>
          <ac:spMkLst>
            <pc:docMk/>
            <pc:sldMk cId="2059441895" sldId="286"/>
            <ac:spMk id="3" creationId="{64496A8E-CC65-96B1-1B39-79BD018C407F}"/>
          </ac:spMkLst>
        </pc:spChg>
        <pc:spChg chg="mod">
          <ac:chgData name="Ashish Chopra" userId="73b777bb-d56d-4042-ab11-fa04ce11e99f" providerId="ADAL" clId="{375ACA70-C26F-4825-A925-AA60B44A12C0}" dt="2026-07-07T02:49:13.008" v="27857" actId="207"/>
          <ac:spMkLst>
            <pc:docMk/>
            <pc:sldMk cId="2059441895" sldId="286"/>
            <ac:spMk id="5" creationId="{71CD90C7-C580-9C3A-A930-E65816C5B0F6}"/>
          </ac:spMkLst>
        </pc:spChg>
        <pc:spChg chg="mod">
          <ac:chgData name="Ashish Chopra" userId="73b777bb-d56d-4042-ab11-fa04ce11e99f" providerId="ADAL" clId="{375ACA70-C26F-4825-A925-AA60B44A12C0}" dt="2026-07-07T02:49:33.583" v="27860" actId="207"/>
          <ac:spMkLst>
            <pc:docMk/>
            <pc:sldMk cId="2059441895" sldId="286"/>
            <ac:spMk id="6" creationId="{A666738F-A68C-9FB4-08D9-E48F812CD8CC}"/>
          </ac:spMkLst>
        </pc:spChg>
      </pc:sldChg>
      <pc:sldChg chg="addSp delSp modSp add mod setBg">
        <pc:chgData name="Ashish Chopra" userId="73b777bb-d56d-4042-ab11-fa04ce11e99f" providerId="ADAL" clId="{375ACA70-C26F-4825-A925-AA60B44A12C0}" dt="2026-07-07T05:25:37.213" v="28901" actId="207"/>
        <pc:sldMkLst>
          <pc:docMk/>
          <pc:sldMk cId="2272319928" sldId="288"/>
        </pc:sldMkLst>
        <pc:spChg chg="mod">
          <ac:chgData name="Ashish Chopra" userId="73b777bb-d56d-4042-ab11-fa04ce11e99f" providerId="ADAL" clId="{375ACA70-C26F-4825-A925-AA60B44A12C0}" dt="2026-07-06T20:23:31.553" v="23235" actId="207"/>
          <ac:spMkLst>
            <pc:docMk/>
            <pc:sldMk cId="2272319928" sldId="288"/>
            <ac:spMk id="110" creationId="{750A4895-77A0-7177-63CC-ADC21426EB0B}"/>
          </ac:spMkLst>
        </pc:spChg>
        <pc:graphicFrameChg chg="mod modGraphic">
          <ac:chgData name="Ashish Chopra" userId="73b777bb-d56d-4042-ab11-fa04ce11e99f" providerId="ADAL" clId="{375ACA70-C26F-4825-A925-AA60B44A12C0}" dt="2026-07-07T05:25:37.213" v="28901" actId="207"/>
          <ac:graphicFrameMkLst>
            <pc:docMk/>
            <pc:sldMk cId="2272319928" sldId="288"/>
            <ac:graphicFrameMk id="4" creationId="{EE5643F2-D876-D934-D8F5-D8455D41C885}"/>
          </ac:graphicFrameMkLst>
        </pc:graphicFrameChg>
      </pc:sldChg>
      <pc:sldChg chg="addSp delSp modSp add mod setBg">
        <pc:chgData name="Ashish Chopra" userId="73b777bb-d56d-4042-ab11-fa04ce11e99f" providerId="ADAL" clId="{375ACA70-C26F-4825-A925-AA60B44A12C0}" dt="2026-07-07T05:25:43.742" v="28902" actId="207"/>
        <pc:sldMkLst>
          <pc:docMk/>
          <pc:sldMk cId="3712171052" sldId="289"/>
        </pc:sldMkLst>
        <pc:spChg chg="mod">
          <ac:chgData name="Ashish Chopra" userId="73b777bb-d56d-4042-ab11-fa04ce11e99f" providerId="ADAL" clId="{375ACA70-C26F-4825-A925-AA60B44A12C0}" dt="2026-07-06T20:24:02.949" v="23240" actId="207"/>
          <ac:spMkLst>
            <pc:docMk/>
            <pc:sldMk cId="3712171052" sldId="289"/>
            <ac:spMk id="110" creationId="{8C48FBC8-F0F5-615B-39F5-C922126CF578}"/>
          </ac:spMkLst>
        </pc:spChg>
        <pc:graphicFrameChg chg="mod modGraphic">
          <ac:chgData name="Ashish Chopra" userId="73b777bb-d56d-4042-ab11-fa04ce11e99f" providerId="ADAL" clId="{375ACA70-C26F-4825-A925-AA60B44A12C0}" dt="2026-07-07T05:25:43.742" v="28902" actId="207"/>
          <ac:graphicFrameMkLst>
            <pc:docMk/>
            <pc:sldMk cId="3712171052" sldId="289"/>
            <ac:graphicFrameMk id="4" creationId="{61DC8B1B-62F9-105B-B9B0-B133A6D5A255}"/>
          </ac:graphicFrameMkLst>
        </pc:graphicFrameChg>
      </pc:sldChg>
      <pc:sldChg chg="addSp delSp modSp add mod setBg">
        <pc:chgData name="Ashish Chopra" userId="73b777bb-d56d-4042-ab11-fa04ce11e99f" providerId="ADAL" clId="{375ACA70-C26F-4825-A925-AA60B44A12C0}" dt="2026-07-07T05:25:49.720" v="28903" actId="207"/>
        <pc:sldMkLst>
          <pc:docMk/>
          <pc:sldMk cId="1060563035" sldId="290"/>
        </pc:sldMkLst>
        <pc:spChg chg="add del mod">
          <ac:chgData name="Ashish Chopra" userId="73b777bb-d56d-4042-ab11-fa04ce11e99f" providerId="ADAL" clId="{375ACA70-C26F-4825-A925-AA60B44A12C0}" dt="2026-07-06T20:24:20.216" v="23242" actId="207"/>
          <ac:spMkLst>
            <pc:docMk/>
            <pc:sldMk cId="1060563035" sldId="290"/>
            <ac:spMk id="110" creationId="{2580A7A7-8E77-AA70-F096-1CBF249CB64A}"/>
          </ac:spMkLst>
        </pc:spChg>
        <pc:graphicFrameChg chg="mod modGraphic">
          <ac:chgData name="Ashish Chopra" userId="73b777bb-d56d-4042-ab11-fa04ce11e99f" providerId="ADAL" clId="{375ACA70-C26F-4825-A925-AA60B44A12C0}" dt="2026-07-07T05:25:49.720" v="28903" actId="207"/>
          <ac:graphicFrameMkLst>
            <pc:docMk/>
            <pc:sldMk cId="1060563035" sldId="290"/>
            <ac:graphicFrameMk id="4" creationId="{515F30D4-29CF-EEFC-8A2A-32FA51E18836}"/>
          </ac:graphicFrameMkLst>
        </pc:graphicFrameChg>
      </pc:sldChg>
      <pc:sldChg chg="delSp modSp add mod setBg">
        <pc:chgData name="Ashish Chopra" userId="73b777bb-d56d-4042-ab11-fa04ce11e99f" providerId="ADAL" clId="{375ACA70-C26F-4825-A925-AA60B44A12C0}" dt="2026-07-06T21:28:18.411" v="24510"/>
        <pc:sldMkLst>
          <pc:docMk/>
          <pc:sldMk cId="1870282154" sldId="291"/>
        </pc:sldMkLst>
        <pc:spChg chg="mod">
          <ac:chgData name="Ashish Chopra" userId="73b777bb-d56d-4042-ab11-fa04ce11e99f" providerId="ADAL" clId="{375ACA70-C26F-4825-A925-AA60B44A12C0}" dt="2026-07-06T20:23:17.681" v="23231" actId="207"/>
          <ac:spMkLst>
            <pc:docMk/>
            <pc:sldMk cId="1870282154" sldId="291"/>
            <ac:spMk id="3" creationId="{65BEBAC4-D7EC-0370-A1B6-02F53802794E}"/>
          </ac:spMkLst>
        </pc:spChg>
        <pc:spChg chg="mod">
          <ac:chgData name="Ashish Chopra" userId="73b777bb-d56d-4042-ab11-fa04ce11e99f" providerId="ADAL" clId="{375ACA70-C26F-4825-A925-AA60B44A12C0}" dt="2026-07-06T20:23:20.825" v="23232" actId="207"/>
          <ac:spMkLst>
            <pc:docMk/>
            <pc:sldMk cId="1870282154" sldId="291"/>
            <ac:spMk id="5" creationId="{DF4A074D-1DC8-AE58-9AC1-1536479912B1}"/>
          </ac:spMkLst>
        </pc:spChg>
        <pc:spChg chg="mod">
          <ac:chgData name="Ashish Chopra" userId="73b777bb-d56d-4042-ab11-fa04ce11e99f" providerId="ADAL" clId="{375ACA70-C26F-4825-A925-AA60B44A12C0}" dt="2026-07-06T20:23:23.659" v="23233" actId="207"/>
          <ac:spMkLst>
            <pc:docMk/>
            <pc:sldMk cId="1870282154" sldId="291"/>
            <ac:spMk id="6" creationId="{564CBAFD-DAFE-C12A-373E-B8EC27F75B3A}"/>
          </ac:spMkLst>
        </pc:spChg>
      </pc:sldChg>
      <pc:sldChg chg="delSp modSp add mod setBg">
        <pc:chgData name="Ashish Chopra" userId="73b777bb-d56d-4042-ab11-fa04ce11e99f" providerId="ADAL" clId="{375ACA70-C26F-4825-A925-AA60B44A12C0}" dt="2026-07-06T21:28:48.084" v="24521"/>
        <pc:sldMkLst>
          <pc:docMk/>
          <pc:sldMk cId="1338782695" sldId="292"/>
        </pc:sldMkLst>
        <pc:spChg chg="mod">
          <ac:chgData name="Ashish Chopra" userId="73b777bb-d56d-4042-ab11-fa04ce11e99f" providerId="ADAL" clId="{375ACA70-C26F-4825-A925-AA60B44A12C0}" dt="2026-07-06T20:26:00.275" v="23266" actId="207"/>
          <ac:spMkLst>
            <pc:docMk/>
            <pc:sldMk cId="1338782695" sldId="292"/>
            <ac:spMk id="3" creationId="{B745239C-99A4-FBDD-8289-75D1FF5E4A85}"/>
          </ac:spMkLst>
        </pc:spChg>
        <pc:spChg chg="mod">
          <ac:chgData name="Ashish Chopra" userId="73b777bb-d56d-4042-ab11-fa04ce11e99f" providerId="ADAL" clId="{375ACA70-C26F-4825-A925-AA60B44A12C0}" dt="2026-07-06T20:26:07.721" v="23268" actId="207"/>
          <ac:spMkLst>
            <pc:docMk/>
            <pc:sldMk cId="1338782695" sldId="292"/>
            <ac:spMk id="5" creationId="{1AEE02BD-1B71-4835-FD1D-25B0CFD2C0CA}"/>
          </ac:spMkLst>
        </pc:spChg>
        <pc:spChg chg="mod">
          <ac:chgData name="Ashish Chopra" userId="73b777bb-d56d-4042-ab11-fa04ce11e99f" providerId="ADAL" clId="{375ACA70-C26F-4825-A925-AA60B44A12C0}" dt="2026-07-06T20:26:04.463" v="23267" actId="207"/>
          <ac:spMkLst>
            <pc:docMk/>
            <pc:sldMk cId="1338782695" sldId="292"/>
            <ac:spMk id="6" creationId="{EB0BAF37-0FAE-A6CE-E2EC-B249D2883923}"/>
          </ac:spMkLst>
        </pc:spChg>
      </pc:sldChg>
      <pc:sldChg chg="addSp delSp modSp add mod setBg">
        <pc:chgData name="Ashish Chopra" userId="73b777bb-d56d-4042-ab11-fa04ce11e99f" providerId="ADAL" clId="{375ACA70-C26F-4825-A925-AA60B44A12C0}" dt="2026-07-07T02:45:49.363" v="27803" actId="478"/>
        <pc:sldMkLst>
          <pc:docMk/>
          <pc:sldMk cId="1758511745" sldId="293"/>
        </pc:sldMkLst>
        <pc:spChg chg="add mod">
          <ac:chgData name="Ashish Chopra" userId="73b777bb-d56d-4042-ab11-fa04ce11e99f" providerId="ADAL" clId="{375ACA70-C26F-4825-A925-AA60B44A12C0}" dt="2026-07-06T20:48:03.427" v="23451" actId="692"/>
          <ac:spMkLst>
            <pc:docMk/>
            <pc:sldMk cId="1758511745" sldId="293"/>
            <ac:spMk id="2" creationId="{39023131-BC0F-B13D-281D-19FCB90E8EF3}"/>
          </ac:spMkLst>
        </pc:spChg>
        <pc:spChg chg="mod">
          <ac:chgData name="Ashish Chopra" userId="73b777bb-d56d-4042-ab11-fa04ce11e99f" providerId="ADAL" clId="{375ACA70-C26F-4825-A925-AA60B44A12C0}" dt="2026-07-06T20:30:22.042" v="23299" actId="207"/>
          <ac:spMkLst>
            <pc:docMk/>
            <pc:sldMk cId="1758511745" sldId="293"/>
            <ac:spMk id="3" creationId="{C498E49E-8D4A-F2A1-77CB-5FF291D0EA31}"/>
          </ac:spMkLst>
        </pc:spChg>
        <pc:spChg chg="add mod">
          <ac:chgData name="Ashish Chopra" userId="73b777bb-d56d-4042-ab11-fa04ce11e99f" providerId="ADAL" clId="{375ACA70-C26F-4825-A925-AA60B44A12C0}" dt="2026-07-06T20:30:30.551" v="23301" actId="207"/>
          <ac:spMkLst>
            <pc:docMk/>
            <pc:sldMk cId="1758511745" sldId="293"/>
            <ac:spMk id="4" creationId="{0D7471FA-CE29-BB4D-1F87-30714F92C59B}"/>
          </ac:spMkLst>
        </pc:spChg>
        <pc:spChg chg="add mod">
          <ac:chgData name="Ashish Chopra" userId="73b777bb-d56d-4042-ab11-fa04ce11e99f" providerId="ADAL" clId="{375ACA70-C26F-4825-A925-AA60B44A12C0}" dt="2026-07-06T20:48:03.427" v="23451" actId="692"/>
          <ac:spMkLst>
            <pc:docMk/>
            <pc:sldMk cId="1758511745" sldId="293"/>
            <ac:spMk id="6" creationId="{A4C87665-83E8-0E23-530E-CB50A7C18A45}"/>
          </ac:spMkLst>
        </pc:spChg>
        <pc:spChg chg="add mod">
          <ac:chgData name="Ashish Chopra" userId="73b777bb-d56d-4042-ab11-fa04ce11e99f" providerId="ADAL" clId="{375ACA70-C26F-4825-A925-AA60B44A12C0}" dt="2026-07-06T20:48:03.427" v="23451" actId="692"/>
          <ac:spMkLst>
            <pc:docMk/>
            <pc:sldMk cId="1758511745" sldId="293"/>
            <ac:spMk id="9" creationId="{D71CDDA0-B191-8D9D-62B0-8C21D8D2AB16}"/>
          </ac:spMkLst>
        </pc:spChg>
        <pc:spChg chg="add mod">
          <ac:chgData name="Ashish Chopra" userId="73b777bb-d56d-4042-ab11-fa04ce11e99f" providerId="ADAL" clId="{375ACA70-C26F-4825-A925-AA60B44A12C0}" dt="2026-07-06T20:48:11.074" v="23452" actId="692"/>
          <ac:spMkLst>
            <pc:docMk/>
            <pc:sldMk cId="1758511745" sldId="293"/>
            <ac:spMk id="18" creationId="{8AB5CA71-16BE-F2D8-D052-0E46565556E3}"/>
          </ac:spMkLst>
        </pc:spChg>
        <pc:spChg chg="add mod">
          <ac:chgData name="Ashish Chopra" userId="73b777bb-d56d-4042-ab11-fa04ce11e99f" providerId="ADAL" clId="{375ACA70-C26F-4825-A925-AA60B44A12C0}" dt="2026-07-06T20:48:11.074" v="23452" actId="692"/>
          <ac:spMkLst>
            <pc:docMk/>
            <pc:sldMk cId="1758511745" sldId="293"/>
            <ac:spMk id="20" creationId="{EBB3B58B-425B-5DD9-90AB-18C6ED1718D9}"/>
          </ac:spMkLst>
        </pc:spChg>
        <pc:spChg chg="add mod">
          <ac:chgData name="Ashish Chopra" userId="73b777bb-d56d-4042-ab11-fa04ce11e99f" providerId="ADAL" clId="{375ACA70-C26F-4825-A925-AA60B44A12C0}" dt="2026-07-06T20:48:11.074" v="23452" actId="692"/>
          <ac:spMkLst>
            <pc:docMk/>
            <pc:sldMk cId="1758511745" sldId="293"/>
            <ac:spMk id="22" creationId="{11C8B6CC-464A-D0B7-3AE3-3D6A0416A054}"/>
          </ac:spMkLst>
        </pc:spChg>
        <pc:spChg chg="add mod">
          <ac:chgData name="Ashish Chopra" userId="73b777bb-d56d-4042-ab11-fa04ce11e99f" providerId="ADAL" clId="{375ACA70-C26F-4825-A925-AA60B44A12C0}" dt="2026-07-06T20:30:27.559" v="23300" actId="207"/>
          <ac:spMkLst>
            <pc:docMk/>
            <pc:sldMk cId="1758511745" sldId="293"/>
            <ac:spMk id="24" creationId="{90FF37D0-17F9-EE90-21C2-421A898ED835}"/>
          </ac:spMkLst>
        </pc:spChg>
        <pc:picChg chg="add mod">
          <ac:chgData name="Ashish Chopra" userId="73b777bb-d56d-4042-ab11-fa04ce11e99f" providerId="ADAL" clId="{375ACA70-C26F-4825-A925-AA60B44A12C0}" dt="2026-06-28T22:26:24.629" v="11944" actId="14100"/>
          <ac:picMkLst>
            <pc:docMk/>
            <pc:sldMk cId="1758511745" sldId="293"/>
            <ac:picMk id="17" creationId="{894716C6-E085-268C-ECFD-05EFB206E8AB}"/>
          </ac:picMkLst>
        </pc:picChg>
      </pc:sldChg>
      <pc:sldChg chg="delSp modSp add mod setBg">
        <pc:chgData name="Ashish Chopra" userId="73b777bb-d56d-4042-ab11-fa04ce11e99f" providerId="ADAL" clId="{375ACA70-C26F-4825-A925-AA60B44A12C0}" dt="2026-07-06T21:29:26.100" v="24535"/>
        <pc:sldMkLst>
          <pc:docMk/>
          <pc:sldMk cId="1552303084" sldId="294"/>
        </pc:sldMkLst>
        <pc:spChg chg="mod">
          <ac:chgData name="Ashish Chopra" userId="73b777bb-d56d-4042-ab11-fa04ce11e99f" providerId="ADAL" clId="{375ACA70-C26F-4825-A925-AA60B44A12C0}" dt="2026-07-06T20:33:14.623" v="23325" actId="207"/>
          <ac:spMkLst>
            <pc:docMk/>
            <pc:sldMk cId="1552303084" sldId="294"/>
            <ac:spMk id="3" creationId="{BF7D0DFD-688B-D8CD-6945-81A3E02CC2E4}"/>
          </ac:spMkLst>
        </pc:spChg>
        <pc:spChg chg="mod">
          <ac:chgData name="Ashish Chopra" userId="73b777bb-d56d-4042-ab11-fa04ce11e99f" providerId="ADAL" clId="{375ACA70-C26F-4825-A925-AA60B44A12C0}" dt="2026-07-06T20:33:19.211" v="23326" actId="207"/>
          <ac:spMkLst>
            <pc:docMk/>
            <pc:sldMk cId="1552303084" sldId="294"/>
            <ac:spMk id="5" creationId="{E90A2B8C-8158-049C-0D4B-6D919D34FD13}"/>
          </ac:spMkLst>
        </pc:spChg>
        <pc:spChg chg="mod">
          <ac:chgData name="Ashish Chopra" userId="73b777bb-d56d-4042-ab11-fa04ce11e99f" providerId="ADAL" clId="{375ACA70-C26F-4825-A925-AA60B44A12C0}" dt="2026-07-06T20:33:21.523" v="23327" actId="207"/>
          <ac:spMkLst>
            <pc:docMk/>
            <pc:sldMk cId="1552303084" sldId="294"/>
            <ac:spMk id="6" creationId="{D11B9F07-5B2D-5969-6F82-1C75EF599C54}"/>
          </ac:spMkLst>
        </pc:spChg>
      </pc:sldChg>
      <pc:sldChg chg="addSp delSp modSp add mod setBg">
        <pc:chgData name="Ashish Chopra" userId="73b777bb-d56d-4042-ab11-fa04ce11e99f" providerId="ADAL" clId="{375ACA70-C26F-4825-A925-AA60B44A12C0}" dt="2026-07-07T02:47:17.178" v="27827" actId="478"/>
        <pc:sldMkLst>
          <pc:docMk/>
          <pc:sldMk cId="210939854" sldId="295"/>
        </pc:sldMkLst>
        <pc:spChg chg="add mod">
          <ac:chgData name="Ashish Chopra" userId="73b777bb-d56d-4042-ab11-fa04ce11e99f" providerId="ADAL" clId="{375ACA70-C26F-4825-A925-AA60B44A12C0}" dt="2026-07-06T20:33:29.072" v="23330" actId="207"/>
          <ac:spMkLst>
            <pc:docMk/>
            <pc:sldMk cId="210939854" sldId="295"/>
            <ac:spMk id="11" creationId="{E4528AC3-C7F6-9F73-D364-8B4BE37A00A3}"/>
          </ac:spMkLst>
        </pc:spChg>
        <pc:spChg chg="add mod">
          <ac:chgData name="Ashish Chopra" userId="73b777bb-d56d-4042-ab11-fa04ce11e99f" providerId="ADAL" clId="{375ACA70-C26F-4825-A925-AA60B44A12C0}" dt="2026-07-06T20:33:33.078" v="23331" actId="207"/>
          <ac:spMkLst>
            <pc:docMk/>
            <pc:sldMk cId="210939854" sldId="295"/>
            <ac:spMk id="13" creationId="{950328BA-EA72-1C53-516A-41CE0E29756C}"/>
          </ac:spMkLst>
        </pc:spChg>
        <pc:graphicFrameChg chg="add mod modGraphic">
          <ac:chgData name="Ashish Chopra" userId="73b777bb-d56d-4042-ab11-fa04ce11e99f" providerId="ADAL" clId="{375ACA70-C26F-4825-A925-AA60B44A12C0}" dt="2026-07-06T20:42:08.508" v="23431"/>
          <ac:graphicFrameMkLst>
            <pc:docMk/>
            <pc:sldMk cId="210939854" sldId="295"/>
            <ac:graphicFrameMk id="7" creationId="{9D0E41B2-CBDB-2285-193C-DB5745AABB46}"/>
          </ac:graphicFrameMkLst>
        </pc:graphicFrameChg>
      </pc:sldChg>
      <pc:sldChg chg="addSp delSp modSp add mod setBg">
        <pc:chgData name="Ashish Chopra" userId="73b777bb-d56d-4042-ab11-fa04ce11e99f" providerId="ADAL" clId="{375ACA70-C26F-4825-A925-AA60B44A12C0}" dt="2026-07-07T05:25:55.525" v="28904" actId="207"/>
        <pc:sldMkLst>
          <pc:docMk/>
          <pc:sldMk cId="1797715510" sldId="296"/>
        </pc:sldMkLst>
        <pc:spChg chg="add mod">
          <ac:chgData name="Ashish Chopra" userId="73b777bb-d56d-4042-ab11-fa04ce11e99f" providerId="ADAL" clId="{375ACA70-C26F-4825-A925-AA60B44A12C0}" dt="2026-07-06T20:56:19.513" v="23512" actId="692"/>
          <ac:spMkLst>
            <pc:docMk/>
            <pc:sldMk cId="1797715510" sldId="296"/>
            <ac:spMk id="6" creationId="{79D87594-FEE4-20E1-94CE-237B5C72870F}"/>
          </ac:spMkLst>
        </pc:spChg>
        <pc:spChg chg="mod">
          <ac:chgData name="Ashish Chopra" userId="73b777bb-d56d-4042-ab11-fa04ce11e99f" providerId="ADAL" clId="{375ACA70-C26F-4825-A925-AA60B44A12C0}" dt="2026-07-06T20:25:26.139" v="23257" actId="207"/>
          <ac:spMkLst>
            <pc:docMk/>
            <pc:sldMk cId="1797715510" sldId="296"/>
            <ac:spMk id="110" creationId="{15138102-1586-DA8D-55EF-BFF479BE1075}"/>
          </ac:spMkLst>
        </pc:spChg>
        <pc:graphicFrameChg chg="mod modGraphic">
          <ac:chgData name="Ashish Chopra" userId="73b777bb-d56d-4042-ab11-fa04ce11e99f" providerId="ADAL" clId="{375ACA70-C26F-4825-A925-AA60B44A12C0}" dt="2026-07-07T05:25:55.525" v="28904" actId="207"/>
          <ac:graphicFrameMkLst>
            <pc:docMk/>
            <pc:sldMk cId="1797715510" sldId="296"/>
            <ac:graphicFrameMk id="4" creationId="{9A55968B-A37A-3D4A-FC4A-CE5BE65ADE7D}"/>
          </ac:graphicFrameMkLst>
        </pc:graphicFrameChg>
      </pc:sldChg>
      <pc:sldChg chg="addSp delSp modSp add mod setBg">
        <pc:chgData name="Ashish Chopra" userId="73b777bb-d56d-4042-ab11-fa04ce11e99f" providerId="ADAL" clId="{375ACA70-C26F-4825-A925-AA60B44A12C0}" dt="2026-07-06T21:28:04.900" v="24507" actId="207"/>
        <pc:sldMkLst>
          <pc:docMk/>
          <pc:sldMk cId="3071983158" sldId="297"/>
        </pc:sldMkLst>
        <pc:spChg chg="add mod">
          <ac:chgData name="Ashish Chopra" userId="73b777bb-d56d-4042-ab11-fa04ce11e99f" providerId="ADAL" clId="{375ACA70-C26F-4825-A925-AA60B44A12C0}" dt="2026-07-06T20:57:40.725" v="23522" actId="108"/>
          <ac:spMkLst>
            <pc:docMk/>
            <pc:sldMk cId="3071983158" sldId="297"/>
            <ac:spMk id="3" creationId="{B4A45B3E-ACB2-094C-3218-91AFCBCAAB95}"/>
          </ac:spMkLst>
        </pc:spChg>
        <pc:spChg chg="add mod">
          <ac:chgData name="Ashish Chopra" userId="73b777bb-d56d-4042-ab11-fa04ce11e99f" providerId="ADAL" clId="{375ACA70-C26F-4825-A925-AA60B44A12C0}" dt="2026-06-24T11:38:35.767" v="8594" actId="1038"/>
          <ac:spMkLst>
            <pc:docMk/>
            <pc:sldMk cId="3071983158" sldId="297"/>
            <ac:spMk id="4" creationId="{7F944C9E-759A-226A-C96C-DCD10E797456}"/>
          </ac:spMkLst>
        </pc:spChg>
        <pc:spChg chg="add mod">
          <ac:chgData name="Ashish Chopra" userId="73b777bb-d56d-4042-ab11-fa04ce11e99f" providerId="ADAL" clId="{375ACA70-C26F-4825-A925-AA60B44A12C0}" dt="2026-07-06T20:58:38.748" v="23549" actId="1038"/>
          <ac:spMkLst>
            <pc:docMk/>
            <pc:sldMk cId="3071983158" sldId="297"/>
            <ac:spMk id="6" creationId="{1CA75BEE-4647-6462-98D6-67896E8263EF}"/>
          </ac:spMkLst>
        </pc:spChg>
        <pc:spChg chg="mod">
          <ac:chgData name="Ashish Chopra" userId="73b777bb-d56d-4042-ab11-fa04ce11e99f" providerId="ADAL" clId="{375ACA70-C26F-4825-A925-AA60B44A12C0}" dt="2026-07-06T20:26:47.668" v="23274" actId="207"/>
          <ac:spMkLst>
            <pc:docMk/>
            <pc:sldMk cId="3071983158" sldId="297"/>
            <ac:spMk id="8" creationId="{8469428D-3D14-A33F-9F55-66FA47B25F66}"/>
          </ac:spMkLst>
        </pc:spChg>
        <pc:spChg chg="add mod">
          <ac:chgData name="Ashish Chopra" userId="73b777bb-d56d-4042-ab11-fa04ce11e99f" providerId="ADAL" clId="{375ACA70-C26F-4825-A925-AA60B44A12C0}" dt="2026-07-06T20:58:38.748" v="23549" actId="1038"/>
          <ac:spMkLst>
            <pc:docMk/>
            <pc:sldMk cId="3071983158" sldId="297"/>
            <ac:spMk id="10" creationId="{61133C25-6D8F-0561-CDC2-A02E9A42C97B}"/>
          </ac:spMkLst>
        </pc:spChg>
        <pc:spChg chg="mod">
          <ac:chgData name="Ashish Chopra" userId="73b777bb-d56d-4042-ab11-fa04ce11e99f" providerId="ADAL" clId="{375ACA70-C26F-4825-A925-AA60B44A12C0}" dt="2026-07-06T20:58:38.748" v="23549" actId="1038"/>
          <ac:spMkLst>
            <pc:docMk/>
            <pc:sldMk cId="3071983158" sldId="297"/>
            <ac:spMk id="12" creationId="{CCB12032-BA17-15DA-312E-68B7E6D53AF2}"/>
          </ac:spMkLst>
        </pc:spChg>
        <pc:spChg chg="mod">
          <ac:chgData name="Ashish Chopra" userId="73b777bb-d56d-4042-ab11-fa04ce11e99f" providerId="ADAL" clId="{375ACA70-C26F-4825-A925-AA60B44A12C0}" dt="2026-07-06T20:26:47.668" v="23274" actId="207"/>
          <ac:spMkLst>
            <pc:docMk/>
            <pc:sldMk cId="3071983158" sldId="297"/>
            <ac:spMk id="20" creationId="{02D41CB2-3E38-6F36-C0C9-2C5783A062B9}"/>
          </ac:spMkLst>
        </pc:spChg>
        <pc:spChg chg="mod">
          <ac:chgData name="Ashish Chopra" userId="73b777bb-d56d-4042-ab11-fa04ce11e99f" providerId="ADAL" clId="{375ACA70-C26F-4825-A925-AA60B44A12C0}" dt="2026-07-06T20:58:38.748" v="23549" actId="1038"/>
          <ac:spMkLst>
            <pc:docMk/>
            <pc:sldMk cId="3071983158" sldId="297"/>
            <ac:spMk id="22" creationId="{49432C27-F89C-8DB7-B5F4-63C20188B2F3}"/>
          </ac:spMkLst>
        </pc:spChg>
        <pc:spChg chg="mod">
          <ac:chgData name="Ashish Chopra" userId="73b777bb-d56d-4042-ab11-fa04ce11e99f" providerId="ADAL" clId="{375ACA70-C26F-4825-A925-AA60B44A12C0}" dt="2026-06-28T22:30:31.467" v="12105" actId="692"/>
          <ac:spMkLst>
            <pc:docMk/>
            <pc:sldMk cId="3071983158" sldId="297"/>
            <ac:spMk id="23" creationId="{727907B3-1230-C035-E0A2-114DA42A550D}"/>
          </ac:spMkLst>
        </pc:spChg>
        <pc:spChg chg="mod">
          <ac:chgData name="Ashish Chopra" userId="73b777bb-d56d-4042-ab11-fa04ce11e99f" providerId="ADAL" clId="{375ACA70-C26F-4825-A925-AA60B44A12C0}" dt="2026-07-06T20:58:38.748" v="23549" actId="1038"/>
          <ac:spMkLst>
            <pc:docMk/>
            <pc:sldMk cId="3071983158" sldId="297"/>
            <ac:spMk id="25" creationId="{132FCD91-3F9A-D934-C717-265D0FCEEF95}"/>
          </ac:spMkLst>
        </pc:spChg>
        <pc:spChg chg="add mod">
          <ac:chgData name="Ashish Chopra" userId="73b777bb-d56d-4042-ab11-fa04ce11e99f" providerId="ADAL" clId="{375ACA70-C26F-4825-A925-AA60B44A12C0}" dt="2026-07-06T20:58:28.641" v="23535" actId="207"/>
          <ac:spMkLst>
            <pc:docMk/>
            <pc:sldMk cId="3071983158" sldId="297"/>
            <ac:spMk id="66" creationId="{C4726395-F3A8-BD41-5136-A5F6CC948E93}"/>
          </ac:spMkLst>
        </pc:spChg>
        <pc:spChg chg="add mod">
          <ac:chgData name="Ashish Chopra" userId="73b777bb-d56d-4042-ab11-fa04ce11e99f" providerId="ADAL" clId="{375ACA70-C26F-4825-A925-AA60B44A12C0}" dt="2026-07-06T20:58:54.041" v="23570" actId="1038"/>
          <ac:spMkLst>
            <pc:docMk/>
            <pc:sldMk cId="3071983158" sldId="297"/>
            <ac:spMk id="67" creationId="{1137123B-2459-EDCF-3FC8-024B0ACFEC7C}"/>
          </ac:spMkLst>
        </pc:spChg>
        <pc:spChg chg="add mod">
          <ac:chgData name="Ashish Chopra" userId="73b777bb-d56d-4042-ab11-fa04ce11e99f" providerId="ADAL" clId="{375ACA70-C26F-4825-A925-AA60B44A12C0}" dt="2026-07-06T20:58:54.041" v="23570" actId="1038"/>
          <ac:spMkLst>
            <pc:docMk/>
            <pc:sldMk cId="3071983158" sldId="297"/>
            <ac:spMk id="68" creationId="{9C38ECA9-A22F-70E6-8961-AB2A820BD8AE}"/>
          </ac:spMkLst>
        </pc:spChg>
        <pc:spChg chg="add mod">
          <ac:chgData name="Ashish Chopra" userId="73b777bb-d56d-4042-ab11-fa04ce11e99f" providerId="ADAL" clId="{375ACA70-C26F-4825-A925-AA60B44A12C0}" dt="2026-07-06T20:58:54.041" v="23570" actId="1038"/>
          <ac:spMkLst>
            <pc:docMk/>
            <pc:sldMk cId="3071983158" sldId="297"/>
            <ac:spMk id="75" creationId="{30BAF8EF-F2B3-84E9-D5C8-D03C7BD2201D}"/>
          </ac:spMkLst>
        </pc:spChg>
        <pc:spChg chg="add mod">
          <ac:chgData name="Ashish Chopra" userId="73b777bb-d56d-4042-ab11-fa04ce11e99f" providerId="ADAL" clId="{375ACA70-C26F-4825-A925-AA60B44A12C0}" dt="2026-07-06T20:58:38.748" v="23549" actId="1038"/>
          <ac:spMkLst>
            <pc:docMk/>
            <pc:sldMk cId="3071983158" sldId="297"/>
            <ac:spMk id="87" creationId="{AB84C714-529F-BFC2-F7A3-C79355861D76}"/>
          </ac:spMkLst>
        </pc:spChg>
        <pc:spChg chg="add mod">
          <ac:chgData name="Ashish Chopra" userId="73b777bb-d56d-4042-ab11-fa04ce11e99f" providerId="ADAL" clId="{375ACA70-C26F-4825-A925-AA60B44A12C0}" dt="2026-07-06T20:58:38.748" v="23549" actId="1038"/>
          <ac:spMkLst>
            <pc:docMk/>
            <pc:sldMk cId="3071983158" sldId="297"/>
            <ac:spMk id="91" creationId="{3DB1D440-014F-6D70-9CDB-D2BC7D3CF5C5}"/>
          </ac:spMkLst>
        </pc:spChg>
        <pc:spChg chg="add mod">
          <ac:chgData name="Ashish Chopra" userId="73b777bb-d56d-4042-ab11-fa04ce11e99f" providerId="ADAL" clId="{375ACA70-C26F-4825-A925-AA60B44A12C0}" dt="2026-06-24T11:38:35.767" v="8594" actId="1038"/>
          <ac:spMkLst>
            <pc:docMk/>
            <pc:sldMk cId="3071983158" sldId="297"/>
            <ac:spMk id="110" creationId="{26118729-CA9A-A21B-7F13-8F59744CB5F0}"/>
          </ac:spMkLst>
        </pc:spChg>
        <pc:spChg chg="mod">
          <ac:chgData name="Ashish Chopra" userId="73b777bb-d56d-4042-ab11-fa04ce11e99f" providerId="ADAL" clId="{375ACA70-C26F-4825-A925-AA60B44A12C0}" dt="2026-07-06T20:21:46.816" v="23219" actId="207"/>
          <ac:spMkLst>
            <pc:docMk/>
            <pc:sldMk cId="3071983158" sldId="297"/>
            <ac:spMk id="112" creationId="{56363639-BDDB-6E9B-7743-FEBE81D72FEE}"/>
          </ac:spMkLst>
        </pc:spChg>
        <pc:spChg chg="mod">
          <ac:chgData name="Ashish Chopra" userId="73b777bb-d56d-4042-ab11-fa04ce11e99f" providerId="ADAL" clId="{375ACA70-C26F-4825-A925-AA60B44A12C0}" dt="2026-07-06T20:57:43.704" v="23523" actId="108"/>
          <ac:spMkLst>
            <pc:docMk/>
            <pc:sldMk cId="3071983158" sldId="297"/>
            <ac:spMk id="114" creationId="{7F53B73C-FCB2-9FAE-0A15-A2F1870D008D}"/>
          </ac:spMkLst>
        </pc:spChg>
        <pc:spChg chg="mod">
          <ac:chgData name="Ashish Chopra" userId="73b777bb-d56d-4042-ab11-fa04ce11e99f" providerId="ADAL" clId="{375ACA70-C26F-4825-A925-AA60B44A12C0}" dt="2026-07-06T20:58:38.748" v="23549" actId="1038"/>
          <ac:spMkLst>
            <pc:docMk/>
            <pc:sldMk cId="3071983158" sldId="297"/>
            <ac:spMk id="116" creationId="{E90A71E3-823A-603D-A657-C9293BF59BF2}"/>
          </ac:spMkLst>
        </pc:spChg>
        <pc:spChg chg="mod">
          <ac:chgData name="Ashish Chopra" userId="73b777bb-d56d-4042-ab11-fa04ce11e99f" providerId="ADAL" clId="{375ACA70-C26F-4825-A925-AA60B44A12C0}" dt="2026-07-06T20:57:30.205" v="23520" actId="207"/>
          <ac:spMkLst>
            <pc:docMk/>
            <pc:sldMk cId="3071983158" sldId="297"/>
            <ac:spMk id="118" creationId="{CFAF4730-444A-CD6C-2053-0D89B5FD60AE}"/>
          </ac:spMkLst>
        </pc:spChg>
        <pc:spChg chg="mod">
          <ac:chgData name="Ashish Chopra" userId="73b777bb-d56d-4042-ab11-fa04ce11e99f" providerId="ADAL" clId="{375ACA70-C26F-4825-A925-AA60B44A12C0}" dt="2026-07-06T20:58:38.748" v="23549" actId="1038"/>
          <ac:spMkLst>
            <pc:docMk/>
            <pc:sldMk cId="3071983158" sldId="297"/>
            <ac:spMk id="120" creationId="{C783F0EB-5AB6-D1D6-7BA6-4A8588252811}"/>
          </ac:spMkLst>
        </pc:spChg>
        <pc:spChg chg="mod">
          <ac:chgData name="Ashish Chopra" userId="73b777bb-d56d-4042-ab11-fa04ce11e99f" providerId="ADAL" clId="{375ACA70-C26F-4825-A925-AA60B44A12C0}" dt="2026-07-06T20:58:38.748" v="23549" actId="1038"/>
          <ac:spMkLst>
            <pc:docMk/>
            <pc:sldMk cId="3071983158" sldId="297"/>
            <ac:spMk id="122" creationId="{5CB0F25A-3C12-54C1-1FC4-65586604E1BC}"/>
          </ac:spMkLst>
        </pc:spChg>
        <pc:spChg chg="mod">
          <ac:chgData name="Ashish Chopra" userId="73b777bb-d56d-4042-ab11-fa04ce11e99f" providerId="ADAL" clId="{375ACA70-C26F-4825-A925-AA60B44A12C0}" dt="2026-07-06T20:58:54.041" v="23570" actId="1038"/>
          <ac:spMkLst>
            <pc:docMk/>
            <pc:sldMk cId="3071983158" sldId="297"/>
            <ac:spMk id="124" creationId="{F90F1A5C-7585-B33F-E19E-DEB2BEB97970}"/>
          </ac:spMkLst>
        </pc:spChg>
        <pc:spChg chg="mod">
          <ac:chgData name="Ashish Chopra" userId="73b777bb-d56d-4042-ab11-fa04ce11e99f" providerId="ADAL" clId="{375ACA70-C26F-4825-A925-AA60B44A12C0}" dt="2026-07-06T20:58:54.041" v="23570" actId="1038"/>
          <ac:spMkLst>
            <pc:docMk/>
            <pc:sldMk cId="3071983158" sldId="297"/>
            <ac:spMk id="126" creationId="{B4A8BEB4-F5B6-1178-4841-BCC6543F01A2}"/>
          </ac:spMkLst>
        </pc:spChg>
        <pc:spChg chg="mod">
          <ac:chgData name="Ashish Chopra" userId="73b777bb-d56d-4042-ab11-fa04ce11e99f" providerId="ADAL" clId="{375ACA70-C26F-4825-A925-AA60B44A12C0}" dt="2026-07-06T20:21:46.816" v="23219" actId="207"/>
          <ac:spMkLst>
            <pc:docMk/>
            <pc:sldMk cId="3071983158" sldId="297"/>
            <ac:spMk id="128" creationId="{35DEF698-9C85-0255-09EC-EACF2A2F6BD5}"/>
          </ac:spMkLst>
        </pc:spChg>
        <pc:graphicFrameChg chg="mod modGraphic">
          <ac:chgData name="Ashish Chopra" userId="73b777bb-d56d-4042-ab11-fa04ce11e99f" providerId="ADAL" clId="{375ACA70-C26F-4825-A925-AA60B44A12C0}" dt="2026-07-06T21:28:04.900" v="24507" actId="207"/>
          <ac:graphicFrameMkLst>
            <pc:docMk/>
            <pc:sldMk cId="3071983158" sldId="297"/>
            <ac:graphicFrameMk id="7" creationId="{C77843F2-6B4D-53F2-1D7E-F39B703660D3}"/>
          </ac:graphicFrameMkLst>
        </pc:graphicFrameChg>
        <pc:cxnChg chg="mod">
          <ac:chgData name="Ashish Chopra" userId="73b777bb-d56d-4042-ab11-fa04ce11e99f" providerId="ADAL" clId="{375ACA70-C26F-4825-A925-AA60B44A12C0}" dt="2026-07-06T20:58:44.552" v="23550" actId="14100"/>
          <ac:cxnSpMkLst>
            <pc:docMk/>
            <pc:sldMk cId="3071983158" sldId="297"/>
            <ac:cxnSpMk id="50" creationId="{ADE85200-7060-B389-F70B-A17CBBA69CEF}"/>
          </ac:cxnSpMkLst>
        </pc:cxnChg>
        <pc:cxnChg chg="mod">
          <ac:chgData name="Ashish Chopra" userId="73b777bb-d56d-4042-ab11-fa04ce11e99f" providerId="ADAL" clId="{375ACA70-C26F-4825-A925-AA60B44A12C0}" dt="2026-07-06T20:58:54.041" v="23570" actId="1038"/>
          <ac:cxnSpMkLst>
            <pc:docMk/>
            <pc:sldMk cId="3071983158" sldId="297"/>
            <ac:cxnSpMk id="69" creationId="{07FA96CA-17ED-DDBA-E6DE-A57B4693CBA9}"/>
          </ac:cxnSpMkLst>
        </pc:cxnChg>
        <pc:cxnChg chg="mod">
          <ac:chgData name="Ashish Chopra" userId="73b777bb-d56d-4042-ab11-fa04ce11e99f" providerId="ADAL" clId="{375ACA70-C26F-4825-A925-AA60B44A12C0}" dt="2026-07-06T20:58:54.041" v="23570" actId="1038"/>
          <ac:cxnSpMkLst>
            <pc:docMk/>
            <pc:sldMk cId="3071983158" sldId="297"/>
            <ac:cxnSpMk id="70" creationId="{C3167C2E-625E-413D-2D76-F220DE14A999}"/>
          </ac:cxnSpMkLst>
        </pc:cxnChg>
        <pc:cxnChg chg="mod">
          <ac:chgData name="Ashish Chopra" userId="73b777bb-d56d-4042-ab11-fa04ce11e99f" providerId="ADAL" clId="{375ACA70-C26F-4825-A925-AA60B44A12C0}" dt="2026-07-06T20:58:54.041" v="23570" actId="1038"/>
          <ac:cxnSpMkLst>
            <pc:docMk/>
            <pc:sldMk cId="3071983158" sldId="297"/>
            <ac:cxnSpMk id="78" creationId="{01B910D3-159C-61DE-09A5-0BBC2189ABA0}"/>
          </ac:cxnSpMkLst>
        </pc:cxnChg>
        <pc:cxnChg chg="mod">
          <ac:chgData name="Ashish Chopra" userId="73b777bb-d56d-4042-ab11-fa04ce11e99f" providerId="ADAL" clId="{375ACA70-C26F-4825-A925-AA60B44A12C0}" dt="2026-07-06T20:58:54.041" v="23570" actId="1038"/>
          <ac:cxnSpMkLst>
            <pc:docMk/>
            <pc:sldMk cId="3071983158" sldId="297"/>
            <ac:cxnSpMk id="82" creationId="{FDADD155-1925-9EC4-B2A4-F385D98086CA}"/>
          </ac:cxnSpMkLst>
        </pc:cxnChg>
        <pc:cxnChg chg="mod">
          <ac:chgData name="Ashish Chopra" userId="73b777bb-d56d-4042-ab11-fa04ce11e99f" providerId="ADAL" clId="{375ACA70-C26F-4825-A925-AA60B44A12C0}" dt="2026-07-06T20:58:54.041" v="23570" actId="1038"/>
          <ac:cxnSpMkLst>
            <pc:docMk/>
            <pc:sldMk cId="3071983158" sldId="297"/>
            <ac:cxnSpMk id="84" creationId="{B378AB88-7053-83AF-242E-7F136FE20329}"/>
          </ac:cxnSpMkLst>
        </pc:cxnChg>
      </pc:sldChg>
      <pc:sldChg chg="addSp delSp modSp add mod setBg">
        <pc:chgData name="Ashish Chopra" userId="73b777bb-d56d-4042-ab11-fa04ce11e99f" providerId="ADAL" clId="{375ACA70-C26F-4825-A925-AA60B44A12C0}" dt="2026-07-07T05:54:50.138" v="29827" actId="1035"/>
        <pc:sldMkLst>
          <pc:docMk/>
          <pc:sldMk cId="1828686536" sldId="299"/>
        </pc:sldMkLst>
        <pc:spChg chg="mod">
          <ac:chgData name="Ashish Chopra" userId="73b777bb-d56d-4042-ab11-fa04ce11e99f" providerId="ADAL" clId="{375ACA70-C26F-4825-A925-AA60B44A12C0}" dt="2026-07-07T05:51:00.571" v="29762" actId="1035"/>
          <ac:spMkLst>
            <pc:docMk/>
            <pc:sldMk cId="1828686536" sldId="299"/>
            <ac:spMk id="3" creationId="{7DD5C2C4-4801-6AE3-B5D7-D434834D6A2B}"/>
          </ac:spMkLst>
        </pc:spChg>
        <pc:spChg chg="mod">
          <ac:chgData name="Ashish Chopra" userId="73b777bb-d56d-4042-ab11-fa04ce11e99f" providerId="ADAL" clId="{375ACA70-C26F-4825-A925-AA60B44A12C0}" dt="2026-07-07T05:51:00.571" v="29762" actId="1035"/>
          <ac:spMkLst>
            <pc:docMk/>
            <pc:sldMk cId="1828686536" sldId="299"/>
            <ac:spMk id="5" creationId="{601A9C4B-98BD-BA3B-6C1D-4F617B4B0B2C}"/>
          </ac:spMkLst>
        </pc:spChg>
        <pc:spChg chg="add mod">
          <ac:chgData name="Ashish Chopra" userId="73b777bb-d56d-4042-ab11-fa04ce11e99f" providerId="ADAL" clId="{375ACA70-C26F-4825-A925-AA60B44A12C0}" dt="2026-07-07T05:54:46.433" v="29821" actId="255"/>
          <ac:spMkLst>
            <pc:docMk/>
            <pc:sldMk cId="1828686536" sldId="299"/>
            <ac:spMk id="7" creationId="{A31C9D92-0AD9-6320-7407-AFBF2265CEB6}"/>
          </ac:spMkLst>
        </pc:spChg>
        <pc:spChg chg="add mod">
          <ac:chgData name="Ashish Chopra" userId="73b777bb-d56d-4042-ab11-fa04ce11e99f" providerId="ADAL" clId="{375ACA70-C26F-4825-A925-AA60B44A12C0}" dt="2026-07-07T05:54:50.138" v="29827" actId="1035"/>
          <ac:spMkLst>
            <pc:docMk/>
            <pc:sldMk cId="1828686536" sldId="299"/>
            <ac:spMk id="9" creationId="{92488166-6780-159D-1902-32ED7F82D713}"/>
          </ac:spMkLst>
        </pc:spChg>
      </pc:sldChg>
      <pc:sldChg chg="addSp delSp modSp add mod setBg">
        <pc:chgData name="Ashish Chopra" userId="73b777bb-d56d-4042-ab11-fa04ce11e99f" providerId="ADAL" clId="{375ACA70-C26F-4825-A925-AA60B44A12C0}" dt="2026-07-07T02:47:13.940" v="27826" actId="478"/>
        <pc:sldMkLst>
          <pc:docMk/>
          <pc:sldMk cId="4038490149" sldId="300"/>
        </pc:sldMkLst>
        <pc:spChg chg="mod">
          <ac:chgData name="Ashish Chopra" userId="73b777bb-d56d-4042-ab11-fa04ce11e99f" providerId="ADAL" clId="{375ACA70-C26F-4825-A925-AA60B44A12C0}" dt="2026-07-06T20:32:39.076" v="23322" actId="207"/>
          <ac:spMkLst>
            <pc:docMk/>
            <pc:sldMk cId="4038490149" sldId="300"/>
            <ac:spMk id="3" creationId="{CD2B62C8-EA70-2224-D72E-E6F744910901}"/>
          </ac:spMkLst>
        </pc:spChg>
        <pc:spChg chg="add mod">
          <ac:chgData name="Ashish Chopra" userId="73b777bb-d56d-4042-ab11-fa04ce11e99f" providerId="ADAL" clId="{375ACA70-C26F-4825-A925-AA60B44A12C0}" dt="2026-07-06T20:32:39.076" v="23322" actId="207"/>
          <ac:spMkLst>
            <pc:docMk/>
            <pc:sldMk cId="4038490149" sldId="300"/>
            <ac:spMk id="5" creationId="{D0BAF7AF-D559-30EA-B20D-15A281095EA8}"/>
          </ac:spMkLst>
        </pc:spChg>
        <pc:spChg chg="add mod">
          <ac:chgData name="Ashish Chopra" userId="73b777bb-d56d-4042-ab11-fa04ce11e99f" providerId="ADAL" clId="{375ACA70-C26F-4825-A925-AA60B44A12C0}" dt="2026-07-06T20:42:32.281" v="23433" actId="692"/>
          <ac:spMkLst>
            <pc:docMk/>
            <pc:sldMk cId="4038490149" sldId="300"/>
            <ac:spMk id="9" creationId="{53CD2546-8F7C-E715-2092-005F8CC82BCC}"/>
          </ac:spMkLst>
        </pc:spChg>
        <pc:spChg chg="add mod">
          <ac:chgData name="Ashish Chopra" userId="73b777bb-d56d-4042-ab11-fa04ce11e99f" providerId="ADAL" clId="{375ACA70-C26F-4825-A925-AA60B44A12C0}" dt="2026-07-06T20:42:32.281" v="23433" actId="692"/>
          <ac:spMkLst>
            <pc:docMk/>
            <pc:sldMk cId="4038490149" sldId="300"/>
            <ac:spMk id="10" creationId="{86B8BC16-9568-F7FB-B34A-FE5723355B63}"/>
          </ac:spMkLst>
        </pc:spChg>
        <pc:spChg chg="add mod">
          <ac:chgData name="Ashish Chopra" userId="73b777bb-d56d-4042-ab11-fa04ce11e99f" providerId="ADAL" clId="{375ACA70-C26F-4825-A925-AA60B44A12C0}" dt="2026-07-06T20:42:32.281" v="23433" actId="692"/>
          <ac:spMkLst>
            <pc:docMk/>
            <pc:sldMk cId="4038490149" sldId="300"/>
            <ac:spMk id="12" creationId="{CF02061B-9947-F60E-CB1A-75E5B45D3203}"/>
          </ac:spMkLst>
        </pc:spChg>
        <pc:spChg chg="add mod">
          <ac:chgData name="Ashish Chopra" userId="73b777bb-d56d-4042-ab11-fa04ce11e99f" providerId="ADAL" clId="{375ACA70-C26F-4825-A925-AA60B44A12C0}" dt="2026-07-06T20:42:32.281" v="23433" actId="692"/>
          <ac:spMkLst>
            <pc:docMk/>
            <pc:sldMk cId="4038490149" sldId="300"/>
            <ac:spMk id="14" creationId="{5813FB47-F8E6-EFD6-8DF9-3E546E052D75}"/>
          </ac:spMkLst>
        </pc:spChg>
        <pc:spChg chg="add mod">
          <ac:chgData name="Ashish Chopra" userId="73b777bb-d56d-4042-ab11-fa04ce11e99f" providerId="ADAL" clId="{375ACA70-C26F-4825-A925-AA60B44A12C0}" dt="2026-07-06T20:42:32.281" v="23433" actId="692"/>
          <ac:spMkLst>
            <pc:docMk/>
            <pc:sldMk cId="4038490149" sldId="300"/>
            <ac:spMk id="16" creationId="{6024C38E-7185-352C-E0AC-2845CB61EA85}"/>
          </ac:spMkLst>
        </pc:spChg>
        <pc:spChg chg="add mod">
          <ac:chgData name="Ashish Chopra" userId="73b777bb-d56d-4042-ab11-fa04ce11e99f" providerId="ADAL" clId="{375ACA70-C26F-4825-A925-AA60B44A12C0}" dt="2026-07-06T20:42:32.281" v="23433" actId="692"/>
          <ac:spMkLst>
            <pc:docMk/>
            <pc:sldMk cId="4038490149" sldId="300"/>
            <ac:spMk id="19" creationId="{AF28A07F-0830-A159-47FB-14536FDD3061}"/>
          </ac:spMkLst>
        </pc:spChg>
        <pc:spChg chg="add mod">
          <ac:chgData name="Ashish Chopra" userId="73b777bb-d56d-4042-ab11-fa04ce11e99f" providerId="ADAL" clId="{375ACA70-C26F-4825-A925-AA60B44A12C0}" dt="2026-07-06T20:32:39.076" v="23322" actId="207"/>
          <ac:spMkLst>
            <pc:docMk/>
            <pc:sldMk cId="4038490149" sldId="300"/>
            <ac:spMk id="23" creationId="{3CE72C1F-1FCB-ABEB-1565-0B348A755EC7}"/>
          </ac:spMkLst>
        </pc:spChg>
        <pc:spChg chg="add mod">
          <ac:chgData name="Ashish Chopra" userId="73b777bb-d56d-4042-ab11-fa04ce11e99f" providerId="ADAL" clId="{375ACA70-C26F-4825-A925-AA60B44A12C0}" dt="2026-07-06T20:32:39.076" v="23322" actId="207"/>
          <ac:spMkLst>
            <pc:docMk/>
            <pc:sldMk cId="4038490149" sldId="300"/>
            <ac:spMk id="33" creationId="{35D595E8-A768-DDBE-2B2C-52A5E6F221B9}"/>
          </ac:spMkLst>
        </pc:spChg>
      </pc:sldChg>
      <pc:sldChg chg="addSp delSp modSp add mod ord setBg">
        <pc:chgData name="Ashish Chopra" userId="73b777bb-d56d-4042-ab11-fa04ce11e99f" providerId="ADAL" clId="{375ACA70-C26F-4825-A925-AA60B44A12C0}" dt="2026-07-07T02:51:33.412" v="27918" actId="20577"/>
        <pc:sldMkLst>
          <pc:docMk/>
          <pc:sldMk cId="266836532" sldId="301"/>
        </pc:sldMkLst>
        <pc:spChg chg="add mod">
          <ac:chgData name="Ashish Chopra" userId="73b777bb-d56d-4042-ab11-fa04ce11e99f" providerId="ADAL" clId="{375ACA70-C26F-4825-A925-AA60B44A12C0}" dt="2026-07-06T20:52:27.566" v="23480" actId="108"/>
          <ac:spMkLst>
            <pc:docMk/>
            <pc:sldMk cId="266836532" sldId="301"/>
            <ac:spMk id="2" creationId="{1D1DAC4D-8D5C-8316-6122-DCA5DE9B3395}"/>
          </ac:spMkLst>
        </pc:spChg>
        <pc:spChg chg="mod">
          <ac:chgData name="Ashish Chopra" userId="73b777bb-d56d-4042-ab11-fa04ce11e99f" providerId="ADAL" clId="{375ACA70-C26F-4825-A925-AA60B44A12C0}" dt="2026-07-02T21:38:14.753" v="19393" actId="20577"/>
          <ac:spMkLst>
            <pc:docMk/>
            <pc:sldMk cId="266836532" sldId="301"/>
            <ac:spMk id="3" creationId="{8165A3D1-70E6-3527-A7DC-2BE5866C583D}"/>
          </ac:spMkLst>
        </pc:spChg>
        <pc:spChg chg="mod">
          <ac:chgData name="Ashish Chopra" userId="73b777bb-d56d-4042-ab11-fa04ce11e99f" providerId="ADAL" clId="{375ACA70-C26F-4825-A925-AA60B44A12C0}" dt="2026-07-06T20:53:04.224" v="23489" actId="692"/>
          <ac:spMkLst>
            <pc:docMk/>
            <pc:sldMk cId="266836532" sldId="301"/>
            <ac:spMk id="4" creationId="{CB55D691-6AFA-C7CA-7EEA-E2BD9A2ABCBD}"/>
          </ac:spMkLst>
        </pc:spChg>
        <pc:spChg chg="add mod">
          <ac:chgData name="Ashish Chopra" userId="73b777bb-d56d-4042-ab11-fa04ce11e99f" providerId="ADAL" clId="{375ACA70-C26F-4825-A925-AA60B44A12C0}" dt="2026-07-07T02:50:16.239" v="27871" actId="20577"/>
          <ac:spMkLst>
            <pc:docMk/>
            <pc:sldMk cId="266836532" sldId="301"/>
            <ac:spMk id="7" creationId="{B5D9A8F4-3FEB-9721-1342-EDEEC6F5F6E9}"/>
          </ac:spMkLst>
        </pc:spChg>
        <pc:spChg chg="add mod">
          <ac:chgData name="Ashish Chopra" userId="73b777bb-d56d-4042-ab11-fa04ce11e99f" providerId="ADAL" clId="{375ACA70-C26F-4825-A925-AA60B44A12C0}" dt="2026-07-07T02:50:46.337" v="27891" actId="14100"/>
          <ac:spMkLst>
            <pc:docMk/>
            <pc:sldMk cId="266836532" sldId="301"/>
            <ac:spMk id="8" creationId="{50675001-864D-E4DE-B7E4-6FD5AB7B4496}"/>
          </ac:spMkLst>
        </pc:spChg>
        <pc:spChg chg="add mod">
          <ac:chgData name="Ashish Chopra" userId="73b777bb-d56d-4042-ab11-fa04ce11e99f" providerId="ADAL" clId="{375ACA70-C26F-4825-A925-AA60B44A12C0}" dt="2026-07-07T02:51:05.495" v="27897" actId="255"/>
          <ac:spMkLst>
            <pc:docMk/>
            <pc:sldMk cId="266836532" sldId="301"/>
            <ac:spMk id="9" creationId="{574D5513-66AC-7099-E705-A5E24416F3C8}"/>
          </ac:spMkLst>
        </pc:spChg>
        <pc:spChg chg="add mod">
          <ac:chgData name="Ashish Chopra" userId="73b777bb-d56d-4042-ab11-fa04ce11e99f" providerId="ADAL" clId="{375ACA70-C26F-4825-A925-AA60B44A12C0}" dt="2026-07-07T02:50:29.968" v="27886" actId="20577"/>
          <ac:spMkLst>
            <pc:docMk/>
            <pc:sldMk cId="266836532" sldId="301"/>
            <ac:spMk id="12" creationId="{6A59A926-FBB1-D376-8067-C62CFE01C90C}"/>
          </ac:spMkLst>
        </pc:spChg>
        <pc:spChg chg="add mod">
          <ac:chgData name="Ashish Chopra" userId="73b777bb-d56d-4042-ab11-fa04ce11e99f" providerId="ADAL" clId="{375ACA70-C26F-4825-A925-AA60B44A12C0}" dt="2026-07-07T02:50:57.802" v="27896" actId="1035"/>
          <ac:spMkLst>
            <pc:docMk/>
            <pc:sldMk cId="266836532" sldId="301"/>
            <ac:spMk id="17" creationId="{8BC7A8BB-EDEC-BDA7-3F3D-DB59BA1A281A}"/>
          </ac:spMkLst>
        </pc:spChg>
        <pc:spChg chg="add mod">
          <ac:chgData name="Ashish Chopra" userId="73b777bb-d56d-4042-ab11-fa04ce11e99f" providerId="ADAL" clId="{375ACA70-C26F-4825-A925-AA60B44A12C0}" dt="2026-07-07T02:50:56.198" v="27893" actId="14100"/>
          <ac:spMkLst>
            <pc:docMk/>
            <pc:sldMk cId="266836532" sldId="301"/>
            <ac:spMk id="19" creationId="{72B52975-7D60-44FC-81EB-685C8B17EA7A}"/>
          </ac:spMkLst>
        </pc:spChg>
        <pc:spChg chg="add mod">
          <ac:chgData name="Ashish Chopra" userId="73b777bb-d56d-4042-ab11-fa04ce11e99f" providerId="ADAL" clId="{375ACA70-C26F-4825-A925-AA60B44A12C0}" dt="2026-07-07T02:50:49.818" v="27892" actId="14100"/>
          <ac:spMkLst>
            <pc:docMk/>
            <pc:sldMk cId="266836532" sldId="301"/>
            <ac:spMk id="21" creationId="{DCF7F33C-EA03-4ED4-B0F6-60AAD8A0DCB3}"/>
          </ac:spMkLst>
        </pc:spChg>
        <pc:spChg chg="add mod">
          <ac:chgData name="Ashish Chopra" userId="73b777bb-d56d-4042-ab11-fa04ce11e99f" providerId="ADAL" clId="{375ACA70-C26F-4825-A925-AA60B44A12C0}" dt="2026-07-06T20:54:21.459" v="23496" actId="108"/>
          <ac:spMkLst>
            <pc:docMk/>
            <pc:sldMk cId="266836532" sldId="301"/>
            <ac:spMk id="22" creationId="{48174C87-0CE2-2774-F891-A30082498B3B}"/>
          </ac:spMkLst>
        </pc:spChg>
        <pc:spChg chg="add mod">
          <ac:chgData name="Ashish Chopra" userId="73b777bb-d56d-4042-ab11-fa04ce11e99f" providerId="ADAL" clId="{375ACA70-C26F-4825-A925-AA60B44A12C0}" dt="2026-07-06T20:54:23.841" v="23497" actId="108"/>
          <ac:spMkLst>
            <pc:docMk/>
            <pc:sldMk cId="266836532" sldId="301"/>
            <ac:spMk id="24" creationId="{279D903C-DB6B-D101-E726-DD6EC86611D2}"/>
          </ac:spMkLst>
        </pc:spChg>
        <pc:spChg chg="add mod">
          <ac:chgData name="Ashish Chopra" userId="73b777bb-d56d-4042-ab11-fa04ce11e99f" providerId="ADAL" clId="{375ACA70-C26F-4825-A925-AA60B44A12C0}" dt="2026-07-06T20:54:31.310" v="23498" actId="108"/>
          <ac:spMkLst>
            <pc:docMk/>
            <pc:sldMk cId="266836532" sldId="301"/>
            <ac:spMk id="26" creationId="{6811D9B8-5F11-0929-3FD8-131778CCD9AB}"/>
          </ac:spMkLst>
        </pc:spChg>
        <pc:spChg chg="add mod">
          <ac:chgData name="Ashish Chopra" userId="73b777bb-d56d-4042-ab11-fa04ce11e99f" providerId="ADAL" clId="{375ACA70-C26F-4825-A925-AA60B44A12C0}" dt="2026-07-06T20:54:37.532" v="23499" actId="108"/>
          <ac:spMkLst>
            <pc:docMk/>
            <pc:sldMk cId="266836532" sldId="301"/>
            <ac:spMk id="28" creationId="{E6498FB8-E4C0-E892-099D-94650D95854B}"/>
          </ac:spMkLst>
        </pc:spChg>
        <pc:spChg chg="add mod">
          <ac:chgData name="Ashish Chopra" userId="73b777bb-d56d-4042-ab11-fa04ce11e99f" providerId="ADAL" clId="{375ACA70-C26F-4825-A925-AA60B44A12C0}" dt="2026-07-07T02:51:33.412" v="27918" actId="20577"/>
          <ac:spMkLst>
            <pc:docMk/>
            <pc:sldMk cId="266836532" sldId="301"/>
            <ac:spMk id="30" creationId="{8ACF753C-42CD-FFBB-C3DD-3764508F7956}"/>
          </ac:spMkLst>
        </pc:spChg>
        <pc:spChg chg="add mod">
          <ac:chgData name="Ashish Chopra" userId="73b777bb-d56d-4042-ab11-fa04ce11e99f" providerId="ADAL" clId="{375ACA70-C26F-4825-A925-AA60B44A12C0}" dt="2026-07-02T02:58:57.511" v="13155" actId="1036"/>
          <ac:spMkLst>
            <pc:docMk/>
            <pc:sldMk cId="266836532" sldId="301"/>
            <ac:spMk id="32" creationId="{D04AAB45-C256-D2FE-6CA2-F06FB53AC03B}"/>
          </ac:spMkLst>
        </pc:spChg>
        <pc:spChg chg="add mod">
          <ac:chgData name="Ashish Chopra" userId="73b777bb-d56d-4042-ab11-fa04ce11e99f" providerId="ADAL" clId="{375ACA70-C26F-4825-A925-AA60B44A12C0}" dt="2026-07-07T02:51:10.313" v="27905" actId="1036"/>
          <ac:spMkLst>
            <pc:docMk/>
            <pc:sldMk cId="266836532" sldId="301"/>
            <ac:spMk id="39" creationId="{237E7F2F-12AF-C862-B8BE-38B6860B7F12}"/>
          </ac:spMkLst>
        </pc:spChg>
        <pc:spChg chg="add mod">
          <ac:chgData name="Ashish Chopra" userId="73b777bb-d56d-4042-ab11-fa04ce11e99f" providerId="ADAL" clId="{375ACA70-C26F-4825-A925-AA60B44A12C0}" dt="2026-07-07T02:47:42.680" v="27831" actId="208"/>
          <ac:spMkLst>
            <pc:docMk/>
            <pc:sldMk cId="266836532" sldId="301"/>
            <ac:spMk id="41" creationId="{1980B5B3-F1CD-932A-491D-9840C04F6C35}"/>
          </ac:spMkLst>
        </pc:spChg>
        <pc:spChg chg="add mod">
          <ac:chgData name="Ashish Chopra" userId="73b777bb-d56d-4042-ab11-fa04ce11e99f" providerId="ADAL" clId="{375ACA70-C26F-4825-A925-AA60B44A12C0}" dt="2026-07-07T02:48:10.498" v="27846" actId="1035"/>
          <ac:spMkLst>
            <pc:docMk/>
            <pc:sldMk cId="266836532" sldId="301"/>
            <ac:spMk id="43" creationId="{5DBEE7DA-9CC0-8DEC-084A-45AD9360268E}"/>
          </ac:spMkLst>
        </pc:spChg>
        <pc:spChg chg="add mod">
          <ac:chgData name="Ashish Chopra" userId="73b777bb-d56d-4042-ab11-fa04ce11e99f" providerId="ADAL" clId="{375ACA70-C26F-4825-A925-AA60B44A12C0}" dt="2026-07-07T02:47:57.109" v="27834" actId="1076"/>
          <ac:spMkLst>
            <pc:docMk/>
            <pc:sldMk cId="266836532" sldId="301"/>
            <ac:spMk id="45" creationId="{9C91C909-2B2C-0E43-73C1-3B019ABC4C36}"/>
          </ac:spMkLst>
        </pc:spChg>
        <pc:cxnChg chg="add mod">
          <ac:chgData name="Ashish Chopra" userId="73b777bb-d56d-4042-ab11-fa04ce11e99f" providerId="ADAL" clId="{375ACA70-C26F-4825-A925-AA60B44A12C0}" dt="2026-07-06T20:52:55.868" v="23488" actId="692"/>
          <ac:cxnSpMkLst>
            <pc:docMk/>
            <pc:sldMk cId="266836532" sldId="301"/>
            <ac:cxnSpMk id="10" creationId="{12A014A3-354D-1622-9EAF-9D21C0440032}"/>
          </ac:cxnSpMkLst>
        </pc:cxnChg>
        <pc:cxnChg chg="add mod">
          <ac:chgData name="Ashish Chopra" userId="73b777bb-d56d-4042-ab11-fa04ce11e99f" providerId="ADAL" clId="{375ACA70-C26F-4825-A925-AA60B44A12C0}" dt="2026-07-06T20:52:55.868" v="23488" actId="692"/>
          <ac:cxnSpMkLst>
            <pc:docMk/>
            <pc:sldMk cId="266836532" sldId="301"/>
            <ac:cxnSpMk id="13" creationId="{22197F37-994B-D552-3000-4856C97C87BB}"/>
          </ac:cxnSpMkLst>
        </pc:cxnChg>
        <pc:cxnChg chg="add mod">
          <ac:chgData name="Ashish Chopra" userId="73b777bb-d56d-4042-ab11-fa04ce11e99f" providerId="ADAL" clId="{375ACA70-C26F-4825-A925-AA60B44A12C0}" dt="2026-06-28T00:01:17.318" v="10309" actId="692"/>
          <ac:cxnSpMkLst>
            <pc:docMk/>
            <pc:sldMk cId="266836532" sldId="301"/>
            <ac:cxnSpMk id="34" creationId="{04A16925-4B1B-A718-47F0-79281EEAB9D9}"/>
          </ac:cxnSpMkLst>
        </pc:cxnChg>
      </pc:sldChg>
      <pc:sldChg chg="addSp delSp modSp add mod ord setBg">
        <pc:chgData name="Ashish Chopra" userId="73b777bb-d56d-4042-ab11-fa04ce11e99f" providerId="ADAL" clId="{375ACA70-C26F-4825-A925-AA60B44A12C0}" dt="2026-07-07T05:56:31.031" v="29831" actId="2165"/>
        <pc:sldMkLst>
          <pc:docMk/>
          <pc:sldMk cId="3812710461" sldId="302"/>
        </pc:sldMkLst>
        <pc:spChg chg="mod">
          <ac:chgData name="Ashish Chopra" userId="73b777bb-d56d-4042-ab11-fa04ce11e99f" providerId="ADAL" clId="{375ACA70-C26F-4825-A925-AA60B44A12C0}" dt="2026-07-06T21:31:25.059" v="24574" actId="1035"/>
          <ac:spMkLst>
            <pc:docMk/>
            <pc:sldMk cId="3812710461" sldId="302"/>
            <ac:spMk id="3" creationId="{6E4F0DD0-E7CE-CFDB-895A-E4CF8F1C7C25}"/>
          </ac:spMkLst>
        </pc:spChg>
        <pc:spChg chg="mod">
          <ac:chgData name="Ashish Chopra" userId="73b777bb-d56d-4042-ab11-fa04ce11e99f" providerId="ADAL" clId="{375ACA70-C26F-4825-A925-AA60B44A12C0}" dt="2026-07-06T21:31:25.059" v="24574" actId="1035"/>
          <ac:spMkLst>
            <pc:docMk/>
            <pc:sldMk cId="3812710461" sldId="302"/>
            <ac:spMk id="4" creationId="{AB58780B-DE68-A81A-9D57-630041D3A955}"/>
          </ac:spMkLst>
        </pc:spChg>
        <pc:spChg chg="add mod">
          <ac:chgData name="Ashish Chopra" userId="73b777bb-d56d-4042-ab11-fa04ce11e99f" providerId="ADAL" clId="{375ACA70-C26F-4825-A925-AA60B44A12C0}" dt="2026-07-06T21:32:11.397" v="24649" actId="115"/>
          <ac:spMkLst>
            <pc:docMk/>
            <pc:sldMk cId="3812710461" sldId="302"/>
            <ac:spMk id="11" creationId="{459F22E6-DD07-C4DD-000B-90DAD3E055BE}"/>
          </ac:spMkLst>
        </pc:spChg>
        <pc:spChg chg="add mod">
          <ac:chgData name="Ashish Chopra" userId="73b777bb-d56d-4042-ab11-fa04ce11e99f" providerId="ADAL" clId="{375ACA70-C26F-4825-A925-AA60B44A12C0}" dt="2026-07-06T23:03:23.284" v="26399" actId="1038"/>
          <ac:spMkLst>
            <pc:docMk/>
            <pc:sldMk cId="3812710461" sldId="302"/>
            <ac:spMk id="23" creationId="{80BDCA69-93E4-424F-B17A-E24BB79FB028}"/>
          </ac:spMkLst>
        </pc:spChg>
        <pc:graphicFrameChg chg="add del mod modGraphic">
          <ac:chgData name="Ashish Chopra" userId="73b777bb-d56d-4042-ab11-fa04ce11e99f" providerId="ADAL" clId="{375ACA70-C26F-4825-A925-AA60B44A12C0}" dt="2026-07-07T05:56:31.031" v="29831" actId="2165"/>
          <ac:graphicFrameMkLst>
            <pc:docMk/>
            <pc:sldMk cId="3812710461" sldId="302"/>
            <ac:graphicFrameMk id="21" creationId="{73BC71D1-35E6-4988-67AA-95186D75FFEF}"/>
          </ac:graphicFrameMkLst>
        </pc:graphicFrameChg>
        <pc:picChg chg="add mod">
          <ac:chgData name="Ashish Chopra" userId="73b777bb-d56d-4042-ab11-fa04ce11e99f" providerId="ADAL" clId="{375ACA70-C26F-4825-A925-AA60B44A12C0}" dt="2026-07-06T21:31:58.732" v="24643" actId="14100"/>
          <ac:picMkLst>
            <pc:docMk/>
            <pc:sldMk cId="3812710461" sldId="302"/>
            <ac:picMk id="10" creationId="{09084B9C-62DC-B52D-236A-C69987DA9AB3}"/>
          </ac:picMkLst>
        </pc:picChg>
        <pc:picChg chg="add mod">
          <ac:chgData name="Ashish Chopra" userId="73b777bb-d56d-4042-ab11-fa04ce11e99f" providerId="ADAL" clId="{375ACA70-C26F-4825-A925-AA60B44A12C0}" dt="2026-07-06T23:03:25.428" v="26408" actId="1038"/>
          <ac:picMkLst>
            <pc:docMk/>
            <pc:sldMk cId="3812710461" sldId="302"/>
            <ac:picMk id="14" creationId="{B31BA9C7-8D86-3C9A-3B3C-69BEB13E7966}"/>
          </ac:picMkLst>
        </pc:picChg>
        <pc:picChg chg="add mod">
          <ac:chgData name="Ashish Chopra" userId="73b777bb-d56d-4042-ab11-fa04ce11e99f" providerId="ADAL" clId="{375ACA70-C26F-4825-A925-AA60B44A12C0}" dt="2026-07-06T23:03:23.284" v="26399" actId="1038"/>
          <ac:picMkLst>
            <pc:docMk/>
            <pc:sldMk cId="3812710461" sldId="302"/>
            <ac:picMk id="20" creationId="{8100556B-F015-5BC4-0CFD-7B59782FE110}"/>
          </ac:picMkLst>
        </pc:picChg>
      </pc:sldChg>
      <pc:sldChg chg="addSp delSp modSp add mod ord setBg">
        <pc:chgData name="Ashish Chopra" userId="73b777bb-d56d-4042-ab11-fa04ce11e99f" providerId="ADAL" clId="{375ACA70-C26F-4825-A925-AA60B44A12C0}" dt="2026-07-07T01:54:47.266" v="27271" actId="208"/>
        <pc:sldMkLst>
          <pc:docMk/>
          <pc:sldMk cId="817289166" sldId="304"/>
        </pc:sldMkLst>
        <pc:spChg chg="add mod">
          <ac:chgData name="Ashish Chopra" userId="73b777bb-d56d-4042-ab11-fa04ce11e99f" providerId="ADAL" clId="{375ACA70-C26F-4825-A925-AA60B44A12C0}" dt="2026-07-07T01:54:47.266" v="27271" actId="208"/>
          <ac:spMkLst>
            <pc:docMk/>
            <pc:sldMk cId="817289166" sldId="304"/>
            <ac:spMk id="2" creationId="{F63B08AE-91F4-EC34-EF89-ECBA4075FA76}"/>
          </ac:spMkLst>
        </pc:spChg>
        <pc:spChg chg="mod ord">
          <ac:chgData name="Ashish Chopra" userId="73b777bb-d56d-4042-ab11-fa04ce11e99f" providerId="ADAL" clId="{375ACA70-C26F-4825-A925-AA60B44A12C0}" dt="2026-07-06T20:33:59.912" v="23337" actId="207"/>
          <ac:spMkLst>
            <pc:docMk/>
            <pc:sldMk cId="817289166" sldId="304"/>
            <ac:spMk id="4" creationId="{9F365809-BA19-B3E7-2CAA-C0C44D6DDAC5}"/>
          </ac:spMkLst>
        </pc:spChg>
        <pc:spChg chg="add mod">
          <ac:chgData name="Ashish Chopra" userId="73b777bb-d56d-4042-ab11-fa04ce11e99f" providerId="ADAL" clId="{375ACA70-C26F-4825-A925-AA60B44A12C0}" dt="2026-07-06T20:41:16.770" v="23414" actId="207"/>
          <ac:spMkLst>
            <pc:docMk/>
            <pc:sldMk cId="817289166" sldId="304"/>
            <ac:spMk id="5" creationId="{CC69EE19-AAC1-8ECD-FACB-1C989F0F00F9}"/>
          </ac:spMkLst>
        </pc:spChg>
        <pc:spChg chg="add mod">
          <ac:chgData name="Ashish Chopra" userId="73b777bb-d56d-4042-ab11-fa04ce11e99f" providerId="ADAL" clId="{375ACA70-C26F-4825-A925-AA60B44A12C0}" dt="2026-07-06T22:54:57.645" v="26238" actId="20577"/>
          <ac:spMkLst>
            <pc:docMk/>
            <pc:sldMk cId="817289166" sldId="304"/>
            <ac:spMk id="13" creationId="{F3AE5D3D-3D77-0936-C56B-4AB7B6A965B3}"/>
          </ac:spMkLst>
        </pc:spChg>
        <pc:spChg chg="add mod">
          <ac:chgData name="Ashish Chopra" userId="73b777bb-d56d-4042-ab11-fa04ce11e99f" providerId="ADAL" clId="{375ACA70-C26F-4825-A925-AA60B44A12C0}" dt="2026-06-30T05:12:51.001" v="12600" actId="207"/>
          <ac:spMkLst>
            <pc:docMk/>
            <pc:sldMk cId="817289166" sldId="304"/>
            <ac:spMk id="17" creationId="{FCB11907-56E7-FB57-EC08-7868B7579567}"/>
          </ac:spMkLst>
        </pc:spChg>
        <pc:spChg chg="add mod">
          <ac:chgData name="Ashish Chopra" userId="73b777bb-d56d-4042-ab11-fa04ce11e99f" providerId="ADAL" clId="{375ACA70-C26F-4825-A925-AA60B44A12C0}" dt="2026-07-06T20:33:59.912" v="23337" actId="207"/>
          <ac:spMkLst>
            <pc:docMk/>
            <pc:sldMk cId="817289166" sldId="304"/>
            <ac:spMk id="21" creationId="{C52F8E08-B858-5374-F26E-C5FF990AE214}"/>
          </ac:spMkLst>
        </pc:spChg>
        <pc:spChg chg="mod">
          <ac:chgData name="Ashish Chopra" userId="73b777bb-d56d-4042-ab11-fa04ce11e99f" providerId="ADAL" clId="{375ACA70-C26F-4825-A925-AA60B44A12C0}" dt="2026-07-06T20:41:16.770" v="23414" actId="207"/>
          <ac:spMkLst>
            <pc:docMk/>
            <pc:sldMk cId="817289166" sldId="304"/>
            <ac:spMk id="66" creationId="{95106E96-89FB-8B59-B43E-BCBBD0537F35}"/>
          </ac:spMkLst>
        </pc:spChg>
        <pc:spChg chg="mod">
          <ac:chgData name="Ashish Chopra" userId="73b777bb-d56d-4042-ab11-fa04ce11e99f" providerId="ADAL" clId="{375ACA70-C26F-4825-A925-AA60B44A12C0}" dt="2026-07-06T20:41:35.619" v="23429" actId="1037"/>
          <ac:spMkLst>
            <pc:docMk/>
            <pc:sldMk cId="817289166" sldId="304"/>
            <ac:spMk id="67" creationId="{E96D4F7B-97DF-98F1-1317-41575449B97F}"/>
          </ac:spMkLst>
        </pc:spChg>
        <pc:spChg chg="mod">
          <ac:chgData name="Ashish Chopra" userId="73b777bb-d56d-4042-ab11-fa04ce11e99f" providerId="ADAL" clId="{375ACA70-C26F-4825-A925-AA60B44A12C0}" dt="2026-07-06T20:41:35.619" v="23429" actId="1037"/>
          <ac:spMkLst>
            <pc:docMk/>
            <pc:sldMk cId="817289166" sldId="304"/>
            <ac:spMk id="68" creationId="{7A3E56B4-D881-5BE5-A03B-85CDC21CE365}"/>
          </ac:spMkLst>
        </pc:spChg>
        <pc:spChg chg="mod">
          <ac:chgData name="Ashish Chopra" userId="73b777bb-d56d-4042-ab11-fa04ce11e99f" providerId="ADAL" clId="{375ACA70-C26F-4825-A925-AA60B44A12C0}" dt="2026-07-06T20:41:35.619" v="23429" actId="1037"/>
          <ac:spMkLst>
            <pc:docMk/>
            <pc:sldMk cId="817289166" sldId="304"/>
            <ac:spMk id="75" creationId="{BCB6FA0F-739B-9E8A-A4C2-B395C9369C82}"/>
          </ac:spMkLst>
        </pc:spChg>
        <pc:spChg chg="mod">
          <ac:chgData name="Ashish Chopra" userId="73b777bb-d56d-4042-ab11-fa04ce11e99f" providerId="ADAL" clId="{375ACA70-C26F-4825-A925-AA60B44A12C0}" dt="2026-07-06T20:33:59.912" v="23337" actId="207"/>
          <ac:spMkLst>
            <pc:docMk/>
            <pc:sldMk cId="817289166" sldId="304"/>
            <ac:spMk id="110" creationId="{43864F40-B50C-E865-CEB7-49EB48841BC0}"/>
          </ac:spMkLst>
        </pc:spChg>
        <pc:spChg chg="mod">
          <ac:chgData name="Ashish Chopra" userId="73b777bb-d56d-4042-ab11-fa04ce11e99f" providerId="ADAL" clId="{375ACA70-C26F-4825-A925-AA60B44A12C0}" dt="2026-07-06T20:41:35.619" v="23429" actId="1037"/>
          <ac:spMkLst>
            <pc:docMk/>
            <pc:sldMk cId="817289166" sldId="304"/>
            <ac:spMk id="126" creationId="{97723A9D-C523-488D-1FC0-65EF3D8F83A9}"/>
          </ac:spMkLst>
        </pc:spChg>
        <pc:graphicFrameChg chg="mod modGraphic">
          <ac:chgData name="Ashish Chopra" userId="73b777bb-d56d-4042-ab11-fa04ce11e99f" providerId="ADAL" clId="{375ACA70-C26F-4825-A925-AA60B44A12C0}" dt="2026-07-06T20:42:16.327" v="23432"/>
          <ac:graphicFrameMkLst>
            <pc:docMk/>
            <pc:sldMk cId="817289166" sldId="304"/>
            <ac:graphicFrameMk id="7" creationId="{41DA3AD9-4786-89FC-7515-0C23676E6A10}"/>
          </ac:graphicFrameMkLst>
        </pc:graphicFrameChg>
        <pc:cxnChg chg="mod">
          <ac:chgData name="Ashish Chopra" userId="73b777bb-d56d-4042-ab11-fa04ce11e99f" providerId="ADAL" clId="{375ACA70-C26F-4825-A925-AA60B44A12C0}" dt="2026-07-06T20:41:35.619" v="23429" actId="1037"/>
          <ac:cxnSpMkLst>
            <pc:docMk/>
            <pc:sldMk cId="817289166" sldId="304"/>
            <ac:cxnSpMk id="69" creationId="{BFDCEE4D-5884-EA96-B767-20ED5BF7B436}"/>
          </ac:cxnSpMkLst>
        </pc:cxnChg>
        <pc:cxnChg chg="mod ord">
          <ac:chgData name="Ashish Chopra" userId="73b777bb-d56d-4042-ab11-fa04ce11e99f" providerId="ADAL" clId="{375ACA70-C26F-4825-A925-AA60B44A12C0}" dt="2026-07-06T20:41:35.619" v="23429" actId="1037"/>
          <ac:cxnSpMkLst>
            <pc:docMk/>
            <pc:sldMk cId="817289166" sldId="304"/>
            <ac:cxnSpMk id="70" creationId="{1D37CD52-FD07-0238-8579-A9B861560276}"/>
          </ac:cxnSpMkLst>
        </pc:cxnChg>
        <pc:cxnChg chg="mod">
          <ac:chgData name="Ashish Chopra" userId="73b777bb-d56d-4042-ab11-fa04ce11e99f" providerId="ADAL" clId="{375ACA70-C26F-4825-A925-AA60B44A12C0}" dt="2026-07-06T20:41:35.619" v="23429" actId="1037"/>
          <ac:cxnSpMkLst>
            <pc:docMk/>
            <pc:sldMk cId="817289166" sldId="304"/>
            <ac:cxnSpMk id="78" creationId="{AFD35477-F2BC-3085-7DD2-563EDBE74D0C}"/>
          </ac:cxnSpMkLst>
        </pc:cxnChg>
        <pc:cxnChg chg="mod">
          <ac:chgData name="Ashish Chopra" userId="73b777bb-d56d-4042-ab11-fa04ce11e99f" providerId="ADAL" clId="{375ACA70-C26F-4825-A925-AA60B44A12C0}" dt="2026-07-06T20:41:35.619" v="23429" actId="1037"/>
          <ac:cxnSpMkLst>
            <pc:docMk/>
            <pc:sldMk cId="817289166" sldId="304"/>
            <ac:cxnSpMk id="82" creationId="{198FA69D-DCEE-0B3E-EB6A-A7EE2A2CFAD9}"/>
          </ac:cxnSpMkLst>
        </pc:cxnChg>
        <pc:cxnChg chg="mod">
          <ac:chgData name="Ashish Chopra" userId="73b777bb-d56d-4042-ab11-fa04ce11e99f" providerId="ADAL" clId="{375ACA70-C26F-4825-A925-AA60B44A12C0}" dt="2026-06-30T05:13:19.073" v="12601" actId="14100"/>
          <ac:cxnSpMkLst>
            <pc:docMk/>
            <pc:sldMk cId="817289166" sldId="304"/>
            <ac:cxnSpMk id="84" creationId="{7004EA11-1D3D-52CA-AD92-672BC19E9B38}"/>
          </ac:cxnSpMkLst>
        </pc:cxnChg>
      </pc:sldChg>
      <pc:sldChg chg="addSp delSp modSp add del mod setBg">
        <pc:chgData name="Ashish Chopra" userId="73b777bb-d56d-4042-ab11-fa04ce11e99f" providerId="ADAL" clId="{375ACA70-C26F-4825-A925-AA60B44A12C0}" dt="2026-07-07T02:45:16.460" v="27796" actId="478"/>
        <pc:sldMkLst>
          <pc:docMk/>
          <pc:sldMk cId="1989790082" sldId="305"/>
        </pc:sldMkLst>
        <pc:spChg chg="add mod">
          <ac:chgData name="Ashish Chopra" userId="73b777bb-d56d-4042-ab11-fa04ce11e99f" providerId="ADAL" clId="{375ACA70-C26F-4825-A925-AA60B44A12C0}" dt="2026-07-06T20:26:14.047" v="23269" actId="207"/>
          <ac:spMkLst>
            <pc:docMk/>
            <pc:sldMk cId="1989790082" sldId="305"/>
            <ac:spMk id="4" creationId="{5BE7DC90-7CE0-8BBC-2F26-9227F9F460F1}"/>
          </ac:spMkLst>
        </pc:spChg>
        <pc:spChg chg="add mod">
          <ac:chgData name="Ashish Chopra" userId="73b777bb-d56d-4042-ab11-fa04ce11e99f" providerId="ADAL" clId="{375ACA70-C26F-4825-A925-AA60B44A12C0}" dt="2026-07-06T20:55:32.528" v="23507" actId="692"/>
          <ac:spMkLst>
            <pc:docMk/>
            <pc:sldMk cId="1989790082" sldId="305"/>
            <ac:spMk id="5" creationId="{48369389-1A34-B3A3-D451-0497E2BB68C1}"/>
          </ac:spMkLst>
        </pc:spChg>
        <pc:spChg chg="add mod">
          <ac:chgData name="Ashish Chopra" userId="73b777bb-d56d-4042-ab11-fa04ce11e99f" providerId="ADAL" clId="{375ACA70-C26F-4825-A925-AA60B44A12C0}" dt="2026-07-06T20:55:32.528" v="23507" actId="692"/>
          <ac:spMkLst>
            <pc:docMk/>
            <pc:sldMk cId="1989790082" sldId="305"/>
            <ac:spMk id="8" creationId="{3FD0CF90-0AA8-DB21-2FAB-3A16E64FA454}"/>
          </ac:spMkLst>
        </pc:spChg>
        <pc:spChg chg="add mod">
          <ac:chgData name="Ashish Chopra" userId="73b777bb-d56d-4042-ab11-fa04ce11e99f" providerId="ADAL" clId="{375ACA70-C26F-4825-A925-AA60B44A12C0}" dt="2026-07-06T20:26:14.047" v="23269" actId="207"/>
          <ac:spMkLst>
            <pc:docMk/>
            <pc:sldMk cId="1989790082" sldId="305"/>
            <ac:spMk id="73" creationId="{D8BAF568-DBDB-48EA-D8E6-A41D57CF2CEE}"/>
          </ac:spMkLst>
        </pc:spChg>
      </pc:sldChg>
      <pc:sldChg chg="addSp delSp modSp add mod setBg">
        <pc:chgData name="Ashish Chopra" userId="73b777bb-d56d-4042-ab11-fa04ce11e99f" providerId="ADAL" clId="{375ACA70-C26F-4825-A925-AA60B44A12C0}" dt="2026-07-07T02:51:45.722" v="27929" actId="20577"/>
        <pc:sldMkLst>
          <pc:docMk/>
          <pc:sldMk cId="2683831831" sldId="306"/>
        </pc:sldMkLst>
        <pc:spChg chg="mod">
          <ac:chgData name="Ashish Chopra" userId="73b777bb-d56d-4042-ab11-fa04ce11e99f" providerId="ADAL" clId="{375ACA70-C26F-4825-A925-AA60B44A12C0}" dt="2026-07-06T20:26:27.707" v="23272" actId="1076"/>
          <ac:spMkLst>
            <pc:docMk/>
            <pc:sldMk cId="2683831831" sldId="306"/>
            <ac:spMk id="4" creationId="{0D394B61-86FE-0894-B075-ECD64F4F1DAE}"/>
          </ac:spMkLst>
        </pc:spChg>
        <pc:spChg chg="add mod">
          <ac:chgData name="Ashish Chopra" userId="73b777bb-d56d-4042-ab11-fa04ce11e99f" providerId="ADAL" clId="{375ACA70-C26F-4825-A925-AA60B44A12C0}" dt="2026-07-02T06:58:22.727" v="16165" actId="14100"/>
          <ac:spMkLst>
            <pc:docMk/>
            <pc:sldMk cId="2683831831" sldId="306"/>
            <ac:spMk id="5" creationId="{3358D737-BFD0-3F0A-243E-F5B2E77750A4}"/>
          </ac:spMkLst>
        </pc:spChg>
        <pc:spChg chg="add mod">
          <ac:chgData name="Ashish Chopra" userId="73b777bb-d56d-4042-ab11-fa04ce11e99f" providerId="ADAL" clId="{375ACA70-C26F-4825-A925-AA60B44A12C0}" dt="2026-07-02T07:00:47.527" v="16311" actId="1036"/>
          <ac:spMkLst>
            <pc:docMk/>
            <pc:sldMk cId="2683831831" sldId="306"/>
            <ac:spMk id="7" creationId="{2D13416C-B55E-9900-54A2-2CB09115AF57}"/>
          </ac:spMkLst>
        </pc:spChg>
        <pc:spChg chg="mod">
          <ac:chgData name="Ashish Chopra" userId="73b777bb-d56d-4042-ab11-fa04ce11e99f" providerId="ADAL" clId="{375ACA70-C26F-4825-A925-AA60B44A12C0}" dt="2026-07-06T20:55:16.862" v="23505" actId="108"/>
          <ac:spMkLst>
            <pc:docMk/>
            <pc:sldMk cId="2683831831" sldId="306"/>
            <ac:spMk id="9" creationId="{810E732F-2C6C-A5AA-D3F0-B0B7FAA71AF6}"/>
          </ac:spMkLst>
        </pc:spChg>
        <pc:spChg chg="add mod">
          <ac:chgData name="Ashish Chopra" userId="73b777bb-d56d-4042-ab11-fa04ce11e99f" providerId="ADAL" clId="{375ACA70-C26F-4825-A925-AA60B44A12C0}" dt="2026-07-06T20:26:35.129" v="23273" actId="207"/>
          <ac:spMkLst>
            <pc:docMk/>
            <pc:sldMk cId="2683831831" sldId="306"/>
            <ac:spMk id="10" creationId="{33761BF4-9036-1350-4053-E0679CE9D487}"/>
          </ac:spMkLst>
        </pc:spChg>
        <pc:spChg chg="add mod">
          <ac:chgData name="Ashish Chopra" userId="73b777bb-d56d-4042-ab11-fa04ce11e99f" providerId="ADAL" clId="{375ACA70-C26F-4825-A925-AA60B44A12C0}" dt="2026-07-02T07:00:47.527" v="16311" actId="1036"/>
          <ac:spMkLst>
            <pc:docMk/>
            <pc:sldMk cId="2683831831" sldId="306"/>
            <ac:spMk id="11" creationId="{CF8D7FFC-8714-A56E-B647-A6D64C449C37}"/>
          </ac:spMkLst>
        </pc:spChg>
        <pc:spChg chg="mod">
          <ac:chgData name="Ashish Chopra" userId="73b777bb-d56d-4042-ab11-fa04ce11e99f" providerId="ADAL" clId="{375ACA70-C26F-4825-A925-AA60B44A12C0}" dt="2026-07-06T20:53:55.077" v="23491" actId="108"/>
          <ac:spMkLst>
            <pc:docMk/>
            <pc:sldMk cId="2683831831" sldId="306"/>
            <ac:spMk id="12" creationId="{2FB2CF39-C099-888A-4EFC-51CD05909B9C}"/>
          </ac:spMkLst>
        </pc:spChg>
        <pc:spChg chg="add mod">
          <ac:chgData name="Ashish Chopra" userId="73b777bb-d56d-4042-ab11-fa04ce11e99f" providerId="ADAL" clId="{375ACA70-C26F-4825-A925-AA60B44A12C0}" dt="2026-07-06T20:55:00.611" v="23503" actId="207"/>
          <ac:spMkLst>
            <pc:docMk/>
            <pc:sldMk cId="2683831831" sldId="306"/>
            <ac:spMk id="13" creationId="{B1DE901C-29D3-6CA1-302E-1D1B30867E6A}"/>
          </ac:spMkLst>
        </pc:spChg>
        <pc:spChg chg="add mod">
          <ac:chgData name="Ashish Chopra" userId="73b777bb-d56d-4042-ab11-fa04ce11e99f" providerId="ADAL" clId="{375ACA70-C26F-4825-A925-AA60B44A12C0}" dt="2026-07-02T06:59:20.569" v="16212" actId="14100"/>
          <ac:spMkLst>
            <pc:docMk/>
            <pc:sldMk cId="2683831831" sldId="306"/>
            <ac:spMk id="15" creationId="{54E86D26-B185-5401-DF6E-B3251EEB65AE}"/>
          </ac:spMkLst>
        </pc:spChg>
        <pc:spChg chg="add mod">
          <ac:chgData name="Ashish Chopra" userId="73b777bb-d56d-4042-ab11-fa04ce11e99f" providerId="ADAL" clId="{375ACA70-C26F-4825-A925-AA60B44A12C0}" dt="2026-07-02T06:59:33.938" v="16216" actId="1076"/>
          <ac:spMkLst>
            <pc:docMk/>
            <pc:sldMk cId="2683831831" sldId="306"/>
            <ac:spMk id="17" creationId="{4DE8804A-A2FB-0037-838C-040FE81CF0BB}"/>
          </ac:spMkLst>
        </pc:spChg>
        <pc:spChg chg="add mod">
          <ac:chgData name="Ashish Chopra" userId="73b777bb-d56d-4042-ab11-fa04ce11e99f" providerId="ADAL" clId="{375ACA70-C26F-4825-A925-AA60B44A12C0}" dt="2026-07-02T06:59:44.652" v="16230" actId="20577"/>
          <ac:spMkLst>
            <pc:docMk/>
            <pc:sldMk cId="2683831831" sldId="306"/>
            <ac:spMk id="19" creationId="{9952F9DA-866D-5791-7F85-7690BB6D73C4}"/>
          </ac:spMkLst>
        </pc:spChg>
        <pc:spChg chg="add mod">
          <ac:chgData name="Ashish Chopra" userId="73b777bb-d56d-4042-ab11-fa04ce11e99f" providerId="ADAL" clId="{375ACA70-C26F-4825-A925-AA60B44A12C0}" dt="2026-07-02T07:00:57.808" v="16313" actId="1076"/>
          <ac:spMkLst>
            <pc:docMk/>
            <pc:sldMk cId="2683831831" sldId="306"/>
            <ac:spMk id="25" creationId="{2844B558-6A69-4125-6ABD-1C65D23A2A65}"/>
          </ac:spMkLst>
        </pc:spChg>
        <pc:spChg chg="add mod">
          <ac:chgData name="Ashish Chopra" userId="73b777bb-d56d-4042-ab11-fa04ce11e99f" providerId="ADAL" clId="{375ACA70-C26F-4825-A925-AA60B44A12C0}" dt="2026-07-02T07:00:57.808" v="16313" actId="1076"/>
          <ac:spMkLst>
            <pc:docMk/>
            <pc:sldMk cId="2683831831" sldId="306"/>
            <ac:spMk id="27" creationId="{8A718F56-BB2F-4647-C6D8-121438385C81}"/>
          </ac:spMkLst>
        </pc:spChg>
        <pc:spChg chg="add mod">
          <ac:chgData name="Ashish Chopra" userId="73b777bb-d56d-4042-ab11-fa04ce11e99f" providerId="ADAL" clId="{375ACA70-C26F-4825-A925-AA60B44A12C0}" dt="2026-07-06T20:26:35.129" v="23273" actId="207"/>
          <ac:spMkLst>
            <pc:docMk/>
            <pc:sldMk cId="2683831831" sldId="306"/>
            <ac:spMk id="29" creationId="{F95C6297-FE3F-2FF7-C72F-B0AA43C664BB}"/>
          </ac:spMkLst>
        </pc:spChg>
        <pc:spChg chg="add mod">
          <ac:chgData name="Ashish Chopra" userId="73b777bb-d56d-4042-ab11-fa04ce11e99f" providerId="ADAL" clId="{375ACA70-C26F-4825-A925-AA60B44A12C0}" dt="2026-07-06T20:55:00.611" v="23503" actId="207"/>
          <ac:spMkLst>
            <pc:docMk/>
            <pc:sldMk cId="2683831831" sldId="306"/>
            <ac:spMk id="31" creationId="{CC2C182A-82EF-837A-83C9-917BFC93407D}"/>
          </ac:spMkLst>
        </pc:spChg>
        <pc:spChg chg="add mod">
          <ac:chgData name="Ashish Chopra" userId="73b777bb-d56d-4042-ab11-fa04ce11e99f" providerId="ADAL" clId="{375ACA70-C26F-4825-A925-AA60B44A12C0}" dt="2026-07-06T20:26:35.129" v="23273" actId="207"/>
          <ac:spMkLst>
            <pc:docMk/>
            <pc:sldMk cId="2683831831" sldId="306"/>
            <ac:spMk id="32" creationId="{8F1385AF-1064-828C-F835-42E2008F7D87}"/>
          </ac:spMkLst>
        </pc:spChg>
        <pc:spChg chg="add mod">
          <ac:chgData name="Ashish Chopra" userId="73b777bb-d56d-4042-ab11-fa04ce11e99f" providerId="ADAL" clId="{375ACA70-C26F-4825-A925-AA60B44A12C0}" dt="2026-07-06T20:26:35.129" v="23273" actId="207"/>
          <ac:spMkLst>
            <pc:docMk/>
            <pc:sldMk cId="2683831831" sldId="306"/>
            <ac:spMk id="34" creationId="{51D75C38-298A-A923-A26A-85E5234B3385}"/>
          </ac:spMkLst>
        </pc:spChg>
        <pc:spChg chg="add mod">
          <ac:chgData name="Ashish Chopra" userId="73b777bb-d56d-4042-ab11-fa04ce11e99f" providerId="ADAL" clId="{375ACA70-C26F-4825-A925-AA60B44A12C0}" dt="2026-07-06T20:26:35.129" v="23273" actId="207"/>
          <ac:spMkLst>
            <pc:docMk/>
            <pc:sldMk cId="2683831831" sldId="306"/>
            <ac:spMk id="36" creationId="{32F0A65D-C7A8-E97D-DBAE-2F88824BF08A}"/>
          </ac:spMkLst>
        </pc:spChg>
        <pc:spChg chg="add mod">
          <ac:chgData name="Ashish Chopra" userId="73b777bb-d56d-4042-ab11-fa04ce11e99f" providerId="ADAL" clId="{375ACA70-C26F-4825-A925-AA60B44A12C0}" dt="2026-07-07T02:51:45.722" v="27929" actId="20577"/>
          <ac:spMkLst>
            <pc:docMk/>
            <pc:sldMk cId="2683831831" sldId="306"/>
            <ac:spMk id="38" creationId="{FFB37045-4BC8-28BD-5A5B-24F30A50C4BE}"/>
          </ac:spMkLst>
        </pc:spChg>
        <pc:spChg chg="add mod">
          <ac:chgData name="Ashish Chopra" userId="73b777bb-d56d-4042-ab11-fa04ce11e99f" providerId="ADAL" clId="{375ACA70-C26F-4825-A925-AA60B44A12C0}" dt="2026-07-02T07:11:24.254" v="17189" actId="1037"/>
          <ac:spMkLst>
            <pc:docMk/>
            <pc:sldMk cId="2683831831" sldId="306"/>
            <ac:spMk id="41" creationId="{74A80B20-175F-4E00-02BE-B2C4372C3482}"/>
          </ac:spMkLst>
        </pc:spChg>
        <pc:spChg chg="mod">
          <ac:chgData name="Ashish Chopra" userId="73b777bb-d56d-4042-ab11-fa04ce11e99f" providerId="ADAL" clId="{375ACA70-C26F-4825-A925-AA60B44A12C0}" dt="2026-07-06T20:53:58.251" v="23492" actId="108"/>
          <ac:spMkLst>
            <pc:docMk/>
            <pc:sldMk cId="2683831831" sldId="306"/>
            <ac:spMk id="42" creationId="{56189E4A-4875-7EB0-D434-C0398D27006E}"/>
          </ac:spMkLst>
        </pc:spChg>
        <pc:spChg chg="add mod">
          <ac:chgData name="Ashish Chopra" userId="73b777bb-d56d-4042-ab11-fa04ce11e99f" providerId="ADAL" clId="{375ACA70-C26F-4825-A925-AA60B44A12C0}" dt="2026-07-06T20:54:42.297" v="23500" actId="108"/>
          <ac:spMkLst>
            <pc:docMk/>
            <pc:sldMk cId="2683831831" sldId="306"/>
            <ac:spMk id="44" creationId="{D144C13B-4023-6F69-9735-D09533B62B55}"/>
          </ac:spMkLst>
        </pc:spChg>
        <pc:spChg chg="add mod">
          <ac:chgData name="Ashish Chopra" userId="73b777bb-d56d-4042-ab11-fa04ce11e99f" providerId="ADAL" clId="{375ACA70-C26F-4825-A925-AA60B44A12C0}" dt="2026-07-06T20:54:50.045" v="23501" actId="108"/>
          <ac:spMkLst>
            <pc:docMk/>
            <pc:sldMk cId="2683831831" sldId="306"/>
            <ac:spMk id="46" creationId="{3D734393-C0B8-3F27-F4AC-E54868F6BEFE}"/>
          </ac:spMkLst>
        </pc:spChg>
        <pc:spChg chg="add mod">
          <ac:chgData name="Ashish Chopra" userId="73b777bb-d56d-4042-ab11-fa04ce11e99f" providerId="ADAL" clId="{375ACA70-C26F-4825-A925-AA60B44A12C0}" dt="2026-07-06T20:54:52.939" v="23502" actId="108"/>
          <ac:spMkLst>
            <pc:docMk/>
            <pc:sldMk cId="2683831831" sldId="306"/>
            <ac:spMk id="48" creationId="{B256CC6D-AF98-6B11-A3C6-6267A286E1D3}"/>
          </ac:spMkLst>
        </pc:spChg>
        <pc:spChg chg="mod">
          <ac:chgData name="Ashish Chopra" userId="73b777bb-d56d-4042-ab11-fa04ce11e99f" providerId="ADAL" clId="{375ACA70-C26F-4825-A925-AA60B44A12C0}" dt="2026-07-06T20:54:00.535" v="23493" actId="108"/>
          <ac:spMkLst>
            <pc:docMk/>
            <pc:sldMk cId="2683831831" sldId="306"/>
            <ac:spMk id="49" creationId="{D4941082-5118-29F2-28B2-E81A7C110705}"/>
          </ac:spMkLst>
        </pc:spChg>
        <pc:spChg chg="mod">
          <ac:chgData name="Ashish Chopra" userId="73b777bb-d56d-4042-ab11-fa04ce11e99f" providerId="ADAL" clId="{375ACA70-C26F-4825-A925-AA60B44A12C0}" dt="2026-07-02T06:59:59.587" v="16288" actId="1038"/>
          <ac:spMkLst>
            <pc:docMk/>
            <pc:sldMk cId="2683831831" sldId="306"/>
            <ac:spMk id="50" creationId="{D1B5BD3B-DCC8-D783-5531-8953C6AD2BD3}"/>
          </ac:spMkLst>
        </pc:spChg>
        <pc:spChg chg="add mod">
          <ac:chgData name="Ashish Chopra" userId="73b777bb-d56d-4042-ab11-fa04ce11e99f" providerId="ADAL" clId="{375ACA70-C26F-4825-A925-AA60B44A12C0}" dt="2026-07-02T07:14:24.243" v="17425" actId="255"/>
          <ac:spMkLst>
            <pc:docMk/>
            <pc:sldMk cId="2683831831" sldId="306"/>
            <ac:spMk id="52" creationId="{2533A919-0324-3559-DEFE-506CB69D81DC}"/>
          </ac:spMkLst>
        </pc:spChg>
        <pc:spChg chg="mod">
          <ac:chgData name="Ashish Chopra" userId="73b777bb-d56d-4042-ab11-fa04ce11e99f" providerId="ADAL" clId="{375ACA70-C26F-4825-A925-AA60B44A12C0}" dt="2026-07-06T20:27:54.807" v="23283" actId="207"/>
          <ac:spMkLst>
            <pc:docMk/>
            <pc:sldMk cId="2683831831" sldId="306"/>
            <ac:spMk id="54" creationId="{6C9FE1DD-ED47-47A8-74EA-4977E59965AF}"/>
          </ac:spMkLst>
        </pc:spChg>
        <pc:spChg chg="add mod">
          <ac:chgData name="Ashish Chopra" userId="73b777bb-d56d-4042-ab11-fa04ce11e99f" providerId="ADAL" clId="{375ACA70-C26F-4825-A925-AA60B44A12C0}" dt="2026-07-02T07:06:29.653" v="16676" actId="20577"/>
          <ac:spMkLst>
            <pc:docMk/>
            <pc:sldMk cId="2683831831" sldId="306"/>
            <ac:spMk id="55" creationId="{018E5C17-FF77-D631-9C7A-9113794BCA17}"/>
          </ac:spMkLst>
        </pc:spChg>
        <pc:spChg chg="mod">
          <ac:chgData name="Ashish Chopra" userId="73b777bb-d56d-4042-ab11-fa04ce11e99f" providerId="ADAL" clId="{375ACA70-C26F-4825-A925-AA60B44A12C0}" dt="2026-07-02T06:58:18.680" v="16164" actId="1076"/>
          <ac:spMkLst>
            <pc:docMk/>
            <pc:sldMk cId="2683831831" sldId="306"/>
            <ac:spMk id="57" creationId="{538A1652-A7EB-D95B-6ADF-A5267C9B9FCB}"/>
          </ac:spMkLst>
        </pc:spChg>
        <pc:spChg chg="add mod">
          <ac:chgData name="Ashish Chopra" userId="73b777bb-d56d-4042-ab11-fa04ce11e99f" providerId="ADAL" clId="{375ACA70-C26F-4825-A925-AA60B44A12C0}" dt="2026-07-02T07:14:28.054" v="17426" actId="255"/>
          <ac:spMkLst>
            <pc:docMk/>
            <pc:sldMk cId="2683831831" sldId="306"/>
            <ac:spMk id="58" creationId="{52CC628D-5E41-80CB-C24B-1AE9C02B59B9}"/>
          </ac:spMkLst>
        </pc:spChg>
        <pc:spChg chg="mod">
          <ac:chgData name="Ashish Chopra" userId="73b777bb-d56d-4042-ab11-fa04ce11e99f" providerId="ADAL" clId="{375ACA70-C26F-4825-A925-AA60B44A12C0}" dt="2026-07-06T20:26:35.129" v="23273" actId="207"/>
          <ac:spMkLst>
            <pc:docMk/>
            <pc:sldMk cId="2683831831" sldId="306"/>
            <ac:spMk id="59" creationId="{82C989A8-2D5F-F6D7-893A-1D1F557D3631}"/>
          </ac:spMkLst>
        </pc:spChg>
        <pc:spChg chg="mod">
          <ac:chgData name="Ashish Chopra" userId="73b777bb-d56d-4042-ab11-fa04ce11e99f" providerId="ADAL" clId="{375ACA70-C26F-4825-A925-AA60B44A12C0}" dt="2026-07-06T20:26:35.129" v="23273" actId="207"/>
          <ac:spMkLst>
            <pc:docMk/>
            <pc:sldMk cId="2683831831" sldId="306"/>
            <ac:spMk id="61" creationId="{BA9FD831-6417-ADFA-9849-B963EA3AB5D3}"/>
          </ac:spMkLst>
        </pc:spChg>
        <pc:spChg chg="add mod">
          <ac:chgData name="Ashish Chopra" userId="73b777bb-d56d-4042-ab11-fa04ce11e99f" providerId="ADAL" clId="{375ACA70-C26F-4825-A925-AA60B44A12C0}" dt="2026-07-02T07:08:17.343" v="16845" actId="1038"/>
          <ac:spMkLst>
            <pc:docMk/>
            <pc:sldMk cId="2683831831" sldId="306"/>
            <ac:spMk id="62" creationId="{F379E2DD-42F5-7E9F-9F75-3D98DBBF0620}"/>
          </ac:spMkLst>
        </pc:spChg>
        <pc:spChg chg="mod">
          <ac:chgData name="Ashish Chopra" userId="73b777bb-d56d-4042-ab11-fa04ce11e99f" providerId="ADAL" clId="{375ACA70-C26F-4825-A925-AA60B44A12C0}" dt="2026-07-06T20:55:00.611" v="23503" actId="207"/>
          <ac:spMkLst>
            <pc:docMk/>
            <pc:sldMk cId="2683831831" sldId="306"/>
            <ac:spMk id="63" creationId="{E0844E3B-7E78-D458-5B40-B67FF1657D31}"/>
          </ac:spMkLst>
        </pc:spChg>
        <pc:spChg chg="mod">
          <ac:chgData name="Ashish Chopra" userId="73b777bb-d56d-4042-ab11-fa04ce11e99f" providerId="ADAL" clId="{375ACA70-C26F-4825-A925-AA60B44A12C0}" dt="2026-07-06T20:55:00.611" v="23503" actId="207"/>
          <ac:spMkLst>
            <pc:docMk/>
            <pc:sldMk cId="2683831831" sldId="306"/>
            <ac:spMk id="65" creationId="{A91054A9-E29B-E31D-663E-85C57F36C914}"/>
          </ac:spMkLst>
        </pc:spChg>
        <pc:spChg chg="add mod">
          <ac:chgData name="Ashish Chopra" userId="73b777bb-d56d-4042-ab11-fa04ce11e99f" providerId="ADAL" clId="{375ACA70-C26F-4825-A925-AA60B44A12C0}" dt="2026-07-06T20:26:20.516" v="23270" actId="207"/>
          <ac:spMkLst>
            <pc:docMk/>
            <pc:sldMk cId="2683831831" sldId="306"/>
            <ac:spMk id="66" creationId="{6DC8F3A5-DADE-8315-3E74-C45BFD710EA7}"/>
          </ac:spMkLst>
        </pc:spChg>
        <pc:spChg chg="mod">
          <ac:chgData name="Ashish Chopra" userId="73b777bb-d56d-4042-ab11-fa04ce11e99f" providerId="ADAL" clId="{375ACA70-C26F-4825-A925-AA60B44A12C0}" dt="2026-07-06T20:55:00.611" v="23503" actId="207"/>
          <ac:spMkLst>
            <pc:docMk/>
            <pc:sldMk cId="2683831831" sldId="306"/>
            <ac:spMk id="68" creationId="{747957FC-22AD-376B-5D4C-94590325BD6D}"/>
          </ac:spMkLst>
        </pc:spChg>
        <pc:spChg chg="add mod">
          <ac:chgData name="Ashish Chopra" userId="73b777bb-d56d-4042-ab11-fa04ce11e99f" providerId="ADAL" clId="{375ACA70-C26F-4825-A925-AA60B44A12C0}" dt="2026-07-06T20:26:20.516" v="23270" actId="207"/>
          <ac:spMkLst>
            <pc:docMk/>
            <pc:sldMk cId="2683831831" sldId="306"/>
            <ac:spMk id="69" creationId="{C772D54C-6445-D457-FCF0-0D242B1B95D2}"/>
          </ac:spMkLst>
        </pc:spChg>
        <pc:spChg chg="add mod">
          <ac:chgData name="Ashish Chopra" userId="73b777bb-d56d-4042-ab11-fa04ce11e99f" providerId="ADAL" clId="{375ACA70-C26F-4825-A925-AA60B44A12C0}" dt="2026-07-02T07:14:36.020" v="17428" actId="255"/>
          <ac:spMkLst>
            <pc:docMk/>
            <pc:sldMk cId="2683831831" sldId="306"/>
            <ac:spMk id="71" creationId="{0BE1CD99-F8BC-5A81-A565-5E7609A9F0B4}"/>
          </ac:spMkLst>
        </pc:spChg>
        <pc:spChg chg="add mod">
          <ac:chgData name="Ashish Chopra" userId="73b777bb-d56d-4042-ab11-fa04ce11e99f" providerId="ADAL" clId="{375ACA70-C26F-4825-A925-AA60B44A12C0}" dt="2026-07-06T20:26:20.516" v="23270" actId="207"/>
          <ac:spMkLst>
            <pc:docMk/>
            <pc:sldMk cId="2683831831" sldId="306"/>
            <ac:spMk id="75" creationId="{81DC823E-2249-1574-E563-A7B4CB2B8CBD}"/>
          </ac:spMkLst>
        </pc:spChg>
        <pc:cxnChg chg="add mod">
          <ac:chgData name="Ashish Chopra" userId="73b777bb-d56d-4042-ab11-fa04ce11e99f" providerId="ADAL" clId="{375ACA70-C26F-4825-A925-AA60B44A12C0}" dt="2026-07-02T07:00:31.115" v="16292" actId="692"/>
          <ac:cxnSpMkLst>
            <pc:docMk/>
            <pc:sldMk cId="2683831831" sldId="306"/>
            <ac:cxnSpMk id="22" creationId="{E81A2E5C-3DA9-BD57-361B-705B59B70BED}"/>
          </ac:cxnSpMkLst>
        </pc:cxnChg>
        <pc:cxnChg chg="mod">
          <ac:chgData name="Ashish Chopra" userId="73b777bb-d56d-4042-ab11-fa04ce11e99f" providerId="ADAL" clId="{375ACA70-C26F-4825-A925-AA60B44A12C0}" dt="2026-07-06T20:55:05.681" v="23504" actId="692"/>
          <ac:cxnSpMkLst>
            <pc:docMk/>
            <pc:sldMk cId="2683831831" sldId="306"/>
            <ac:cxnSpMk id="24" creationId="{A0F408E4-FEEE-93DB-D6DF-035F24C105BD}"/>
          </ac:cxnSpMkLst>
        </pc:cxnChg>
      </pc:sldChg>
      <pc:sldChg chg="addSp delSp modSp add mod ord setBg">
        <pc:chgData name="Ashish Chopra" userId="73b777bb-d56d-4042-ab11-fa04ce11e99f" providerId="ADAL" clId="{375ACA70-C26F-4825-A925-AA60B44A12C0}" dt="2026-07-06T23:14:31.365" v="26940"/>
        <pc:sldMkLst>
          <pc:docMk/>
          <pc:sldMk cId="2303697904" sldId="307"/>
        </pc:sldMkLst>
        <pc:spChg chg="mod">
          <ac:chgData name="Ashish Chopra" userId="73b777bb-d56d-4042-ab11-fa04ce11e99f" providerId="ADAL" clId="{375ACA70-C26F-4825-A925-AA60B44A12C0}" dt="2026-07-06T23:11:54.223" v="26691" actId="20577"/>
          <ac:spMkLst>
            <pc:docMk/>
            <pc:sldMk cId="2303697904" sldId="307"/>
            <ac:spMk id="3" creationId="{E536CC27-F3DA-0ACF-E814-C39D2F57F5A3}"/>
          </ac:spMkLst>
        </pc:spChg>
        <pc:spChg chg="mod">
          <ac:chgData name="Ashish Chopra" userId="73b777bb-d56d-4042-ab11-fa04ce11e99f" providerId="ADAL" clId="{375ACA70-C26F-4825-A925-AA60B44A12C0}" dt="2026-07-06T23:11:58.277" v="26696" actId="1036"/>
          <ac:spMkLst>
            <pc:docMk/>
            <pc:sldMk cId="2303697904" sldId="307"/>
            <ac:spMk id="4" creationId="{EE8F1285-8823-BC5B-DAC8-41A76FFB6FA7}"/>
          </ac:spMkLst>
        </pc:spChg>
        <pc:spChg chg="mod">
          <ac:chgData name="Ashish Chopra" userId="73b777bb-d56d-4042-ab11-fa04ce11e99f" providerId="ADAL" clId="{375ACA70-C26F-4825-A925-AA60B44A12C0}" dt="2026-07-06T23:14:29.223" v="26938" actId="20577"/>
          <ac:spMkLst>
            <pc:docMk/>
            <pc:sldMk cId="2303697904" sldId="307"/>
            <ac:spMk id="6" creationId="{A03FBF8F-AF04-4FFA-3F38-4EDA493E747F}"/>
          </ac:spMkLst>
        </pc:spChg>
      </pc:sldChg>
      <pc:sldChg chg="delSp modSp add mod setBg">
        <pc:chgData name="Ashish Chopra" userId="73b777bb-d56d-4042-ab11-fa04ce11e99f" providerId="ADAL" clId="{375ACA70-C26F-4825-A925-AA60B44A12C0}" dt="2026-07-07T02:47:04.422" v="27824" actId="478"/>
        <pc:sldMkLst>
          <pc:docMk/>
          <pc:sldMk cId="2732512236" sldId="308"/>
        </pc:sldMkLst>
        <pc:spChg chg="mod">
          <ac:chgData name="Ashish Chopra" userId="73b777bb-d56d-4042-ab11-fa04ce11e99f" providerId="ADAL" clId="{375ACA70-C26F-4825-A925-AA60B44A12C0}" dt="2026-07-06T20:32:17.390" v="23319" actId="207"/>
          <ac:spMkLst>
            <pc:docMk/>
            <pc:sldMk cId="2732512236" sldId="308"/>
            <ac:spMk id="3" creationId="{1718360A-D516-AB49-4591-4EE27C3E0F69}"/>
          </ac:spMkLst>
        </pc:spChg>
        <pc:spChg chg="mod">
          <ac:chgData name="Ashish Chopra" userId="73b777bb-d56d-4042-ab11-fa04ce11e99f" providerId="ADAL" clId="{375ACA70-C26F-4825-A925-AA60B44A12C0}" dt="2026-07-06T20:47:02.874" v="23442" actId="255"/>
          <ac:spMkLst>
            <pc:docMk/>
            <pc:sldMk cId="2732512236" sldId="308"/>
            <ac:spMk id="4" creationId="{AB693A9C-A66D-1466-7B98-FEB535ED4764}"/>
          </ac:spMkLst>
        </pc:spChg>
        <pc:spChg chg="mod">
          <ac:chgData name="Ashish Chopra" userId="73b777bb-d56d-4042-ab11-fa04ce11e99f" providerId="ADAL" clId="{375ACA70-C26F-4825-A925-AA60B44A12C0}" dt="2026-07-07T02:46:51.658" v="27821" actId="207"/>
          <ac:spMkLst>
            <pc:docMk/>
            <pc:sldMk cId="2732512236" sldId="308"/>
            <ac:spMk id="8" creationId="{15A1F1DF-78E8-E874-5B86-A3783F0114D3}"/>
          </ac:spMkLst>
        </pc:spChg>
        <pc:spChg chg="mod">
          <ac:chgData name="Ashish Chopra" userId="73b777bb-d56d-4042-ab11-fa04ce11e99f" providerId="ADAL" clId="{375ACA70-C26F-4825-A925-AA60B44A12C0}" dt="2026-07-06T20:32:17.390" v="23319" actId="207"/>
          <ac:spMkLst>
            <pc:docMk/>
            <pc:sldMk cId="2732512236" sldId="308"/>
            <ac:spMk id="13" creationId="{EF936E35-71DC-BCDD-3285-66C46C8D0224}"/>
          </ac:spMkLst>
        </pc:spChg>
        <pc:spChg chg="mod">
          <ac:chgData name="Ashish Chopra" userId="73b777bb-d56d-4042-ab11-fa04ce11e99f" providerId="ADAL" clId="{375ACA70-C26F-4825-A925-AA60B44A12C0}" dt="2026-07-06T20:32:17.390" v="23319" actId="207"/>
          <ac:spMkLst>
            <pc:docMk/>
            <pc:sldMk cId="2732512236" sldId="308"/>
            <ac:spMk id="15" creationId="{39DF4123-53CD-483A-1845-7A9350249ED9}"/>
          </ac:spMkLst>
        </pc:spChg>
        <pc:spChg chg="mod">
          <ac:chgData name="Ashish Chopra" userId="73b777bb-d56d-4042-ab11-fa04ce11e99f" providerId="ADAL" clId="{375ACA70-C26F-4825-A925-AA60B44A12C0}" dt="2026-07-07T02:46:54.954" v="27822" actId="114"/>
          <ac:spMkLst>
            <pc:docMk/>
            <pc:sldMk cId="2732512236" sldId="308"/>
            <ac:spMk id="18" creationId="{DB22001C-E50C-DB78-2815-74C5A67FD6D6}"/>
          </ac:spMkLst>
        </pc:spChg>
      </pc:sldChg>
      <pc:sldChg chg="addSp delSp modSp add mod ord setBg">
        <pc:chgData name="Ashish Chopra" userId="73b777bb-d56d-4042-ab11-fa04ce11e99f" providerId="ADAL" clId="{375ACA70-C26F-4825-A925-AA60B44A12C0}" dt="2026-07-07T02:47:01.066" v="27823" actId="478"/>
        <pc:sldMkLst>
          <pc:docMk/>
          <pc:sldMk cId="1347285427" sldId="309"/>
        </pc:sldMkLst>
        <pc:spChg chg="mod">
          <ac:chgData name="Ashish Chopra" userId="73b777bb-d56d-4042-ab11-fa04ce11e99f" providerId="ADAL" clId="{375ACA70-C26F-4825-A925-AA60B44A12C0}" dt="2026-07-06T20:31:18.544" v="23311" actId="207"/>
          <ac:spMkLst>
            <pc:docMk/>
            <pc:sldMk cId="1347285427" sldId="309"/>
            <ac:spMk id="3" creationId="{61A64B31-CA53-A7ED-ED76-F7B9A3474072}"/>
          </ac:spMkLst>
        </pc:spChg>
        <pc:spChg chg="add mod">
          <ac:chgData name="Ashish Chopra" userId="73b777bb-d56d-4042-ab11-fa04ce11e99f" providerId="ADAL" clId="{375ACA70-C26F-4825-A925-AA60B44A12C0}" dt="2026-07-07T02:46:11.672" v="27807" actId="113"/>
          <ac:spMkLst>
            <pc:docMk/>
            <pc:sldMk cId="1347285427" sldId="309"/>
            <ac:spMk id="9" creationId="{B6D91767-1839-4F48-106B-5DDA273A318B}"/>
          </ac:spMkLst>
        </pc:spChg>
        <pc:spChg chg="add del mod">
          <ac:chgData name="Ashish Chopra" userId="73b777bb-d56d-4042-ab11-fa04ce11e99f" providerId="ADAL" clId="{375ACA70-C26F-4825-A925-AA60B44A12C0}" dt="2026-07-06T20:46:53.587" v="23441" actId="255"/>
          <ac:spMkLst>
            <pc:docMk/>
            <pc:sldMk cId="1347285427" sldId="309"/>
            <ac:spMk id="13" creationId="{4B63A9DD-41CF-67DF-813D-98D4BD08AFD2}"/>
          </ac:spMkLst>
        </pc:spChg>
        <pc:spChg chg="add mod">
          <ac:chgData name="Ashish Chopra" userId="73b777bb-d56d-4042-ab11-fa04ce11e99f" providerId="ADAL" clId="{375ACA70-C26F-4825-A925-AA60B44A12C0}" dt="2026-07-07T02:46:28.470" v="27816" actId="207"/>
          <ac:spMkLst>
            <pc:docMk/>
            <pc:sldMk cId="1347285427" sldId="309"/>
            <ac:spMk id="14" creationId="{4DDF3F67-3499-DB3F-9124-EE573E9AD60C}"/>
          </ac:spMkLst>
        </pc:spChg>
      </pc:sldChg>
      <pc:sldChg chg="delSp modSp add mod setBg">
        <pc:chgData name="Ashish Chopra" userId="73b777bb-d56d-4042-ab11-fa04ce11e99f" providerId="ADAL" clId="{375ACA70-C26F-4825-A925-AA60B44A12C0}" dt="2026-07-07T02:47:08.817" v="27825" actId="478"/>
        <pc:sldMkLst>
          <pc:docMk/>
          <pc:sldMk cId="1526096939" sldId="311"/>
        </pc:sldMkLst>
        <pc:spChg chg="mod">
          <ac:chgData name="Ashish Chopra" userId="73b777bb-d56d-4042-ab11-fa04ce11e99f" providerId="ADAL" clId="{375ACA70-C26F-4825-A925-AA60B44A12C0}" dt="2026-07-06T20:32:25.141" v="23320" actId="207"/>
          <ac:spMkLst>
            <pc:docMk/>
            <pc:sldMk cId="1526096939" sldId="311"/>
            <ac:spMk id="3" creationId="{675E786C-2BD7-5BA1-FAD4-8A3F14D6348C}"/>
          </ac:spMkLst>
        </pc:spChg>
        <pc:spChg chg="mod">
          <ac:chgData name="Ashish Chopra" userId="73b777bb-d56d-4042-ab11-fa04ce11e99f" providerId="ADAL" clId="{375ACA70-C26F-4825-A925-AA60B44A12C0}" dt="2026-07-06T20:42:46.412" v="23434" actId="692"/>
          <ac:spMkLst>
            <pc:docMk/>
            <pc:sldMk cId="1526096939" sldId="311"/>
            <ac:spMk id="4" creationId="{601FCC0E-0B9C-DC13-6610-573D11C0B252}"/>
          </ac:spMkLst>
        </pc:spChg>
        <pc:spChg chg="mod">
          <ac:chgData name="Ashish Chopra" userId="73b777bb-d56d-4042-ab11-fa04ce11e99f" providerId="ADAL" clId="{375ACA70-C26F-4825-A925-AA60B44A12C0}" dt="2026-07-06T20:42:46.412" v="23434" actId="692"/>
          <ac:spMkLst>
            <pc:docMk/>
            <pc:sldMk cId="1526096939" sldId="311"/>
            <ac:spMk id="10" creationId="{98DB0081-EF66-FB1C-4D10-776254914EF0}"/>
          </ac:spMkLst>
        </pc:spChg>
        <pc:spChg chg="mod">
          <ac:chgData name="Ashish Chopra" userId="73b777bb-d56d-4042-ab11-fa04ce11e99f" providerId="ADAL" clId="{375ACA70-C26F-4825-A925-AA60B44A12C0}" dt="2026-07-06T20:42:46.412" v="23434" actId="692"/>
          <ac:spMkLst>
            <pc:docMk/>
            <pc:sldMk cId="1526096939" sldId="311"/>
            <ac:spMk id="12" creationId="{3BC3C8B1-5911-3026-7D35-7BF116E7C219}"/>
          </ac:spMkLst>
        </pc:spChg>
        <pc:spChg chg="mod">
          <ac:chgData name="Ashish Chopra" userId="73b777bb-d56d-4042-ab11-fa04ce11e99f" providerId="ADAL" clId="{375ACA70-C26F-4825-A925-AA60B44A12C0}" dt="2026-07-06T20:32:25.141" v="23320" actId="207"/>
          <ac:spMkLst>
            <pc:docMk/>
            <pc:sldMk cId="1526096939" sldId="311"/>
            <ac:spMk id="16" creationId="{9BE9D8AA-75D2-19A4-E8B7-FC9F02A73990}"/>
          </ac:spMkLst>
        </pc:spChg>
      </pc:sldChg>
      <pc:sldChg chg="addSp delSp modSp add mod setBg">
        <pc:chgData name="Ashish Chopra" userId="73b777bb-d56d-4042-ab11-fa04ce11e99f" providerId="ADAL" clId="{375ACA70-C26F-4825-A925-AA60B44A12C0}" dt="2026-07-07T02:45:53.223" v="27804" actId="478"/>
        <pc:sldMkLst>
          <pc:docMk/>
          <pc:sldMk cId="3955296635" sldId="312"/>
        </pc:sldMkLst>
        <pc:spChg chg="mod">
          <ac:chgData name="Ashish Chopra" userId="73b777bb-d56d-4042-ab11-fa04ce11e99f" providerId="ADAL" clId="{375ACA70-C26F-4825-A925-AA60B44A12C0}" dt="2026-07-06T20:31:27.385" v="23312" actId="207"/>
          <ac:spMkLst>
            <pc:docMk/>
            <pc:sldMk cId="3955296635" sldId="312"/>
            <ac:spMk id="3" creationId="{B5A001E3-BA1F-9F79-F4CF-09136A45B0D4}"/>
          </ac:spMkLst>
        </pc:spChg>
        <pc:spChg chg="mod">
          <ac:chgData name="Ashish Chopra" userId="73b777bb-d56d-4042-ab11-fa04ce11e99f" providerId="ADAL" clId="{375ACA70-C26F-4825-A925-AA60B44A12C0}" dt="2026-07-06T20:47:30.240" v="23447" actId="207"/>
          <ac:spMkLst>
            <pc:docMk/>
            <pc:sldMk cId="3955296635" sldId="312"/>
            <ac:spMk id="4" creationId="{0C94984B-8263-F474-4333-DAC73DA836EC}"/>
          </ac:spMkLst>
        </pc:spChg>
      </pc:sldChg>
      <pc:sldChg chg="addSp delSp modSp add mod setBg">
        <pc:chgData name="Ashish Chopra" userId="73b777bb-d56d-4042-ab11-fa04ce11e99f" providerId="ADAL" clId="{375ACA70-C26F-4825-A925-AA60B44A12C0}" dt="2026-07-07T02:45:11.307" v="27795" actId="478"/>
        <pc:sldMkLst>
          <pc:docMk/>
          <pc:sldMk cId="3704887707" sldId="313"/>
        </pc:sldMkLst>
        <pc:spChg chg="mod">
          <ac:chgData name="Ashish Chopra" userId="73b777bb-d56d-4042-ab11-fa04ce11e99f" providerId="ADAL" clId="{375ACA70-C26F-4825-A925-AA60B44A12C0}" dt="2026-07-06T20:25:32.293" v="23258" actId="207"/>
          <ac:spMkLst>
            <pc:docMk/>
            <pc:sldMk cId="3704887707" sldId="313"/>
            <ac:spMk id="3" creationId="{9901383B-12CF-AD1F-3D0E-282B7F23251A}"/>
          </ac:spMkLst>
        </pc:spChg>
        <pc:spChg chg="add mod">
          <ac:chgData name="Ashish Chopra" userId="73b777bb-d56d-4042-ab11-fa04ce11e99f" providerId="ADAL" clId="{375ACA70-C26F-4825-A925-AA60B44A12C0}" dt="2026-07-06T20:55:42.361" v="23508" actId="692"/>
          <ac:spMkLst>
            <pc:docMk/>
            <pc:sldMk cId="3704887707" sldId="313"/>
            <ac:spMk id="6" creationId="{4E9F1330-53B7-9B43-C37B-F392D20340A1}"/>
          </ac:spMkLst>
        </pc:spChg>
        <pc:spChg chg="add mod">
          <ac:chgData name="Ashish Chopra" userId="73b777bb-d56d-4042-ab11-fa04ce11e99f" providerId="ADAL" clId="{375ACA70-C26F-4825-A925-AA60B44A12C0}" dt="2026-07-06T20:55:42.361" v="23508" actId="692"/>
          <ac:spMkLst>
            <pc:docMk/>
            <pc:sldMk cId="3704887707" sldId="313"/>
            <ac:spMk id="7" creationId="{DF9CDFCF-48F0-9421-630C-7F68228E6FC9}"/>
          </ac:spMkLst>
        </pc:spChg>
        <pc:spChg chg="mod">
          <ac:chgData name="Ashish Chopra" userId="73b777bb-d56d-4042-ab11-fa04ce11e99f" providerId="ADAL" clId="{375ACA70-C26F-4825-A925-AA60B44A12C0}" dt="2026-07-06T20:55:42.361" v="23508" actId="692"/>
          <ac:spMkLst>
            <pc:docMk/>
            <pc:sldMk cId="3704887707" sldId="313"/>
            <ac:spMk id="8" creationId="{1A2E4B56-677D-FB62-D741-5E7A359F6EDD}"/>
          </ac:spMkLst>
        </pc:spChg>
        <pc:spChg chg="add mod">
          <ac:chgData name="Ashish Chopra" userId="73b777bb-d56d-4042-ab11-fa04ce11e99f" providerId="ADAL" clId="{375ACA70-C26F-4825-A925-AA60B44A12C0}" dt="2026-07-06T20:25:32.293" v="23258" actId="207"/>
          <ac:spMkLst>
            <pc:docMk/>
            <pc:sldMk cId="3704887707" sldId="313"/>
            <ac:spMk id="10" creationId="{11105253-A59A-5B26-1640-F610F6DE0E37}"/>
          </ac:spMkLst>
        </pc:spChg>
      </pc:sldChg>
      <pc:sldChg chg="modSp add mod setBg">
        <pc:chgData name="Ashish Chopra" userId="73b777bb-d56d-4042-ab11-fa04ce11e99f" providerId="ADAL" clId="{375ACA70-C26F-4825-A925-AA60B44A12C0}" dt="2026-07-06T21:28:44.965" v="24519"/>
        <pc:sldMkLst>
          <pc:docMk/>
          <pc:sldMk cId="3409326560" sldId="314"/>
        </pc:sldMkLst>
        <pc:spChg chg="mod">
          <ac:chgData name="Ashish Chopra" userId="73b777bb-d56d-4042-ab11-fa04ce11e99f" providerId="ADAL" clId="{375ACA70-C26F-4825-A925-AA60B44A12C0}" dt="2026-07-06T20:24:37.051" v="23248" actId="207"/>
          <ac:spMkLst>
            <pc:docMk/>
            <pc:sldMk cId="3409326560" sldId="314"/>
            <ac:spMk id="3" creationId="{DAB76E44-99C1-4767-5E86-4DE145DD93C4}"/>
          </ac:spMkLst>
        </pc:spChg>
        <pc:spChg chg="mod">
          <ac:chgData name="Ashish Chopra" userId="73b777bb-d56d-4042-ab11-fa04ce11e99f" providerId="ADAL" clId="{375ACA70-C26F-4825-A925-AA60B44A12C0}" dt="2026-07-06T20:24:42.596" v="23250" actId="207"/>
          <ac:spMkLst>
            <pc:docMk/>
            <pc:sldMk cId="3409326560" sldId="314"/>
            <ac:spMk id="5" creationId="{373004F6-AF4D-AC36-E651-6BFE1E51855A}"/>
          </ac:spMkLst>
        </pc:spChg>
        <pc:spChg chg="mod">
          <ac:chgData name="Ashish Chopra" userId="73b777bb-d56d-4042-ab11-fa04ce11e99f" providerId="ADAL" clId="{375ACA70-C26F-4825-A925-AA60B44A12C0}" dt="2026-07-06T20:24:39.322" v="23249" actId="207"/>
          <ac:spMkLst>
            <pc:docMk/>
            <pc:sldMk cId="3409326560" sldId="314"/>
            <ac:spMk id="6" creationId="{751BA99E-FBB8-9976-8B28-FDAFCDC0B5C4}"/>
          </ac:spMkLst>
        </pc:spChg>
      </pc:sldChg>
      <pc:sldChg chg="delSp modSp add mod setBg">
        <pc:chgData name="Ashish Chopra" userId="73b777bb-d56d-4042-ab11-fa04ce11e99f" providerId="ADAL" clId="{375ACA70-C26F-4825-A925-AA60B44A12C0}" dt="2026-07-07T02:44:32.819" v="27787" actId="1038"/>
        <pc:sldMkLst>
          <pc:docMk/>
          <pc:sldMk cId="677029876" sldId="315"/>
        </pc:sldMkLst>
        <pc:spChg chg="mod">
          <ac:chgData name="Ashish Chopra" userId="73b777bb-d56d-4042-ab11-fa04ce11e99f" providerId="ADAL" clId="{375ACA70-C26F-4825-A925-AA60B44A12C0}" dt="2026-07-06T21:28:24.368" v="24511" actId="207"/>
          <ac:spMkLst>
            <pc:docMk/>
            <pc:sldMk cId="677029876" sldId="315"/>
            <ac:spMk id="3" creationId="{31824951-8099-EFEB-03F3-5238E142C0CA}"/>
          </ac:spMkLst>
        </pc:spChg>
        <pc:spChg chg="mod">
          <ac:chgData name="Ashish Chopra" userId="73b777bb-d56d-4042-ab11-fa04ce11e99f" providerId="ADAL" clId="{375ACA70-C26F-4825-A925-AA60B44A12C0}" dt="2026-07-06T20:23:13.081" v="23230" actId="207"/>
          <ac:spMkLst>
            <pc:docMk/>
            <pc:sldMk cId="677029876" sldId="315"/>
            <ac:spMk id="5" creationId="{DCA831F4-6693-8DFE-8057-2C068701CC5F}"/>
          </ac:spMkLst>
        </pc:spChg>
        <pc:spChg chg="mod">
          <ac:chgData name="Ashish Chopra" userId="73b777bb-d56d-4042-ab11-fa04ce11e99f" providerId="ADAL" clId="{375ACA70-C26F-4825-A925-AA60B44A12C0}" dt="2026-07-07T02:44:32.819" v="27787" actId="1038"/>
          <ac:spMkLst>
            <pc:docMk/>
            <pc:sldMk cId="677029876" sldId="315"/>
            <ac:spMk id="6" creationId="{1D50DD00-F817-7244-1A35-0735B0DB162E}"/>
          </ac:spMkLst>
        </pc:spChg>
      </pc:sldChg>
      <pc:sldChg chg="addSp delSp modSp add mod">
        <pc:chgData name="Ashish Chopra" userId="73b777bb-d56d-4042-ab11-fa04ce11e99f" providerId="ADAL" clId="{375ACA70-C26F-4825-A925-AA60B44A12C0}" dt="2026-07-07T05:56:52.947" v="29838" actId="1035"/>
        <pc:sldMkLst>
          <pc:docMk/>
          <pc:sldMk cId="3924675347" sldId="316"/>
        </pc:sldMkLst>
        <pc:spChg chg="add mod">
          <ac:chgData name="Ashish Chopra" userId="73b777bb-d56d-4042-ab11-fa04ce11e99f" providerId="ADAL" clId="{375ACA70-C26F-4825-A925-AA60B44A12C0}" dt="2026-07-07T02:33:04.979" v="27440" actId="1076"/>
          <ac:spMkLst>
            <pc:docMk/>
            <pc:sldMk cId="3924675347" sldId="316"/>
            <ac:spMk id="9" creationId="{9090E1F0-FB27-8701-894B-E45730AD12F6}"/>
          </ac:spMkLst>
        </pc:spChg>
        <pc:spChg chg="mod">
          <ac:chgData name="Ashish Chopra" userId="73b777bb-d56d-4042-ab11-fa04ce11e99f" providerId="ADAL" clId="{375ACA70-C26F-4825-A925-AA60B44A12C0}" dt="2026-07-07T05:56:52.947" v="29838" actId="1035"/>
          <ac:spMkLst>
            <pc:docMk/>
            <pc:sldMk cId="3924675347" sldId="316"/>
            <ac:spMk id="10" creationId="{1898B8BD-5269-BD64-9FF1-657484BEA2F6}"/>
          </ac:spMkLst>
        </pc:spChg>
        <pc:spChg chg="add mod">
          <ac:chgData name="Ashish Chopra" userId="73b777bb-d56d-4042-ab11-fa04ce11e99f" providerId="ADAL" clId="{375ACA70-C26F-4825-A925-AA60B44A12C0}" dt="2026-07-07T02:40:34.296" v="27693" actId="1076"/>
          <ac:spMkLst>
            <pc:docMk/>
            <pc:sldMk cId="3924675347" sldId="316"/>
            <ac:spMk id="13" creationId="{E26C51CC-8B97-D431-6E64-7347B42D2FD4}"/>
          </ac:spMkLst>
        </pc:spChg>
        <pc:spChg chg="mod">
          <ac:chgData name="Ashish Chopra" userId="73b777bb-d56d-4042-ab11-fa04ce11e99f" providerId="ADAL" clId="{375ACA70-C26F-4825-A925-AA60B44A12C0}" dt="2026-07-07T02:26:37.474" v="27375" actId="1076"/>
          <ac:spMkLst>
            <pc:docMk/>
            <pc:sldMk cId="3924675347" sldId="316"/>
            <ac:spMk id="14" creationId="{CEDF9467-E6CC-1D7B-C89A-AA8839707BD4}"/>
          </ac:spMkLst>
        </pc:spChg>
        <pc:graphicFrameChg chg="mod modGraphic">
          <ac:chgData name="Ashish Chopra" userId="73b777bb-d56d-4042-ab11-fa04ce11e99f" providerId="ADAL" clId="{375ACA70-C26F-4825-A925-AA60B44A12C0}" dt="2026-07-07T05:25:22.752" v="28900" actId="207"/>
          <ac:graphicFrameMkLst>
            <pc:docMk/>
            <pc:sldMk cId="3924675347" sldId="316"/>
            <ac:graphicFrameMk id="2" creationId="{DB1FCBE6-50B5-D637-0D45-11443733963E}"/>
          </ac:graphicFrameMkLst>
        </pc:graphicFrameChg>
      </pc:sldChg>
      <pc:sldChg chg="addSp delSp modSp add mod">
        <pc:chgData name="Ashish Chopra" userId="73b777bb-d56d-4042-ab11-fa04ce11e99f" providerId="ADAL" clId="{375ACA70-C26F-4825-A925-AA60B44A12C0}" dt="2026-07-08T04:04:09.348" v="29969" actId="1036"/>
        <pc:sldMkLst>
          <pc:docMk/>
          <pc:sldMk cId="1041956338" sldId="317"/>
        </pc:sldMkLst>
        <pc:spChg chg="mod">
          <ac:chgData name="Ashish Chopra" userId="73b777bb-d56d-4042-ab11-fa04ce11e99f" providerId="ADAL" clId="{375ACA70-C26F-4825-A925-AA60B44A12C0}" dt="2026-07-08T04:04:09.348" v="29969" actId="1036"/>
          <ac:spMkLst>
            <pc:docMk/>
            <pc:sldMk cId="1041956338" sldId="317"/>
            <ac:spMk id="11" creationId="{7E4A60C8-2692-5B8C-BB41-27F878336091}"/>
          </ac:spMkLst>
        </pc:spChg>
        <pc:spChg chg="del">
          <ac:chgData name="Ashish Chopra" userId="73b777bb-d56d-4042-ab11-fa04ce11e99f" providerId="ADAL" clId="{375ACA70-C26F-4825-A925-AA60B44A12C0}" dt="2026-07-08T03:59:27.443" v="29841" actId="478"/>
          <ac:spMkLst>
            <pc:docMk/>
            <pc:sldMk cId="1041956338" sldId="317"/>
            <ac:spMk id="13" creationId="{C143D272-0F28-381B-DADB-7D18D6188AB5}"/>
          </ac:spMkLst>
        </pc:spChg>
        <pc:spChg chg="add mod">
          <ac:chgData name="Ashish Chopra" userId="73b777bb-d56d-4042-ab11-fa04ce11e99f" providerId="ADAL" clId="{375ACA70-C26F-4825-A925-AA60B44A12C0}" dt="2026-07-08T04:03:22.008" v="29930" actId="1076"/>
          <ac:spMkLst>
            <pc:docMk/>
            <pc:sldMk cId="1041956338" sldId="317"/>
            <ac:spMk id="14" creationId="{DF1D184F-6682-768E-7DD0-22D1807FE531}"/>
          </ac:spMkLst>
        </pc:spChg>
        <pc:spChg chg="add mod">
          <ac:chgData name="Ashish Chopra" userId="73b777bb-d56d-4042-ab11-fa04ce11e99f" providerId="ADAL" clId="{375ACA70-C26F-4825-A925-AA60B44A12C0}" dt="2026-07-08T04:03:37.659" v="29940" actId="1076"/>
          <ac:spMkLst>
            <pc:docMk/>
            <pc:sldMk cId="1041956338" sldId="317"/>
            <ac:spMk id="16" creationId="{180B93F1-0E48-192E-B5C4-450A2FBFE26F}"/>
          </ac:spMkLst>
        </pc:spChg>
        <pc:graphicFrameChg chg="del">
          <ac:chgData name="Ashish Chopra" userId="73b777bb-d56d-4042-ab11-fa04ce11e99f" providerId="ADAL" clId="{375ACA70-C26F-4825-A925-AA60B44A12C0}" dt="2026-07-08T03:59:25.271" v="29840" actId="478"/>
          <ac:graphicFrameMkLst>
            <pc:docMk/>
            <pc:sldMk cId="1041956338" sldId="317"/>
            <ac:graphicFrameMk id="7" creationId="{A9E5895B-C85F-FF00-BE11-91D90D8A3C1F}"/>
          </ac:graphicFrameMkLst>
        </pc:graphicFrameChg>
        <pc:picChg chg="add mod">
          <ac:chgData name="Ashish Chopra" userId="73b777bb-d56d-4042-ab11-fa04ce11e99f" providerId="ADAL" clId="{375ACA70-C26F-4825-A925-AA60B44A12C0}" dt="2026-07-08T04:03:03.868" v="29903" actId="1076"/>
          <ac:picMkLst>
            <pc:docMk/>
            <pc:sldMk cId="1041956338" sldId="317"/>
            <ac:picMk id="3" creationId="{651576A6-7E7C-3F45-9323-318021C1863C}"/>
          </ac:picMkLst>
        </pc:picChg>
        <pc:picChg chg="add mod">
          <ac:chgData name="Ashish Chopra" userId="73b777bb-d56d-4042-ab11-fa04ce11e99f" providerId="ADAL" clId="{375ACA70-C26F-4825-A925-AA60B44A12C0}" dt="2026-07-08T04:03:45.105" v="29950" actId="1036"/>
          <ac:picMkLst>
            <pc:docMk/>
            <pc:sldMk cId="1041956338" sldId="317"/>
            <ac:picMk id="5" creationId="{42782DEA-8BAF-7590-EB74-484CF4F9F0F0}"/>
          </ac:picMkLst>
        </pc:picChg>
        <pc:picChg chg="add mod">
          <ac:chgData name="Ashish Chopra" userId="73b777bb-d56d-4042-ab11-fa04ce11e99f" providerId="ADAL" clId="{375ACA70-C26F-4825-A925-AA60B44A12C0}" dt="2026-07-08T04:03:53.303" v="29953" actId="14100"/>
          <ac:picMkLst>
            <pc:docMk/>
            <pc:sldMk cId="1041956338" sldId="317"/>
            <ac:picMk id="8" creationId="{3E955EED-A74F-577C-4610-D365BA34293E}"/>
          </ac:picMkLst>
        </pc:picChg>
        <pc:picChg chg="add mod">
          <ac:chgData name="Ashish Chopra" userId="73b777bb-d56d-4042-ab11-fa04ce11e99f" providerId="ADAL" clId="{375ACA70-C26F-4825-A925-AA60B44A12C0}" dt="2026-07-08T04:04:00.515" v="29955" actId="14100"/>
          <ac:picMkLst>
            <pc:docMk/>
            <pc:sldMk cId="1041956338" sldId="317"/>
            <ac:picMk id="10" creationId="{6D61FBC1-B049-6089-429B-5EB050EA64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AD7437-FAE0-451C-8BB2-D27B3E1DE48E}" type="datetimeFigureOut">
              <a:rPr lang="en-AU" smtClean="0"/>
              <a:t>9/07/2026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5C808B-581D-42BD-80FA-2C27E5F3B2A7}" type="slidenum">
              <a:rPr lang="en-AU" smtClean="0"/>
              <a:t>‹#›</a:t>
            </a:fld>
            <a:endParaRPr lang="en-AU"/>
          </a:p>
        </p:txBody>
      </p:sp>
    </p:spTree>
    <p:extLst>
      <p:ext uri="{BB962C8B-B14F-4D97-AF65-F5344CB8AC3E}">
        <p14:creationId xmlns:p14="http://schemas.microsoft.com/office/powerpoint/2010/main" val="4075168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AE885-80BC-69A0-009F-B1C1C1E9D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A221E-04CE-92AF-1866-01802CAA48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EB375F-7587-D13C-A299-4A26854A7460}"/>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67C4239-4508-F438-A25A-E68293C673E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168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8B9B6-E872-EDD2-1588-CFBD8EB71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05735-7A47-8C78-7636-A002DAFB4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9A2B24-0FF2-4649-BBD9-3493868BA4F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270A309E-5A6C-C4A3-8C34-ED0A8DB6E42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35158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E3AF6-78CA-7CF1-822B-44DB6B4E8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6967C-92E9-DBE9-0A1E-8C676AB45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3D93E0-A34A-9739-25CD-1D4AC858C10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BA767AF7-97B3-50A0-3CE9-D5CAEFA24EC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50472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5A53F-E29F-C55A-45EE-67C8358E4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E5BF5-3E5B-EFE4-FB84-FA7378212B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C94A8-93D7-9E2D-79F2-DE0F79AD585C}"/>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9C3AAA-57A1-CB67-2206-D0C648AB015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45437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6D0-2368-0C97-C65D-06463B281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299B8-BA3B-9865-EACB-1564487FAF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6CDA8-18B3-642B-3E4B-398DE9C68D2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46985130-F4BE-CFC1-AC1D-6CDF07FAAE7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51242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B15F5-A2D4-FEA7-D520-02CEB19E2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1280B2-B1D5-357B-FF06-2D234175A2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3C169-E87D-E43F-A5C5-C87363ED811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865A2590-322A-C2E6-D6E7-F6A31A9EE2B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33071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2C947-965F-9DA8-2B99-E9F906146D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5A49D-A77B-D0CF-5EDF-BAE3D02760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109F78-BC84-EE6D-4ADC-08B8AE19008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D63FCEF-2BB7-CC42-B6C8-C25424ECDEB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86546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735C808B-581D-42BD-80FA-2C27E5F3B2A7}" type="slidenum">
              <a:rPr lang="en-AU" smtClean="0"/>
              <a:t>20</a:t>
            </a:fld>
            <a:endParaRPr lang="en-AU"/>
          </a:p>
        </p:txBody>
      </p:sp>
    </p:spTree>
    <p:extLst>
      <p:ext uri="{BB962C8B-B14F-4D97-AF65-F5344CB8AC3E}">
        <p14:creationId xmlns:p14="http://schemas.microsoft.com/office/powerpoint/2010/main" val="2300430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7C253-1E41-F1D7-0B5D-E9F909622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0E9254-3F65-8D08-FFA9-A493D96D46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2689C8-B4A4-CB28-8D57-4157379285DE}"/>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5C32885-F0C6-E925-E522-C27DE8B8E5D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79305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94F08-C504-1990-4AEA-5455FD14D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04FC1-4422-8CD5-B9E3-26851480CA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022896-694A-2F4B-60C7-1E148CBDD11C}"/>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8AFA912B-0BA7-0589-2817-936C2076A8C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84907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BFB53-C150-A0C5-1C9C-6C9325E21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E1981-FD67-920F-16AF-69FD6622ED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D3726-3DF1-FD12-1DA5-F7B57DF199B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C512433B-A186-FDCC-5F9C-B2D2D92CD52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60113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342D9-9085-CA2A-0007-6DA9BB240E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DF611-766C-F97A-0EA1-588B6B48D3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FFD3A-0E9D-FD22-B069-D77171B25FF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28362569-4EB1-A312-7359-5A083E2A620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0814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457F5-C1BE-17A2-FA2C-D75BA9C16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67506-C0CB-21AF-7683-7F03A30A4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8879D-801F-2625-DCA0-E8D9BE23344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DF125B6-7680-6D6E-0D67-54B51B71E74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09555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9655B-8D60-23DC-6CD7-3F03980ED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9C0A4-6844-55DE-089E-4296F0B87C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512BB2-C525-433F-6779-1AABB781784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43011766-23C5-EF7B-069B-A3C7F34FCDE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8945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8AA6C-3A88-C3A6-B19E-55C852ED75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FFEC6-FDFF-3344-8D2F-9A7268837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C774D-544C-65B7-CBA1-20E20776F7B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81E7D4A8-6C6C-23E4-707E-0E5B83FDEAC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4223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8A54F-2068-688E-81DB-14721750F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D77DC-88B3-79B3-59CD-261BFE6CDF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972F1A-2AFD-DD60-E356-10A0D3174CB2}"/>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B6980EF-1983-6395-8F2E-3538079C829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55599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223F1-4B41-1D6A-1F87-BF84B6BDA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77BED-0445-90A2-1FA7-CF654A731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8BF381-3A23-964C-EC8A-54ADDD3CF9C7}"/>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9D62DC-9BC6-91E5-539A-F123792E71C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5079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DC1DA-7E3B-0C51-FDF5-9418076A0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3CC73-BE7D-0C10-6A64-ECC931DEDE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90941-E82C-2E32-0E2B-2B63369D01B0}"/>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6BB31CEA-E7A1-AE27-0C8D-45FD0E1585C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889010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F6B7A-F608-D66F-D330-FA3D70817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829A4-EB1C-6D50-CCDA-81D3CD7E48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CA5B7A-AB0A-CA38-AE6C-6839DE060A4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BD5CAF2-D179-BB50-1C1A-5AA7A15EF47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653415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2989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1A22B-CCB4-C2B8-3749-7EE9788ED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41D68-1527-E3D3-5ECC-4076CDB3FC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CC0660-0EF1-1ABC-A7A9-571D0C6A1FB7}"/>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033D01E7-B563-26B9-51D8-ADEC389D663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35C808B-581D-42BD-80FA-2C27E5F3B2A7}"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53433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4081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3630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7000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4283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6803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3526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8171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09439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1084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5756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0201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D085-E8A6-8845-BD4E-CB4CCA059FC4}" type="datetimeFigureOut">
              <a:rPr lang="en-US" smtClean="0"/>
              <a:t>7/9/2026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1696575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3.xml"/><Relationship Id="rId5" Type="http://schemas.openxmlformats.org/officeDocument/2006/relationships/hyperlink" Target="https://artifactory.srv.westpac.com.au/artifactory/a019ba-appian-maven-release-dependencies/net/snowflake/snowflake-jdbc/4.0.0/snowflake-jdbc-4.0.0.jar" TargetMode="External"/><Relationship Id="rId4" Type="http://schemas.openxmlformats.org/officeDocument/2006/relationships/hyperlink" Target="https://confluence.srv.westpac.com.au/display/CTO/Snowflake+ML%2C+Agentic+Framework"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hemeOverride" Target="../theme/themeOverride4.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confluence.srv.westpac.com.au/display/CTO/Snowflake+ML%2C+Agentic+Framework"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5.xml"/><Relationship Id="rId4" Type="http://schemas.openxmlformats.org/officeDocument/2006/relationships/hyperlink" Target="https://confluence.srv.westpac.com.au/display/CTO/Snowflake+ML%2C+Agentic+Framework"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confluence.srv.westpac.com.au/display/CTO/POC+-+NGM+Standard+FACE-AML+TO+Snowflake+ML" TargetMode="External"/><Relationship Id="rId2" Type="http://schemas.openxmlformats.org/officeDocument/2006/relationships/slideLayout" Target="../slideLayouts/slideLayout7.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8.xml"/></Relationships>
</file>

<file path=ppt/slides/_rels/slide10.xml.rels><?xml version="1.0" encoding="UTF-8" standalone="yes"?>
<Relationships xmlns="http://schemas.openxmlformats.org/package/2006/relationships"><Relationship Id="rId3" Type="http://schemas.openxmlformats.org/officeDocument/2006/relationships/hyperlink" Target="https://confluence.srv.westpac.com.au/display/AIA/Graphs+DBs+for+Knowledge+Graphs+for+GraphRAG+pattern" TargetMode="External"/><Relationship Id="rId7" Type="http://schemas.openxmlformats.org/officeDocument/2006/relationships/hyperlink" Target="https://confluence.srv.westpac.com.au/display/CTO/Graph%2C+GraphRAG+-+Analytics" TargetMode="External"/><Relationship Id="rId2" Type="http://schemas.openxmlformats.org/officeDocument/2006/relationships/slideLayout" Target="../slideLayouts/slideLayout7.xml"/><Relationship Id="rId1" Type="http://schemas.openxmlformats.org/officeDocument/2006/relationships/themeOverride" Target="../theme/themeOverride9.xml"/><Relationship Id="rId6" Type="http://schemas.openxmlformats.org/officeDocument/2006/relationships/hyperlink" Target="https://qt9xx6pgg8.execute-api.ap-southeast-2.amazonaws.com/" TargetMode="External"/><Relationship Id="rId5" Type="http://schemas.openxmlformats.org/officeDocument/2006/relationships/hyperlink" Target="https://confluence.srv.westpac.com.au/display/AIA/Knowledge+Graphs+Assessment" TargetMode="External"/><Relationship Id="rId4" Type="http://schemas.openxmlformats.org/officeDocument/2006/relationships/hyperlink" Target="https://confluence.srv.westpac.com.au/pages/viewpage.action?pageId=2068260021"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hemeOverride" Target="../theme/themeOverride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hemeOverride" Target="../theme/themeOverride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hemeOverride" Target="../theme/themeOverride1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hemeOverride" Target="../theme/themeOverride1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hemeOverride" Target="../theme/themeOverride19.xml"/><Relationship Id="rId4" Type="http://schemas.openxmlformats.org/officeDocument/2006/relationships/hyperlink" Target="https://confluence.srv.westpac.com.au/display/CTO/Snowflake+ML%2C+Agentic+Framework" TargetMode="Externa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hemeOverride" Target="../theme/themeOverride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hemeOverride" Target="../theme/themeOverride21.xml"/><Relationship Id="rId4" Type="http://schemas.openxmlformats.org/officeDocument/2006/relationships/hyperlink" Target="https://confluence.srv.westpac.com.au/display/CTO/Snowflake+ML%2C+Agentic+Framework" TargetMode="Externa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hemeOverride" Target="../theme/themeOverride22.xml"/><Relationship Id="rId5" Type="http://schemas.openxmlformats.org/officeDocument/2006/relationships/hyperlink" Target="https://confluence.srv.westpac.com.au/display/CTO/Snowflake+ML%2C+Agentic+Framework" TargetMode="External"/><Relationship Id="rId4" Type="http://schemas.openxmlformats.org/officeDocument/2006/relationships/image" Target="../media/image4.sv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hemeOverride" Target="../theme/themeOverride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hemeOverride" Target="../theme/themeOverride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hyperlink" Target="https://confluence.srv.westpac.com.au/display/CTO/Snowflake+ML%2C+Agentic+Framework" TargetMode="External"/><Relationship Id="rId2" Type="http://schemas.openxmlformats.org/officeDocument/2006/relationships/slideLayout" Target="../slideLayouts/slideLayout7.xml"/><Relationship Id="rId1" Type="http://schemas.openxmlformats.org/officeDocument/2006/relationships/themeOverride" Target="../theme/themeOverride25.xml"/><Relationship Id="rId6" Type="http://schemas.openxmlformats.org/officeDocument/2006/relationships/hyperlink" Target="https://www.snowflake.com/en/blog/engineering/ontology-grounded-cortex-agents/" TargetMode="External"/><Relationship Id="rId5" Type="http://schemas.openxmlformats.org/officeDocument/2006/relationships/hyperlink" Target="https://medium.com/snowflake/ontology-on-snowflake-part-1-overview-and-data-model-9e8eeaac7363" TargetMode="Externa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hemeOverride" Target="../theme/themeOverride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hemeOverride" Target="../theme/themeOverride27.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7.xml"/><Relationship Id="rId7" Type="http://schemas.openxmlformats.org/officeDocument/2006/relationships/image" Target="../media/image7.emf"/><Relationship Id="rId2" Type="http://schemas.openxmlformats.org/officeDocument/2006/relationships/slideLayout" Target="../slideLayouts/slideLayout7.xml"/><Relationship Id="rId1" Type="http://schemas.openxmlformats.org/officeDocument/2006/relationships/themeOverride" Target="../theme/themeOverride28.xml"/><Relationship Id="rId6" Type="http://schemas.openxmlformats.org/officeDocument/2006/relationships/oleObject" Target="../embeddings/oleObject2.bin"/><Relationship Id="rId5" Type="http://schemas.openxmlformats.org/officeDocument/2006/relationships/image" Target="../media/image6.emf"/><Relationship Id="rId4" Type="http://schemas.openxmlformats.org/officeDocument/2006/relationships/oleObject" Target="../embeddings/oleObject1.bin"/><Relationship Id="rId9" Type="http://schemas.openxmlformats.org/officeDocument/2006/relationships/image" Target="../media/image8.em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hemeOverride" Target="../theme/themeOverride2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hemeOverride" Target="../theme/themeOverride3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1.xml"/></Relationships>
</file>

<file path=ppt/slides/_rels/slide33.xml.rels><?xml version="1.0" encoding="UTF-8" standalone="yes"?>
<Relationships xmlns="http://schemas.openxmlformats.org/package/2006/relationships"><Relationship Id="rId3" Type="http://schemas.openxmlformats.org/officeDocument/2006/relationships/hyperlink" Target="https://confluence.srv.westpac.com.au/display/CTO/Graph%2C+GraphRAG+-+Analytics" TargetMode="External"/><Relationship Id="rId2" Type="http://schemas.openxmlformats.org/officeDocument/2006/relationships/slideLayout" Target="../slideLayouts/slideLayout7.xml"/><Relationship Id="rId1" Type="http://schemas.openxmlformats.org/officeDocument/2006/relationships/themeOverride" Target="../theme/themeOverride32.xml"/><Relationship Id="rId4" Type="http://schemas.openxmlformats.org/officeDocument/2006/relationships/hyperlink" Target="https://confluence.srv.westpac.com.au/display/CTO/Snowflake+ML%2C+Agentic+Framework"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themeOverride" Target="../theme/themeOverride3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hemeOverride" Target="../theme/themeOverride3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hemeOverride" Target="../theme/themeOverride35.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TextBox 2"/>
          <p:cNvSpPr txBox="1"/>
          <p:nvPr/>
        </p:nvSpPr>
        <p:spPr>
          <a:xfrm>
            <a:off x="922789" y="2104817"/>
            <a:ext cx="10058400" cy="707886"/>
          </a:xfrm>
          <a:prstGeom prst="rect">
            <a:avLst/>
          </a:prstGeom>
          <a:noFill/>
        </p:spPr>
        <p:txBody>
          <a:bodyPr wrap="square">
            <a:spAutoFit/>
          </a:bodyPr>
          <a:lstStyle/>
          <a:p>
            <a:pPr algn="ctr"/>
            <a:r>
              <a:rPr lang="en-AU" sz="4000" b="1"/>
              <a:t>Architecture</a:t>
            </a:r>
            <a:endParaRPr sz="4000" b="1"/>
          </a:p>
        </p:txBody>
      </p:sp>
      <p:sp>
        <p:nvSpPr>
          <p:cNvPr id="5" name="Rectangle 4"/>
          <p:cNvSpPr/>
          <p:nvPr/>
        </p:nvSpPr>
        <p:spPr>
          <a:xfrm>
            <a:off x="4419752" y="2821094"/>
            <a:ext cx="3047695" cy="36576"/>
          </a:xfrm>
          <a:prstGeom prst="rect">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6" name="TextBox 5">
            <a:extLst>
              <a:ext uri="{FF2B5EF4-FFF2-40B4-BE49-F238E27FC236}">
                <a16:creationId xmlns:a16="http://schemas.microsoft.com/office/drawing/2014/main" id="{B92B44E7-4882-A3BA-63EA-36F9582271A9}"/>
              </a:ext>
            </a:extLst>
          </p:cNvPr>
          <p:cNvSpPr txBox="1"/>
          <p:nvPr/>
        </p:nvSpPr>
        <p:spPr>
          <a:xfrm>
            <a:off x="3979330" y="2959198"/>
            <a:ext cx="4013199" cy="323165"/>
          </a:xfrm>
          <a:prstGeom prst="rect">
            <a:avLst/>
          </a:prstGeom>
          <a:noFill/>
        </p:spPr>
        <p:txBody>
          <a:bodyPr wrap="square">
            <a:spAutoFit/>
          </a:bodyPr>
          <a:lstStyle/>
          <a:p>
            <a:pPr lvl="0">
              <a:defRPr/>
            </a:pPr>
            <a:r>
              <a:rPr lang="en-AU" sz="1500" b="1">
                <a:latin typeface="Calibri"/>
              </a:rPr>
              <a:t>GRAPH, GRAPHRAG, ONTOLOGY, AGENTS, MCP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278CDF08-B5C1-9F5A-F2CE-FA73A42DA5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D5C2C4-4801-6AE3-B5D7-D434834D6A2B}"/>
              </a:ext>
            </a:extLst>
          </p:cNvPr>
          <p:cNvSpPr txBox="1"/>
          <p:nvPr/>
        </p:nvSpPr>
        <p:spPr>
          <a:xfrm>
            <a:off x="200778" y="24672"/>
            <a:ext cx="10058400" cy="553998"/>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AU" sz="3000" b="1">
                <a:latin typeface="Aptos" panose="02110004020202020204"/>
              </a:rPr>
              <a:t>Business Problem</a:t>
            </a:r>
            <a:endParaRPr kumimoji="0" sz="3000" b="1" i="0" u="none" strike="noStrike" kern="1200" cap="none" spc="0" normalizeH="0" baseline="0" noProof="0">
              <a:ln>
                <a:noFill/>
              </a:ln>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601A9C4B-98BD-BA3B-6C1D-4F617B4B0B2C}"/>
              </a:ext>
            </a:extLst>
          </p:cNvPr>
          <p:cNvSpPr/>
          <p:nvPr/>
        </p:nvSpPr>
        <p:spPr>
          <a:xfrm>
            <a:off x="321882" y="594357"/>
            <a:ext cx="3047695" cy="365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chemeClr val="tx1"/>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A31C9D92-0AD9-6320-7407-AFBF2265CEB6}"/>
              </a:ext>
            </a:extLst>
          </p:cNvPr>
          <p:cNvSpPr txBox="1"/>
          <p:nvPr/>
        </p:nvSpPr>
        <p:spPr>
          <a:xfrm>
            <a:off x="285448" y="744010"/>
            <a:ext cx="11718483" cy="5355312"/>
          </a:xfrm>
          <a:prstGeom prst="rect">
            <a:avLst/>
          </a:prstGeom>
          <a:noFill/>
          <a:ln>
            <a:solidFill>
              <a:schemeClr val="tx1"/>
            </a:solidFill>
          </a:ln>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AU" sz="950" b="1" i="0" u="none" strike="noStrike" kern="1200" cap="none" spc="0" normalizeH="0" baseline="0" noProof="0">
                <a:ln>
                  <a:noFill/>
                </a:ln>
                <a:effectLst/>
                <a:uLnTx/>
                <a:uFillTx/>
                <a:latin typeface="Calibri"/>
                <a:ea typeface="+mn-ea"/>
                <a:cs typeface="+mn-cs"/>
              </a:rPr>
              <a:t>As a part of Financial Crime Monitoring / Investigation, &lt;not limited to&gt; we are interested to know about patterns / anomalies in customer behaviour based on the products, transactions and the channel through which they transact. </a:t>
            </a:r>
            <a:br>
              <a:rPr kumimoji="0" lang="en-AU" sz="950" b="1" i="0" u="none" strike="noStrike" kern="1200" cap="none" spc="0" normalizeH="0" baseline="0" noProof="0">
                <a:ln>
                  <a:noFill/>
                </a:ln>
                <a:effectLst/>
                <a:uLnTx/>
                <a:uFillTx/>
                <a:latin typeface="Calibri"/>
                <a:ea typeface="+mn-ea"/>
                <a:cs typeface="+mn-cs"/>
              </a:rPr>
            </a:br>
            <a:br>
              <a:rPr kumimoji="0" lang="en-AU" sz="950" b="1" i="0" u="none" strike="noStrike" kern="1200" cap="none" spc="0" normalizeH="0" baseline="0" noProof="0">
                <a:ln>
                  <a:noFill/>
                </a:ln>
                <a:effectLst/>
                <a:uLnTx/>
                <a:uFillTx/>
                <a:latin typeface="Calibri"/>
                <a:ea typeface="+mn-ea"/>
                <a:cs typeface="+mn-cs"/>
              </a:rPr>
            </a:br>
            <a:r>
              <a:rPr kumimoji="0" lang="en-AU" sz="950" b="1" i="0" u="none" strike="noStrike" kern="1200" cap="none" spc="0" normalizeH="0" baseline="0" noProof="0">
                <a:ln>
                  <a:noFill/>
                </a:ln>
                <a:effectLst/>
                <a:uLnTx/>
                <a:uFillTx/>
                <a:latin typeface="Calibri"/>
                <a:ea typeface="+mn-ea"/>
                <a:cs typeface="+mn-cs"/>
              </a:rPr>
              <a:t>We perform various capabilities of monitoring (few of them are listed below)</a:t>
            </a:r>
            <a:endParaRPr lang="en-AU" sz="950" b="1">
              <a:latin typeface="Calibri"/>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50" b="1" i="0" u="none" strike="noStrike" kern="1200" cap="none" spc="0" normalizeH="0" baseline="0" noProof="0">
                <a:ln>
                  <a:noFill/>
                </a:ln>
                <a:effectLst/>
                <a:uLnTx/>
                <a:uFillTx/>
                <a:latin typeface="Calibri"/>
                <a:ea typeface="+mn-ea"/>
                <a:cs typeface="+mn-cs"/>
              </a:rPr>
              <a:t>CUSTOMER RISK ASSESSMENT, CUSTOMER DUE DELLIGENCE, ENHANCED DUE DELLIGENCE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50" b="1" i="0" u="none" strike="noStrike" kern="1200" cap="none" spc="0" normalizeH="0" baseline="0" noProof="0">
                <a:ln>
                  <a:noFill/>
                </a:ln>
                <a:effectLst/>
                <a:uLnTx/>
                <a:uFillTx/>
                <a:latin typeface="Calibri"/>
                <a:ea typeface="+mn-ea"/>
                <a:cs typeface="+mn-cs"/>
              </a:rPr>
              <a:t>SANCTIONS SCREENING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50" b="1">
                <a:latin typeface="Calibri"/>
              </a:rPr>
              <a:t>TRANSACTION MONITORING</a:t>
            </a:r>
          </a:p>
          <a:p>
            <a:pPr marL="171450" indent="-171450">
              <a:buFont typeface="Arial" panose="020B0604020202020204" pitchFamily="34" charset="0"/>
              <a:buChar char="•"/>
              <a:defRPr/>
            </a:pPr>
            <a:r>
              <a:rPr lang="en-AU" sz="950" b="1">
                <a:latin typeface="Calibri"/>
              </a:rPr>
              <a:t>REGULATORY REPORTING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50" b="1">
                <a:latin typeface="Calibri"/>
              </a:rPr>
              <a:t>FOREGIN TAX MONITORING &amp; REPORTING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50" b="1">
                <a:latin typeface="Calibri"/>
              </a:rPr>
              <a:t>GOVERNMENT NOTICES </a:t>
            </a:r>
          </a:p>
          <a:p>
            <a:pPr marR="0" lvl="0" algn="l" defTabSz="457200" rtl="0" eaLnBrk="1" fontAlgn="auto" latinLnBrk="0" hangingPunct="1">
              <a:lnSpc>
                <a:spcPct val="100000"/>
              </a:lnSpc>
              <a:spcBef>
                <a:spcPts val="0"/>
              </a:spcBef>
              <a:spcAft>
                <a:spcPts val="0"/>
              </a:spcAft>
              <a:buClrTx/>
              <a:buSzTx/>
              <a:tabLst/>
              <a:defRPr/>
            </a:pPr>
            <a:r>
              <a:rPr lang="en-AU" sz="950" b="1">
                <a:latin typeface="Calibri"/>
              </a:rPr>
              <a:t>Under Monitoring and Operational lens, it becomes very critical to find concealed relationships between different entities and detect anomalies based on abstraction. </a:t>
            </a:r>
          </a:p>
          <a:p>
            <a:pPr lvl="0">
              <a:defRPr/>
            </a:pPr>
            <a:br>
              <a:rPr lang="en-AU" sz="950" b="1">
                <a:latin typeface="Calibri"/>
              </a:rPr>
            </a:br>
            <a:r>
              <a:rPr lang="en-AU" sz="950" b="1" u="sng">
                <a:latin typeface="Calibri"/>
              </a:rPr>
              <a:t>Entities we are interested in</a:t>
            </a:r>
          </a:p>
          <a:p>
            <a:pPr marL="285750" lvl="0" indent="-285750">
              <a:buFont typeface="Arial" panose="020B0604020202020204" pitchFamily="34" charset="0"/>
              <a:buChar char="•"/>
              <a:defRPr/>
            </a:pPr>
            <a:r>
              <a:rPr lang="en-AU" sz="950" b="1">
                <a:latin typeface="Calibri"/>
              </a:rPr>
              <a:t>CUSTOMER, EMPLOYEE, PRODUCT, TRANSACTION, MERCHANT, ADDRESS, DEVICE, OSINT, ALERTS, CASES, REGULATORY REPORTS, OTHER (s)</a:t>
            </a:r>
          </a:p>
          <a:p>
            <a:pPr marL="285750" lvl="0" indent="-285750">
              <a:buFont typeface="Arial" panose="020B0604020202020204" pitchFamily="34" charset="0"/>
              <a:buChar char="•"/>
              <a:defRPr/>
            </a:pPr>
            <a:endParaRPr lang="en-AU" sz="950" b="1">
              <a:latin typeface="Calibri"/>
            </a:endParaRPr>
          </a:p>
          <a:p>
            <a:pPr lvl="0">
              <a:defRPr/>
            </a:pPr>
            <a:r>
              <a:rPr lang="en-AU" sz="950" b="1" u="sng">
                <a:latin typeface="Calibri"/>
              </a:rPr>
              <a:t>Scenario</a:t>
            </a:r>
          </a:p>
          <a:p>
            <a:pPr lvl="0">
              <a:defRPr/>
            </a:pPr>
            <a:r>
              <a:rPr kumimoji="0" lang="en-AU" sz="950" b="1" i="0" strike="noStrike" kern="1200" cap="none" spc="0" normalizeH="0" baseline="0" noProof="0">
                <a:ln>
                  <a:noFill/>
                </a:ln>
                <a:effectLst/>
                <a:uLnTx/>
                <a:uFillTx/>
                <a:latin typeface="Calibri"/>
                <a:ea typeface="+mn-ea"/>
                <a:cs typeface="+mn-cs"/>
              </a:rPr>
              <a:t>Retrieval </a:t>
            </a:r>
            <a:r>
              <a:rPr lang="en-AU" sz="950" b="1">
                <a:latin typeface="Calibri"/>
              </a:rPr>
              <a:t>of </a:t>
            </a:r>
            <a:r>
              <a:rPr kumimoji="0" lang="en-AU" sz="950" b="1" i="0" strike="noStrike" kern="1200" cap="none" spc="0" normalizeH="0" baseline="0" noProof="0">
                <a:ln>
                  <a:noFill/>
                </a:ln>
                <a:effectLst/>
                <a:uLnTx/>
                <a:uFillTx/>
                <a:latin typeface="Calibri"/>
                <a:ea typeface="+mn-ea"/>
                <a:cs typeface="+mn-cs"/>
              </a:rPr>
              <a:t>relationships across different entity attributes for a Customer being investigated. </a:t>
            </a:r>
            <a:br>
              <a:rPr kumimoji="0" lang="en-AU" sz="950" b="1" i="0" strike="noStrike" kern="1200" cap="none" spc="0" normalizeH="0" baseline="0" noProof="0">
                <a:ln>
                  <a:noFill/>
                </a:ln>
                <a:effectLst/>
                <a:uLnTx/>
                <a:uFillTx/>
                <a:latin typeface="Calibri"/>
                <a:ea typeface="+mn-ea"/>
                <a:cs typeface="+mn-cs"/>
              </a:rPr>
            </a:br>
            <a:r>
              <a:rPr kumimoji="0" lang="en-AU" sz="950" b="1" i="0" strike="noStrike" kern="1200" cap="none" spc="0" normalizeH="0" baseline="0" noProof="0">
                <a:ln>
                  <a:noFill/>
                </a:ln>
                <a:effectLst/>
                <a:uLnTx/>
                <a:uFillTx/>
                <a:latin typeface="Calibri"/>
                <a:ea typeface="+mn-ea"/>
                <a:cs typeface="+mn-cs"/>
              </a:rPr>
              <a:t>There are standard explicit relationships which we show currently to our investigators based on concrete relationships established across different data entities.</a:t>
            </a:r>
            <a:br>
              <a:rPr kumimoji="0" lang="en-AU" sz="950" b="1" i="0" strike="noStrike" kern="1200" cap="none" spc="0" normalizeH="0" baseline="0" noProof="0">
                <a:ln>
                  <a:noFill/>
                </a:ln>
                <a:effectLst/>
                <a:uLnTx/>
                <a:uFillTx/>
                <a:latin typeface="Calibri"/>
                <a:ea typeface="+mn-ea"/>
                <a:cs typeface="+mn-cs"/>
              </a:rPr>
            </a:br>
            <a:r>
              <a:rPr kumimoji="0" lang="en-AU" sz="950" b="1" i="0" strike="noStrike" kern="1200" cap="none" spc="0" normalizeH="0" baseline="0" noProof="0">
                <a:ln>
                  <a:noFill/>
                </a:ln>
                <a:effectLst/>
                <a:uLnTx/>
                <a:uFillTx/>
                <a:latin typeface="Calibri"/>
                <a:ea typeface="+mn-ea"/>
                <a:cs typeface="+mn-cs"/>
              </a:rPr>
              <a:t>The implementation of Ontology with Agents on top will help us extend the explicit relationships to be enriched with abstract relationships between different entities (centring around the Customer being investigated).</a:t>
            </a:r>
            <a:br>
              <a:rPr kumimoji="0" lang="en-AU" sz="950" b="1" i="0" strike="noStrike" kern="1200" cap="none" spc="0" normalizeH="0" baseline="0" noProof="0">
                <a:ln>
                  <a:noFill/>
                </a:ln>
                <a:effectLst/>
                <a:uLnTx/>
                <a:uFillTx/>
                <a:latin typeface="Calibri"/>
                <a:ea typeface="+mn-ea"/>
                <a:cs typeface="+mn-cs"/>
              </a:rPr>
            </a:br>
            <a:r>
              <a:rPr kumimoji="0" lang="en-AU" sz="950" b="1" i="0" strike="noStrike" kern="1200" cap="none" spc="0" normalizeH="0" baseline="0" noProof="0">
                <a:ln>
                  <a:noFill/>
                </a:ln>
                <a:effectLst/>
                <a:uLnTx/>
                <a:uFillTx/>
                <a:latin typeface="Calibri"/>
                <a:ea typeface="+mn-ea"/>
                <a:cs typeface="+mn-cs"/>
              </a:rPr>
              <a:t>This also enables NLP to be implemented and allows for queries to be executed at run time centring around </a:t>
            </a:r>
            <a:r>
              <a:rPr lang="en-AU" sz="950" b="1">
                <a:latin typeface="Calibri"/>
              </a:rPr>
              <a:t>the Customer being investigated.</a:t>
            </a:r>
          </a:p>
          <a:p>
            <a:pPr marR="0" lvl="0" algn="l" defTabSz="457200" rtl="0" eaLnBrk="1" fontAlgn="auto" latinLnBrk="0" hangingPunct="1">
              <a:lnSpc>
                <a:spcPct val="100000"/>
              </a:lnSpc>
              <a:spcBef>
                <a:spcPts val="0"/>
              </a:spcBef>
              <a:spcAft>
                <a:spcPts val="0"/>
              </a:spcAft>
              <a:buClrTx/>
              <a:buSzTx/>
              <a:tabLst/>
              <a:defRPr/>
            </a:pPr>
            <a:endParaRPr kumimoji="0" lang="en-AU" sz="950" i="0" strike="noStrike" kern="1200" cap="none" spc="0" normalizeH="0" baseline="0" noProof="0">
              <a:ln>
                <a:noFill/>
              </a:ln>
              <a:effectLst/>
              <a:uLnTx/>
              <a:uFillTx/>
              <a:latin typeface="Calibri"/>
              <a:ea typeface="+mn-ea"/>
              <a:cs typeface="+mn-cs"/>
            </a:endParaRPr>
          </a:p>
          <a:p>
            <a:pPr lvl="0">
              <a:defRPr/>
            </a:pPr>
            <a:r>
              <a:rPr lang="en-AU" sz="950" b="1">
                <a:latin typeface="Calibri"/>
              </a:rPr>
              <a:t>The POC was undertaken to figure out the best way to connect different entities and understand the relationships between them (not just concrete relationships but abstraction included).</a:t>
            </a:r>
          </a:p>
          <a:p>
            <a:pPr lvl="0">
              <a:defRPr/>
            </a:pPr>
            <a:r>
              <a:rPr lang="en-AU" sz="950" b="1">
                <a:latin typeface="Calibri"/>
              </a:rPr>
              <a:t>This pack talks to solutions and patterns (extensible / reusable) which can connect to any more entities we want to add in future.</a:t>
            </a:r>
            <a:br>
              <a:rPr lang="en-AU" sz="950" b="1">
                <a:latin typeface="Calibri"/>
              </a:rPr>
            </a:br>
            <a:r>
              <a:rPr lang="en-AU" sz="950" b="1" u="sng">
                <a:latin typeface="Calibri"/>
              </a:rPr>
              <a:t>Current entities included in POC</a:t>
            </a:r>
          </a:p>
          <a:p>
            <a:pPr marL="285750" lvl="0" indent="-285750">
              <a:buFont typeface="Arial" panose="020B0604020202020204" pitchFamily="34" charset="0"/>
              <a:buChar char="•"/>
              <a:defRPr/>
            </a:pPr>
            <a:r>
              <a:rPr lang="en-AU" sz="950" b="1">
                <a:latin typeface="Calibri"/>
              </a:rPr>
              <a:t>CUSTOMER, PRODUCT, TRANSACTION, MERCHANT, ADDRESS, DEVICE</a:t>
            </a:r>
          </a:p>
          <a:p>
            <a:pPr lvl="0">
              <a:defRPr/>
            </a:pPr>
            <a:endParaRPr lang="en-AU" sz="950" b="1">
              <a:latin typeface="Calibri"/>
            </a:endParaRPr>
          </a:p>
          <a:p>
            <a:pPr>
              <a:defRPr/>
            </a:pPr>
            <a:r>
              <a:rPr lang="en-AU" sz="950" b="1">
                <a:latin typeface="Calibri"/>
              </a:rPr>
              <a:t>The POC aims at demonstrating how Graph + Ontology can be set up within Snowflake &amp; / or what is needed to be done if we want Independent solution stacks to be stitched together.</a:t>
            </a:r>
            <a:br>
              <a:rPr lang="en-AU" sz="950" b="1">
                <a:latin typeface="Calibri"/>
              </a:rPr>
            </a:br>
            <a:br>
              <a:rPr lang="en-AU" sz="950" b="1">
                <a:latin typeface="Calibri"/>
              </a:rPr>
            </a:br>
            <a:r>
              <a:rPr lang="en-AU" sz="950" b="1" u="sng">
                <a:latin typeface="Calibri"/>
              </a:rPr>
              <a:t>Note</a:t>
            </a:r>
            <a:endParaRPr lang="en-AU" sz="950" b="1" u="sng">
              <a:latin typeface="Calibri"/>
              <a:sym typeface="Wingdings" panose="05000000000000000000" pitchFamily="2" charset="2"/>
            </a:endParaRPr>
          </a:p>
          <a:p>
            <a:pPr marL="171450" indent="-171450">
              <a:buFont typeface="Arial" panose="020B0604020202020204" pitchFamily="34" charset="0"/>
              <a:buChar char="•"/>
              <a:defRPr/>
            </a:pPr>
            <a:r>
              <a:rPr lang="en-AU" sz="950" b="1">
                <a:latin typeface="Calibri"/>
                <a:sym typeface="Wingdings" panose="05000000000000000000" pitchFamily="2" charset="2"/>
              </a:rPr>
              <a:t>The concrete relationships are already established and available via tables / views on Financial Crime Snowflake.</a:t>
            </a:r>
          </a:p>
          <a:p>
            <a:pPr marL="171450" indent="-171450">
              <a:buFont typeface="Arial" panose="020B0604020202020204" pitchFamily="34" charset="0"/>
              <a:buChar char="•"/>
              <a:defRPr/>
            </a:pPr>
            <a:r>
              <a:rPr lang="en-AU" sz="950" b="1">
                <a:latin typeface="Calibri"/>
                <a:sym typeface="Wingdings" panose="05000000000000000000" pitchFamily="2" charset="2"/>
              </a:rPr>
              <a:t>The abstract relationship construct will go into the Ontology semantics which will be generated in a BATCH mode (as a one-off on Day1  followed by updates based on daily deltas). </a:t>
            </a:r>
            <a:br>
              <a:rPr lang="en-AU" sz="950" b="1">
                <a:latin typeface="Calibri"/>
                <a:sym typeface="Wingdings" panose="05000000000000000000" pitchFamily="2" charset="2"/>
              </a:rPr>
            </a:br>
            <a:r>
              <a:rPr lang="en-AU" sz="950" b="1">
                <a:latin typeface="Calibri"/>
                <a:sym typeface="Wingdings" panose="05000000000000000000" pitchFamily="2" charset="2"/>
              </a:rPr>
              <a:t>Raw Data  Already integrated on Financial Crime Snowflake.</a:t>
            </a:r>
            <a:br>
              <a:rPr lang="en-AU" sz="950" b="1">
                <a:latin typeface="Calibri"/>
                <a:sym typeface="Wingdings" panose="05000000000000000000" pitchFamily="2" charset="2"/>
              </a:rPr>
            </a:br>
            <a:r>
              <a:rPr lang="en-AU" sz="950" b="1">
                <a:latin typeface="Calibri"/>
                <a:sym typeface="Wingdings" panose="05000000000000000000" pitchFamily="2" charset="2"/>
              </a:rPr>
              <a:t>Abstract Relationships based on Ontology semantics  Runs daily as BATCH to update “ONT” tables and views.</a:t>
            </a:r>
            <a:br>
              <a:rPr lang="en-AU" sz="950" b="1">
                <a:latin typeface="Calibri"/>
                <a:sym typeface="Wingdings" panose="05000000000000000000" pitchFamily="2" charset="2"/>
              </a:rPr>
            </a:br>
            <a:r>
              <a:rPr lang="en-AU" sz="950" b="1">
                <a:latin typeface="Calibri"/>
                <a:sym typeface="Wingdings" panose="05000000000000000000" pitchFamily="2" charset="2"/>
              </a:rPr>
              <a:t>NLP via Agents  Queries RAW Data + ONT tables / views to generate insights / execute run time queries.</a:t>
            </a:r>
            <a:br>
              <a:rPr lang="en-AU" sz="950" b="1">
                <a:latin typeface="Calibri"/>
                <a:sym typeface="Wingdings" panose="05000000000000000000" pitchFamily="2" charset="2"/>
              </a:rPr>
            </a:br>
            <a:endParaRPr lang="en-AU" sz="950" b="1">
              <a:latin typeface="Calibri"/>
            </a:endParaRPr>
          </a:p>
          <a:p>
            <a:pPr lvl="0">
              <a:defRPr/>
            </a:pPr>
            <a:r>
              <a:rPr lang="en-AU" sz="950" b="1">
                <a:latin typeface="Calibri"/>
              </a:rPr>
              <a:t>It also talks to the patterns of setting up Cortex agents for NLP + MCP on top of these data sets.</a:t>
            </a:r>
          </a:p>
        </p:txBody>
      </p:sp>
      <p:sp>
        <p:nvSpPr>
          <p:cNvPr id="9" name="TextBox 8">
            <a:extLst>
              <a:ext uri="{FF2B5EF4-FFF2-40B4-BE49-F238E27FC236}">
                <a16:creationId xmlns:a16="http://schemas.microsoft.com/office/drawing/2014/main" id="{92488166-6780-159D-1902-32ED7F82D713}"/>
              </a:ext>
            </a:extLst>
          </p:cNvPr>
          <p:cNvSpPr txBox="1"/>
          <p:nvPr/>
        </p:nvSpPr>
        <p:spPr>
          <a:xfrm>
            <a:off x="285448" y="6357015"/>
            <a:ext cx="8348133" cy="400110"/>
          </a:xfrm>
          <a:prstGeom prst="rect">
            <a:avLst/>
          </a:prstGeom>
          <a:noFill/>
        </p:spPr>
        <p:txBody>
          <a:bodyPr wrap="square">
            <a:spAutoFit/>
          </a:bodyPr>
          <a:lstStyle/>
          <a:p>
            <a:pPr marR="0" lvl="0" defTabSz="457200" rtl="0" eaLnBrk="1" fontAlgn="auto" latinLnBrk="0" hangingPunct="1">
              <a:lnSpc>
                <a:spcPct val="100000"/>
              </a:lnSpc>
              <a:spcBef>
                <a:spcPts val="0"/>
              </a:spcBef>
              <a:spcAft>
                <a:spcPts val="0"/>
              </a:spcAft>
              <a:buClrTx/>
              <a:buSzTx/>
              <a:tabLst/>
              <a:defRPr/>
            </a:pPr>
            <a:r>
              <a:rPr lang="en-AU" sz="1000" b="1">
                <a:solidFill>
                  <a:srgbClr val="00B050"/>
                </a:solidFill>
                <a:latin typeface="Calibri"/>
              </a:rPr>
              <a:t>The division currently leverages QUANTEXA for GRAPH based visualisation for entity relationships. </a:t>
            </a:r>
          </a:p>
          <a:p>
            <a:pPr marR="0" lvl="0" defTabSz="457200" rtl="0" eaLnBrk="1" fontAlgn="auto" latinLnBrk="0" hangingPunct="1">
              <a:lnSpc>
                <a:spcPct val="100000"/>
              </a:lnSpc>
              <a:spcBef>
                <a:spcPts val="0"/>
              </a:spcBef>
              <a:spcAft>
                <a:spcPts val="0"/>
              </a:spcAft>
              <a:buClrTx/>
              <a:buSzTx/>
              <a:tabLst/>
              <a:defRPr/>
            </a:pPr>
            <a:r>
              <a:rPr lang="en-AU" sz="1000" b="1">
                <a:solidFill>
                  <a:srgbClr val="00B050"/>
                </a:solidFill>
                <a:latin typeface="Calibri"/>
              </a:rPr>
              <a:t>QUANTEXA solution is not just limited to visualisation but also does end-to-end Transaction Monitoring for our Institutional division at Westpac. </a:t>
            </a:r>
          </a:p>
        </p:txBody>
      </p:sp>
    </p:spTree>
    <p:extLst>
      <p:ext uri="{BB962C8B-B14F-4D97-AF65-F5344CB8AC3E}">
        <p14:creationId xmlns:p14="http://schemas.microsoft.com/office/powerpoint/2010/main" val="1828686536"/>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4957E0A8-EF1E-9C5F-8052-495DAB619B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F944C9E-759A-226A-C96C-DCD10E797456}"/>
              </a:ext>
            </a:extLst>
          </p:cNvPr>
          <p:cNvSpPr txBox="1"/>
          <p:nvPr/>
        </p:nvSpPr>
        <p:spPr>
          <a:xfrm>
            <a:off x="-76379" y="1318163"/>
            <a:ext cx="1773675" cy="47705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500" b="1" i="0" u="none" strike="noStrike" kern="1200" cap="none" spc="0" normalizeH="0" baseline="0" noProof="0">
                <a:ln>
                  <a:noFill/>
                </a:ln>
                <a:effectLst/>
                <a:uLnTx/>
                <a:uFillTx/>
                <a:latin typeface="Aptos" panose="02110004020202020204"/>
                <a:ea typeface="+mn-ea"/>
                <a:cs typeface="+mn-cs"/>
              </a:rPr>
              <a:t>Options</a:t>
            </a:r>
            <a:endParaRPr kumimoji="0" sz="2500" b="1" i="0" u="none" strike="noStrike" kern="1200" cap="none" spc="0" normalizeH="0" baseline="0" noProof="0">
              <a:ln>
                <a:noFill/>
              </a:ln>
              <a:effectLst/>
              <a:uLnTx/>
              <a:uFillTx/>
              <a:latin typeface="Aptos" panose="02110004020202020204"/>
              <a:ea typeface="+mn-ea"/>
              <a:cs typeface="+mn-cs"/>
            </a:endParaRPr>
          </a:p>
        </p:txBody>
      </p:sp>
      <p:graphicFrame>
        <p:nvGraphicFramePr>
          <p:cNvPr id="7" name="Table 6">
            <a:extLst>
              <a:ext uri="{FF2B5EF4-FFF2-40B4-BE49-F238E27FC236}">
                <a16:creationId xmlns:a16="http://schemas.microsoft.com/office/drawing/2014/main" id="{C77843F2-6B4D-53F2-1D7E-F39B703660D3}"/>
              </a:ext>
            </a:extLst>
          </p:cNvPr>
          <p:cNvGraphicFramePr>
            <a:graphicFrameLocks noGrp="1"/>
          </p:cNvGraphicFramePr>
          <p:nvPr>
            <p:extLst>
              <p:ext uri="{D42A27DB-BD31-4B8C-83A1-F6EECF244321}">
                <p14:modId xmlns:p14="http://schemas.microsoft.com/office/powerpoint/2010/main" val="587851534"/>
              </p:ext>
            </p:extLst>
          </p:nvPr>
        </p:nvGraphicFramePr>
        <p:xfrm>
          <a:off x="208696" y="1866900"/>
          <a:ext cx="11836402" cy="4267726"/>
        </p:xfrm>
        <a:graphic>
          <a:graphicData uri="http://schemas.openxmlformats.org/drawingml/2006/table">
            <a:tbl>
              <a:tblPr firstRow="1" bandRow="1">
                <a:tableStyleId>{5C22544A-7EE6-4342-B048-85BDC9FD1C3A}</a:tableStyleId>
              </a:tblPr>
              <a:tblGrid>
                <a:gridCol w="5918201">
                  <a:extLst>
                    <a:ext uri="{9D8B030D-6E8A-4147-A177-3AD203B41FA5}">
                      <a16:colId xmlns:a16="http://schemas.microsoft.com/office/drawing/2014/main" val="191090848"/>
                    </a:ext>
                  </a:extLst>
                </a:gridCol>
                <a:gridCol w="5918201">
                  <a:extLst>
                    <a:ext uri="{9D8B030D-6E8A-4147-A177-3AD203B41FA5}">
                      <a16:colId xmlns:a16="http://schemas.microsoft.com/office/drawing/2014/main" val="787868451"/>
                    </a:ext>
                  </a:extLst>
                </a:gridCol>
              </a:tblGrid>
              <a:tr h="399753">
                <a:tc>
                  <a:txBody>
                    <a:bodyPr/>
                    <a:lstStyle/>
                    <a:p>
                      <a:r>
                        <a:rPr lang="en-AU">
                          <a:solidFill>
                            <a:schemeClr val="tx1"/>
                          </a:solidFill>
                        </a:rPr>
                        <a:t>Custom Built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AU">
                          <a:solidFill>
                            <a:schemeClr val="tx1"/>
                          </a:solidFill>
                        </a:rPr>
                        <a:t>Snowflake Native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005196009"/>
                  </a:ext>
                </a:extLst>
              </a:tr>
              <a:tr h="2191047">
                <a:tc>
                  <a:txBody>
                    <a:bodyPr/>
                    <a:lstStyle/>
                    <a:p>
                      <a:endParaRPr lang="en-AU"/>
                    </a:p>
                    <a:p>
                      <a:endParaRPr lang="en-AU"/>
                    </a:p>
                    <a:p>
                      <a:endParaRPr lang="en-AU"/>
                    </a:p>
                    <a:p>
                      <a:endParaRPr lang="en-AU"/>
                    </a:p>
                    <a:p>
                      <a:endParaRPr lang="en-AU"/>
                    </a:p>
                    <a:p>
                      <a:endParaRPr lang="en-AU"/>
                    </a:p>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488761819"/>
                  </a:ext>
                </a:extLst>
              </a:tr>
              <a:tr h="1676926">
                <a:tc>
                  <a:txBody>
                    <a:bodyPr/>
                    <a:lstStyle/>
                    <a:p>
                      <a:r>
                        <a:rPr lang="en-AU" sz="800" b="1" u="sng"/>
                        <a:t>Warrants</a:t>
                      </a:r>
                      <a:r>
                        <a:rPr lang="en-AU" sz="800"/>
                        <a:t> </a:t>
                      </a:r>
                    </a:p>
                    <a:p>
                      <a:pPr marL="228600" indent="-228600">
                        <a:buFont typeface="+mj-lt"/>
                        <a:buAutoNum type="arabicPeriod"/>
                      </a:pPr>
                      <a:r>
                        <a:rPr lang="en-AU" sz="800"/>
                        <a:t>FILE STORAGE – ADLS, S3, GCS</a:t>
                      </a:r>
                    </a:p>
                    <a:p>
                      <a:pPr marL="228600" indent="-228600">
                        <a:buFont typeface="+mj-lt"/>
                        <a:buAutoNum type="arabicPeriod"/>
                      </a:pPr>
                      <a:r>
                        <a:rPr lang="en-AU" sz="800"/>
                        <a:t>SNOWFLAKE EXTERNAL VOLUME AND STORAGE INTEGRATION</a:t>
                      </a:r>
                    </a:p>
                    <a:p>
                      <a:pPr marL="228600" indent="-228600">
                        <a:buFont typeface="+mj-lt"/>
                        <a:buAutoNum type="arabicPeriod"/>
                      </a:pPr>
                      <a:r>
                        <a:rPr lang="en-AU" sz="800">
                          <a:solidFill>
                            <a:srgbClr val="FF0000"/>
                          </a:solidFill>
                        </a:rPr>
                        <a:t>GRAPH DB WITH UI</a:t>
                      </a:r>
                    </a:p>
                    <a:p>
                      <a:pPr marL="228600" indent="-228600">
                        <a:buFont typeface="+mj-lt"/>
                        <a:buAutoNum type="arabicPeriod"/>
                      </a:pPr>
                      <a:r>
                        <a:rPr lang="en-AU" sz="800">
                          <a:solidFill>
                            <a:srgbClr val="FF0000"/>
                          </a:solidFill>
                        </a:rPr>
                        <a:t>VECTOR DB WITH UI</a:t>
                      </a:r>
                    </a:p>
                    <a:p>
                      <a:pPr marL="228600" indent="-228600">
                        <a:buFont typeface="+mj-lt"/>
                        <a:buAutoNum type="arabicPeriod"/>
                      </a:pPr>
                      <a:r>
                        <a:rPr lang="en-AU" sz="800"/>
                        <a:t>UI </a:t>
                      </a:r>
                      <a:r>
                        <a:rPr lang="en-AU" sz="800">
                          <a:sym typeface="Wingdings" panose="05000000000000000000" pitchFamily="2" charset="2"/>
                        </a:rPr>
                        <a:t> COULD BE UNIFIED UI BUT CUSTOM BUILT (MESH, AZURE WEBAPP, APP ON K8)</a:t>
                      </a:r>
                    </a:p>
                    <a:p>
                      <a:pPr marL="228600" indent="-228600">
                        <a:buFont typeface="+mj-lt"/>
                        <a:buAutoNum type="arabicPeriod"/>
                      </a:pPr>
                      <a:r>
                        <a:rPr lang="en-AU" sz="800">
                          <a:solidFill>
                            <a:srgbClr val="FF0000"/>
                          </a:solidFill>
                        </a:rPr>
                        <a:t>INTEGRATIONS BETWEEN (DATA SOURCE – FILE STORAGE – SNOWFLAKE – GRAPH DB + VECTOR DB – UI)</a:t>
                      </a:r>
                    </a:p>
                    <a:p>
                      <a:pPr marL="228600" indent="-228600">
                        <a:buFont typeface="+mj-lt"/>
                        <a:buAutoNum type="arabicPeriod"/>
                      </a:pPr>
                      <a:r>
                        <a:rPr lang="en-AU" sz="800">
                          <a:solidFill>
                            <a:srgbClr val="FF0000"/>
                          </a:solidFill>
                        </a:rPr>
                        <a:t>MODELLING PLATFORM WITH ACCESS TO SNOWFLAKE, GRAPH DB, VECTOR DB</a:t>
                      </a:r>
                    </a:p>
                    <a:p>
                      <a:pPr marL="228600" indent="-228600">
                        <a:buFont typeface="+mj-lt"/>
                        <a:buAutoNum type="arabicPeriod"/>
                      </a:pPr>
                      <a:r>
                        <a:rPr lang="en-AU" sz="800">
                          <a:solidFill>
                            <a:srgbClr val="FF0000"/>
                          </a:solidFill>
                        </a:rPr>
                        <a:t>FEATURE STORE – NATIVE TO MODELLING PLATFORM (IF NOT HOSTED OUTSIDE)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lang="en-AU" sz="800" b="1" u="sng"/>
                        <a:t>Warrants</a:t>
                      </a:r>
                    </a:p>
                    <a:p>
                      <a:pPr marL="228600" indent="-228600">
                        <a:buFont typeface="+mj-lt"/>
                        <a:buAutoNum type="arabicPeriod"/>
                      </a:pPr>
                      <a:r>
                        <a:rPr lang="en-AU" sz="800"/>
                        <a:t>FILE STORAGE – ADLS, S3, GCS</a:t>
                      </a:r>
                    </a:p>
                    <a:p>
                      <a:pPr marL="228600" indent="-228600">
                        <a:buFont typeface="+mj-lt"/>
                        <a:buAutoNum type="arabicPeriod"/>
                      </a:pPr>
                      <a:r>
                        <a:rPr lang="en-AU" sz="800"/>
                        <a:t>SNOWFLAKE EXTERNAL VOLUME AND STORAGE INTEGRATION</a:t>
                      </a:r>
                    </a:p>
                    <a:p>
                      <a:pPr marL="228600" indent="-228600">
                        <a:buFont typeface="+mj-lt"/>
                        <a:buAutoNum type="arabicPeriod"/>
                      </a:pPr>
                      <a:r>
                        <a:rPr lang="en-AU" sz="800"/>
                        <a:t>SNOWFLAKE GRAPH, GRAPHRAG, ONTOLOGY SETUP – ALL NATIVE</a:t>
                      </a:r>
                    </a:p>
                    <a:p>
                      <a:pPr marL="228600" indent="-228600">
                        <a:buFont typeface="+mj-lt"/>
                        <a:buAutoNum type="arabicPeriod"/>
                      </a:pPr>
                      <a:r>
                        <a:rPr lang="en-AU" sz="800"/>
                        <a:t>UI </a:t>
                      </a:r>
                      <a:r>
                        <a:rPr lang="en-AU" sz="800">
                          <a:sym typeface="Wingdings" panose="05000000000000000000" pitchFamily="2" charset="2"/>
                        </a:rPr>
                        <a:t> COULD BE UNIFIED VIA SNOWFLAKE WEB APP, CUSTOM UI ON MESH / K8 (SPCS / AKS) </a:t>
                      </a:r>
                    </a:p>
                    <a:p>
                      <a:pPr marL="0" indent="0">
                        <a:buFont typeface="+mj-lt"/>
                        <a:buNone/>
                      </a:pPr>
                      <a:endParaRPr lang="en-AU" sz="800">
                        <a:sym typeface="Wingdings" panose="05000000000000000000" pitchFamily="2" charset="2"/>
                      </a:endParaRPr>
                    </a:p>
                    <a:p>
                      <a:pPr marL="228600" indent="-228600">
                        <a:buFont typeface="+mj-lt"/>
                        <a:buAutoNum type="arabicPeriod"/>
                      </a:pPr>
                      <a:endParaRPr lang="en-AU" sz="800">
                        <a:sym typeface="Wingdings" panose="05000000000000000000" pitchFamily="2" charset="2"/>
                      </a:endParaRPr>
                    </a:p>
                    <a:p>
                      <a:pPr marL="0" indent="0">
                        <a:buFont typeface="+mj-lt"/>
                        <a:buNone/>
                      </a:pPr>
                      <a:r>
                        <a:rPr lang="en-AU" sz="800">
                          <a:sym typeface="Wingdings" panose="05000000000000000000" pitchFamily="2" charset="2"/>
                        </a:rPr>
                        <a:t>LEVERAGE SNOWFLAKE NATIVE GRAPH, GRAPHRAG AND ONTOLOGY CAPABILITIES TO REDUCE </a:t>
                      </a:r>
                    </a:p>
                    <a:p>
                      <a:pPr marL="171450" indent="-171450">
                        <a:buFontTx/>
                        <a:buChar char="-"/>
                      </a:pPr>
                      <a:r>
                        <a:rPr lang="en-AU" sz="800">
                          <a:sym typeface="Wingdings" panose="05000000000000000000" pitchFamily="2" charset="2"/>
                        </a:rPr>
                        <a:t>COMPLEX INTEGARTION BETWEEN MULTIPLE SOLUTION STACKS, DATA HOPS, FAILURE POINTS, SEPRATE ACCESS FOR DATA TO MODELS, FEATURE STORE INTEGRATION</a:t>
                      </a:r>
                    </a:p>
                    <a:p>
                      <a:pPr marL="171450" indent="-171450">
                        <a:buFontTx/>
                        <a:buChar char="-"/>
                      </a:pPr>
                      <a:r>
                        <a:rPr lang="en-AU" sz="800">
                          <a:sym typeface="Wingdings" panose="05000000000000000000" pitchFamily="2" charset="2"/>
                        </a:rPr>
                        <a:t>OPEX SAVING (SAVES US FROM STANDING AND STITCHING UP MULTIPLE SOLUTION COMPONENTS)</a:t>
                      </a:r>
                      <a:endParaRPr lang="en-AU"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5152237"/>
                  </a:ext>
                </a:extLst>
              </a:tr>
            </a:tbl>
          </a:graphicData>
        </a:graphic>
      </p:graphicFrame>
      <p:sp>
        <p:nvSpPr>
          <p:cNvPr id="8" name="Rectangle: Rounded Corners 7">
            <a:extLst>
              <a:ext uri="{FF2B5EF4-FFF2-40B4-BE49-F238E27FC236}">
                <a16:creationId xmlns:a16="http://schemas.microsoft.com/office/drawing/2014/main" id="{8469428D-3D14-A33F-9F55-66FA47B25F66}"/>
              </a:ext>
            </a:extLst>
          </p:cNvPr>
          <p:cNvSpPr/>
          <p:nvPr/>
        </p:nvSpPr>
        <p:spPr>
          <a:xfrm>
            <a:off x="499266" y="2749825"/>
            <a:ext cx="245523" cy="1259141"/>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DATA</a:t>
            </a:r>
          </a:p>
        </p:txBody>
      </p:sp>
      <p:sp>
        <p:nvSpPr>
          <p:cNvPr id="10" name="Rectangle: Rounded Corners 9">
            <a:extLst>
              <a:ext uri="{FF2B5EF4-FFF2-40B4-BE49-F238E27FC236}">
                <a16:creationId xmlns:a16="http://schemas.microsoft.com/office/drawing/2014/main" id="{61133C25-6D8F-0561-CDC2-A02E9A42C97B}"/>
              </a:ext>
            </a:extLst>
          </p:cNvPr>
          <p:cNvSpPr/>
          <p:nvPr/>
        </p:nvSpPr>
        <p:spPr>
          <a:xfrm>
            <a:off x="1308555" y="3627967"/>
            <a:ext cx="524933" cy="3810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ADLS / S3 / </a:t>
            </a:r>
          </a:p>
          <a:p>
            <a:pPr algn="ctr"/>
            <a:r>
              <a:rPr lang="en-AU" sz="700">
                <a:solidFill>
                  <a:schemeClr val="tx1"/>
                </a:solidFill>
              </a:rPr>
              <a:t>GCS</a:t>
            </a:r>
          </a:p>
        </p:txBody>
      </p:sp>
      <p:sp>
        <p:nvSpPr>
          <p:cNvPr id="12" name="Rectangle: Rounded Corners 11">
            <a:extLst>
              <a:ext uri="{FF2B5EF4-FFF2-40B4-BE49-F238E27FC236}">
                <a16:creationId xmlns:a16="http://schemas.microsoft.com/office/drawing/2014/main" id="{CCB12032-BA17-15DA-312E-68B7E6D53AF2}"/>
              </a:ext>
            </a:extLst>
          </p:cNvPr>
          <p:cNvSpPr/>
          <p:nvPr/>
        </p:nvSpPr>
        <p:spPr>
          <a:xfrm>
            <a:off x="1185789" y="3005666"/>
            <a:ext cx="770467" cy="3810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SNOWFLAKE</a:t>
            </a:r>
          </a:p>
        </p:txBody>
      </p:sp>
      <p:cxnSp>
        <p:nvCxnSpPr>
          <p:cNvPr id="14" name="Straight Arrow Connector 13">
            <a:extLst>
              <a:ext uri="{FF2B5EF4-FFF2-40B4-BE49-F238E27FC236}">
                <a16:creationId xmlns:a16="http://schemas.microsoft.com/office/drawing/2014/main" id="{662D5CA0-AD47-9968-F5F5-7C36F4EBA7F3}"/>
              </a:ext>
            </a:extLst>
          </p:cNvPr>
          <p:cNvCxnSpPr>
            <a:stCxn id="12" idx="2"/>
            <a:endCxn id="10" idx="0"/>
          </p:cNvCxnSpPr>
          <p:nvPr/>
        </p:nvCxnSpPr>
        <p:spPr>
          <a:xfrm flipH="1">
            <a:off x="1571022" y="3386666"/>
            <a:ext cx="1" cy="2413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7DFE43D-44CA-5F22-D477-349F599E7C46}"/>
              </a:ext>
            </a:extLst>
          </p:cNvPr>
          <p:cNvCxnSpPr>
            <a:cxnSpLocks/>
            <a:endCxn id="10" idx="1"/>
          </p:cNvCxnSpPr>
          <p:nvPr/>
        </p:nvCxnSpPr>
        <p:spPr>
          <a:xfrm>
            <a:off x="728590" y="3818467"/>
            <a:ext cx="57996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02D41CB2-3E38-6F36-C0C9-2C5783A062B9}"/>
              </a:ext>
            </a:extLst>
          </p:cNvPr>
          <p:cNvSpPr/>
          <p:nvPr/>
        </p:nvSpPr>
        <p:spPr>
          <a:xfrm>
            <a:off x="3627974" y="3005666"/>
            <a:ext cx="770467" cy="3810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GRAPH DB</a:t>
            </a:r>
          </a:p>
        </p:txBody>
      </p:sp>
      <p:sp>
        <p:nvSpPr>
          <p:cNvPr id="22" name="Rectangle: Rounded Corners 21">
            <a:extLst>
              <a:ext uri="{FF2B5EF4-FFF2-40B4-BE49-F238E27FC236}">
                <a16:creationId xmlns:a16="http://schemas.microsoft.com/office/drawing/2014/main" id="{49432C27-F89C-8DB7-B5F4-63C20188B2F3}"/>
              </a:ext>
            </a:extLst>
          </p:cNvPr>
          <p:cNvSpPr/>
          <p:nvPr/>
        </p:nvSpPr>
        <p:spPr>
          <a:xfrm>
            <a:off x="3606803" y="3488869"/>
            <a:ext cx="770467" cy="3810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VECTOR  DB</a:t>
            </a:r>
          </a:p>
        </p:txBody>
      </p:sp>
      <p:sp>
        <p:nvSpPr>
          <p:cNvPr id="23" name="Flowchart: Predefined Process 22">
            <a:extLst>
              <a:ext uri="{FF2B5EF4-FFF2-40B4-BE49-F238E27FC236}">
                <a16:creationId xmlns:a16="http://schemas.microsoft.com/office/drawing/2014/main" id="{727907B3-1230-C035-E0A2-114DA42A550D}"/>
              </a:ext>
            </a:extLst>
          </p:cNvPr>
          <p:cNvSpPr/>
          <p:nvPr/>
        </p:nvSpPr>
        <p:spPr>
          <a:xfrm>
            <a:off x="3661840" y="2595033"/>
            <a:ext cx="694266" cy="154793"/>
          </a:xfrm>
          <a:prstGeom prst="flowChartPredefinedProces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UI</a:t>
            </a:r>
          </a:p>
        </p:txBody>
      </p:sp>
      <p:sp>
        <p:nvSpPr>
          <p:cNvPr id="25" name="Flowchart: Predefined Process 24">
            <a:extLst>
              <a:ext uri="{FF2B5EF4-FFF2-40B4-BE49-F238E27FC236}">
                <a16:creationId xmlns:a16="http://schemas.microsoft.com/office/drawing/2014/main" id="{132FCD91-3F9A-D934-C717-265D0FCEEF95}"/>
              </a:ext>
            </a:extLst>
          </p:cNvPr>
          <p:cNvSpPr/>
          <p:nvPr/>
        </p:nvSpPr>
        <p:spPr>
          <a:xfrm>
            <a:off x="3640673" y="4055558"/>
            <a:ext cx="694266" cy="154793"/>
          </a:xfrm>
          <a:prstGeom prst="flowChartPredefinedProces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UI</a:t>
            </a:r>
          </a:p>
        </p:txBody>
      </p:sp>
      <p:sp>
        <p:nvSpPr>
          <p:cNvPr id="27" name="Flowchart: Predefined Process 26">
            <a:extLst>
              <a:ext uri="{FF2B5EF4-FFF2-40B4-BE49-F238E27FC236}">
                <a16:creationId xmlns:a16="http://schemas.microsoft.com/office/drawing/2014/main" id="{916EE186-3A07-D20F-DCEC-32DBA0EEABCF}"/>
              </a:ext>
            </a:extLst>
          </p:cNvPr>
          <p:cNvSpPr/>
          <p:nvPr/>
        </p:nvSpPr>
        <p:spPr>
          <a:xfrm>
            <a:off x="4780972" y="3235078"/>
            <a:ext cx="770463" cy="381000"/>
          </a:xfrm>
          <a:prstGeom prst="flowChartPredefinedProces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MESH UI / </a:t>
            </a:r>
          </a:p>
          <a:p>
            <a:pPr algn="ctr"/>
            <a:r>
              <a:rPr lang="en-AU" sz="700">
                <a:solidFill>
                  <a:schemeClr val="tx1"/>
                </a:solidFill>
              </a:rPr>
              <a:t>UI ON K8</a:t>
            </a:r>
          </a:p>
        </p:txBody>
      </p:sp>
      <p:cxnSp>
        <p:nvCxnSpPr>
          <p:cNvPr id="28" name="Straight Arrow Connector 27">
            <a:extLst>
              <a:ext uri="{FF2B5EF4-FFF2-40B4-BE49-F238E27FC236}">
                <a16:creationId xmlns:a16="http://schemas.microsoft.com/office/drawing/2014/main" id="{1F00E133-281C-D2BC-8F35-0A84F3A9CC7C}"/>
              </a:ext>
            </a:extLst>
          </p:cNvPr>
          <p:cNvCxnSpPr>
            <a:cxnSpLocks/>
            <a:stCxn id="23" idx="2"/>
            <a:endCxn id="20" idx="0"/>
          </p:cNvCxnSpPr>
          <p:nvPr/>
        </p:nvCxnSpPr>
        <p:spPr>
          <a:xfrm>
            <a:off x="4008973" y="2749826"/>
            <a:ext cx="4235" cy="2558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A067137-2EC6-F518-D634-ACF6A0C857FD}"/>
              </a:ext>
            </a:extLst>
          </p:cNvPr>
          <p:cNvCxnSpPr>
            <a:cxnSpLocks/>
            <a:stCxn id="25" idx="0"/>
            <a:endCxn id="22" idx="2"/>
          </p:cNvCxnSpPr>
          <p:nvPr/>
        </p:nvCxnSpPr>
        <p:spPr>
          <a:xfrm flipV="1">
            <a:off x="3987806" y="3869869"/>
            <a:ext cx="4231" cy="1856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423A579F-DC87-C500-AB7A-9BC29065D1F1}"/>
              </a:ext>
            </a:extLst>
          </p:cNvPr>
          <p:cNvCxnSpPr>
            <a:cxnSpLocks/>
          </p:cNvCxnSpPr>
          <p:nvPr/>
        </p:nvCxnSpPr>
        <p:spPr>
          <a:xfrm>
            <a:off x="787858" y="3196166"/>
            <a:ext cx="3979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A8E804F-D0CB-3D3A-35FF-779684FA206A}"/>
              </a:ext>
            </a:extLst>
          </p:cNvPr>
          <p:cNvCxnSpPr>
            <a:cxnSpLocks/>
            <a:stCxn id="12" idx="3"/>
            <a:endCxn id="91" idx="1"/>
          </p:cNvCxnSpPr>
          <p:nvPr/>
        </p:nvCxnSpPr>
        <p:spPr>
          <a:xfrm>
            <a:off x="1956256" y="3196166"/>
            <a:ext cx="321732" cy="1098"/>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0">
            <a:extLst>
              <a:ext uri="{FF2B5EF4-FFF2-40B4-BE49-F238E27FC236}">
                <a16:creationId xmlns:a16="http://schemas.microsoft.com/office/drawing/2014/main" id="{41D2AE2D-71C4-3B4B-D799-A310D1FD49E8}"/>
              </a:ext>
            </a:extLst>
          </p:cNvPr>
          <p:cNvCxnSpPr>
            <a:cxnSpLocks/>
            <a:stCxn id="22" idx="3"/>
            <a:endCxn id="27" idx="1"/>
          </p:cNvCxnSpPr>
          <p:nvPr/>
        </p:nvCxnSpPr>
        <p:spPr>
          <a:xfrm flipV="1">
            <a:off x="4377270" y="3425578"/>
            <a:ext cx="403702" cy="253791"/>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0">
            <a:extLst>
              <a:ext uri="{FF2B5EF4-FFF2-40B4-BE49-F238E27FC236}">
                <a16:creationId xmlns:a16="http://schemas.microsoft.com/office/drawing/2014/main" id="{000DED72-BEBD-E8CA-E9A0-8C9CB4C19FFD}"/>
              </a:ext>
            </a:extLst>
          </p:cNvPr>
          <p:cNvCxnSpPr>
            <a:cxnSpLocks/>
            <a:stCxn id="20" idx="3"/>
            <a:endCxn id="27" idx="1"/>
          </p:cNvCxnSpPr>
          <p:nvPr/>
        </p:nvCxnSpPr>
        <p:spPr>
          <a:xfrm>
            <a:off x="4398441" y="3196166"/>
            <a:ext cx="382531" cy="229412"/>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0">
            <a:extLst>
              <a:ext uri="{FF2B5EF4-FFF2-40B4-BE49-F238E27FC236}">
                <a16:creationId xmlns:a16="http://schemas.microsoft.com/office/drawing/2014/main" id="{ADE85200-7060-B389-F70B-A17CBBA69CEF}"/>
              </a:ext>
            </a:extLst>
          </p:cNvPr>
          <p:cNvCxnSpPr>
            <a:cxnSpLocks/>
            <a:stCxn id="8" idx="2"/>
            <a:endCxn id="91" idx="2"/>
          </p:cNvCxnSpPr>
          <p:nvPr/>
        </p:nvCxnSpPr>
        <p:spPr>
          <a:xfrm rot="5400000" flipH="1" flipV="1">
            <a:off x="1426092" y="2737069"/>
            <a:ext cx="467833" cy="2075962"/>
          </a:xfrm>
          <a:prstGeom prst="bentConnector3">
            <a:avLst>
              <a:gd name="adj1" fmla="val -48864"/>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40">
            <a:extLst>
              <a:ext uri="{FF2B5EF4-FFF2-40B4-BE49-F238E27FC236}">
                <a16:creationId xmlns:a16="http://schemas.microsoft.com/office/drawing/2014/main" id="{2C2021D4-096B-4D23-9E07-E952E75A7835}"/>
              </a:ext>
            </a:extLst>
          </p:cNvPr>
          <p:cNvCxnSpPr>
            <a:cxnSpLocks/>
            <a:stCxn id="12" idx="0"/>
            <a:endCxn id="27" idx="0"/>
          </p:cNvCxnSpPr>
          <p:nvPr/>
        </p:nvCxnSpPr>
        <p:spPr>
          <a:xfrm rot="16200000" flipH="1">
            <a:off x="3253907" y="1322782"/>
            <a:ext cx="229412" cy="3595181"/>
          </a:xfrm>
          <a:prstGeom prst="bentConnector3">
            <a:avLst>
              <a:gd name="adj1" fmla="val -260776"/>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6" name="Rectangle: Rounded Corners 65">
            <a:extLst>
              <a:ext uri="{FF2B5EF4-FFF2-40B4-BE49-F238E27FC236}">
                <a16:creationId xmlns:a16="http://schemas.microsoft.com/office/drawing/2014/main" id="{C4726395-F3A8-BD41-5136-A5F6CC948E93}"/>
              </a:ext>
            </a:extLst>
          </p:cNvPr>
          <p:cNvSpPr/>
          <p:nvPr/>
        </p:nvSpPr>
        <p:spPr>
          <a:xfrm>
            <a:off x="7361049" y="2733742"/>
            <a:ext cx="245523" cy="1259141"/>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DATA</a:t>
            </a:r>
          </a:p>
        </p:txBody>
      </p:sp>
      <p:sp>
        <p:nvSpPr>
          <p:cNvPr id="67" name="Rectangle: Rounded Corners 66">
            <a:extLst>
              <a:ext uri="{FF2B5EF4-FFF2-40B4-BE49-F238E27FC236}">
                <a16:creationId xmlns:a16="http://schemas.microsoft.com/office/drawing/2014/main" id="{1137123B-2459-EDCF-3FC8-024B0ACFEC7C}"/>
              </a:ext>
            </a:extLst>
          </p:cNvPr>
          <p:cNvSpPr/>
          <p:nvPr/>
        </p:nvSpPr>
        <p:spPr>
          <a:xfrm>
            <a:off x="8189791" y="3616208"/>
            <a:ext cx="524933" cy="3810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ADLS / S3 / </a:t>
            </a:r>
          </a:p>
          <a:p>
            <a:pPr algn="ctr"/>
            <a:r>
              <a:rPr lang="en-AU" sz="700">
                <a:solidFill>
                  <a:schemeClr val="tx1"/>
                </a:solidFill>
              </a:rPr>
              <a:t>GCS</a:t>
            </a:r>
          </a:p>
        </p:txBody>
      </p:sp>
      <p:sp>
        <p:nvSpPr>
          <p:cNvPr id="68" name="Rectangle: Rounded Corners 67">
            <a:extLst>
              <a:ext uri="{FF2B5EF4-FFF2-40B4-BE49-F238E27FC236}">
                <a16:creationId xmlns:a16="http://schemas.microsoft.com/office/drawing/2014/main" id="{9C38ECA9-A22F-70E6-8961-AB2A820BD8AE}"/>
              </a:ext>
            </a:extLst>
          </p:cNvPr>
          <p:cNvSpPr/>
          <p:nvPr/>
        </p:nvSpPr>
        <p:spPr>
          <a:xfrm>
            <a:off x="8067025" y="2892306"/>
            <a:ext cx="770467" cy="3810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SNOWFLAKE</a:t>
            </a:r>
          </a:p>
        </p:txBody>
      </p:sp>
      <p:cxnSp>
        <p:nvCxnSpPr>
          <p:cNvPr id="69" name="Straight Arrow Connector 68">
            <a:extLst>
              <a:ext uri="{FF2B5EF4-FFF2-40B4-BE49-F238E27FC236}">
                <a16:creationId xmlns:a16="http://schemas.microsoft.com/office/drawing/2014/main" id="{07FA96CA-17ED-DDBA-E6DE-A57B4693CBA9}"/>
              </a:ext>
            </a:extLst>
          </p:cNvPr>
          <p:cNvCxnSpPr>
            <a:stCxn id="68" idx="2"/>
            <a:endCxn id="67" idx="0"/>
          </p:cNvCxnSpPr>
          <p:nvPr/>
        </p:nvCxnSpPr>
        <p:spPr>
          <a:xfrm flipH="1">
            <a:off x="8452258" y="3273306"/>
            <a:ext cx="1" cy="3429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C3167C2E-625E-413D-2D76-F220DE14A999}"/>
              </a:ext>
            </a:extLst>
          </p:cNvPr>
          <p:cNvCxnSpPr>
            <a:cxnSpLocks/>
            <a:endCxn id="67" idx="1"/>
          </p:cNvCxnSpPr>
          <p:nvPr/>
        </p:nvCxnSpPr>
        <p:spPr>
          <a:xfrm>
            <a:off x="7609826" y="3806708"/>
            <a:ext cx="57996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Flowchart: Predefined Process 74">
            <a:extLst>
              <a:ext uri="{FF2B5EF4-FFF2-40B4-BE49-F238E27FC236}">
                <a16:creationId xmlns:a16="http://schemas.microsoft.com/office/drawing/2014/main" id="{30BAF8EF-F2B3-84E9-D5C8-D03C7BD2201D}"/>
              </a:ext>
            </a:extLst>
          </p:cNvPr>
          <p:cNvSpPr/>
          <p:nvPr/>
        </p:nvSpPr>
        <p:spPr>
          <a:xfrm>
            <a:off x="9639571" y="2888253"/>
            <a:ext cx="770463" cy="381000"/>
          </a:xfrm>
          <a:prstGeom prst="flowChartPredefinedProces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MESH UI / </a:t>
            </a:r>
          </a:p>
          <a:p>
            <a:pPr algn="ctr"/>
            <a:r>
              <a:rPr lang="en-AU" sz="700">
                <a:solidFill>
                  <a:schemeClr val="tx1"/>
                </a:solidFill>
              </a:rPr>
              <a:t>UI ON K8</a:t>
            </a:r>
          </a:p>
        </p:txBody>
      </p:sp>
      <p:cxnSp>
        <p:nvCxnSpPr>
          <p:cNvPr id="78" name="Straight Arrow Connector 77">
            <a:extLst>
              <a:ext uri="{FF2B5EF4-FFF2-40B4-BE49-F238E27FC236}">
                <a16:creationId xmlns:a16="http://schemas.microsoft.com/office/drawing/2014/main" id="{01B910D3-159C-61DE-09A5-0BBC2189ABA0}"/>
              </a:ext>
            </a:extLst>
          </p:cNvPr>
          <p:cNvCxnSpPr>
            <a:cxnSpLocks/>
          </p:cNvCxnSpPr>
          <p:nvPr/>
        </p:nvCxnSpPr>
        <p:spPr>
          <a:xfrm>
            <a:off x="7669094" y="3082806"/>
            <a:ext cx="3979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40">
            <a:extLst>
              <a:ext uri="{FF2B5EF4-FFF2-40B4-BE49-F238E27FC236}">
                <a16:creationId xmlns:a16="http://schemas.microsoft.com/office/drawing/2014/main" id="{FDADD155-1925-9EC4-B2A4-F385D98086CA}"/>
              </a:ext>
            </a:extLst>
          </p:cNvPr>
          <p:cNvCxnSpPr>
            <a:cxnSpLocks/>
            <a:stCxn id="68" idx="3"/>
            <a:endCxn id="75" idx="1"/>
          </p:cNvCxnSpPr>
          <p:nvPr/>
        </p:nvCxnSpPr>
        <p:spPr>
          <a:xfrm flipV="1">
            <a:off x="8837492" y="3078753"/>
            <a:ext cx="802079" cy="4053"/>
          </a:xfrm>
          <a:prstGeom prst="bentConnector3">
            <a:avLst>
              <a:gd name="adj1" fmla="val 50000"/>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cxnSp>
      <p:cxnSp>
        <p:nvCxnSpPr>
          <p:cNvPr id="84" name="Straight Arrow Connector 40">
            <a:extLst>
              <a:ext uri="{FF2B5EF4-FFF2-40B4-BE49-F238E27FC236}">
                <a16:creationId xmlns:a16="http://schemas.microsoft.com/office/drawing/2014/main" id="{B378AB88-7053-83AF-242E-7F136FE20329}"/>
              </a:ext>
            </a:extLst>
          </p:cNvPr>
          <p:cNvCxnSpPr>
            <a:cxnSpLocks/>
            <a:stCxn id="68" idx="0"/>
            <a:endCxn id="75" idx="0"/>
          </p:cNvCxnSpPr>
          <p:nvPr/>
        </p:nvCxnSpPr>
        <p:spPr>
          <a:xfrm rot="5400000" flipH="1" flipV="1">
            <a:off x="9236505" y="2104008"/>
            <a:ext cx="4053" cy="1572544"/>
          </a:xfrm>
          <a:prstGeom prst="bentConnector3">
            <a:avLst>
              <a:gd name="adj1" fmla="val 5740266"/>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87" name="Rectangle: Rounded Corners 86">
            <a:extLst>
              <a:ext uri="{FF2B5EF4-FFF2-40B4-BE49-F238E27FC236}">
                <a16:creationId xmlns:a16="http://schemas.microsoft.com/office/drawing/2014/main" id="{AB84C714-529F-BFC2-F7A3-C79355861D76}"/>
              </a:ext>
            </a:extLst>
          </p:cNvPr>
          <p:cNvSpPr/>
          <p:nvPr/>
        </p:nvSpPr>
        <p:spPr>
          <a:xfrm>
            <a:off x="2792830" y="3934127"/>
            <a:ext cx="739481" cy="3810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MODELLING PLATFORM</a:t>
            </a:r>
          </a:p>
        </p:txBody>
      </p:sp>
      <p:sp>
        <p:nvSpPr>
          <p:cNvPr id="91" name="Rectangle: Rounded Corners 90">
            <a:extLst>
              <a:ext uri="{FF2B5EF4-FFF2-40B4-BE49-F238E27FC236}">
                <a16:creationId xmlns:a16="http://schemas.microsoft.com/office/drawing/2014/main" id="{3DB1D440-014F-6D70-9CDB-D2BC7D3CF5C5}"/>
              </a:ext>
            </a:extLst>
          </p:cNvPr>
          <p:cNvSpPr/>
          <p:nvPr/>
        </p:nvSpPr>
        <p:spPr>
          <a:xfrm>
            <a:off x="2277988" y="2853395"/>
            <a:ext cx="840004" cy="687738"/>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ONTOLOGY</a:t>
            </a:r>
          </a:p>
          <a:p>
            <a:pPr algn="ctr"/>
            <a:r>
              <a:rPr lang="en-AU" sz="700">
                <a:solidFill>
                  <a:schemeClr val="tx1"/>
                </a:solidFill>
              </a:rPr>
              <a:t>ABSTRACTION</a:t>
            </a:r>
          </a:p>
        </p:txBody>
      </p:sp>
      <p:cxnSp>
        <p:nvCxnSpPr>
          <p:cNvPr id="98" name="Straight Arrow Connector 40">
            <a:extLst>
              <a:ext uri="{FF2B5EF4-FFF2-40B4-BE49-F238E27FC236}">
                <a16:creationId xmlns:a16="http://schemas.microsoft.com/office/drawing/2014/main" id="{BE149C59-C3E4-4B5D-B3A4-5791190675BC}"/>
              </a:ext>
            </a:extLst>
          </p:cNvPr>
          <p:cNvCxnSpPr>
            <a:cxnSpLocks/>
            <a:stCxn id="91" idx="3"/>
            <a:endCxn id="20" idx="1"/>
          </p:cNvCxnSpPr>
          <p:nvPr/>
        </p:nvCxnSpPr>
        <p:spPr>
          <a:xfrm flipV="1">
            <a:off x="3117992" y="3196166"/>
            <a:ext cx="509982" cy="1098"/>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1" name="Straight Arrow Connector 40">
            <a:extLst>
              <a:ext uri="{FF2B5EF4-FFF2-40B4-BE49-F238E27FC236}">
                <a16:creationId xmlns:a16="http://schemas.microsoft.com/office/drawing/2014/main" id="{FA6662AB-9284-0D0F-8B94-E53BAF683365}"/>
              </a:ext>
            </a:extLst>
          </p:cNvPr>
          <p:cNvCxnSpPr>
            <a:cxnSpLocks/>
            <a:stCxn id="91" idx="3"/>
            <a:endCxn id="22" idx="1"/>
          </p:cNvCxnSpPr>
          <p:nvPr/>
        </p:nvCxnSpPr>
        <p:spPr>
          <a:xfrm>
            <a:off x="3117992" y="3197264"/>
            <a:ext cx="488811" cy="482105"/>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10" name="TextBox 109">
            <a:extLst>
              <a:ext uri="{FF2B5EF4-FFF2-40B4-BE49-F238E27FC236}">
                <a16:creationId xmlns:a16="http://schemas.microsoft.com/office/drawing/2014/main" id="{26118729-CA9A-A21B-7F13-8F59744CB5F0}"/>
              </a:ext>
            </a:extLst>
          </p:cNvPr>
          <p:cNvSpPr txBox="1"/>
          <p:nvPr/>
        </p:nvSpPr>
        <p:spPr>
          <a:xfrm>
            <a:off x="220134" y="190716"/>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GRAPH, GRAPHRAG, ONTOLOGY</a:t>
            </a:r>
            <a:endParaRPr kumimoji="0" sz="3000" b="1" i="0" u="none" strike="noStrike" kern="1200" cap="none" spc="0" normalizeH="0" baseline="0" noProof="0">
              <a:ln>
                <a:noFill/>
              </a:ln>
              <a:effectLst/>
              <a:uLnTx/>
              <a:uFillTx/>
              <a:latin typeface="Calibri"/>
              <a:ea typeface="+mn-ea"/>
              <a:cs typeface="+mn-cs"/>
            </a:endParaRPr>
          </a:p>
        </p:txBody>
      </p:sp>
      <p:sp>
        <p:nvSpPr>
          <p:cNvPr id="112" name="TextBox 111">
            <a:extLst>
              <a:ext uri="{FF2B5EF4-FFF2-40B4-BE49-F238E27FC236}">
                <a16:creationId xmlns:a16="http://schemas.microsoft.com/office/drawing/2014/main" id="{56363639-BDDB-6E9B-7743-FEBE81D72FEE}"/>
              </a:ext>
            </a:extLst>
          </p:cNvPr>
          <p:cNvSpPr txBox="1"/>
          <p:nvPr/>
        </p:nvSpPr>
        <p:spPr>
          <a:xfrm>
            <a:off x="220134" y="728662"/>
            <a:ext cx="11836402" cy="553998"/>
          </a:xfrm>
          <a:prstGeom prst="rect">
            <a:avLst/>
          </a:prstGeom>
          <a:noFill/>
        </p:spPr>
        <p:txBody>
          <a:bodyPr wrap="square">
            <a:spAutoFit/>
          </a:bodyPr>
          <a:lstStyle/>
          <a:p>
            <a:pPr marL="171450" indent="-171450">
              <a:buFont typeface="Arial" panose="020B0604020202020204" pitchFamily="34" charset="0"/>
              <a:buChar char="•"/>
            </a:pPr>
            <a:r>
              <a:rPr lang="en-AU" sz="1000">
                <a:effectLst/>
                <a:latin typeface="+mj-lt"/>
                <a:ea typeface="Times New Roman" panose="02020603050405020304" pitchFamily="18" charset="0"/>
              </a:rPr>
              <a:t>Implementing graph involves identifying </a:t>
            </a:r>
            <a:r>
              <a:rPr lang="en-AU" sz="1000">
                <a:latin typeface="Aptos Display (Headings)"/>
                <a:ea typeface="Times New Roman" panose="02020603050405020304" pitchFamily="18" charset="0"/>
                <a:cs typeface="Aptos" panose="020B0004020202020204" pitchFamily="34" charset="0"/>
              </a:rPr>
              <a:t>core entity &lt;nodes&gt;,  relationship &lt;edges&gt;, attributes for references</a:t>
            </a:r>
            <a:endParaRPr lang="en-AU" sz="1000">
              <a:effectLst/>
              <a:latin typeface="+mj-lt"/>
              <a:ea typeface="Times New Roman" panose="02020603050405020304" pitchFamily="18" charset="0"/>
            </a:endParaRPr>
          </a:p>
          <a:p>
            <a:pPr marL="171450" indent="-171450">
              <a:buFont typeface="Arial" panose="020B0604020202020204" pitchFamily="34" charset="0"/>
              <a:buChar char="•"/>
            </a:pPr>
            <a:r>
              <a:rPr lang="en-AU" sz="1000">
                <a:effectLst/>
                <a:latin typeface="+mj-lt"/>
                <a:ea typeface="Times New Roman" panose="02020603050405020304" pitchFamily="18" charset="0"/>
              </a:rPr>
              <a:t>Implementing an ontology involves defining a domain's key entities, relationships, and rules so machines can automatically process and reason with the information. Depending on infrastructure, we can implement an ontology using formal Semantic Web standards, Graph Database frameworks, or Enterprise data platforms</a:t>
            </a:r>
            <a:endParaRPr lang="en-AU" sz="1000">
              <a:latin typeface="+mj-lt"/>
            </a:endParaRPr>
          </a:p>
        </p:txBody>
      </p:sp>
      <p:sp>
        <p:nvSpPr>
          <p:cNvPr id="114" name="Oval 113">
            <a:extLst>
              <a:ext uri="{FF2B5EF4-FFF2-40B4-BE49-F238E27FC236}">
                <a16:creationId xmlns:a16="http://schemas.microsoft.com/office/drawing/2014/main" id="{7F53B73C-FCB2-9FAE-0A15-A2F1870D008D}"/>
              </a:ext>
            </a:extLst>
          </p:cNvPr>
          <p:cNvSpPr/>
          <p:nvPr/>
        </p:nvSpPr>
        <p:spPr>
          <a:xfrm>
            <a:off x="4252793" y="2926219"/>
            <a:ext cx="206625" cy="154793"/>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000">
                <a:solidFill>
                  <a:schemeClr val="tx1"/>
                </a:solidFill>
              </a:rPr>
              <a:t>1</a:t>
            </a:r>
          </a:p>
        </p:txBody>
      </p:sp>
      <p:sp>
        <p:nvSpPr>
          <p:cNvPr id="116" name="Oval 115">
            <a:extLst>
              <a:ext uri="{FF2B5EF4-FFF2-40B4-BE49-F238E27FC236}">
                <a16:creationId xmlns:a16="http://schemas.microsoft.com/office/drawing/2014/main" id="{E90A71E3-823A-603D-A657-C9293BF59BF2}"/>
              </a:ext>
            </a:extLst>
          </p:cNvPr>
          <p:cNvSpPr/>
          <p:nvPr/>
        </p:nvSpPr>
        <p:spPr>
          <a:xfrm>
            <a:off x="4269727" y="3787661"/>
            <a:ext cx="206625" cy="154793"/>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000">
                <a:solidFill>
                  <a:schemeClr val="tx1"/>
                </a:solidFill>
              </a:rPr>
              <a:t>2</a:t>
            </a:r>
          </a:p>
        </p:txBody>
      </p:sp>
      <p:sp>
        <p:nvSpPr>
          <p:cNvPr id="118" name="Oval 117">
            <a:extLst>
              <a:ext uri="{FF2B5EF4-FFF2-40B4-BE49-F238E27FC236}">
                <a16:creationId xmlns:a16="http://schemas.microsoft.com/office/drawing/2014/main" id="{CFAF4730-444A-CD6C-2053-0D89B5FD60AE}"/>
              </a:ext>
            </a:extLst>
          </p:cNvPr>
          <p:cNvSpPr/>
          <p:nvPr/>
        </p:nvSpPr>
        <p:spPr>
          <a:xfrm>
            <a:off x="2969953" y="2811149"/>
            <a:ext cx="206625" cy="154793"/>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000">
                <a:solidFill>
                  <a:schemeClr val="tx1"/>
                </a:solidFill>
              </a:rPr>
              <a:t>3</a:t>
            </a:r>
          </a:p>
        </p:txBody>
      </p:sp>
      <p:sp>
        <p:nvSpPr>
          <p:cNvPr id="120" name="Oval 119">
            <a:extLst>
              <a:ext uri="{FF2B5EF4-FFF2-40B4-BE49-F238E27FC236}">
                <a16:creationId xmlns:a16="http://schemas.microsoft.com/office/drawing/2014/main" id="{C783F0EB-5AB6-D1D6-7BA6-4A8588252811}"/>
              </a:ext>
            </a:extLst>
          </p:cNvPr>
          <p:cNvSpPr/>
          <p:nvPr/>
        </p:nvSpPr>
        <p:spPr>
          <a:xfrm>
            <a:off x="3008007" y="3832795"/>
            <a:ext cx="206625" cy="154793"/>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000">
                <a:solidFill>
                  <a:schemeClr val="tx1"/>
                </a:solidFill>
              </a:rPr>
              <a:t>4</a:t>
            </a:r>
          </a:p>
        </p:txBody>
      </p:sp>
      <p:sp>
        <p:nvSpPr>
          <p:cNvPr id="122" name="Oval 121">
            <a:extLst>
              <a:ext uri="{FF2B5EF4-FFF2-40B4-BE49-F238E27FC236}">
                <a16:creationId xmlns:a16="http://schemas.microsoft.com/office/drawing/2014/main" id="{5CB0F25A-3C12-54C1-1FC4-65586604E1BC}"/>
              </a:ext>
            </a:extLst>
          </p:cNvPr>
          <p:cNvSpPr/>
          <p:nvPr/>
        </p:nvSpPr>
        <p:spPr>
          <a:xfrm>
            <a:off x="5421457" y="3566094"/>
            <a:ext cx="206625" cy="154793"/>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000">
                <a:solidFill>
                  <a:schemeClr val="tx1"/>
                </a:solidFill>
              </a:rPr>
              <a:t>5</a:t>
            </a:r>
          </a:p>
        </p:txBody>
      </p:sp>
      <p:sp>
        <p:nvSpPr>
          <p:cNvPr id="124" name="Oval 123">
            <a:extLst>
              <a:ext uri="{FF2B5EF4-FFF2-40B4-BE49-F238E27FC236}">
                <a16:creationId xmlns:a16="http://schemas.microsoft.com/office/drawing/2014/main" id="{F90F1A5C-7585-B33F-E19E-DEB2BEB97970}"/>
              </a:ext>
            </a:extLst>
          </p:cNvPr>
          <p:cNvSpPr/>
          <p:nvPr/>
        </p:nvSpPr>
        <p:spPr>
          <a:xfrm>
            <a:off x="8005461" y="2812439"/>
            <a:ext cx="206625" cy="154793"/>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000">
                <a:solidFill>
                  <a:schemeClr val="tx1"/>
                </a:solidFill>
              </a:rPr>
              <a:t>6</a:t>
            </a:r>
          </a:p>
        </p:txBody>
      </p:sp>
      <p:sp>
        <p:nvSpPr>
          <p:cNvPr id="126" name="Flowchart: Predefined Process 125">
            <a:extLst>
              <a:ext uri="{FF2B5EF4-FFF2-40B4-BE49-F238E27FC236}">
                <a16:creationId xmlns:a16="http://schemas.microsoft.com/office/drawing/2014/main" id="{B4A8BEB4-F5B6-1178-4841-BCC6543F01A2}"/>
              </a:ext>
            </a:extLst>
          </p:cNvPr>
          <p:cNvSpPr/>
          <p:nvPr/>
        </p:nvSpPr>
        <p:spPr>
          <a:xfrm>
            <a:off x="8712023" y="3176343"/>
            <a:ext cx="770463" cy="381000"/>
          </a:xfrm>
          <a:prstGeom prst="flowChartPredefinedProces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700">
                <a:solidFill>
                  <a:schemeClr val="tx1"/>
                </a:solidFill>
              </a:rPr>
              <a:t>SF APP RUNTIME / SPCS</a:t>
            </a:r>
          </a:p>
        </p:txBody>
      </p:sp>
      <p:sp>
        <p:nvSpPr>
          <p:cNvPr id="128" name="TextBox 127">
            <a:extLst>
              <a:ext uri="{FF2B5EF4-FFF2-40B4-BE49-F238E27FC236}">
                <a16:creationId xmlns:a16="http://schemas.microsoft.com/office/drawing/2014/main" id="{35DEF698-9C85-0255-09EC-EACF2A2F6BD5}"/>
              </a:ext>
            </a:extLst>
          </p:cNvPr>
          <p:cNvSpPr txBox="1"/>
          <p:nvPr/>
        </p:nvSpPr>
        <p:spPr>
          <a:xfrm>
            <a:off x="208697" y="6229118"/>
            <a:ext cx="11836402" cy="400110"/>
          </a:xfrm>
          <a:prstGeom prst="rect">
            <a:avLst/>
          </a:prstGeom>
          <a:noFill/>
        </p:spPr>
        <p:txBody>
          <a:bodyPr wrap="square">
            <a:spAutoFit/>
          </a:bodyPr>
          <a:lstStyle/>
          <a:p>
            <a:r>
              <a:rPr lang="en-AU" sz="1100" b="1">
                <a:effectLst/>
                <a:latin typeface="+mj-lt"/>
                <a:ea typeface="Times New Roman" panose="02020603050405020304" pitchFamily="18" charset="0"/>
              </a:rPr>
              <a:t>TO UNDERSTAND THE COMPLEXITY OF HOW THINGS HANG TOGETHER – </a:t>
            </a:r>
            <a:r>
              <a:rPr lang="en-AU" sz="1100" b="1">
                <a:latin typeface="+mj-lt"/>
                <a:ea typeface="Times New Roman" panose="02020603050405020304" pitchFamily="18" charset="0"/>
              </a:rPr>
              <a:t>THE REQUEST IS </a:t>
            </a:r>
            <a:r>
              <a:rPr lang="en-AU" sz="1100" b="1">
                <a:effectLst/>
                <a:latin typeface="+mj-lt"/>
                <a:ea typeface="Times New Roman" panose="02020603050405020304" pitchFamily="18" charset="0"/>
              </a:rPr>
              <a:t>TO NOT LOOK AT SILOS BUT UNDERSTAND HOW THINGS ON EACH COMPONENT WORK INTERNALLY</a:t>
            </a:r>
            <a:br>
              <a:rPr lang="en-AU" sz="1100" b="1">
                <a:effectLst/>
                <a:latin typeface="+mj-lt"/>
                <a:ea typeface="Times New Roman" panose="02020603050405020304" pitchFamily="18" charset="0"/>
              </a:rPr>
            </a:br>
            <a:r>
              <a:rPr lang="en-AU" sz="900" b="1">
                <a:effectLst/>
                <a:latin typeface="+mj-lt"/>
                <a:ea typeface="Times New Roman" panose="02020603050405020304" pitchFamily="18" charset="0"/>
              </a:rPr>
              <a:t>GRAPH </a:t>
            </a:r>
            <a:r>
              <a:rPr lang="en-AU" sz="900" b="1">
                <a:effectLst/>
                <a:latin typeface="+mj-lt"/>
                <a:ea typeface="Times New Roman" panose="02020603050405020304" pitchFamily="18" charset="0"/>
                <a:sym typeface="Wingdings" panose="05000000000000000000" pitchFamily="2" charset="2"/>
              </a:rPr>
              <a:t> </a:t>
            </a:r>
            <a:r>
              <a:rPr lang="en-AU" sz="900" b="1">
                <a:effectLst/>
                <a:latin typeface="+mj-lt"/>
                <a:ea typeface="Times New Roman" panose="02020603050405020304" pitchFamily="18" charset="0"/>
              </a:rPr>
              <a:t>STORAGE, RETRIVAL, DATA INTEGRATION (BATCH – FULL VS DELTA + REALTIME) + ONTOLOGY + LLM  +  VISUALISATION</a:t>
            </a:r>
            <a:endParaRPr lang="en-AU" sz="900" b="1">
              <a:latin typeface="+mj-lt"/>
            </a:endParaRPr>
          </a:p>
        </p:txBody>
      </p:sp>
      <p:sp>
        <p:nvSpPr>
          <p:cNvPr id="3" name="Oval 2">
            <a:extLst>
              <a:ext uri="{FF2B5EF4-FFF2-40B4-BE49-F238E27FC236}">
                <a16:creationId xmlns:a16="http://schemas.microsoft.com/office/drawing/2014/main" id="{B4A45B3E-ACB2-094C-3218-91AFCBCAAB95}"/>
              </a:ext>
            </a:extLst>
          </p:cNvPr>
          <p:cNvSpPr/>
          <p:nvPr/>
        </p:nvSpPr>
        <p:spPr>
          <a:xfrm>
            <a:off x="4269726" y="4150050"/>
            <a:ext cx="206625" cy="154793"/>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000">
                <a:solidFill>
                  <a:schemeClr val="tx1"/>
                </a:solidFill>
              </a:rPr>
              <a:t>5</a:t>
            </a:r>
          </a:p>
        </p:txBody>
      </p:sp>
      <p:sp>
        <p:nvSpPr>
          <p:cNvPr id="6" name="Oval 5">
            <a:extLst>
              <a:ext uri="{FF2B5EF4-FFF2-40B4-BE49-F238E27FC236}">
                <a16:creationId xmlns:a16="http://schemas.microsoft.com/office/drawing/2014/main" id="{1CA75BEE-4647-6462-98D6-67896E8263EF}"/>
              </a:ext>
            </a:extLst>
          </p:cNvPr>
          <p:cNvSpPr/>
          <p:nvPr/>
        </p:nvSpPr>
        <p:spPr>
          <a:xfrm>
            <a:off x="4231626" y="2534985"/>
            <a:ext cx="206625" cy="154793"/>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000">
                <a:solidFill>
                  <a:schemeClr val="tx1"/>
                </a:solidFill>
              </a:rPr>
              <a:t>5</a:t>
            </a:r>
          </a:p>
        </p:txBody>
      </p:sp>
    </p:spTree>
    <p:extLst>
      <p:ext uri="{BB962C8B-B14F-4D97-AF65-F5344CB8AC3E}">
        <p14:creationId xmlns:p14="http://schemas.microsoft.com/office/powerpoint/2010/main" val="307198315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891CBDED-6C5E-5E1D-5F0E-DCC37BFE61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36CC27-F3DA-0ACF-E814-C39D2F57F5A3}"/>
              </a:ext>
            </a:extLst>
          </p:cNvPr>
          <p:cNvSpPr txBox="1"/>
          <p:nvPr/>
        </p:nvSpPr>
        <p:spPr>
          <a:xfrm>
            <a:off x="96384" y="90142"/>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Snowflake</a:t>
            </a:r>
            <a:r>
              <a:rPr kumimoji="0" sz="3000" b="1" i="0" u="none" strike="noStrike" kern="1200" cap="none" spc="0" normalizeH="0" baseline="0" noProof="0">
                <a:ln>
                  <a:noFill/>
                </a:ln>
                <a:effectLst/>
                <a:uLnTx/>
                <a:uFillTx/>
                <a:latin typeface="Calibri"/>
                <a:ea typeface="+mn-ea"/>
                <a:cs typeface="+mn-cs"/>
              </a:rPr>
              <a:t> </a:t>
            </a:r>
            <a:r>
              <a:rPr kumimoji="0" lang="en-AU" sz="3000" b="1" i="0" u="none" strike="noStrike" kern="1200" cap="none" spc="0" normalizeH="0" baseline="0" noProof="0">
                <a:ln>
                  <a:noFill/>
                </a:ln>
                <a:effectLst/>
                <a:uLnTx/>
                <a:uFillTx/>
                <a:latin typeface="Calibri"/>
                <a:ea typeface="+mn-ea"/>
                <a:cs typeface="+mn-cs"/>
              </a:rPr>
              <a:t>– </a:t>
            </a:r>
            <a:r>
              <a:rPr lang="en-AU" sz="3000" b="1">
                <a:latin typeface="Calibri"/>
              </a:rPr>
              <a:t>Solution Call Outs</a:t>
            </a:r>
            <a:endParaRPr kumimoji="0" sz="3000" b="1" i="0" u="none" strike="noStrike" kern="1200" cap="none" spc="0" normalizeH="0" baseline="0" noProof="0">
              <a:ln>
                <a:noFill/>
              </a:ln>
              <a:effectLst/>
              <a:uLnTx/>
              <a:uFillTx/>
              <a:latin typeface="Calibri"/>
              <a:ea typeface="+mn-ea"/>
              <a:cs typeface="+mn-cs"/>
            </a:endParaRPr>
          </a:p>
        </p:txBody>
      </p:sp>
      <p:sp>
        <p:nvSpPr>
          <p:cNvPr id="4" name="TextBox 3">
            <a:extLst>
              <a:ext uri="{FF2B5EF4-FFF2-40B4-BE49-F238E27FC236}">
                <a16:creationId xmlns:a16="http://schemas.microsoft.com/office/drawing/2014/main" id="{EE8F1285-8823-BC5B-DAC8-41A76FFB6FA7}"/>
              </a:ext>
            </a:extLst>
          </p:cNvPr>
          <p:cNvSpPr txBox="1"/>
          <p:nvPr/>
        </p:nvSpPr>
        <p:spPr>
          <a:xfrm>
            <a:off x="90035" y="620279"/>
            <a:ext cx="12005581" cy="2308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panose="02110004020202020204"/>
                <a:ea typeface="+mn-ea"/>
                <a:cs typeface="+mn-cs"/>
              </a:rPr>
              <a:t>The code for the setup, semantic models and cortex agent is all available here </a:t>
            </a:r>
            <a:r>
              <a:rPr kumimoji="0" lang="en-AU" sz="900" b="0" i="0" u="none" strike="noStrike" kern="1200" cap="none" spc="0" normalizeH="0" baseline="0" noProof="0">
                <a:ln>
                  <a:noFill/>
                </a:ln>
                <a:effectLst/>
                <a:uLnTx/>
                <a:uFillTx/>
                <a:latin typeface="Aptos" panose="02110004020202020204"/>
                <a:ea typeface="+mn-ea"/>
                <a:cs typeface="+mn-cs"/>
                <a:sym typeface="Wingdings" panose="05000000000000000000" pitchFamily="2" charset="2"/>
              </a:rPr>
              <a:t> </a:t>
            </a:r>
            <a:r>
              <a:rPr kumimoji="0" lang="en-AU" sz="900" b="0" i="0" u="none" strike="noStrike" kern="1200" cap="none" spc="0" normalizeH="0" baseline="0" noProof="0">
                <a:ln>
                  <a:noFill/>
                </a:ln>
                <a:effectLst/>
                <a:uLnTx/>
                <a:uFillTx/>
                <a:latin typeface="Aptos" panose="02110004020202020204"/>
                <a:ea typeface="+mn-ea"/>
                <a:cs typeface="+mn-cs"/>
                <a:hlinkClick r:id="rId4">
                  <a:extLst>
                    <a:ext uri="{A12FA001-AC4F-418D-AE19-62706E023703}">
                      <ahyp:hlinkClr xmlns:ahyp="http://schemas.microsoft.com/office/drawing/2018/hyperlinkcolor" val="tx"/>
                    </a:ext>
                  </a:extLst>
                </a:hlinkClick>
              </a:rPr>
              <a:t>Snowflake ML, Agentic Framework - CTO Strategy and Architecture - Westpac Enterprise Confluence</a:t>
            </a:r>
            <a:endParaRPr kumimoji="0" lang="en-AU" sz="900" b="1" i="0" u="none" strike="noStrike" kern="1200" cap="none" spc="0" normalizeH="0" baseline="0" noProof="0">
              <a:ln>
                <a:noFill/>
              </a:ln>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A03FBF8F-AF04-4FFA-3F38-4EDA493E747F}"/>
              </a:ext>
            </a:extLst>
          </p:cNvPr>
          <p:cNvSpPr txBox="1"/>
          <p:nvPr/>
        </p:nvSpPr>
        <p:spPr>
          <a:xfrm>
            <a:off x="142038" y="971076"/>
            <a:ext cx="11829829" cy="3221395"/>
          </a:xfrm>
          <a:prstGeom prst="rect">
            <a:avLst/>
          </a:prstGeom>
          <a:noFill/>
          <a:ln>
            <a:solidFill>
              <a:schemeClr val="tx1"/>
            </a:solidFill>
          </a:ln>
        </p:spPr>
        <p:txBody>
          <a:bodyPr wrap="square">
            <a:spAutoFit/>
          </a:bodyPr>
          <a:lstStyle/>
          <a:p>
            <a:pPr marL="171450" lvl="0" indent="-171450">
              <a:spcBef>
                <a:spcPts val="750"/>
              </a:spcBef>
              <a:buFont typeface="Arial" panose="020B0604020202020204" pitchFamily="34" charset="0"/>
              <a:buChar char="•"/>
              <a:defRPr/>
            </a:pPr>
            <a:r>
              <a:rPr kumimoji="0" lang="en-AU" sz="1000" b="1" i="0" u="none" strike="noStrike" kern="1200" cap="none" spc="0" normalizeH="0" baseline="0" noProof="0">
                <a:ln>
                  <a:noFill/>
                </a:ln>
                <a:effectLst/>
                <a:uLnTx/>
                <a:uFillTx/>
                <a:latin typeface="+mj-lt"/>
                <a:ea typeface="+mn-ea"/>
                <a:cs typeface="+mn-cs"/>
              </a:rPr>
              <a:t>All tests were performed on the existing warehouse we have on </a:t>
            </a:r>
            <a:r>
              <a:rPr lang="en-AU" sz="1000" b="1">
                <a:latin typeface="+mj-lt"/>
              </a:rPr>
              <a:t>our DEV database &lt;A01A0E_GBU_FINCRIME_POC&gt; , schema &lt;GRAPH_ONTOLOGY&gt; </a:t>
            </a:r>
            <a:br>
              <a:rPr lang="en-AU" sz="1000" b="1">
                <a:latin typeface="+mj-lt"/>
              </a:rPr>
            </a:br>
            <a:r>
              <a:rPr kumimoji="0" lang="en-AU" sz="1000" b="1" i="0" u="none" strike="noStrike" kern="1200" cap="none" spc="0" normalizeH="0" baseline="0" noProof="0">
                <a:ln>
                  <a:noFill/>
                </a:ln>
                <a:effectLst/>
                <a:uLnTx/>
                <a:uFillTx/>
                <a:latin typeface="+mj-lt"/>
                <a:ea typeface="+mn-ea"/>
                <a:cs typeface="+mn-cs"/>
              </a:rPr>
              <a:t>L → typically ~8 </a:t>
            </a:r>
            <a:r>
              <a:rPr kumimoji="0" lang="en-AU" sz="1000" b="1" i="0" u="none" strike="noStrike" kern="1200" cap="none" spc="0" normalizeH="0" baseline="0" noProof="0" err="1">
                <a:ln>
                  <a:noFill/>
                </a:ln>
                <a:effectLst/>
                <a:uLnTx/>
                <a:uFillTx/>
                <a:latin typeface="+mj-lt"/>
                <a:ea typeface="+mn-ea"/>
                <a:cs typeface="+mn-cs"/>
              </a:rPr>
              <a:t>vCores</a:t>
            </a:r>
            <a:r>
              <a:rPr kumimoji="0" lang="en-AU" sz="1000" b="1" i="0" u="none" strike="noStrike" kern="1200" cap="none" spc="0" normalizeH="0" baseline="0" noProof="0">
                <a:ln>
                  <a:noFill/>
                </a:ln>
                <a:effectLst/>
                <a:uLnTx/>
                <a:uFillTx/>
                <a:latin typeface="+mj-lt"/>
                <a:ea typeface="+mn-ea"/>
                <a:cs typeface="+mn-cs"/>
              </a:rPr>
              <a:t> | 6XL → typically ~512 </a:t>
            </a:r>
            <a:r>
              <a:rPr kumimoji="0" lang="en-AU" sz="1000" b="1" i="0" u="none" strike="noStrike" kern="1200" cap="none" spc="0" normalizeH="0" baseline="0" noProof="0" err="1">
                <a:ln>
                  <a:noFill/>
                </a:ln>
                <a:effectLst/>
                <a:uLnTx/>
                <a:uFillTx/>
                <a:latin typeface="+mj-lt"/>
                <a:ea typeface="+mn-ea"/>
                <a:cs typeface="+mn-cs"/>
              </a:rPr>
              <a:t>vCores</a:t>
            </a:r>
            <a:endParaRPr kumimoji="0" lang="en-AU" sz="1000" b="1" i="0" u="none" strike="noStrike" kern="1200" cap="none" spc="0" normalizeH="0" baseline="0" noProof="0">
              <a:ln>
                <a:noFill/>
              </a:ln>
              <a:effectLst/>
              <a:uLnTx/>
              <a:uFillTx/>
              <a:latin typeface="+mj-lt"/>
              <a:ea typeface="+mn-ea"/>
              <a:cs typeface="+mn-cs"/>
            </a:endParaRPr>
          </a:p>
          <a:p>
            <a:pPr marL="171450" lvl="0" indent="-171450">
              <a:spcBef>
                <a:spcPts val="750"/>
              </a:spcBef>
              <a:buFont typeface="Arial" panose="020B0604020202020204" pitchFamily="34" charset="0"/>
              <a:buChar char="•"/>
              <a:defRPr/>
            </a:pPr>
            <a:r>
              <a:rPr lang="en-AU" sz="1000" b="1">
                <a:latin typeface="+mj-lt"/>
              </a:rPr>
              <a:t>All tests were performed on Non-Prod data with volumes stimulated for Customer, Account, Transaction, Device, Merchant, Address as entities.</a:t>
            </a:r>
            <a:endParaRPr kumimoji="0" lang="en-AU" sz="1000" b="1" i="0" u="none" strike="noStrike" kern="1200" cap="none" spc="0" normalizeH="0" baseline="0" noProof="0">
              <a:ln>
                <a:noFill/>
              </a:ln>
              <a:effectLst/>
              <a:uLnTx/>
              <a:uFillTx/>
              <a:latin typeface="+mj-lt"/>
              <a:ea typeface="+mn-ea"/>
              <a:cs typeface="+mn-cs"/>
            </a:endParaRPr>
          </a:p>
          <a:p>
            <a:pPr marL="171450" marR="0" lvl="0" indent="-171450" algn="l" defTabSz="457200" rtl="0" eaLnBrk="1" fontAlgn="auto" latinLnBrk="0" hangingPunct="1">
              <a:lnSpc>
                <a:spcPct val="100000"/>
              </a:lnSpc>
              <a:spcBef>
                <a:spcPts val="750"/>
              </a:spcBef>
              <a:spcAft>
                <a:spcPts val="0"/>
              </a:spcAft>
              <a:buClrTx/>
              <a:buSzTx/>
              <a:buFont typeface="Arial" panose="020B0604020202020204" pitchFamily="34" charset="0"/>
              <a:buChar char="•"/>
              <a:tabLst/>
              <a:defRPr/>
            </a:pPr>
            <a:r>
              <a:rPr kumimoji="0" lang="en-AU" sz="1000" b="1" i="0" u="none" strike="noStrike" kern="1200" cap="none" spc="0" normalizeH="0" baseline="0" noProof="0">
                <a:ln>
                  <a:noFill/>
                </a:ln>
                <a:effectLst/>
                <a:uLnTx/>
                <a:uFillTx/>
                <a:latin typeface="+mj-lt"/>
                <a:ea typeface="+mn-ea"/>
                <a:cs typeface="+mn-cs"/>
              </a:rPr>
              <a:t>Ingress of data is managed into KG_NODE and KG_EDGE table</a:t>
            </a:r>
            <a:r>
              <a:rPr lang="en-AU" sz="1000" b="1">
                <a:latin typeface="+mj-lt"/>
              </a:rPr>
              <a:t> </a:t>
            </a:r>
            <a:r>
              <a:rPr lang="en-AU" sz="1000" b="1">
                <a:latin typeface="+mj-lt"/>
                <a:sym typeface="Wingdings" panose="05000000000000000000" pitchFamily="2" charset="2"/>
              </a:rPr>
              <a:t> Plan is to amend the patterns and design already put in place for the data ingestion pipelines already running in Production</a:t>
            </a:r>
            <a:r>
              <a:rPr kumimoji="0" lang="en-AU" sz="1000" b="1" i="0" u="none" strike="noStrike" kern="1200" cap="none" spc="0" normalizeH="0" baseline="0" noProof="0">
                <a:ln>
                  <a:noFill/>
                </a:ln>
                <a:effectLst/>
                <a:uLnTx/>
                <a:uFillTx/>
                <a:latin typeface="+mj-lt"/>
                <a:ea typeface="+mn-ea"/>
                <a:cs typeface="+mn-cs"/>
              </a:rPr>
              <a:t>, and the subsequent respective procedures can be called to generate insights into dedicated SF tables for consumer to consume feature data </a:t>
            </a:r>
            <a:br>
              <a:rPr kumimoji="0" lang="en-AU" sz="1000" b="1" i="0" u="none" strike="noStrike" kern="1200" cap="none" spc="0" normalizeH="0" baseline="0" noProof="0">
                <a:ln>
                  <a:noFill/>
                </a:ln>
                <a:effectLst/>
                <a:uLnTx/>
                <a:uFillTx/>
                <a:latin typeface="+mj-lt"/>
                <a:ea typeface="+mn-ea"/>
                <a:cs typeface="+mn-cs"/>
              </a:rPr>
            </a:br>
            <a:r>
              <a:rPr kumimoji="0" lang="en-AU" sz="1000" i="0" u="none" strike="noStrike" kern="1200" cap="none" spc="0" normalizeH="0" baseline="0" noProof="0">
                <a:ln>
                  <a:noFill/>
                </a:ln>
                <a:effectLst/>
                <a:uLnTx/>
                <a:uFillTx/>
                <a:latin typeface="+mj-lt"/>
                <a:ea typeface="+mn-ea"/>
                <a:cs typeface="+mn-cs"/>
              </a:rPr>
              <a:t>Alternate Option </a:t>
            </a:r>
            <a:r>
              <a:rPr kumimoji="0" lang="en-AU" sz="1000" i="0" u="none" strike="noStrike" kern="1200" cap="none" spc="0" normalizeH="0" baseline="0" noProof="0">
                <a:ln>
                  <a:noFill/>
                </a:ln>
                <a:effectLst/>
                <a:uLnTx/>
                <a:uFillTx/>
                <a:latin typeface="+mj-lt"/>
                <a:ea typeface="+mn-ea"/>
                <a:cs typeface="+mn-cs"/>
                <a:sym typeface="Wingdings" panose="05000000000000000000" pitchFamily="2" charset="2"/>
              </a:rPr>
              <a:t> </a:t>
            </a:r>
            <a:r>
              <a:rPr kumimoji="0" lang="en-AU" sz="1000" i="0" u="none" strike="noStrike" kern="1200" cap="none" spc="0" normalizeH="0" baseline="0" noProof="0">
                <a:ln>
                  <a:noFill/>
                </a:ln>
                <a:effectLst/>
                <a:uLnTx/>
                <a:uFillTx/>
                <a:latin typeface="+mj-lt"/>
                <a:ea typeface="+mn-ea"/>
                <a:cs typeface="+mn-cs"/>
              </a:rPr>
              <a:t>we can write </a:t>
            </a:r>
            <a:r>
              <a:rPr kumimoji="0" lang="en-AU" sz="1000" i="0" u="none" strike="noStrike" kern="1200" cap="none" spc="0" normalizeH="0" baseline="0" noProof="0" err="1">
                <a:ln>
                  <a:noFill/>
                </a:ln>
                <a:effectLst/>
                <a:uLnTx/>
                <a:uFillTx/>
                <a:latin typeface="+mj-lt"/>
                <a:ea typeface="+mn-ea"/>
                <a:cs typeface="+mn-cs"/>
              </a:rPr>
              <a:t>streamlit</a:t>
            </a:r>
            <a:r>
              <a:rPr kumimoji="0" lang="en-AU" sz="1000" i="0" u="none" strike="noStrike" kern="1200" cap="none" spc="0" normalizeH="0" baseline="0" noProof="0">
                <a:ln>
                  <a:noFill/>
                </a:ln>
                <a:effectLst/>
                <a:uLnTx/>
                <a:uFillTx/>
                <a:latin typeface="+mj-lt"/>
                <a:ea typeface="+mn-ea"/>
                <a:cs typeface="+mn-cs"/>
              </a:rPr>
              <a:t> or snowflake webapp to visualize this data</a:t>
            </a:r>
          </a:p>
          <a:p>
            <a:pPr marL="171450" marR="0" lvl="0" indent="-171450" algn="l" defTabSz="457200" rtl="0" eaLnBrk="1" fontAlgn="auto" latinLnBrk="0" hangingPunct="1">
              <a:lnSpc>
                <a:spcPct val="100000"/>
              </a:lnSpc>
              <a:spcBef>
                <a:spcPts val="750"/>
              </a:spcBef>
              <a:spcAft>
                <a:spcPts val="0"/>
              </a:spcAft>
              <a:buClrTx/>
              <a:buSzTx/>
              <a:buFont typeface="Arial" panose="020B0604020202020204" pitchFamily="34" charset="0"/>
              <a:buChar char="•"/>
              <a:tabLst/>
              <a:defRPr/>
            </a:pPr>
            <a:r>
              <a:rPr kumimoji="0" lang="en-AU" sz="1000" b="1" i="0" u="none" strike="noStrike" kern="1200" cap="none" spc="0" normalizeH="0" baseline="0" noProof="0">
                <a:ln>
                  <a:noFill/>
                </a:ln>
                <a:effectLst/>
                <a:uLnTx/>
                <a:uFillTx/>
                <a:latin typeface="+mj-lt"/>
                <a:ea typeface="+mn-ea"/>
                <a:cs typeface="+mn-cs"/>
              </a:rPr>
              <a:t>We have tested </a:t>
            </a:r>
            <a:r>
              <a:rPr lang="en-AU" sz="1000" b="1">
                <a:latin typeface="+mj-lt"/>
              </a:rPr>
              <a:t>scenarios </a:t>
            </a:r>
            <a:r>
              <a:rPr kumimoji="0" lang="en-AU" sz="1000" b="1" i="0" u="none" strike="noStrike" kern="1200" cap="none" spc="0" normalizeH="0" baseline="0" noProof="0">
                <a:ln>
                  <a:noFill/>
                </a:ln>
                <a:effectLst/>
                <a:uLnTx/>
                <a:uFillTx/>
                <a:latin typeface="+mj-lt"/>
                <a:ea typeface="+mn-ea"/>
                <a:cs typeface="+mn-cs"/>
              </a:rPr>
              <a:t>for the max hop, so the assumption is, IF HOP 10 WORKS, HOP 3 /5 / 7 WILL DEFINITELY WORK.</a:t>
            </a:r>
          </a:p>
          <a:p>
            <a:pPr marL="171450" indent="-171450">
              <a:spcBef>
                <a:spcPts val="750"/>
              </a:spcBef>
              <a:buFont typeface="Arial" panose="020B0604020202020204" pitchFamily="34" charset="0"/>
              <a:buChar char="•"/>
              <a:defRPr/>
            </a:pPr>
            <a:r>
              <a:rPr kumimoji="0" lang="en-AU" sz="1000" b="1" i="0" u="none" strike="noStrike" kern="1200" cap="none" spc="0" normalizeH="0" baseline="0" noProof="0">
                <a:ln>
                  <a:noFill/>
                </a:ln>
                <a:effectLst/>
                <a:uLnTx/>
                <a:uFillTx/>
                <a:latin typeface="+mj-lt"/>
                <a:ea typeface="+mn-ea"/>
                <a:cs typeface="+mn-cs"/>
              </a:rPr>
              <a:t>Abstraction rules are implemented as different variations </a:t>
            </a:r>
            <a:r>
              <a:rPr kumimoji="0" lang="en-AU" sz="1000" b="1" i="0" u="none" strike="noStrike" kern="1200" cap="none" spc="0" normalizeH="0" baseline="0" noProof="0">
                <a:ln>
                  <a:noFill/>
                </a:ln>
                <a:effectLst/>
                <a:uLnTx/>
                <a:uFillTx/>
                <a:latin typeface="+mj-lt"/>
                <a:ea typeface="+mn-ea"/>
                <a:cs typeface="+mn-cs"/>
                <a:sym typeface="Wingdings" panose="05000000000000000000" pitchFamily="2" charset="2"/>
              </a:rPr>
              <a:t> </a:t>
            </a:r>
            <a:r>
              <a:rPr kumimoji="0" lang="en-AU" sz="1000" b="1" i="0" u="none" strike="noStrike" kern="1200" cap="none" spc="0" normalizeH="0" baseline="0" noProof="0">
                <a:ln>
                  <a:noFill/>
                </a:ln>
                <a:effectLst/>
                <a:uLnTx/>
                <a:uFillTx/>
                <a:latin typeface="+mj-lt"/>
                <a:ea typeface="+mn-ea"/>
                <a:cs typeface="+mn-cs"/>
              </a:rPr>
              <a:t>separate PYTHON code </a:t>
            </a:r>
            <a:r>
              <a:rPr lang="en-AU" sz="1000" b="1">
                <a:latin typeface="+mj-lt"/>
              </a:rPr>
              <a:t>/</a:t>
            </a:r>
            <a:r>
              <a:rPr kumimoji="0" lang="en-AU" sz="1000" b="1" i="0" u="none" strike="noStrike" kern="1200" cap="none" spc="0" normalizeH="0" baseline="0" noProof="0">
                <a:ln>
                  <a:noFill/>
                </a:ln>
                <a:effectLst/>
                <a:uLnTx/>
                <a:uFillTx/>
                <a:latin typeface="+mj-lt"/>
                <a:ea typeface="+mn-ea"/>
                <a:cs typeface="+mn-cs"/>
              </a:rPr>
              <a:t> Python code wrapped into a Stored Procedure / Stored Procedure – SQL / Model based implementation.</a:t>
            </a:r>
          </a:p>
          <a:p>
            <a:pPr marL="628650" marR="0" lvl="1" indent="-171450" algn="l" defTabSz="457200" rtl="0" eaLnBrk="1" fontAlgn="auto" latinLnBrk="0" hangingPunct="1">
              <a:lnSpc>
                <a:spcPct val="100000"/>
              </a:lnSpc>
              <a:spcBef>
                <a:spcPts val="750"/>
              </a:spcBef>
              <a:spcAft>
                <a:spcPts val="0"/>
              </a:spcAft>
              <a:buClrTx/>
              <a:buSzTx/>
              <a:buFont typeface="Arial" panose="020B0604020202020204" pitchFamily="34" charset="0"/>
              <a:buChar char="•"/>
              <a:tabLst/>
              <a:defRPr/>
            </a:pPr>
            <a:r>
              <a:rPr kumimoji="0" lang="en-AU" sz="1000" b="1" i="0" u="none" strike="noStrike" kern="1200" cap="none" spc="0" normalizeH="0" baseline="0" noProof="0">
                <a:ln>
                  <a:noFill/>
                </a:ln>
                <a:effectLst/>
                <a:uLnTx/>
                <a:uFillTx/>
                <a:latin typeface="+mj-lt"/>
                <a:ea typeface="+mn-ea"/>
                <a:cs typeface="+mn-cs"/>
              </a:rPr>
              <a:t>Separate real time ingestion test has been performed via Kafka Sink Connector into the base tables for Graph, RAG and Ontology executions. </a:t>
            </a:r>
            <a:br>
              <a:rPr kumimoji="0" lang="en-AU" sz="1000" b="1" i="0" u="none" strike="noStrike" kern="1200" cap="none" spc="0" normalizeH="0" baseline="0" noProof="0">
                <a:ln>
                  <a:noFill/>
                </a:ln>
                <a:effectLst/>
                <a:uLnTx/>
                <a:uFillTx/>
                <a:latin typeface="+mj-lt"/>
                <a:ea typeface="+mn-ea"/>
                <a:cs typeface="+mn-cs"/>
              </a:rPr>
            </a:br>
            <a:r>
              <a:rPr kumimoji="0" lang="en-AU" sz="1000" i="1" u="none" strike="noStrike" kern="1200" cap="none" spc="0" normalizeH="0" baseline="0" noProof="0">
                <a:ln>
                  <a:noFill/>
                </a:ln>
                <a:effectLst/>
                <a:uLnTx/>
                <a:uFillTx/>
                <a:latin typeface="+mj-lt"/>
                <a:ea typeface="+mn-ea"/>
                <a:cs typeface="+mn-cs"/>
              </a:rPr>
              <a:t>Vendor has confirmed "Snowflake released a new capability called Snowflake DataStream. This is a native Snowflake offering and does away with Kafka sink connector. It is currently in Private Preview – but eventually that will become the workhorse for low latency ingestion in the future." </a:t>
            </a:r>
          </a:p>
          <a:p>
            <a:pPr marL="171450" marR="0" lvl="0" indent="-171450" algn="l" defTabSz="457200" rtl="0" eaLnBrk="1" fontAlgn="auto" latinLnBrk="0" hangingPunct="1">
              <a:lnSpc>
                <a:spcPct val="100000"/>
              </a:lnSpc>
              <a:spcBef>
                <a:spcPts val="750"/>
              </a:spcBef>
              <a:spcAft>
                <a:spcPts val="0"/>
              </a:spcAft>
              <a:buClrTx/>
              <a:buSzTx/>
              <a:buFont typeface="Arial" panose="020B0604020202020204" pitchFamily="34" charset="0"/>
              <a:buChar char="•"/>
              <a:tabLst/>
              <a:defRPr/>
            </a:pPr>
            <a:r>
              <a:rPr kumimoji="0" lang="en-AU" sz="1000" b="1" i="0" u="none" strike="noStrike" kern="1200" cap="none" spc="0" normalizeH="0" baseline="0" noProof="0">
                <a:ln>
                  <a:noFill/>
                </a:ln>
                <a:effectLst/>
                <a:uLnTx/>
                <a:uFillTx/>
                <a:latin typeface="+mj-lt"/>
                <a:ea typeface="+mn-ea"/>
                <a:cs typeface="+mn-cs"/>
              </a:rPr>
              <a:t>Outputs of each of the above runs are being</a:t>
            </a:r>
          </a:p>
          <a:p>
            <a:pPr marL="628650" marR="0" lvl="1" indent="-171450" algn="l" defTabSz="457200" rtl="0" eaLnBrk="1" fontAlgn="auto" latinLnBrk="0" hangingPunct="1">
              <a:lnSpc>
                <a:spcPct val="100000"/>
              </a:lnSpc>
              <a:spcBef>
                <a:spcPts val="750"/>
              </a:spcBef>
              <a:spcAft>
                <a:spcPts val="0"/>
              </a:spcAft>
              <a:buClrTx/>
              <a:buSzTx/>
              <a:buFont typeface="Arial" panose="020B0604020202020204" pitchFamily="34" charset="0"/>
              <a:buChar char="•"/>
              <a:tabLst/>
              <a:defRPr/>
            </a:pPr>
            <a:r>
              <a:rPr kumimoji="0" lang="en-AU" sz="1000" b="1" i="0" u="none" strike="noStrike" kern="1200" cap="none" spc="0" normalizeH="0" baseline="0" noProof="0">
                <a:ln>
                  <a:noFill/>
                </a:ln>
                <a:effectLst/>
                <a:uLnTx/>
                <a:uFillTx/>
                <a:latin typeface="+mj-lt"/>
                <a:ea typeface="+mn-ea"/>
                <a:cs typeface="+mn-cs"/>
              </a:rPr>
              <a:t>Written to SF tables for downstream to consume</a:t>
            </a:r>
            <a:br>
              <a:rPr kumimoji="0" lang="en-AU" sz="1000" b="1" i="0" u="none" strike="noStrike" kern="1200" cap="none" spc="0" normalizeH="0" baseline="0" noProof="0">
                <a:ln>
                  <a:noFill/>
                </a:ln>
                <a:effectLst/>
                <a:uLnTx/>
                <a:uFillTx/>
                <a:latin typeface="+mj-lt"/>
                <a:ea typeface="+mn-ea"/>
                <a:cs typeface="+mn-cs"/>
              </a:rPr>
            </a:br>
            <a:r>
              <a:rPr kumimoji="0" lang="en-AU" sz="1000" b="1" i="0" u="none" strike="noStrike" kern="1200" cap="none" spc="0" normalizeH="0" baseline="0" noProof="0">
                <a:ln>
                  <a:noFill/>
                </a:ln>
                <a:effectLst/>
                <a:uLnTx/>
                <a:uFillTx/>
                <a:latin typeface="+mj-lt"/>
                <a:ea typeface="+mn-ea"/>
                <a:cs typeface="+mn-cs"/>
              </a:rPr>
              <a:t>Patterns already in Production to consume via </a:t>
            </a:r>
            <a:r>
              <a:rPr kumimoji="0" lang="en-AU" sz="1000" b="1" i="0" u="none" strike="noStrike" kern="1200" cap="none" spc="0" normalizeH="0" baseline="0" noProof="0" err="1">
                <a:ln>
                  <a:noFill/>
                </a:ln>
                <a:effectLst/>
                <a:uLnTx/>
                <a:uFillTx/>
                <a:latin typeface="+mj-lt"/>
                <a:ea typeface="+mn-ea"/>
                <a:cs typeface="+mn-cs"/>
              </a:rPr>
              <a:t>MeshUI</a:t>
            </a:r>
            <a:r>
              <a:rPr kumimoji="0" lang="en-AU" sz="1000" b="1" i="0" u="none" strike="noStrike" kern="1200" cap="none" spc="0" normalizeH="0" baseline="0" noProof="0">
                <a:ln>
                  <a:noFill/>
                </a:ln>
                <a:effectLst/>
                <a:uLnTx/>
                <a:uFillTx/>
                <a:latin typeface="+mj-lt"/>
                <a:ea typeface="+mn-ea"/>
                <a:cs typeface="+mn-cs"/>
              </a:rPr>
              <a:t>, Appian, Models (</a:t>
            </a:r>
            <a:r>
              <a:rPr kumimoji="0" lang="en-AU" sz="1000" b="1" i="0" u="none" strike="noStrike" kern="1200" cap="none" spc="0" normalizeH="0" baseline="0" noProof="0" err="1">
                <a:ln>
                  <a:noFill/>
                </a:ln>
                <a:effectLst/>
                <a:uLnTx/>
                <a:uFillTx/>
                <a:latin typeface="+mj-lt"/>
                <a:ea typeface="+mn-ea"/>
                <a:cs typeface="+mn-cs"/>
              </a:rPr>
              <a:t>AzureML</a:t>
            </a:r>
            <a:r>
              <a:rPr kumimoji="0" lang="en-AU" sz="1000" b="1" i="0" u="none" strike="noStrike" kern="1200" cap="none" spc="0" normalizeH="0" baseline="0" noProof="0">
                <a:ln>
                  <a:noFill/>
                </a:ln>
                <a:effectLst/>
                <a:uLnTx/>
                <a:uFillTx/>
                <a:latin typeface="+mj-lt"/>
                <a:ea typeface="+mn-ea"/>
                <a:cs typeface="+mn-cs"/>
              </a:rPr>
              <a:t> or SF based) - Integration leveraging </a:t>
            </a:r>
            <a:r>
              <a:rPr kumimoji="0" lang="en-AU" sz="1000" b="1" i="0" u="none" strike="noStrike" kern="1200" cap="none" spc="0" normalizeH="0" baseline="0" noProof="0">
                <a:ln>
                  <a:noFill/>
                </a:ln>
                <a:effectLst/>
                <a:uLnTx/>
                <a:uFillTx/>
                <a:latin typeface="+mj-lt"/>
                <a:ea typeface="+mn-ea"/>
                <a:cs typeface="+mn-cs"/>
                <a:hlinkClick r:id="rId5">
                  <a:extLst>
                    <a:ext uri="{A12FA001-AC4F-418D-AE19-62706E023703}">
                      <ahyp:hlinkClr xmlns:ahyp="http://schemas.microsoft.com/office/drawing/2018/hyperlinkcolor" val="tx"/>
                    </a:ext>
                  </a:extLst>
                </a:hlinkClick>
              </a:rPr>
              <a:t>Westpac snowflake jar file</a:t>
            </a:r>
            <a:r>
              <a:rPr kumimoji="0" lang="en-AU" sz="1000" b="1" i="0" u="none" strike="noStrike" kern="1200" cap="none" spc="0" normalizeH="0" baseline="0" noProof="0">
                <a:ln>
                  <a:noFill/>
                </a:ln>
                <a:effectLst/>
                <a:uLnTx/>
                <a:uFillTx/>
                <a:latin typeface="+mj-lt"/>
                <a:ea typeface="+mn-ea"/>
                <a:cs typeface="+mn-cs"/>
              </a:rPr>
              <a:t>. (already uploaded to the Artifactory)</a:t>
            </a:r>
          </a:p>
          <a:p>
            <a:pPr marL="628650" marR="0" lvl="1" indent="-171450" algn="l" defTabSz="457200" rtl="0" eaLnBrk="1" fontAlgn="auto" latinLnBrk="0" hangingPunct="1">
              <a:lnSpc>
                <a:spcPct val="100000"/>
              </a:lnSpc>
              <a:spcBef>
                <a:spcPts val="750"/>
              </a:spcBef>
              <a:spcAft>
                <a:spcPts val="0"/>
              </a:spcAft>
              <a:buClrTx/>
              <a:buSzTx/>
              <a:buFont typeface="Arial" panose="020B0604020202020204" pitchFamily="34" charset="0"/>
              <a:buChar char="•"/>
              <a:tabLst/>
              <a:defRPr/>
            </a:pPr>
            <a:r>
              <a:rPr kumimoji="0" lang="en-AU" sz="1000" b="1" i="0" u="none" strike="noStrike" kern="1200" cap="none" spc="0" normalizeH="0" baseline="0" noProof="0">
                <a:ln>
                  <a:noFill/>
                </a:ln>
                <a:effectLst/>
                <a:uLnTx/>
                <a:uFillTx/>
                <a:latin typeface="+mj-lt"/>
                <a:ea typeface="+mn-ea"/>
                <a:cs typeface="+mn-cs"/>
              </a:rPr>
              <a:t>Outputs can be written to Parquet / CSV file which can be sent to downstream via EBIP</a:t>
            </a:r>
          </a:p>
        </p:txBody>
      </p:sp>
    </p:spTree>
    <p:extLst>
      <p:ext uri="{BB962C8B-B14F-4D97-AF65-F5344CB8AC3E}">
        <p14:creationId xmlns:p14="http://schemas.microsoft.com/office/powerpoint/2010/main" val="2303697904"/>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5095137B-FF07-C742-8D8E-A62A1F4225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4F0DD0-E7CE-CFDB-895A-E4CF8F1C7C25}"/>
              </a:ext>
            </a:extLst>
          </p:cNvPr>
          <p:cNvSpPr txBox="1"/>
          <p:nvPr/>
        </p:nvSpPr>
        <p:spPr>
          <a:xfrm>
            <a:off x="96384" y="-16866"/>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Snowflake</a:t>
            </a:r>
            <a:r>
              <a:rPr kumimoji="0" sz="3000" b="1" i="0" u="none" strike="noStrike" kern="1200" cap="none" spc="0" normalizeH="0" baseline="0" noProof="0">
                <a:ln>
                  <a:noFill/>
                </a:ln>
                <a:effectLst/>
                <a:uLnTx/>
                <a:uFillTx/>
                <a:latin typeface="Calibri"/>
                <a:ea typeface="+mn-ea"/>
                <a:cs typeface="+mn-cs"/>
              </a:rPr>
              <a:t> </a:t>
            </a:r>
            <a:r>
              <a:rPr kumimoji="0" lang="en-AU" sz="3000" b="1" i="0" u="none" strike="noStrike" kern="1200" cap="none" spc="0" normalizeH="0" baseline="0" noProof="0">
                <a:ln>
                  <a:noFill/>
                </a:ln>
                <a:effectLst/>
                <a:uLnTx/>
                <a:uFillTx/>
                <a:latin typeface="Calibri"/>
                <a:ea typeface="+mn-ea"/>
                <a:cs typeface="+mn-cs"/>
              </a:rPr>
              <a:t>– Solution Stats</a:t>
            </a:r>
            <a:endParaRPr kumimoji="0" sz="3000" b="1" i="0" u="none" strike="noStrike" kern="1200" cap="none" spc="0" normalizeH="0" baseline="0" noProof="0">
              <a:ln>
                <a:noFill/>
              </a:ln>
              <a:effectLst/>
              <a:uLnTx/>
              <a:uFillTx/>
              <a:latin typeface="Calibri"/>
              <a:ea typeface="+mn-ea"/>
              <a:cs typeface="+mn-cs"/>
            </a:endParaRPr>
          </a:p>
        </p:txBody>
      </p:sp>
      <p:sp>
        <p:nvSpPr>
          <p:cNvPr id="4" name="TextBox 3">
            <a:extLst>
              <a:ext uri="{FF2B5EF4-FFF2-40B4-BE49-F238E27FC236}">
                <a16:creationId xmlns:a16="http://schemas.microsoft.com/office/drawing/2014/main" id="{AB58780B-DE68-A81A-9D57-630041D3A955}"/>
              </a:ext>
            </a:extLst>
          </p:cNvPr>
          <p:cNvSpPr txBox="1"/>
          <p:nvPr/>
        </p:nvSpPr>
        <p:spPr>
          <a:xfrm>
            <a:off x="90035" y="470936"/>
            <a:ext cx="12005581" cy="2308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panose="02110004020202020204"/>
                <a:ea typeface="+mn-ea"/>
                <a:cs typeface="+mn-cs"/>
              </a:rPr>
              <a:t>The code for the setup, semantic models and cortex agent is all available here </a:t>
            </a:r>
            <a:r>
              <a:rPr kumimoji="0" lang="en-AU" sz="900" b="0" i="0" u="none" strike="noStrike" kern="1200" cap="none" spc="0" normalizeH="0" baseline="0" noProof="0">
                <a:ln>
                  <a:noFill/>
                </a:ln>
                <a:effectLst/>
                <a:uLnTx/>
                <a:uFillTx/>
                <a:latin typeface="Aptos" panose="02110004020202020204"/>
                <a:ea typeface="+mn-ea"/>
                <a:cs typeface="+mn-cs"/>
                <a:sym typeface="Wingdings" panose="05000000000000000000" pitchFamily="2" charset="2"/>
              </a:rPr>
              <a:t> </a:t>
            </a:r>
            <a:r>
              <a:rPr kumimoji="0" lang="en-AU" sz="900" b="0" i="0" u="none" strike="noStrike" kern="1200" cap="none" spc="0" normalizeH="0" baseline="0" noProof="0">
                <a:ln>
                  <a:noFill/>
                </a:ln>
                <a:effectLst/>
                <a:uLnTx/>
                <a:uFillTx/>
                <a:latin typeface="Aptos" panose="02110004020202020204"/>
                <a:ea typeface="+mn-ea"/>
                <a:cs typeface="+mn-cs"/>
                <a:hlinkClick r:id="rId4">
                  <a:extLst>
                    <a:ext uri="{A12FA001-AC4F-418D-AE19-62706E023703}">
                      <ahyp:hlinkClr xmlns:ahyp="http://schemas.microsoft.com/office/drawing/2018/hyperlinkcolor" val="tx"/>
                    </a:ext>
                  </a:extLst>
                </a:hlinkClick>
              </a:rPr>
              <a:t>Snowflake ML, Agentic Framework - CTO Strategy and Architecture - Westpac Enterprise Confluence</a:t>
            </a:r>
            <a:endParaRPr kumimoji="0" lang="en-AU" sz="900" b="1" i="0" u="none" strike="noStrike" kern="1200" cap="none" spc="0" normalizeH="0" baseline="0" noProof="0">
              <a:ln>
                <a:noFill/>
              </a:ln>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459F22E6-DD07-C4DD-000B-90DAD3E055BE}"/>
              </a:ext>
            </a:extLst>
          </p:cNvPr>
          <p:cNvSpPr txBox="1"/>
          <p:nvPr/>
        </p:nvSpPr>
        <p:spPr>
          <a:xfrm>
            <a:off x="138056" y="760372"/>
            <a:ext cx="4774519" cy="2462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sng" strike="noStrike" kern="1200" cap="none" spc="0" normalizeH="0" baseline="0" noProof="0">
                <a:ln>
                  <a:noFill/>
                </a:ln>
                <a:effectLst/>
                <a:uLnTx/>
                <a:uFillTx/>
                <a:latin typeface="Aptos" panose="02110004020202020204"/>
                <a:ea typeface="+mn-ea"/>
                <a:cs typeface="+mn-cs"/>
              </a:rPr>
              <a:t>Setup</a:t>
            </a:r>
          </a:p>
        </p:txBody>
      </p:sp>
      <p:graphicFrame>
        <p:nvGraphicFramePr>
          <p:cNvPr id="21" name="Table 20">
            <a:extLst>
              <a:ext uri="{FF2B5EF4-FFF2-40B4-BE49-F238E27FC236}">
                <a16:creationId xmlns:a16="http://schemas.microsoft.com/office/drawing/2014/main" id="{73BC71D1-35E6-4988-67AA-95186D75FFEF}"/>
              </a:ext>
            </a:extLst>
          </p:cNvPr>
          <p:cNvGraphicFramePr>
            <a:graphicFrameLocks noGrp="1"/>
          </p:cNvGraphicFramePr>
          <p:nvPr>
            <p:extLst>
              <p:ext uri="{D42A27DB-BD31-4B8C-83A1-F6EECF244321}">
                <p14:modId xmlns:p14="http://schemas.microsoft.com/office/powerpoint/2010/main" val="3794706816"/>
              </p:ext>
            </p:extLst>
          </p:nvPr>
        </p:nvGraphicFramePr>
        <p:xfrm>
          <a:off x="76928" y="2867595"/>
          <a:ext cx="11999231" cy="3794760"/>
        </p:xfrm>
        <a:graphic>
          <a:graphicData uri="http://schemas.openxmlformats.org/drawingml/2006/table">
            <a:tbl>
              <a:tblPr firstRow="1" bandRow="1">
                <a:tableStyleId>{5C22544A-7EE6-4342-B048-85BDC9FD1C3A}</a:tableStyleId>
              </a:tblPr>
              <a:tblGrid>
                <a:gridCol w="11999231">
                  <a:extLst>
                    <a:ext uri="{9D8B030D-6E8A-4147-A177-3AD203B41FA5}">
                      <a16:colId xmlns:a16="http://schemas.microsoft.com/office/drawing/2014/main" val="1555228717"/>
                    </a:ext>
                  </a:extLst>
                </a:gridCol>
              </a:tblGrid>
              <a:tr h="0">
                <a:tc>
                  <a:txBody>
                    <a:bodyPr/>
                    <a:lstStyle/>
                    <a:p>
                      <a:r>
                        <a:rPr lang="en-AU" sz="900"/>
                        <a:t>Capability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1607489"/>
                  </a:ext>
                </a:extLst>
              </a:tr>
              <a:tr h="0">
                <a:tc>
                  <a:txBody>
                    <a:bodyPr/>
                    <a:lstStyle/>
                    <a:p>
                      <a:r>
                        <a:rPr lang="en-AU" sz="900" b="1" i="0" u="sng" kern="1200">
                          <a:solidFill>
                            <a:schemeClr val="dk1"/>
                          </a:solidFill>
                          <a:effectLst/>
                          <a:latin typeface="+mn-lt"/>
                          <a:ea typeface="+mn-ea"/>
                          <a:cs typeface="+mn-cs"/>
                        </a:rPr>
                        <a:t>fan-out-detection</a:t>
                      </a:r>
                      <a:r>
                        <a:rPr lang="en-AU" sz="900" b="0" i="0" u="none" kern="1200">
                          <a:solidFill>
                            <a:schemeClr val="dk1"/>
                          </a:solidFill>
                          <a:effectLst/>
                          <a:latin typeface="+mn-lt"/>
                          <a:ea typeface="+mn-ea"/>
                          <a:cs typeface="+mn-cs"/>
                        </a:rPr>
                        <a:t> </a:t>
                      </a:r>
                      <a:r>
                        <a:rPr lang="en-AU" sz="900" b="0" i="0" u="none" kern="1200">
                          <a:solidFill>
                            <a:schemeClr val="dk1"/>
                          </a:solidFill>
                          <a:effectLst/>
                          <a:latin typeface="+mn-lt"/>
                          <a:ea typeface="+mn-ea"/>
                          <a:cs typeface="+mn-cs"/>
                          <a:sym typeface="Wingdings" panose="05000000000000000000" pitchFamily="2" charset="2"/>
                        </a:rPr>
                        <a:t> </a:t>
                      </a:r>
                      <a:r>
                        <a:rPr lang="en-AU" sz="900" b="1" i="0" kern="1200">
                          <a:solidFill>
                            <a:schemeClr val="dk1"/>
                          </a:solidFill>
                          <a:effectLst/>
                          <a:latin typeface="+mn-lt"/>
                          <a:ea typeface="+mn-ea"/>
                          <a:cs typeface="+mn-cs"/>
                        </a:rPr>
                        <a:t>One customer account</a:t>
                      </a:r>
                      <a:r>
                        <a:rPr lang="en-AU" sz="900" b="0" i="0" kern="1200">
                          <a:solidFill>
                            <a:schemeClr val="dk1"/>
                          </a:solidFill>
                          <a:effectLst/>
                          <a:latin typeface="+mn-lt"/>
                          <a:ea typeface="+mn-ea"/>
                          <a:cs typeface="+mn-cs"/>
                        </a:rPr>
                        <a:t> logs in or makes transactions from </a:t>
                      </a:r>
                      <a:r>
                        <a:rPr lang="en-AU" sz="900" b="1" i="0" kern="1200">
                          <a:solidFill>
                            <a:schemeClr val="dk1"/>
                          </a:solidFill>
                          <a:effectLst/>
                          <a:latin typeface="+mn-lt"/>
                          <a:ea typeface="+mn-ea"/>
                          <a:cs typeface="+mn-cs"/>
                        </a:rPr>
                        <a:t>many different devices</a:t>
                      </a:r>
                      <a:r>
                        <a:rPr lang="en-AU" sz="900" b="0" i="0" kern="1200">
                          <a:solidFill>
                            <a:schemeClr val="dk1"/>
                          </a:solidFill>
                          <a:effectLst/>
                          <a:latin typeface="+mn-lt"/>
                          <a:ea typeface="+mn-ea"/>
                          <a:cs typeface="+mn-cs"/>
                        </a:rPr>
                        <a:t> in a short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730635705"/>
                  </a:ext>
                </a:extLst>
              </a:tr>
              <a:tr h="0">
                <a:tc>
                  <a:txBody>
                    <a:bodyPr/>
                    <a:lstStyle/>
                    <a:p>
                      <a:r>
                        <a:rPr lang="en-AU" sz="900" b="1" i="0" u="sng" kern="1200">
                          <a:solidFill>
                            <a:schemeClr val="dk1"/>
                          </a:solidFill>
                          <a:effectLst/>
                          <a:latin typeface="+mn-lt"/>
                          <a:ea typeface="+mn-ea"/>
                          <a:cs typeface="+mn-cs"/>
                        </a:rPr>
                        <a:t>fan-in-detection</a:t>
                      </a:r>
                      <a:r>
                        <a:rPr lang="en-AU" sz="900" b="0" i="0" u="none" kern="1200">
                          <a:solidFill>
                            <a:schemeClr val="dk1"/>
                          </a:solidFill>
                          <a:effectLst/>
                          <a:latin typeface="+mn-lt"/>
                          <a:ea typeface="+mn-ea"/>
                          <a:cs typeface="+mn-cs"/>
                        </a:rPr>
                        <a:t> </a:t>
                      </a:r>
                      <a:r>
                        <a:rPr lang="en-AU" sz="900" b="0" i="0" u="none" kern="1200">
                          <a:solidFill>
                            <a:schemeClr val="dk1"/>
                          </a:solidFill>
                          <a:effectLst/>
                          <a:latin typeface="+mn-lt"/>
                          <a:ea typeface="+mn-ea"/>
                          <a:cs typeface="+mn-cs"/>
                          <a:sym typeface="Wingdings" panose="05000000000000000000" pitchFamily="2" charset="2"/>
                        </a:rPr>
                        <a:t> </a:t>
                      </a:r>
                      <a:r>
                        <a:rPr lang="en-AU" sz="900" b="1" i="0" kern="1200">
                          <a:solidFill>
                            <a:schemeClr val="dk1"/>
                          </a:solidFill>
                          <a:effectLst/>
                          <a:latin typeface="+mn-lt"/>
                          <a:ea typeface="+mn-ea"/>
                          <a:cs typeface="+mn-cs"/>
                        </a:rPr>
                        <a:t>Many different customer accounts</a:t>
                      </a:r>
                      <a:r>
                        <a:rPr lang="en-AU" sz="900" b="0" i="0" kern="1200">
                          <a:solidFill>
                            <a:schemeClr val="dk1"/>
                          </a:solidFill>
                          <a:effectLst/>
                          <a:latin typeface="+mn-lt"/>
                          <a:ea typeface="+mn-ea"/>
                          <a:cs typeface="+mn-cs"/>
                        </a:rPr>
                        <a:t> log in from </a:t>
                      </a:r>
                      <a:r>
                        <a:rPr lang="en-AU" sz="900" b="1" i="0" kern="1200">
                          <a:solidFill>
                            <a:schemeClr val="dk1"/>
                          </a:solidFill>
                          <a:effectLst/>
                          <a:latin typeface="+mn-lt"/>
                          <a:ea typeface="+mn-ea"/>
                          <a:cs typeface="+mn-cs"/>
                        </a:rPr>
                        <a:t>the same device</a:t>
                      </a:r>
                      <a:r>
                        <a:rPr lang="en-AU" sz="900" b="0" i="0" kern="1200">
                          <a:solidFill>
                            <a:schemeClr val="dk1"/>
                          </a:solidFill>
                          <a:effectLst/>
                          <a:latin typeface="+mn-lt"/>
                          <a:ea typeface="+mn-ea"/>
                          <a:cs typeface="+mn-cs"/>
                        </a:rPr>
                        <a:t> in a short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4186695946"/>
                  </a:ext>
                </a:extLst>
              </a:tr>
              <a:tr h="123297">
                <a:tc>
                  <a:txBody>
                    <a:bodyPr/>
                    <a:lstStyle/>
                    <a:p>
                      <a:r>
                        <a:rPr lang="en-AU" sz="900" b="1" i="0" u="sng" kern="1200">
                          <a:solidFill>
                            <a:schemeClr val="dk1"/>
                          </a:solidFill>
                          <a:effectLst/>
                          <a:latin typeface="+mn-lt"/>
                          <a:ea typeface="+mn-ea"/>
                          <a:cs typeface="+mn-cs"/>
                        </a:rPr>
                        <a:t>cycle-detection</a:t>
                      </a:r>
                      <a:r>
                        <a:rPr lang="en-AU" sz="900" b="0" i="0" u="none" kern="1200">
                          <a:solidFill>
                            <a:schemeClr val="dk1"/>
                          </a:solidFill>
                          <a:effectLst/>
                          <a:latin typeface="+mn-lt"/>
                          <a:ea typeface="+mn-ea"/>
                          <a:cs typeface="+mn-cs"/>
                        </a:rPr>
                        <a:t> </a:t>
                      </a:r>
                      <a:r>
                        <a:rPr lang="en-AU" sz="900" b="0" i="0" u="none" kern="1200">
                          <a:solidFill>
                            <a:schemeClr val="dk1"/>
                          </a:solidFill>
                          <a:effectLst/>
                          <a:latin typeface="+mn-lt"/>
                          <a:ea typeface="+mn-ea"/>
                          <a:cs typeface="+mn-cs"/>
                          <a:sym typeface="Wingdings" panose="05000000000000000000" pitchFamily="2" charset="2"/>
                        </a:rPr>
                        <a:t> </a:t>
                      </a:r>
                      <a:r>
                        <a:rPr lang="en-AU" sz="900" b="0" i="0" kern="1200">
                          <a:solidFill>
                            <a:schemeClr val="dk1"/>
                          </a:solidFill>
                          <a:effectLst/>
                          <a:latin typeface="+mn-lt"/>
                          <a:ea typeface="+mn-ea"/>
                          <a:cs typeface="+mn-cs"/>
                        </a:rPr>
                        <a:t>A </a:t>
                      </a:r>
                      <a:r>
                        <a:rPr lang="en-AU" sz="900" b="1" i="0" kern="1200">
                          <a:solidFill>
                            <a:schemeClr val="dk1"/>
                          </a:solidFill>
                          <a:effectLst/>
                          <a:latin typeface="+mn-lt"/>
                          <a:ea typeface="+mn-ea"/>
                          <a:cs typeface="+mn-cs"/>
                        </a:rPr>
                        <a:t>cycle</a:t>
                      </a:r>
                      <a:r>
                        <a:rPr lang="en-AU" sz="900" b="0" i="0" kern="1200">
                          <a:solidFill>
                            <a:schemeClr val="dk1"/>
                          </a:solidFill>
                          <a:effectLst/>
                          <a:latin typeface="+mn-lt"/>
                          <a:ea typeface="+mn-ea"/>
                          <a:cs typeface="+mn-cs"/>
                        </a:rPr>
                        <a:t> means we start from one account or device, follow the connections (transactions or shared devices), and eventually </a:t>
                      </a:r>
                      <a:r>
                        <a:rPr lang="en-AU" sz="900" b="1" i="0" kern="1200">
                          <a:solidFill>
                            <a:schemeClr val="dk1"/>
                          </a:solidFill>
                          <a:effectLst/>
                          <a:latin typeface="+mn-lt"/>
                          <a:ea typeface="+mn-ea"/>
                          <a:cs typeface="+mn-cs"/>
                        </a:rPr>
                        <a:t>come back to where we started</a:t>
                      </a:r>
                      <a:r>
                        <a:rPr lang="en-AU" sz="900" b="0" i="0" kern="1200">
                          <a:solidFill>
                            <a:schemeClr val="dk1"/>
                          </a:solidFill>
                          <a:effectLst/>
                          <a:latin typeface="+mn-lt"/>
                          <a:ea typeface="+mn-ea"/>
                          <a:cs typeface="+mn-cs"/>
                        </a:rPr>
                        <a:t>.</a:t>
                      </a:r>
                    </a:p>
                    <a:p>
                      <a:r>
                        <a:rPr lang="en-AU" sz="900" b="0" i="0" kern="1200">
                          <a:solidFill>
                            <a:schemeClr val="dk1"/>
                          </a:solidFill>
                          <a:effectLst/>
                          <a:latin typeface="+mn-lt"/>
                          <a:ea typeface="+mn-ea"/>
                          <a:cs typeface="+mn-cs"/>
                        </a:rPr>
                        <a:t>A </a:t>
                      </a:r>
                      <a:r>
                        <a:rPr lang="en-AU" sz="900" b="1" i="0" kern="1200">
                          <a:solidFill>
                            <a:schemeClr val="dk1"/>
                          </a:solidFill>
                          <a:effectLst/>
                          <a:latin typeface="+mn-lt"/>
                          <a:ea typeface="+mn-ea"/>
                          <a:cs typeface="+mn-cs"/>
                        </a:rPr>
                        <a:t>7-hop cycle detection</a:t>
                      </a:r>
                      <a:r>
                        <a:rPr lang="en-AU" sz="900" b="0" i="0" kern="1200">
                          <a:solidFill>
                            <a:schemeClr val="dk1"/>
                          </a:solidFill>
                          <a:effectLst/>
                          <a:latin typeface="+mn-lt"/>
                          <a:ea typeface="+mn-ea"/>
                          <a:cs typeface="+mn-cs"/>
                        </a:rPr>
                        <a:t> means: check if such a loop exists </a:t>
                      </a:r>
                      <a:r>
                        <a:rPr lang="en-AU" sz="900" b="1" i="0" kern="1200">
                          <a:solidFill>
                            <a:schemeClr val="dk1"/>
                          </a:solidFill>
                          <a:effectLst/>
                          <a:latin typeface="+mn-lt"/>
                          <a:ea typeface="+mn-ea"/>
                          <a:cs typeface="+mn-cs"/>
                        </a:rPr>
                        <a:t>within 7 steps (hops)</a:t>
                      </a:r>
                      <a:r>
                        <a:rPr lang="en-AU" sz="900" b="0" i="0" kern="1200">
                          <a:solidFill>
                            <a:schemeClr val="dk1"/>
                          </a:solidFill>
                          <a:effectLst/>
                          <a:latin typeface="+mn-lt"/>
                          <a:ea typeface="+mn-ea"/>
                          <a:cs typeface="+mn-cs"/>
                        </a:rPr>
                        <a:t>. A hop can be Account → Device (login) , Device → Account (login), Account → Account (transaction)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4225647551"/>
                  </a:ext>
                </a:extLst>
              </a:tr>
              <a:tr h="149254">
                <a:tc>
                  <a:txBody>
                    <a:bodyPr/>
                    <a:lstStyle/>
                    <a:p>
                      <a:r>
                        <a:rPr lang="en-AU" sz="900" b="1" i="0" u="sng" kern="1200">
                          <a:solidFill>
                            <a:schemeClr val="dk1"/>
                          </a:solidFill>
                          <a:effectLst/>
                          <a:latin typeface="+mn-lt"/>
                          <a:ea typeface="+mn-ea"/>
                          <a:cs typeface="+mn-cs"/>
                        </a:rPr>
                        <a:t>deep-traversal</a:t>
                      </a:r>
                      <a:r>
                        <a:rPr lang="en-AU" sz="900" b="0" i="0" u="none" kern="1200">
                          <a:solidFill>
                            <a:schemeClr val="dk1"/>
                          </a:solidFill>
                          <a:effectLst/>
                          <a:latin typeface="+mn-lt"/>
                          <a:ea typeface="+mn-ea"/>
                          <a:cs typeface="+mn-cs"/>
                        </a:rPr>
                        <a:t> </a:t>
                      </a:r>
                      <a:r>
                        <a:rPr lang="en-AU" sz="900" b="0" i="0" u="none" kern="1200">
                          <a:solidFill>
                            <a:schemeClr val="dk1"/>
                          </a:solidFill>
                          <a:effectLst/>
                          <a:latin typeface="+mn-lt"/>
                          <a:ea typeface="+mn-ea"/>
                          <a:cs typeface="+mn-cs"/>
                          <a:sym typeface="Wingdings" panose="05000000000000000000" pitchFamily="2" charset="2"/>
                        </a:rPr>
                        <a:t> </a:t>
                      </a:r>
                      <a:r>
                        <a:rPr lang="en-AU" sz="900" b="1" i="0" kern="1200">
                          <a:solidFill>
                            <a:schemeClr val="dk1"/>
                          </a:solidFill>
                          <a:effectLst/>
                          <a:latin typeface="+mn-lt"/>
                          <a:ea typeface="+mn-ea"/>
                          <a:cs typeface="+mn-cs"/>
                        </a:rPr>
                        <a:t>The maximum number of steps (or “hops”) you can take from your starting point.</a:t>
                      </a:r>
                      <a:endParaRPr lang="en-AU" sz="900" b="0" i="0" kern="1200">
                        <a:solidFill>
                          <a:schemeClr val="dk1"/>
                        </a:solidFill>
                        <a:effectLst/>
                        <a:latin typeface="+mn-lt"/>
                        <a:ea typeface="+mn-ea"/>
                        <a:cs typeface="+mn-cs"/>
                      </a:endParaRPr>
                    </a:p>
                    <a:p>
                      <a:r>
                        <a:rPr lang="en-AU" sz="900" b="1" i="0" kern="1200">
                          <a:solidFill>
                            <a:schemeClr val="dk1"/>
                          </a:solidFill>
                          <a:effectLst/>
                          <a:latin typeface="+mn-lt"/>
                          <a:ea typeface="+mn-ea"/>
                          <a:cs typeface="+mn-cs"/>
                        </a:rPr>
                        <a:t>Start</a:t>
                      </a:r>
                      <a:r>
                        <a:rPr lang="en-AU" sz="900" b="0" i="0" kern="1200">
                          <a:solidFill>
                            <a:schemeClr val="dk1"/>
                          </a:solidFill>
                          <a:effectLst/>
                          <a:latin typeface="+mn-lt"/>
                          <a:ea typeface="+mn-ea"/>
                          <a:cs typeface="+mn-cs"/>
                        </a:rPr>
                        <a:t> at one node (e.g., a specific customer). </a:t>
                      </a:r>
                      <a:r>
                        <a:rPr lang="en-AU" sz="900" b="1" i="0" kern="1200">
                          <a:solidFill>
                            <a:schemeClr val="dk1"/>
                          </a:solidFill>
                          <a:effectLst/>
                          <a:latin typeface="+mn-lt"/>
                          <a:ea typeface="+mn-ea"/>
                          <a:cs typeface="+mn-cs"/>
                        </a:rPr>
                        <a:t>Follow connections</a:t>
                      </a:r>
                      <a:r>
                        <a:rPr lang="en-AU" sz="900" b="0" i="0" kern="1200">
                          <a:solidFill>
                            <a:schemeClr val="dk1"/>
                          </a:solidFill>
                          <a:effectLst/>
                          <a:latin typeface="+mn-lt"/>
                          <a:ea typeface="+mn-ea"/>
                          <a:cs typeface="+mn-cs"/>
                        </a:rPr>
                        <a:t> to related nodes (e.g., their accounts → transactions → devices → other accounts → other customers). Keep going </a:t>
                      </a:r>
                      <a:r>
                        <a:rPr lang="en-AU" sz="900" b="1" i="0" kern="1200">
                          <a:solidFill>
                            <a:schemeClr val="dk1"/>
                          </a:solidFill>
                          <a:effectLst/>
                          <a:latin typeface="+mn-lt"/>
                          <a:ea typeface="+mn-ea"/>
                          <a:cs typeface="+mn-cs"/>
                        </a:rPr>
                        <a:t>up to 10 steps away</a:t>
                      </a:r>
                      <a:r>
                        <a:rPr lang="en-AU" sz="900" b="0" i="0" kern="1200">
                          <a:solidFill>
                            <a:schemeClr val="dk1"/>
                          </a:solidFill>
                          <a:effectLst/>
                          <a:latin typeface="+mn-lt"/>
                          <a:ea typeface="+mn-ea"/>
                          <a:cs typeface="+mn-cs"/>
                        </a:rPr>
                        <a:t> from the starting point. Collect all the nodes and relationships you find along the way.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980223376"/>
                  </a:ext>
                </a:extLst>
              </a:tr>
              <a:tr h="0">
                <a:tc>
                  <a:txBody>
                    <a:bodyPr/>
                    <a:lstStyle/>
                    <a:p>
                      <a:r>
                        <a:rPr lang="en-AU" sz="900" b="1" i="0" u="sng" kern="1200" err="1">
                          <a:solidFill>
                            <a:schemeClr val="dk1"/>
                          </a:solidFill>
                          <a:effectLst/>
                          <a:latin typeface="+mn-lt"/>
                          <a:ea typeface="+mn-ea"/>
                          <a:cs typeface="+mn-cs"/>
                        </a:rPr>
                        <a:t>ponzi</a:t>
                      </a:r>
                      <a:r>
                        <a:rPr lang="en-AU" sz="900" b="1" i="0" u="sng" kern="1200">
                          <a:solidFill>
                            <a:schemeClr val="dk1"/>
                          </a:solidFill>
                          <a:effectLst/>
                          <a:latin typeface="+mn-lt"/>
                          <a:ea typeface="+mn-ea"/>
                          <a:cs typeface="+mn-cs"/>
                        </a:rPr>
                        <a:t>-detection</a:t>
                      </a:r>
                      <a:r>
                        <a:rPr lang="en-AU" sz="900" b="0" i="0" u="none" kern="1200">
                          <a:solidFill>
                            <a:schemeClr val="dk1"/>
                          </a:solidFill>
                          <a:effectLst/>
                          <a:latin typeface="+mn-lt"/>
                          <a:ea typeface="+mn-ea"/>
                          <a:cs typeface="+mn-cs"/>
                        </a:rPr>
                        <a:t> </a:t>
                      </a:r>
                      <a:r>
                        <a:rPr lang="en-AU" sz="900" b="0" i="0" u="none" kern="1200">
                          <a:solidFill>
                            <a:schemeClr val="dk1"/>
                          </a:solidFill>
                          <a:effectLst/>
                          <a:latin typeface="+mn-lt"/>
                          <a:ea typeface="+mn-ea"/>
                          <a:cs typeface="+mn-cs"/>
                          <a:sym typeface="Wingdings" panose="05000000000000000000" pitchFamily="2" charset="2"/>
                        </a:rPr>
                        <a:t> </a:t>
                      </a:r>
                      <a:r>
                        <a:rPr lang="en-AU" sz="900" b="0" i="0" kern="1200">
                          <a:solidFill>
                            <a:schemeClr val="dk1"/>
                          </a:solidFill>
                          <a:effectLst/>
                          <a:latin typeface="+mn-lt"/>
                          <a:ea typeface="+mn-ea"/>
                          <a:cs typeface="+mn-cs"/>
                        </a:rPr>
                        <a:t>A </a:t>
                      </a:r>
                      <a:r>
                        <a:rPr lang="en-AU" sz="900" b="1" i="0" kern="1200">
                          <a:solidFill>
                            <a:schemeClr val="dk1"/>
                          </a:solidFill>
                          <a:effectLst/>
                          <a:latin typeface="+mn-lt"/>
                          <a:ea typeface="+mn-ea"/>
                          <a:cs typeface="+mn-cs"/>
                        </a:rPr>
                        <a:t>Ponzi scheme</a:t>
                      </a:r>
                      <a:r>
                        <a:rPr lang="en-AU" sz="900" b="0" i="0" kern="1200">
                          <a:solidFill>
                            <a:schemeClr val="dk1"/>
                          </a:solidFill>
                          <a:effectLst/>
                          <a:latin typeface="+mn-lt"/>
                          <a:ea typeface="+mn-ea"/>
                          <a:cs typeface="+mn-cs"/>
                        </a:rPr>
                        <a:t> is a type of fraud where money from customers is used to pay other customers but based on - </a:t>
                      </a:r>
                      <a:r>
                        <a:rPr lang="en-AU" sz="900" b="1" i="0" kern="1200">
                          <a:solidFill>
                            <a:schemeClr val="dk1"/>
                          </a:solidFill>
                          <a:effectLst/>
                          <a:latin typeface="+mn-lt"/>
                          <a:ea typeface="+mn-ea"/>
                          <a:cs typeface="+mn-cs"/>
                        </a:rPr>
                        <a:t>Same devices or IP addresses</a:t>
                      </a:r>
                      <a:r>
                        <a:rPr lang="en-AU" sz="900" b="0" i="0" kern="1200">
                          <a:solidFill>
                            <a:schemeClr val="dk1"/>
                          </a:solidFill>
                          <a:effectLst/>
                          <a:latin typeface="+mn-lt"/>
                          <a:ea typeface="+mn-ea"/>
                          <a:cs typeface="+mn-cs"/>
                        </a:rPr>
                        <a:t> being used for multiple accounts. </a:t>
                      </a:r>
                      <a:r>
                        <a:rPr lang="en-AU" sz="900" b="1" i="0" kern="1200">
                          <a:solidFill>
                            <a:schemeClr val="dk1"/>
                          </a:solidFill>
                          <a:effectLst/>
                          <a:latin typeface="+mn-lt"/>
                          <a:ea typeface="+mn-ea"/>
                          <a:cs typeface="+mn-cs"/>
                        </a:rPr>
                        <a:t>Circular transactions</a:t>
                      </a:r>
                      <a:r>
                        <a:rPr lang="en-AU" sz="900" b="0" i="0" kern="1200">
                          <a:solidFill>
                            <a:schemeClr val="dk1"/>
                          </a:solidFill>
                          <a:effectLst/>
                          <a:latin typeface="+mn-lt"/>
                          <a:ea typeface="+mn-ea"/>
                          <a:cs typeface="+mn-cs"/>
                        </a:rPr>
                        <a:t> — money going in a loop between a group of accounts.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85023850"/>
                  </a:ext>
                </a:extLst>
              </a:tr>
              <a:tr h="123297">
                <a:tc>
                  <a:txBody>
                    <a:bodyPr/>
                    <a:lstStyle/>
                    <a:p>
                      <a:r>
                        <a:rPr lang="en-AU" sz="900" b="1" i="0" u="sng" kern="1200">
                          <a:solidFill>
                            <a:schemeClr val="dk1"/>
                          </a:solidFill>
                          <a:effectLst/>
                          <a:latin typeface="+mn-lt"/>
                          <a:ea typeface="+mn-ea"/>
                          <a:cs typeface="+mn-cs"/>
                        </a:rPr>
                        <a:t>cluster-detection</a:t>
                      </a:r>
                      <a:r>
                        <a:rPr lang="en-AU" sz="900" b="0" i="0" u="none" kern="1200">
                          <a:solidFill>
                            <a:schemeClr val="dk1"/>
                          </a:solidFill>
                          <a:effectLst/>
                          <a:latin typeface="+mn-lt"/>
                          <a:ea typeface="+mn-ea"/>
                          <a:cs typeface="+mn-cs"/>
                        </a:rPr>
                        <a:t> </a:t>
                      </a:r>
                      <a:r>
                        <a:rPr lang="en-AU" sz="900" b="0" i="0" u="none" kern="1200">
                          <a:solidFill>
                            <a:schemeClr val="dk1"/>
                          </a:solidFill>
                          <a:effectLst/>
                          <a:latin typeface="+mn-lt"/>
                          <a:ea typeface="+mn-ea"/>
                          <a:cs typeface="+mn-cs"/>
                          <a:sym typeface="Wingdings" panose="05000000000000000000" pitchFamily="2" charset="2"/>
                        </a:rPr>
                        <a:t> </a:t>
                      </a:r>
                      <a:r>
                        <a:rPr lang="en-AU" sz="900" b="0" i="0" kern="1200">
                          <a:solidFill>
                            <a:schemeClr val="dk1"/>
                          </a:solidFill>
                          <a:effectLst/>
                          <a:latin typeface="+mn-lt"/>
                          <a:ea typeface="+mn-ea"/>
                          <a:cs typeface="+mn-cs"/>
                        </a:rPr>
                        <a:t>Cluster detection (or </a:t>
                      </a:r>
                      <a:r>
                        <a:rPr lang="en-AU" sz="900" b="1" i="0" kern="1200">
                          <a:solidFill>
                            <a:schemeClr val="dk1"/>
                          </a:solidFill>
                          <a:effectLst/>
                          <a:latin typeface="+mn-lt"/>
                          <a:ea typeface="+mn-ea"/>
                          <a:cs typeface="+mn-cs"/>
                        </a:rPr>
                        <a:t>clustering</a:t>
                      </a:r>
                      <a:r>
                        <a:rPr lang="en-AU" sz="900" b="0" i="0" kern="1200">
                          <a:solidFill>
                            <a:schemeClr val="dk1"/>
                          </a:solidFill>
                          <a:effectLst/>
                          <a:latin typeface="+mn-lt"/>
                          <a:ea typeface="+mn-ea"/>
                          <a:cs typeface="+mn-cs"/>
                        </a:rPr>
                        <a:t>) is a way to </a:t>
                      </a:r>
                      <a:r>
                        <a:rPr lang="en-AU" sz="900" b="1" i="0" kern="1200">
                          <a:solidFill>
                            <a:schemeClr val="dk1"/>
                          </a:solidFill>
                          <a:effectLst/>
                          <a:latin typeface="+mn-lt"/>
                          <a:ea typeface="+mn-ea"/>
                          <a:cs typeface="+mn-cs"/>
                        </a:rPr>
                        <a:t>group similar things together</a:t>
                      </a:r>
                      <a:r>
                        <a:rPr lang="en-AU" sz="900" b="0" i="0" kern="1200">
                          <a:solidFill>
                            <a:schemeClr val="dk1"/>
                          </a:solidFill>
                          <a:effectLst/>
                          <a:latin typeface="+mn-lt"/>
                          <a:ea typeface="+mn-ea"/>
                          <a:cs typeface="+mn-cs"/>
                        </a:rPr>
                        <a:t> without being told exactly what the groups should be. We used clustering to look at </a:t>
                      </a:r>
                      <a:r>
                        <a:rPr lang="en-AU" sz="900" b="1" i="0" kern="1200">
                          <a:solidFill>
                            <a:schemeClr val="dk1"/>
                          </a:solidFill>
                          <a:effectLst/>
                          <a:latin typeface="+mn-lt"/>
                          <a:ea typeface="+mn-ea"/>
                          <a:cs typeface="+mn-cs"/>
                        </a:rPr>
                        <a:t>customer data</a:t>
                      </a:r>
                      <a:r>
                        <a:rPr lang="en-AU" sz="900" b="0" i="0" kern="1200">
                          <a:solidFill>
                            <a:schemeClr val="dk1"/>
                          </a:solidFill>
                          <a:effectLst/>
                          <a:latin typeface="+mn-lt"/>
                          <a:ea typeface="+mn-ea"/>
                          <a:cs typeface="+mn-cs"/>
                        </a:rPr>
                        <a:t> — for example: </a:t>
                      </a:r>
                      <a:r>
                        <a:rPr lang="en-AU" sz="900" b="1" i="0" kern="1200">
                          <a:solidFill>
                            <a:schemeClr val="dk1"/>
                          </a:solidFill>
                          <a:effectLst/>
                          <a:latin typeface="+mn-lt"/>
                          <a:ea typeface="+mn-ea"/>
                          <a:cs typeface="+mn-cs"/>
                        </a:rPr>
                        <a:t>Transactions</a:t>
                      </a:r>
                      <a:r>
                        <a:rPr lang="en-AU" sz="900" b="0" i="0" kern="1200">
                          <a:solidFill>
                            <a:schemeClr val="dk1"/>
                          </a:solidFill>
                          <a:effectLst/>
                          <a:latin typeface="+mn-lt"/>
                          <a:ea typeface="+mn-ea"/>
                          <a:cs typeface="+mn-cs"/>
                        </a:rPr>
                        <a:t>: how often money came in and out. </a:t>
                      </a:r>
                      <a:r>
                        <a:rPr lang="en-AU" sz="900" b="1" i="0" kern="1200">
                          <a:solidFill>
                            <a:schemeClr val="dk1"/>
                          </a:solidFill>
                          <a:effectLst/>
                          <a:latin typeface="+mn-lt"/>
                          <a:ea typeface="+mn-ea"/>
                          <a:cs typeface="+mn-cs"/>
                        </a:rPr>
                        <a:t>Devices</a:t>
                      </a:r>
                      <a:r>
                        <a:rPr lang="en-AU" sz="900" b="0" i="0" kern="1200">
                          <a:solidFill>
                            <a:schemeClr val="dk1"/>
                          </a:solidFill>
                          <a:effectLst/>
                          <a:latin typeface="+mn-lt"/>
                          <a:ea typeface="+mn-ea"/>
                          <a:cs typeface="+mn-cs"/>
                        </a:rPr>
                        <a:t>: phone, laptop, tablet, location, IP address,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520035961"/>
                  </a:ext>
                </a:extLst>
              </a:tr>
              <a:tr h="123297">
                <a:tc>
                  <a:txBody>
                    <a:bodyPr/>
                    <a:lstStyle/>
                    <a:p>
                      <a:r>
                        <a:rPr lang="en-AU" sz="900" b="1" i="0" u="sng" kern="1200">
                          <a:solidFill>
                            <a:schemeClr val="dk1"/>
                          </a:solidFill>
                          <a:effectLst/>
                          <a:latin typeface="+mn-lt"/>
                          <a:ea typeface="+mn-ea"/>
                          <a:cs typeface="+mn-cs"/>
                        </a:rPr>
                        <a:t>shared-device-network-detection</a:t>
                      </a:r>
                      <a:r>
                        <a:rPr lang="en-AU" sz="900" b="0" i="0" u="none" kern="1200">
                          <a:solidFill>
                            <a:schemeClr val="dk1"/>
                          </a:solidFill>
                          <a:effectLst/>
                          <a:latin typeface="+mn-lt"/>
                          <a:ea typeface="+mn-ea"/>
                          <a:cs typeface="+mn-cs"/>
                        </a:rPr>
                        <a:t> </a:t>
                      </a:r>
                      <a:r>
                        <a:rPr lang="en-AU" sz="900" b="0" i="0" u="none" kern="1200">
                          <a:solidFill>
                            <a:schemeClr val="dk1"/>
                          </a:solidFill>
                          <a:effectLst/>
                          <a:latin typeface="+mn-lt"/>
                          <a:ea typeface="+mn-ea"/>
                          <a:cs typeface="+mn-cs"/>
                          <a:sym typeface="Wingdings" panose="05000000000000000000" pitchFamily="2" charset="2"/>
                        </a:rPr>
                        <a:t> </a:t>
                      </a:r>
                      <a:r>
                        <a:rPr lang="en-AU" sz="900" b="1" i="0" kern="1200">
                          <a:solidFill>
                            <a:schemeClr val="dk1"/>
                          </a:solidFill>
                          <a:effectLst/>
                          <a:latin typeface="+mn-lt"/>
                          <a:ea typeface="+mn-ea"/>
                          <a:cs typeface="+mn-cs"/>
                        </a:rPr>
                        <a:t>Customers </a:t>
                      </a:r>
                      <a:r>
                        <a:rPr lang="en-AU" sz="900" b="0" i="0" kern="1200">
                          <a:solidFill>
                            <a:schemeClr val="dk1"/>
                          </a:solidFill>
                          <a:effectLst/>
                          <a:latin typeface="+mn-lt"/>
                          <a:ea typeface="+mn-ea"/>
                          <a:cs typeface="+mn-cs"/>
                        </a:rPr>
                        <a:t>using same device - min 2 and network size – 3 / same device - min 3 and network size –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858711231"/>
                  </a:ext>
                </a:extLst>
              </a:tr>
              <a:tr h="123297">
                <a:tc>
                  <a:txBody>
                    <a:bodyPr/>
                    <a:lstStyle/>
                    <a:p>
                      <a:r>
                        <a:rPr lang="en-AU" sz="900" b="1" i="0" u="sng" kern="1200">
                          <a:solidFill>
                            <a:schemeClr val="dk1"/>
                          </a:solidFill>
                          <a:effectLst/>
                          <a:latin typeface="+mn-lt"/>
                          <a:ea typeface="+mn-ea"/>
                          <a:cs typeface="+mn-cs"/>
                        </a:rPr>
                        <a:t>synthetic-identity-detection</a:t>
                      </a:r>
                      <a:r>
                        <a:rPr lang="en-AU" sz="900" b="0" i="0" u="none" kern="1200">
                          <a:solidFill>
                            <a:schemeClr val="dk1"/>
                          </a:solidFill>
                          <a:effectLst/>
                          <a:latin typeface="+mn-lt"/>
                          <a:ea typeface="+mn-ea"/>
                          <a:cs typeface="+mn-cs"/>
                        </a:rPr>
                        <a:t> </a:t>
                      </a:r>
                      <a:r>
                        <a:rPr lang="en-AU" sz="900" b="0" i="0" u="none" kern="1200">
                          <a:solidFill>
                            <a:schemeClr val="dk1"/>
                          </a:solidFill>
                          <a:effectLst/>
                          <a:latin typeface="+mn-lt"/>
                          <a:ea typeface="+mn-ea"/>
                          <a:cs typeface="+mn-cs"/>
                          <a:sym typeface="Wingdings" panose="05000000000000000000" pitchFamily="2" charset="2"/>
                        </a:rPr>
                        <a:t> </a:t>
                      </a:r>
                      <a:r>
                        <a:rPr lang="en-AU" sz="900" b="0" i="0" kern="1200">
                          <a:solidFill>
                            <a:schemeClr val="dk1"/>
                          </a:solidFill>
                          <a:effectLst/>
                          <a:latin typeface="+mn-lt"/>
                          <a:ea typeface="+mn-ea"/>
                          <a:cs typeface="+mn-cs"/>
                        </a:rPr>
                        <a:t>100K transactions with realistic fraud patterns</a:t>
                      </a:r>
                    </a:p>
                    <a:p>
                      <a:pPr marL="171450" indent="-171450">
                        <a:buFont typeface="Arial" panose="020B0604020202020204" pitchFamily="34" charset="0"/>
                        <a:buChar char="•"/>
                      </a:pPr>
                      <a:r>
                        <a:rPr lang="en-AU" sz="900" b="0" i="0" kern="1200">
                          <a:solidFill>
                            <a:schemeClr val="dk1"/>
                          </a:solidFill>
                          <a:effectLst/>
                          <a:latin typeface="+mn-lt"/>
                          <a:ea typeface="+mn-ea"/>
                          <a:cs typeface="+mn-cs"/>
                        </a:rPr>
                        <a:t>Transaction time: Most between 6 AM - 11 PM, but suspicious ones often at odd hours</a:t>
                      </a:r>
                    </a:p>
                    <a:p>
                      <a:pPr marL="171450" indent="-171450">
                        <a:buFont typeface="Arial" panose="020B0604020202020204" pitchFamily="34" charset="0"/>
                        <a:buChar char="•"/>
                      </a:pPr>
                      <a:r>
                        <a:rPr lang="en-AU" sz="900" b="0" i="0" kern="1200">
                          <a:solidFill>
                            <a:schemeClr val="dk1"/>
                          </a:solidFill>
                          <a:effectLst/>
                          <a:latin typeface="+mn-lt"/>
                          <a:ea typeface="+mn-ea"/>
                          <a:cs typeface="+mn-cs"/>
                        </a:rPr>
                        <a:t>Amount: Fraudulent tend to be higher, but add noise</a:t>
                      </a:r>
                    </a:p>
                    <a:p>
                      <a:pPr marL="171450" indent="-171450">
                        <a:buFont typeface="Arial" panose="020B0604020202020204" pitchFamily="34" charset="0"/>
                        <a:buChar char="•"/>
                      </a:pPr>
                      <a:r>
                        <a:rPr lang="en-AU" sz="900" b="0" i="0" kern="1200">
                          <a:solidFill>
                            <a:schemeClr val="dk1"/>
                          </a:solidFill>
                          <a:effectLst/>
                          <a:latin typeface="+mn-lt"/>
                          <a:ea typeface="+mn-ea"/>
                          <a:cs typeface="+mn-cs"/>
                        </a:rPr>
                        <a:t>Merchant: Suspicious transactions use uncommon merchants more often</a:t>
                      </a:r>
                    </a:p>
                    <a:p>
                      <a:pPr marL="171450" indent="-171450">
                        <a:buFont typeface="Arial" panose="020B0604020202020204" pitchFamily="34" charset="0"/>
                        <a:buChar char="•"/>
                      </a:pPr>
                      <a:r>
                        <a:rPr lang="en-AU" sz="900" b="0" i="0" kern="1200">
                          <a:solidFill>
                            <a:schemeClr val="dk1"/>
                          </a:solidFill>
                          <a:effectLst/>
                          <a:latin typeface="+mn-lt"/>
                          <a:ea typeface="+mn-ea"/>
                          <a:cs typeface="+mn-cs"/>
                        </a:rPr>
                        <a:t>Location: Suspicious transactions more likely in risky locations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237946684"/>
                  </a:ext>
                </a:extLst>
              </a:tr>
              <a:tr h="123297">
                <a:tc>
                  <a:txBody>
                    <a:bodyPr/>
                    <a:lstStyle/>
                    <a:p>
                      <a:r>
                        <a:rPr lang="en-AU" sz="900" b="1" i="0" u="sng" kern="1200">
                          <a:solidFill>
                            <a:schemeClr val="dk1"/>
                          </a:solidFill>
                          <a:effectLst/>
                          <a:latin typeface="+mn-lt"/>
                          <a:ea typeface="+mn-ea"/>
                          <a:cs typeface="+mn-cs"/>
                        </a:rPr>
                        <a:t>temporal-window</a:t>
                      </a:r>
                      <a:r>
                        <a:rPr lang="en-AU" sz="900" b="0" i="0" u="none" kern="1200">
                          <a:solidFill>
                            <a:schemeClr val="dk1"/>
                          </a:solidFill>
                          <a:effectLst/>
                          <a:latin typeface="+mn-lt"/>
                          <a:ea typeface="+mn-ea"/>
                          <a:cs typeface="+mn-cs"/>
                        </a:rPr>
                        <a:t> </a:t>
                      </a:r>
                      <a:r>
                        <a:rPr lang="en-AU" sz="900" b="0" i="0" u="none" kern="1200">
                          <a:solidFill>
                            <a:schemeClr val="dk1"/>
                          </a:solidFill>
                          <a:effectLst/>
                          <a:latin typeface="+mn-lt"/>
                          <a:ea typeface="+mn-ea"/>
                          <a:cs typeface="+mn-cs"/>
                          <a:sym typeface="Wingdings" panose="05000000000000000000" pitchFamily="2" charset="2"/>
                        </a:rPr>
                        <a:t> </a:t>
                      </a:r>
                      <a:r>
                        <a:rPr lang="en-AU" sz="900" b="0" i="0" kern="1200">
                          <a:solidFill>
                            <a:schemeClr val="dk1"/>
                          </a:solidFill>
                          <a:effectLst/>
                          <a:latin typeface="+mn-lt"/>
                          <a:ea typeface="+mn-ea"/>
                          <a:cs typeface="+mn-cs"/>
                        </a:rPr>
                        <a:t>A temporal window (also called a </a:t>
                      </a:r>
                      <a:r>
                        <a:rPr lang="en-AU" sz="900" b="0" i="1" kern="1200">
                          <a:solidFill>
                            <a:schemeClr val="dk1"/>
                          </a:solidFill>
                          <a:effectLst/>
                          <a:latin typeface="+mn-lt"/>
                          <a:ea typeface="+mn-ea"/>
                          <a:cs typeface="+mn-cs"/>
                        </a:rPr>
                        <a:t>time window</a:t>
                      </a:r>
                      <a:r>
                        <a:rPr lang="en-AU" sz="900" b="0" i="0" kern="1200">
                          <a:solidFill>
                            <a:schemeClr val="dk1"/>
                          </a:solidFill>
                          <a:effectLst/>
                          <a:latin typeface="+mn-lt"/>
                          <a:ea typeface="+mn-ea"/>
                          <a:cs typeface="+mn-cs"/>
                        </a:rPr>
                        <a:t> or </a:t>
                      </a:r>
                      <a:r>
                        <a:rPr lang="en-AU" sz="900" b="0" i="1" kern="1200">
                          <a:solidFill>
                            <a:schemeClr val="dk1"/>
                          </a:solidFill>
                          <a:effectLst/>
                          <a:latin typeface="+mn-lt"/>
                          <a:ea typeface="+mn-ea"/>
                          <a:cs typeface="+mn-cs"/>
                        </a:rPr>
                        <a:t>sliding window</a:t>
                      </a:r>
                      <a:r>
                        <a:rPr lang="en-AU" sz="900" b="0" i="0" kern="1200">
                          <a:solidFill>
                            <a:schemeClr val="dk1"/>
                          </a:solidFill>
                          <a:effectLst/>
                          <a:latin typeface="+mn-lt"/>
                          <a:ea typeface="+mn-ea"/>
                          <a:cs typeface="+mn-cs"/>
                        </a:rPr>
                        <a:t>) → a fixed or variable time span over which we collect and process data points. Aim is to focus on a subset of data in a given time range rather than the entire dataset.</a:t>
                      </a:r>
                      <a:br>
                        <a:rPr lang="en-AU" sz="900" b="0" i="0" kern="1200">
                          <a:solidFill>
                            <a:schemeClr val="dk1"/>
                          </a:solidFill>
                          <a:effectLst/>
                          <a:latin typeface="+mn-lt"/>
                          <a:ea typeface="+mn-ea"/>
                          <a:cs typeface="+mn-cs"/>
                        </a:rPr>
                      </a:br>
                      <a:r>
                        <a:rPr lang="en-AU" sz="900" b="1" i="0" kern="1200">
                          <a:solidFill>
                            <a:schemeClr val="dk1"/>
                          </a:solidFill>
                          <a:effectLst/>
                          <a:latin typeface="+mn-lt"/>
                          <a:ea typeface="+mn-ea"/>
                          <a:cs typeface="+mn-cs"/>
                        </a:rPr>
                        <a:t>We are doing this via Ontology semantics as our data points have start and end effective dates.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170928441"/>
                  </a:ext>
                </a:extLst>
              </a:tr>
            </a:tbl>
          </a:graphicData>
        </a:graphic>
      </p:graphicFrame>
      <p:pic>
        <p:nvPicPr>
          <p:cNvPr id="10" name="Picture 9">
            <a:extLst>
              <a:ext uri="{FF2B5EF4-FFF2-40B4-BE49-F238E27FC236}">
                <a16:creationId xmlns:a16="http://schemas.microsoft.com/office/drawing/2014/main" id="{09084B9C-62DC-B52D-236A-C69987DA9AB3}"/>
              </a:ext>
            </a:extLst>
          </p:cNvPr>
          <p:cNvPicPr>
            <a:picLocks noChangeAspect="1"/>
          </p:cNvPicPr>
          <p:nvPr/>
        </p:nvPicPr>
        <p:blipFill>
          <a:blip r:embed="rId5"/>
          <a:stretch>
            <a:fillRect/>
          </a:stretch>
        </p:blipFill>
        <p:spPr>
          <a:xfrm>
            <a:off x="138055" y="1044390"/>
            <a:ext cx="2758085" cy="1659715"/>
          </a:xfrm>
          <a:prstGeom prst="rect">
            <a:avLst/>
          </a:prstGeom>
        </p:spPr>
        <p:style>
          <a:lnRef idx="2">
            <a:schemeClr val="accent4">
              <a:shade val="15000"/>
            </a:schemeClr>
          </a:lnRef>
          <a:fillRef idx="1">
            <a:schemeClr val="accent4"/>
          </a:fillRef>
          <a:effectRef idx="0">
            <a:schemeClr val="accent4"/>
          </a:effectRef>
          <a:fontRef idx="minor">
            <a:schemeClr val="lt1"/>
          </a:fontRef>
        </p:style>
      </p:pic>
      <p:pic>
        <p:nvPicPr>
          <p:cNvPr id="14" name="Picture 13">
            <a:extLst>
              <a:ext uri="{FF2B5EF4-FFF2-40B4-BE49-F238E27FC236}">
                <a16:creationId xmlns:a16="http://schemas.microsoft.com/office/drawing/2014/main" id="{B31BA9C7-8D86-3C9A-3B3C-69BEB13E7966}"/>
              </a:ext>
            </a:extLst>
          </p:cNvPr>
          <p:cNvPicPr>
            <a:picLocks noChangeAspect="1"/>
          </p:cNvPicPr>
          <p:nvPr/>
        </p:nvPicPr>
        <p:blipFill>
          <a:blip r:embed="rId6"/>
          <a:stretch>
            <a:fillRect/>
          </a:stretch>
        </p:blipFill>
        <p:spPr>
          <a:xfrm>
            <a:off x="3290194" y="1030352"/>
            <a:ext cx="3332608" cy="1672607"/>
          </a:xfrm>
          <a:prstGeom prst="rect">
            <a:avLst/>
          </a:prstGeom>
        </p:spPr>
        <p:style>
          <a:lnRef idx="2">
            <a:schemeClr val="accent4">
              <a:shade val="15000"/>
            </a:schemeClr>
          </a:lnRef>
          <a:fillRef idx="1">
            <a:schemeClr val="accent4"/>
          </a:fillRef>
          <a:effectRef idx="0">
            <a:schemeClr val="accent4"/>
          </a:effectRef>
          <a:fontRef idx="minor">
            <a:schemeClr val="lt1"/>
          </a:fontRef>
        </p:style>
      </p:pic>
      <p:pic>
        <p:nvPicPr>
          <p:cNvPr id="20" name="Picture 19">
            <a:extLst>
              <a:ext uri="{FF2B5EF4-FFF2-40B4-BE49-F238E27FC236}">
                <a16:creationId xmlns:a16="http://schemas.microsoft.com/office/drawing/2014/main" id="{8100556B-F015-5BC4-0CFD-7B59782FE110}"/>
              </a:ext>
            </a:extLst>
          </p:cNvPr>
          <p:cNvPicPr>
            <a:picLocks noChangeAspect="1"/>
          </p:cNvPicPr>
          <p:nvPr/>
        </p:nvPicPr>
        <p:blipFill>
          <a:blip r:embed="rId7"/>
          <a:stretch>
            <a:fillRect/>
          </a:stretch>
        </p:blipFill>
        <p:spPr>
          <a:xfrm>
            <a:off x="6966056" y="1026049"/>
            <a:ext cx="3432109" cy="1686390"/>
          </a:xfrm>
          <a:prstGeom prst="rect">
            <a:avLst/>
          </a:prstGeom>
          <a:ln w="19050">
            <a:solidFill>
              <a:schemeClr val="accent4">
                <a:shade val="15000"/>
              </a:schemeClr>
            </a:solidFill>
          </a:ln>
        </p:spPr>
      </p:pic>
      <p:sp>
        <p:nvSpPr>
          <p:cNvPr id="23" name="TextBox 22">
            <a:extLst>
              <a:ext uri="{FF2B5EF4-FFF2-40B4-BE49-F238E27FC236}">
                <a16:creationId xmlns:a16="http://schemas.microsoft.com/office/drawing/2014/main" id="{80BDCA69-93E4-424F-B17A-E24BB79FB028}"/>
              </a:ext>
            </a:extLst>
          </p:cNvPr>
          <p:cNvSpPr txBox="1"/>
          <p:nvPr/>
        </p:nvSpPr>
        <p:spPr>
          <a:xfrm>
            <a:off x="6968068" y="756957"/>
            <a:ext cx="3784600" cy="246221"/>
          </a:xfrm>
          <a:prstGeom prst="rect">
            <a:avLst/>
          </a:prstGeom>
          <a:noFill/>
        </p:spPr>
        <p:txBody>
          <a:bodyPr wrap="square">
            <a:spAutoFit/>
          </a:bodyPr>
          <a:lstStyle/>
          <a:p>
            <a:r>
              <a:rPr lang="en-AU" sz="1000" b="1"/>
              <a:t>high-degree nodes (potential hubs)</a:t>
            </a:r>
          </a:p>
        </p:txBody>
      </p:sp>
    </p:spTree>
    <p:extLst>
      <p:ext uri="{BB962C8B-B14F-4D97-AF65-F5344CB8AC3E}">
        <p14:creationId xmlns:p14="http://schemas.microsoft.com/office/powerpoint/2010/main" val="381271046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4AF0B5A9-9766-F5CD-E032-F4E8136C61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E1505D-889C-9BFD-9308-16948C31B0B5}"/>
              </a:ext>
            </a:extLst>
          </p:cNvPr>
          <p:cNvSpPr txBox="1"/>
          <p:nvPr/>
        </p:nvSpPr>
        <p:spPr>
          <a:xfrm>
            <a:off x="96384" y="90142"/>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solidFill>
                  <a:prstClr val="black"/>
                </a:solidFill>
                <a:effectLst/>
                <a:uLnTx/>
                <a:uFillTx/>
                <a:latin typeface="Calibri"/>
                <a:ea typeface="+mn-ea"/>
                <a:cs typeface="+mn-cs"/>
              </a:rPr>
              <a:t>Snowflake</a:t>
            </a:r>
            <a:r>
              <a:rPr kumimoji="0" sz="3000" b="1" i="0" u="none" strike="noStrike" kern="1200" cap="none" spc="0" normalizeH="0" baseline="0" noProof="0">
                <a:ln>
                  <a:noFill/>
                </a:ln>
                <a:solidFill>
                  <a:prstClr val="black"/>
                </a:solidFill>
                <a:effectLst/>
                <a:uLnTx/>
                <a:uFillTx/>
                <a:latin typeface="Calibri"/>
                <a:ea typeface="+mn-ea"/>
                <a:cs typeface="+mn-cs"/>
              </a:rPr>
              <a:t> </a:t>
            </a:r>
            <a:r>
              <a:rPr kumimoji="0" lang="en-AU" sz="3000" b="1" i="0" u="none" strike="noStrike" kern="1200" cap="none" spc="0" normalizeH="0" baseline="0" noProof="0">
                <a:ln>
                  <a:noFill/>
                </a:ln>
                <a:solidFill>
                  <a:prstClr val="black"/>
                </a:solidFill>
                <a:effectLst/>
                <a:uLnTx/>
                <a:uFillTx/>
                <a:latin typeface="Calibri"/>
                <a:ea typeface="+mn-ea"/>
                <a:cs typeface="+mn-cs"/>
              </a:rPr>
              <a:t>– POC Findings</a:t>
            </a:r>
            <a:endParaRPr kumimoji="0" sz="3000" b="1"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0C2243DA-9443-674D-673C-4281946028DC}"/>
              </a:ext>
            </a:extLst>
          </p:cNvPr>
          <p:cNvSpPr txBox="1"/>
          <p:nvPr/>
        </p:nvSpPr>
        <p:spPr>
          <a:xfrm>
            <a:off x="90035" y="577944"/>
            <a:ext cx="12005581" cy="2308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solidFill>
                  <a:prstClr val="black"/>
                </a:solidFill>
                <a:effectLst/>
                <a:uLnTx/>
                <a:uFillTx/>
                <a:latin typeface="Aptos" panose="02110004020202020204"/>
                <a:ea typeface="+mn-ea"/>
                <a:cs typeface="+mn-cs"/>
              </a:rPr>
              <a:t>The code for the setup, semantic models and cortex agent is all available here </a:t>
            </a:r>
            <a:r>
              <a:rPr kumimoji="0" lang="en-AU" sz="900" b="0" i="0" u="none" strike="noStrike" kern="1200" cap="none" spc="0" normalizeH="0" baseline="0" noProof="0">
                <a:ln>
                  <a:noFill/>
                </a:ln>
                <a:solidFill>
                  <a:prstClr val="black"/>
                </a:solidFill>
                <a:effectLst/>
                <a:uLnTx/>
                <a:uFillTx/>
                <a:latin typeface="Aptos" panose="02110004020202020204"/>
                <a:ea typeface="+mn-ea"/>
                <a:cs typeface="+mn-cs"/>
                <a:sym typeface="Wingdings" panose="05000000000000000000" pitchFamily="2" charset="2"/>
              </a:rPr>
              <a:t> </a:t>
            </a:r>
            <a:r>
              <a:rPr kumimoji="0" lang="en-AU" sz="900" b="0" i="0" u="none" strike="noStrike" kern="1200" cap="none" spc="0" normalizeH="0" baseline="0" noProof="0">
                <a:ln>
                  <a:noFill/>
                </a:ln>
                <a:solidFill>
                  <a:prstClr val="black"/>
                </a:solidFill>
                <a:effectLst/>
                <a:uLnTx/>
                <a:uFillTx/>
                <a:latin typeface="Aptos" panose="02110004020202020204"/>
                <a:ea typeface="+mn-ea"/>
                <a:cs typeface="+mn-cs"/>
                <a:hlinkClick r:id="rId4">
                  <a:extLst>
                    <a:ext uri="{A12FA001-AC4F-418D-AE19-62706E023703}">
                      <ahyp:hlinkClr xmlns:ahyp="http://schemas.microsoft.com/office/drawing/2018/hyperlinkcolor" val="tx"/>
                    </a:ext>
                  </a:extLst>
                </a:hlinkClick>
              </a:rPr>
              <a:t>Snowflake ML, Agentic Framework - CTO Strategy and Architecture - Westpac Enterprise Confluence</a:t>
            </a:r>
            <a:endParaRPr kumimoji="0" lang="en-AU" sz="9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1898B8BD-5269-BD64-9FF1-657484BEA2F6}"/>
              </a:ext>
            </a:extLst>
          </p:cNvPr>
          <p:cNvSpPr txBox="1"/>
          <p:nvPr/>
        </p:nvSpPr>
        <p:spPr>
          <a:xfrm>
            <a:off x="130313" y="4308680"/>
            <a:ext cx="11892354" cy="2410916"/>
          </a:xfrm>
          <a:prstGeom prst="rect">
            <a:avLst/>
          </a:prstGeom>
          <a:noFill/>
          <a:ln>
            <a:solidFill>
              <a:schemeClr val="tx1"/>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solidFill>
                  <a:prstClr val="black"/>
                </a:solidFill>
                <a:effectLst/>
                <a:uLnTx/>
                <a:uFillTx/>
                <a:latin typeface="Aptos Display" panose="02110004020202020204"/>
                <a:ea typeface="+mn-ea"/>
                <a:cs typeface="+mn-cs"/>
              </a:rPr>
              <a:t>Costing → Production stats for DATA INGRESS (IN PRODUCTION)</a:t>
            </a:r>
            <a:br>
              <a:rPr kumimoji="0" lang="en-AU" sz="900" b="1" i="0" u="none"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b="1" i="0" u="sng" strike="noStrike" kern="1200" cap="none" spc="0" normalizeH="0" baseline="0" noProof="0">
                <a:ln>
                  <a:noFill/>
                </a:ln>
                <a:solidFill>
                  <a:prstClr val="black"/>
                </a:solidFill>
                <a:effectLst/>
                <a:uLnTx/>
                <a:uFillTx/>
                <a:latin typeface="Aptos Display" panose="02110004020202020204"/>
                <a:ea typeface="+mn-ea"/>
                <a:cs typeface="+mn-cs"/>
              </a:rPr>
              <a:t>One-Off data load  - Time taken – 9 hrs</a:t>
            </a:r>
            <a:br>
              <a:rPr kumimoji="0" lang="en-AU" sz="900" b="1" i="0" u="sng"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31 mil customers + 42mil accounts + Other data = 500GB + Transactions (13 months of </a:t>
            </a:r>
            <a:r>
              <a:rPr kumimoji="0" lang="en-AU" sz="900" i="0" u="none" strike="noStrike" kern="1200" cap="none" spc="0" normalizeH="0" baseline="0" noProof="0" err="1">
                <a:ln>
                  <a:noFill/>
                </a:ln>
                <a:solidFill>
                  <a:prstClr val="black"/>
                </a:solidFill>
                <a:effectLst/>
                <a:uLnTx/>
                <a:uFillTx/>
                <a:latin typeface="Aptos Display" panose="02110004020202020204"/>
                <a:ea typeface="+mn-ea"/>
                <a:cs typeface="+mn-cs"/>
              </a:rPr>
              <a:t>txn</a:t>
            </a: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 = ~30TB &lt;~ 38M / day&gt;</a:t>
            </a:r>
            <a:b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i="0" u="sng" strike="noStrike" kern="1200" cap="none" spc="0" normalizeH="0" baseline="0" noProof="0">
                <a:ln>
                  <a:noFill/>
                </a:ln>
                <a:solidFill>
                  <a:prstClr val="black"/>
                </a:solidFill>
                <a:effectLst/>
                <a:uLnTx/>
                <a:uFillTx/>
                <a:latin typeface="Aptos Display" panose="02110004020202020204"/>
                <a:ea typeface="+mn-ea"/>
                <a:cs typeface="+mn-cs"/>
              </a:rPr>
              <a:t>Cost</a:t>
            </a: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 = $5K USD (one-off) based on 1*4XL</a:t>
            </a:r>
          </a:p>
          <a:p>
            <a:pPr marL="0" marR="0" lvl="0" indent="0" algn="l" defTabSz="457200" rtl="0" eaLnBrk="1" fontAlgn="auto" latinLnBrk="0" hangingPunct="1">
              <a:lnSpc>
                <a:spcPct val="100000"/>
              </a:lnSpc>
              <a:spcBef>
                <a:spcPts val="750"/>
              </a:spcBef>
              <a:spcAft>
                <a:spcPts val="0"/>
              </a:spcAft>
              <a:buClrTx/>
              <a:buSzTx/>
              <a:buFontTx/>
              <a:buNone/>
              <a:tabLst/>
              <a:defRPr/>
            </a:pPr>
            <a:r>
              <a:rPr kumimoji="0" lang="en-AU" sz="900" b="1" i="0" u="sng" strike="noStrike" kern="1200" cap="none" spc="0" normalizeH="0" baseline="0" noProof="0">
                <a:ln>
                  <a:noFill/>
                </a:ln>
                <a:solidFill>
                  <a:prstClr val="black"/>
                </a:solidFill>
                <a:effectLst/>
                <a:uLnTx/>
                <a:uFillTx/>
                <a:latin typeface="Aptos Display" panose="02110004020202020204"/>
                <a:ea typeface="+mn-ea"/>
                <a:cs typeface="+mn-cs"/>
              </a:rPr>
              <a:t>Daily workload – 3 hr</a:t>
            </a:r>
            <a:br>
              <a:rPr kumimoji="0" lang="en-AU" sz="900" b="1" i="0" u="sng"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31 mil customers + 42mil accounts + Other data = 500GB + &lt;daily full load of </a:t>
            </a:r>
            <a:r>
              <a:rPr kumimoji="0" lang="en-AU" sz="900" i="0" u="none" strike="noStrike" kern="1200" cap="none" spc="0" normalizeH="0" baseline="0" noProof="0" err="1">
                <a:ln>
                  <a:noFill/>
                </a:ln>
                <a:solidFill>
                  <a:prstClr val="black"/>
                </a:solidFill>
                <a:effectLst/>
                <a:uLnTx/>
                <a:uFillTx/>
                <a:latin typeface="Aptos Display" panose="02110004020202020204"/>
                <a:ea typeface="+mn-ea"/>
                <a:cs typeface="+mn-cs"/>
              </a:rPr>
              <a:t>cust</a:t>
            </a: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 and account&gt; + Transactions (~38mil </a:t>
            </a:r>
            <a:r>
              <a:rPr kumimoji="0" lang="en-AU" sz="900" i="0" u="none" strike="noStrike" kern="1200" cap="none" spc="0" normalizeH="0" baseline="0" noProof="0" err="1">
                <a:ln>
                  <a:noFill/>
                </a:ln>
                <a:solidFill>
                  <a:prstClr val="black"/>
                </a:solidFill>
                <a:effectLst/>
                <a:uLnTx/>
                <a:uFillTx/>
                <a:latin typeface="Aptos Display" panose="02110004020202020204"/>
                <a:ea typeface="+mn-ea"/>
                <a:cs typeface="+mn-cs"/>
              </a:rPr>
              <a:t>txn</a:t>
            </a: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 </a:t>
            </a:r>
            <a:b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i="0" u="sng" strike="noStrike" kern="1200" cap="none" spc="0" normalizeH="0" baseline="0" noProof="0">
                <a:ln>
                  <a:noFill/>
                </a:ln>
                <a:solidFill>
                  <a:prstClr val="black"/>
                </a:solidFill>
                <a:effectLst/>
                <a:uLnTx/>
                <a:uFillTx/>
                <a:latin typeface="Aptos Display" panose="02110004020202020204"/>
                <a:ea typeface="+mn-ea"/>
                <a:cs typeface="+mn-cs"/>
              </a:rPr>
              <a:t>Cost</a:t>
            </a: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 = $20 K / Yr USD based on 1*M</a:t>
            </a:r>
            <a:b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b="1" i="0" u="none" strike="noStrike" kern="1200" cap="none" spc="0" normalizeH="0" baseline="0" noProof="0">
                <a:ln>
                  <a:noFill/>
                </a:ln>
                <a:solidFill>
                  <a:prstClr val="black"/>
                </a:solidFill>
                <a:effectLst/>
                <a:uLnTx/>
                <a:uFillTx/>
                <a:latin typeface="Aptos Display" panose="02110004020202020204"/>
                <a:ea typeface="+mn-ea"/>
                <a:cs typeface="+mn-cs"/>
              </a:rPr>
              <a:t>-------------------------------------------------------------------------------------------------------------------------------------------------------------------------------------------------------------------------------------------------------------------------------------</a:t>
            </a:r>
            <a:br>
              <a:rPr kumimoji="0" lang="en-AU" sz="900" b="1" i="0" u="none"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b="1" i="0" u="none" strike="noStrike" kern="1200" cap="none" spc="0" normalizeH="0" baseline="0" noProof="0">
                <a:ln>
                  <a:noFill/>
                </a:ln>
                <a:solidFill>
                  <a:prstClr val="black"/>
                </a:solidFill>
                <a:effectLst/>
                <a:uLnTx/>
                <a:uFillTx/>
                <a:latin typeface="Aptos Display" panose="02110004020202020204"/>
                <a:ea typeface="+mn-ea"/>
                <a:cs typeface="+mn-cs"/>
              </a:rPr>
              <a:t>Costing → Production stats for DATA ANALYSIS / MODEL EXECUTION  (NOT IN PRODUCTION YET)</a:t>
            </a:r>
            <a:br>
              <a:rPr kumimoji="0" lang="en-AU" sz="900" b="1" i="0" u="none"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i="0" u="sng" strike="noStrike" kern="1200" cap="none" spc="0" normalizeH="0" baseline="0" noProof="0">
                <a:ln>
                  <a:noFill/>
                </a:ln>
                <a:solidFill>
                  <a:prstClr val="black"/>
                </a:solidFill>
                <a:effectLst/>
                <a:uLnTx/>
                <a:uFillTx/>
                <a:latin typeface="Aptos Display" panose="02110004020202020204"/>
                <a:ea typeface="+mn-ea"/>
                <a:cs typeface="+mn-cs"/>
              </a:rPr>
              <a:t>Cost</a:t>
            </a: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 = USD $310K / yr  (80 models using data above)</a:t>
            </a:r>
            <a:b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i="0" u="sng" strike="noStrike" kern="1200" cap="none" spc="0" normalizeH="0" baseline="0" noProof="0">
                <a:ln>
                  <a:noFill/>
                </a:ln>
                <a:solidFill>
                  <a:prstClr val="black"/>
                </a:solidFill>
                <a:effectLst/>
                <a:uLnTx/>
                <a:uFillTx/>
                <a:latin typeface="Aptos Display" panose="02110004020202020204"/>
                <a:ea typeface="+mn-ea"/>
                <a:cs typeface="+mn-cs"/>
              </a:rPr>
              <a:t>Breakdown</a:t>
            </a:r>
            <a:br>
              <a:rPr kumimoji="0" lang="en-AU" sz="900" i="0" u="sng"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Feature Engineering - credit 17,676</a:t>
            </a:r>
            <a:b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ML Training (HIGHMEM_X64_L - compute pool) - credit 7,856</a:t>
            </a:r>
            <a:b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ML Inference - credit 35,352</a:t>
            </a:r>
            <a:b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ML Evaluation &amp; Observability on 80 models - credit 4,419</a:t>
            </a:r>
            <a:b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br>
            <a:r>
              <a:rPr kumimoji="0" lang="en-AU" sz="900" i="0" u="none" strike="noStrike" kern="1200" cap="none" spc="0" normalizeH="0" baseline="0" noProof="0">
                <a:ln>
                  <a:noFill/>
                </a:ln>
                <a:solidFill>
                  <a:prstClr val="black"/>
                </a:solidFill>
                <a:effectLst/>
                <a:uLnTx/>
                <a:uFillTx/>
                <a:latin typeface="Aptos Display" panose="02110004020202020204"/>
                <a:ea typeface="+mn-ea"/>
                <a:cs typeface="+mn-cs"/>
              </a:rPr>
              <a:t>All credits add up to ~65,300 *4.73 </a:t>
            </a:r>
          </a:p>
        </p:txBody>
      </p:sp>
      <p:sp>
        <p:nvSpPr>
          <p:cNvPr id="14" name="TextBox 13">
            <a:extLst>
              <a:ext uri="{FF2B5EF4-FFF2-40B4-BE49-F238E27FC236}">
                <a16:creationId xmlns:a16="http://schemas.microsoft.com/office/drawing/2014/main" id="{CEDF9467-E6CC-1D7B-C89A-AA8839707BD4}"/>
              </a:ext>
            </a:extLst>
          </p:cNvPr>
          <p:cNvSpPr txBox="1"/>
          <p:nvPr/>
        </p:nvSpPr>
        <p:spPr>
          <a:xfrm>
            <a:off x="8817050" y="6293147"/>
            <a:ext cx="3506999" cy="246221"/>
          </a:xfrm>
          <a:prstGeom prst="rect">
            <a:avLst/>
          </a:prstGeom>
          <a:noFill/>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solidFill>
                  <a:prstClr val="black"/>
                </a:solidFill>
                <a:effectLst/>
                <a:uLnTx/>
                <a:uFillTx/>
                <a:latin typeface="Mona Sans VF"/>
                <a:ea typeface="+mn-ea"/>
                <a:cs typeface="+mn-cs"/>
              </a:rPr>
              <a:t>Costings have been reviewed and released by vendor</a:t>
            </a:r>
            <a:endParaRPr kumimoji="0" lang="en-AU" sz="1000" b="1" i="0" u="none" strike="noStrike" kern="1200" cap="none" spc="0" normalizeH="0" baseline="0" noProof="0">
              <a:ln>
                <a:noFill/>
              </a:ln>
              <a:solidFill>
                <a:prstClr val="black"/>
              </a:solidFill>
              <a:effectLst/>
              <a:uLnTx/>
              <a:uFillTx/>
              <a:latin typeface="Aptos" panose="02110004020202020204"/>
              <a:ea typeface="+mn-ea"/>
              <a:cs typeface="+mn-cs"/>
            </a:endParaRPr>
          </a:p>
        </p:txBody>
      </p:sp>
      <p:graphicFrame>
        <p:nvGraphicFramePr>
          <p:cNvPr id="2" name="Table 1">
            <a:extLst>
              <a:ext uri="{FF2B5EF4-FFF2-40B4-BE49-F238E27FC236}">
                <a16:creationId xmlns:a16="http://schemas.microsoft.com/office/drawing/2014/main" id="{DB1FCBE6-50B5-D637-0D45-11443733963E}"/>
              </a:ext>
            </a:extLst>
          </p:cNvPr>
          <p:cNvGraphicFramePr>
            <a:graphicFrameLocks noGrp="1"/>
          </p:cNvGraphicFramePr>
          <p:nvPr>
            <p:extLst>
              <p:ext uri="{D42A27DB-BD31-4B8C-83A1-F6EECF244321}">
                <p14:modId xmlns:p14="http://schemas.microsoft.com/office/powerpoint/2010/main" val="339148879"/>
              </p:ext>
            </p:extLst>
          </p:nvPr>
        </p:nvGraphicFramePr>
        <p:xfrm>
          <a:off x="155713" y="878821"/>
          <a:ext cx="9682556" cy="3169920"/>
        </p:xfrm>
        <a:graphic>
          <a:graphicData uri="http://schemas.openxmlformats.org/drawingml/2006/table">
            <a:tbl>
              <a:tblPr/>
              <a:tblGrid>
                <a:gridCol w="3010531">
                  <a:extLst>
                    <a:ext uri="{9D8B030D-6E8A-4147-A177-3AD203B41FA5}">
                      <a16:colId xmlns:a16="http://schemas.microsoft.com/office/drawing/2014/main" val="3861760677"/>
                    </a:ext>
                  </a:extLst>
                </a:gridCol>
                <a:gridCol w="1333910">
                  <a:extLst>
                    <a:ext uri="{9D8B030D-6E8A-4147-A177-3AD203B41FA5}">
                      <a16:colId xmlns:a16="http://schemas.microsoft.com/office/drawing/2014/main" val="1088820320"/>
                    </a:ext>
                  </a:extLst>
                </a:gridCol>
                <a:gridCol w="1303977">
                  <a:extLst>
                    <a:ext uri="{9D8B030D-6E8A-4147-A177-3AD203B41FA5}">
                      <a16:colId xmlns:a16="http://schemas.microsoft.com/office/drawing/2014/main" val="1649733487"/>
                    </a:ext>
                  </a:extLst>
                </a:gridCol>
                <a:gridCol w="1326712">
                  <a:extLst>
                    <a:ext uri="{9D8B030D-6E8A-4147-A177-3AD203B41FA5}">
                      <a16:colId xmlns:a16="http://schemas.microsoft.com/office/drawing/2014/main" val="3852525086"/>
                    </a:ext>
                  </a:extLst>
                </a:gridCol>
                <a:gridCol w="1360818">
                  <a:extLst>
                    <a:ext uri="{9D8B030D-6E8A-4147-A177-3AD203B41FA5}">
                      <a16:colId xmlns:a16="http://schemas.microsoft.com/office/drawing/2014/main" val="135918506"/>
                    </a:ext>
                  </a:extLst>
                </a:gridCol>
                <a:gridCol w="1346608">
                  <a:extLst>
                    <a:ext uri="{9D8B030D-6E8A-4147-A177-3AD203B41FA5}">
                      <a16:colId xmlns:a16="http://schemas.microsoft.com/office/drawing/2014/main" val="2316267030"/>
                    </a:ext>
                  </a:extLst>
                </a:gridCol>
              </a:tblGrid>
              <a:tr h="0">
                <a:tc>
                  <a:txBody>
                    <a:bodyPr/>
                    <a:lstStyle/>
                    <a:p>
                      <a:pPr indent="0" algn="l">
                        <a:buNone/>
                      </a:pPr>
                      <a:r>
                        <a:rPr lang="en-AU" sz="900" b="1" i="0">
                          <a:effectLst/>
                          <a:latin typeface="Inter"/>
                        </a:rPr>
                        <a:t>Procedure Name ***</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pPr indent="0" algn="l">
                        <a:buNone/>
                      </a:pPr>
                      <a:r>
                        <a:rPr lang="en-AU" sz="900" b="1" i="0">
                          <a:effectLst/>
                          <a:latin typeface="Inter"/>
                        </a:rPr>
                        <a:t>Executions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pPr indent="0" algn="l">
                        <a:buNone/>
                      </a:pPr>
                      <a:r>
                        <a:rPr lang="en-AU" sz="900" b="1" i="0">
                          <a:effectLst/>
                          <a:latin typeface="Inter"/>
                        </a:rPr>
                        <a:t>Avg Time (s)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pPr indent="0" algn="l">
                        <a:buNone/>
                      </a:pPr>
                      <a:r>
                        <a:rPr lang="en-AU" sz="900" b="1" i="0">
                          <a:effectLst/>
                          <a:latin typeface="Inter"/>
                        </a:rPr>
                        <a:t>Min Time (s)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pPr indent="0" algn="l">
                        <a:buNone/>
                      </a:pPr>
                      <a:r>
                        <a:rPr lang="en-AU" sz="900" b="1" i="0">
                          <a:effectLst/>
                          <a:latin typeface="Inter"/>
                        </a:rPr>
                        <a:t>Max Time (s)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pPr indent="0" algn="l">
                        <a:buNone/>
                      </a:pPr>
                      <a:r>
                        <a:rPr lang="en-AU" sz="900" b="1" i="0">
                          <a:effectLst/>
                          <a:latin typeface="Inter"/>
                        </a:rPr>
                        <a:t> Credits Consumed</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1451011935"/>
                  </a:ext>
                </a:extLst>
              </a:tr>
              <a:tr h="181189">
                <a:tc>
                  <a:txBody>
                    <a:bodyPr/>
                    <a:lstStyle/>
                    <a:p>
                      <a:pPr indent="0" algn="l">
                        <a:buNone/>
                      </a:pPr>
                      <a:r>
                        <a:rPr lang="en-AU" sz="900" b="1" i="0">
                          <a:effectLst/>
                          <a:latin typeface="Inter"/>
                        </a:rPr>
                        <a:t>FAN-IN</a:t>
                      </a:r>
                      <a:br>
                        <a:rPr lang="en-AU" sz="900" b="1" i="0">
                          <a:effectLst/>
                          <a:latin typeface="Inter"/>
                        </a:rPr>
                      </a:br>
                      <a:r>
                        <a:rPr lang="en-AU" sz="900" b="0" i="0">
                          <a:effectLst/>
                          <a:latin typeface="Inter"/>
                        </a:rPr>
                        <a:t>ACROSS ALL NODE TYPES, THRESHOLD = 1,3,5,7</a:t>
                      </a:r>
                      <a:endParaRPr lang="en-AU" sz="900" b="1" i="0">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5</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5.36</a:t>
                      </a:r>
                      <a:endParaRPr lang="en-AU" sz="900" b="1" i="0">
                        <a:solidFill>
                          <a:schemeClr val="tx1"/>
                        </a:solidFill>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1.82</a:t>
                      </a:r>
                      <a:endParaRPr lang="en-AU" sz="900" b="1" i="0">
                        <a:solidFill>
                          <a:schemeClr val="tx1"/>
                        </a:solidFill>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18.41</a:t>
                      </a:r>
                      <a:endParaRPr lang="en-AU" sz="900" b="1" i="0">
                        <a:solidFill>
                          <a:schemeClr val="tx1"/>
                        </a:solidFill>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0.0002</a:t>
                      </a:r>
                      <a:endParaRPr lang="en-AU" sz="900" b="1" i="0">
                        <a:solidFill>
                          <a:schemeClr val="tx1"/>
                        </a:solidFill>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560492876"/>
                  </a:ext>
                </a:extLst>
              </a:tr>
              <a:tr h="181189">
                <a:tc>
                  <a:txBody>
                    <a:bodyPr/>
                    <a:lstStyle/>
                    <a:p>
                      <a:pPr indent="0" algn="l">
                        <a:buNone/>
                      </a:pPr>
                      <a:r>
                        <a:rPr lang="en-AU" sz="900" b="1" i="0">
                          <a:effectLst/>
                          <a:latin typeface="Inter"/>
                        </a:rPr>
                        <a:t>FAN-OUT</a:t>
                      </a:r>
                      <a:br>
                        <a:rPr lang="en-AU" sz="900" b="1" i="0">
                          <a:effectLst/>
                          <a:latin typeface="Inter"/>
                        </a:rPr>
                      </a:br>
                      <a:r>
                        <a:rPr lang="en-AU" sz="900" b="0" i="0">
                          <a:effectLst/>
                          <a:latin typeface="Inter"/>
                        </a:rPr>
                        <a:t>ACROSS ALL NODE TYPES, THRESHOLD = 3</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4</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1.634</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1.019</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2.684</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0.000401</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76888136"/>
                  </a:ext>
                </a:extLst>
              </a:tr>
              <a:tr h="181189">
                <a:tc>
                  <a:txBody>
                    <a:bodyPr/>
                    <a:lstStyle/>
                    <a:p>
                      <a:pPr indent="0" algn="l">
                        <a:buNone/>
                      </a:pPr>
                      <a:r>
                        <a:rPr lang="en-AU" sz="900" b="1" i="0">
                          <a:effectLst/>
                          <a:latin typeface="Inter"/>
                        </a:rPr>
                        <a:t>CLUSTER_DETECTION</a:t>
                      </a:r>
                      <a:br>
                        <a:rPr lang="en-AU" sz="900" b="1" i="0">
                          <a:effectLst/>
                          <a:latin typeface="Inter"/>
                        </a:rPr>
                      </a:br>
                      <a:r>
                        <a:rPr lang="en-AU" sz="900" b="0" i="0">
                          <a:effectLst/>
                          <a:latin typeface="Inter"/>
                        </a:rPr>
                        <a:t>300k + MIN_CLUSTER_SIZE = 3</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1</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15.992</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15.992</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15.992</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0.000046</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966374881"/>
                  </a:ext>
                </a:extLst>
              </a:tr>
              <a:tr h="181189">
                <a:tc>
                  <a:txBody>
                    <a:bodyPr/>
                    <a:lstStyle/>
                    <a:p>
                      <a:pPr indent="0" algn="l">
                        <a:buNone/>
                      </a:pPr>
                      <a:r>
                        <a:rPr lang="en-AU" sz="900" b="1" i="0">
                          <a:effectLst/>
                          <a:latin typeface="Inter"/>
                        </a:rPr>
                        <a:t>CLUSTER_DETECTION_OPTIMIZED</a:t>
                      </a:r>
                      <a:br>
                        <a:rPr lang="en-AU" sz="900" b="1" i="0">
                          <a:effectLst/>
                          <a:latin typeface="Inter"/>
                        </a:rPr>
                      </a:br>
                      <a:r>
                        <a:rPr lang="en-AU" sz="900" b="0" i="0">
                          <a:effectLst/>
                          <a:latin typeface="Inter"/>
                        </a:rPr>
                        <a:t>500k + MIN_CLUSTER_SIZE = 3</a:t>
                      </a:r>
                      <a:endParaRPr lang="en-AU" sz="900" b="1" i="0">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2</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5.86</a:t>
                      </a:r>
                      <a:endParaRPr lang="en-AU" sz="900" b="1" i="0">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4.93</a:t>
                      </a:r>
                      <a:endParaRPr lang="en-AU" sz="900" b="1" i="0">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6.78</a:t>
                      </a:r>
                      <a:endParaRPr lang="en-AU" sz="900" b="1" i="0">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0.0001</a:t>
                      </a:r>
                      <a:endParaRPr lang="en-AU" sz="900" b="1" i="0">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635038391"/>
                  </a:ext>
                </a:extLst>
              </a:tr>
              <a:tr h="181189">
                <a:tc>
                  <a:txBody>
                    <a:bodyPr/>
                    <a:lstStyle/>
                    <a:p>
                      <a:pPr indent="0" algn="l">
                        <a:buNone/>
                      </a:pPr>
                      <a:r>
                        <a:rPr lang="en-AU" sz="900" b="1" i="0">
                          <a:effectLst/>
                          <a:latin typeface="Inter"/>
                        </a:rPr>
                        <a:t>DEEP_TRAVERSAL</a:t>
                      </a:r>
                      <a:br>
                        <a:rPr lang="en-AU" sz="900" b="1" i="0">
                          <a:effectLst/>
                          <a:latin typeface="Inter"/>
                        </a:rPr>
                      </a:br>
                      <a:r>
                        <a:rPr lang="en-AU" sz="900" b="0" i="0">
                          <a:effectLst/>
                          <a:latin typeface="Inter"/>
                        </a:rPr>
                        <a:t>CUSTOMER - 10*HOPS</a:t>
                      </a:r>
                      <a:endParaRPr lang="en-AU" sz="900" b="1" i="0">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1</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8.829</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8.829</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8.829</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0.000181</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396045731"/>
                  </a:ext>
                </a:extLst>
              </a:tr>
              <a:tr h="181189">
                <a:tc>
                  <a:txBody>
                    <a:bodyPr/>
                    <a:lstStyle/>
                    <a:p>
                      <a:pPr indent="0" algn="l">
                        <a:buNone/>
                      </a:pPr>
                      <a:r>
                        <a:rPr lang="en-AU" sz="900" b="1" i="0">
                          <a:effectLst/>
                          <a:latin typeface="Inter"/>
                        </a:rPr>
                        <a:t>DEEP_TRAVERSAL_OPTIMIZED</a:t>
                      </a:r>
                      <a:br>
                        <a:rPr lang="en-AU" sz="900" b="1" i="0">
                          <a:effectLst/>
                          <a:latin typeface="Inter"/>
                        </a:rPr>
                      </a:br>
                      <a:r>
                        <a:rPr lang="en-AU" sz="900" b="0" i="0">
                          <a:effectLst/>
                          <a:latin typeface="Inter"/>
                        </a:rPr>
                        <a:t>CUSTOMER - 10*HOPS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3</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11.883</a:t>
                      </a:r>
                      <a:endParaRPr lang="en-AU" sz="900" b="1" i="0">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4.697</a:t>
                      </a:r>
                      <a:endParaRPr lang="en-AU" sz="900" b="1" i="0">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16.386</a:t>
                      </a:r>
                      <a:endParaRPr lang="en-AU" sz="900" b="1" i="0">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0.000112</a:t>
                      </a:r>
                      <a:endParaRPr lang="en-AU" sz="900" b="1" i="0">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877056287"/>
                  </a:ext>
                </a:extLst>
              </a:tr>
              <a:tr h="243908">
                <a:tc>
                  <a:txBody>
                    <a:bodyPr/>
                    <a:lstStyle/>
                    <a:p>
                      <a:pPr indent="0" algn="l">
                        <a:buNone/>
                      </a:pPr>
                      <a:r>
                        <a:rPr lang="en-AU" sz="900" b="1" i="0" kern="1200">
                          <a:solidFill>
                            <a:schemeClr val="tx1"/>
                          </a:solidFill>
                          <a:effectLst/>
                          <a:latin typeface="Inter"/>
                          <a:ea typeface="+mn-ea"/>
                          <a:cs typeface="+mn-cs"/>
                        </a:rPr>
                        <a:t>SHARED_DEVICE_NETWORK_DETECTION</a:t>
                      </a:r>
                      <a:br>
                        <a:rPr lang="en-AU" sz="900" b="1" i="0" kern="1200">
                          <a:solidFill>
                            <a:schemeClr val="tx1"/>
                          </a:solidFill>
                          <a:effectLst/>
                          <a:latin typeface="Inter"/>
                          <a:ea typeface="+mn-ea"/>
                          <a:cs typeface="+mn-cs"/>
                        </a:rPr>
                      </a:br>
                      <a:r>
                        <a:rPr lang="en-AU" sz="900" b="0" i="0" kern="1200">
                          <a:solidFill>
                            <a:schemeClr val="tx1"/>
                          </a:solidFill>
                          <a:effectLst/>
                          <a:latin typeface="Inter"/>
                          <a:ea typeface="+mn-ea"/>
                          <a:cs typeface="+mn-cs"/>
                        </a:rPr>
                        <a:t>MIN_SHARED_USERS / MIN_NETWORK_SIZE = (2,3)</a:t>
                      </a:r>
                      <a:br>
                        <a:rPr lang="en-AU" sz="900" b="0" i="0" kern="1200">
                          <a:solidFill>
                            <a:schemeClr val="tx1"/>
                          </a:solidFill>
                          <a:effectLst/>
                          <a:latin typeface="Inter"/>
                          <a:ea typeface="+mn-ea"/>
                          <a:cs typeface="+mn-cs"/>
                        </a:rPr>
                      </a:br>
                      <a:r>
                        <a:rPr lang="en-AU" sz="900" b="0" i="0" kern="1200">
                          <a:solidFill>
                            <a:schemeClr val="tx1"/>
                          </a:solidFill>
                          <a:effectLst/>
                          <a:latin typeface="Inter"/>
                          <a:ea typeface="+mn-ea"/>
                          <a:cs typeface="+mn-cs"/>
                        </a:rPr>
                        <a:t>MIN_SHARED_USERS / MIN_NETWORK_SIZE = (3,5)</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a:effectLst/>
                          <a:latin typeface="Inter"/>
                        </a:rPr>
                        <a:t>2</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3.24</a:t>
                      </a:r>
                      <a:endParaRPr lang="en-AU" sz="900" b="1" i="0">
                        <a:solidFill>
                          <a:schemeClr val="tx1"/>
                        </a:solidFill>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2.75</a:t>
                      </a:r>
                      <a:endParaRPr lang="en-AU" sz="900" b="1" i="0">
                        <a:solidFill>
                          <a:schemeClr val="tx1"/>
                        </a:solidFill>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3.74</a:t>
                      </a:r>
                      <a:endParaRPr lang="en-AU" sz="900" b="1" i="0">
                        <a:solidFill>
                          <a:schemeClr val="tx1"/>
                        </a:solidFill>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indent="0" algn="l">
                        <a:buNone/>
                      </a:pPr>
                      <a:r>
                        <a:rPr lang="en-AU" sz="900" b="1" i="0" kern="1200">
                          <a:solidFill>
                            <a:schemeClr val="tx1"/>
                          </a:solidFill>
                          <a:effectLst/>
                          <a:latin typeface="Inter"/>
                          <a:ea typeface="+mn-ea"/>
                          <a:cs typeface="+mn-cs"/>
                        </a:rPr>
                        <a:t>0.0001</a:t>
                      </a:r>
                      <a:endParaRPr lang="en-AU" sz="900" b="1" i="0">
                        <a:solidFill>
                          <a:schemeClr val="tx1"/>
                        </a:solidFill>
                        <a:effectLst/>
                        <a:latin typeface="Inter"/>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656848464"/>
                  </a:ext>
                </a:extLst>
              </a:tr>
            </a:tbl>
          </a:graphicData>
        </a:graphic>
      </p:graphicFrame>
      <p:sp>
        <p:nvSpPr>
          <p:cNvPr id="9" name="TextBox 8">
            <a:extLst>
              <a:ext uri="{FF2B5EF4-FFF2-40B4-BE49-F238E27FC236}">
                <a16:creationId xmlns:a16="http://schemas.microsoft.com/office/drawing/2014/main" id="{9090E1F0-FB27-8701-894B-E45730AD12F6}"/>
              </a:ext>
            </a:extLst>
          </p:cNvPr>
          <p:cNvSpPr txBox="1"/>
          <p:nvPr/>
        </p:nvSpPr>
        <p:spPr>
          <a:xfrm>
            <a:off x="9906002" y="840375"/>
            <a:ext cx="1969421" cy="553998"/>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AU" sz="1000" b="1">
                <a:solidFill>
                  <a:prstClr val="black"/>
                </a:solidFill>
                <a:latin typeface="Mona Sans VF"/>
              </a:rPr>
              <a:t>*** Each credit has a multiplication factor of 4.73 (costs in USD)</a:t>
            </a:r>
            <a:endParaRPr kumimoji="0" lang="en-AU" sz="1000" b="1"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E26C51CC-8B97-D431-6E64-7347B42D2FD4}"/>
              </a:ext>
            </a:extLst>
          </p:cNvPr>
          <p:cNvSpPr txBox="1"/>
          <p:nvPr/>
        </p:nvSpPr>
        <p:spPr>
          <a:xfrm>
            <a:off x="9918618" y="3018156"/>
            <a:ext cx="1969421" cy="1015663"/>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AU" sz="1000" i="0" u="none" strike="noStrike" kern="1200" cap="none" spc="0" normalizeH="0" baseline="0" noProof="0">
                <a:ln>
                  <a:noFill/>
                </a:ln>
                <a:solidFill>
                  <a:prstClr val="black"/>
                </a:solidFill>
                <a:effectLst/>
                <a:uLnTx/>
                <a:uFillTx/>
                <a:latin typeface="Mona Sans VF"/>
                <a:ea typeface="+mn-ea"/>
                <a:cs typeface="+mn-cs"/>
              </a:rPr>
              <a:t>Each procedure </a:t>
            </a:r>
            <a:r>
              <a:rPr lang="en-AU" sz="1000">
                <a:solidFill>
                  <a:prstClr val="black"/>
                </a:solidFill>
                <a:latin typeface="Mona Sans VF"/>
              </a:rPr>
              <a:t>can be</a:t>
            </a:r>
            <a:r>
              <a:rPr kumimoji="0" lang="en-AU" sz="1000" i="0" u="none" strike="noStrike" kern="1200" cap="none" spc="0" normalizeH="0" baseline="0" noProof="0">
                <a:ln>
                  <a:noFill/>
                </a:ln>
                <a:solidFill>
                  <a:prstClr val="black"/>
                </a:solidFill>
                <a:effectLst/>
                <a:uLnTx/>
                <a:uFillTx/>
                <a:latin typeface="Mona Sans VF"/>
                <a:ea typeface="+mn-ea"/>
                <a:cs typeface="+mn-cs"/>
              </a:rPr>
              <a:t> dynamically invoked with a feature output table name, threshold/hops and node / edge types as parameters (as applicable)</a:t>
            </a:r>
            <a:endParaRPr kumimoji="0" lang="en-AU" sz="100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467534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EA3FD6EF-AB3D-5296-47C1-FC4C4FD4F797}"/>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41DA3AD9-4786-89FC-7515-0C23676E6A10}"/>
              </a:ext>
            </a:extLst>
          </p:cNvPr>
          <p:cNvGraphicFramePr>
            <a:graphicFrameLocks noGrp="1"/>
          </p:cNvGraphicFramePr>
          <p:nvPr>
            <p:extLst>
              <p:ext uri="{D42A27DB-BD31-4B8C-83A1-F6EECF244321}">
                <p14:modId xmlns:p14="http://schemas.microsoft.com/office/powerpoint/2010/main" val="3875217224"/>
              </p:ext>
            </p:extLst>
          </p:nvPr>
        </p:nvGraphicFramePr>
        <p:xfrm>
          <a:off x="310296" y="1173400"/>
          <a:ext cx="4913637" cy="4267726"/>
        </p:xfrm>
        <a:graphic>
          <a:graphicData uri="http://schemas.openxmlformats.org/drawingml/2006/table">
            <a:tbl>
              <a:tblPr firstRow="1" bandRow="1">
                <a:tableStyleId>{5C22544A-7EE6-4342-B048-85BDC9FD1C3A}</a:tableStyleId>
              </a:tblPr>
              <a:tblGrid>
                <a:gridCol w="4913637">
                  <a:extLst>
                    <a:ext uri="{9D8B030D-6E8A-4147-A177-3AD203B41FA5}">
                      <a16:colId xmlns:a16="http://schemas.microsoft.com/office/drawing/2014/main" val="787868451"/>
                    </a:ext>
                  </a:extLst>
                </a:gridCol>
              </a:tblGrid>
              <a:tr h="399753">
                <a:tc>
                  <a:txBody>
                    <a:bodyPr/>
                    <a:lstStyle/>
                    <a:p>
                      <a:r>
                        <a:rPr lang="en-AU"/>
                        <a:t>Snowflake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005196009"/>
                  </a:ext>
                </a:extLst>
              </a:tr>
              <a:tr h="2191047">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488761819"/>
                  </a:ext>
                </a:extLst>
              </a:tr>
              <a:tr h="1676926">
                <a:tc>
                  <a:txBody>
                    <a:bodyPr/>
                    <a:lstStyle/>
                    <a:p>
                      <a:r>
                        <a:rPr lang="en-AU" sz="800" b="1" u="sng"/>
                        <a:t>Warrants</a:t>
                      </a:r>
                    </a:p>
                    <a:p>
                      <a:pPr marL="228600" indent="-228600">
                        <a:buFont typeface="+mj-lt"/>
                        <a:buAutoNum type="arabicPeriod"/>
                      </a:pPr>
                      <a:r>
                        <a:rPr lang="en-AU" sz="800"/>
                        <a:t>FILE STORAGE – ADLS, S3, GCS</a:t>
                      </a:r>
                    </a:p>
                    <a:p>
                      <a:pPr marL="228600" indent="-228600">
                        <a:buFont typeface="+mj-lt"/>
                        <a:buAutoNum type="arabicPeriod"/>
                      </a:pPr>
                      <a:r>
                        <a:rPr lang="en-AU" sz="800"/>
                        <a:t>SNOWFLAKE EXTERNAL VOLUME AND STORAGE INTEGRATION</a:t>
                      </a:r>
                    </a:p>
                    <a:p>
                      <a:pPr marL="228600" indent="-228600">
                        <a:buFont typeface="+mj-lt"/>
                        <a:buAutoNum type="arabicPeriod"/>
                      </a:pPr>
                      <a:r>
                        <a:rPr lang="en-AU" sz="800"/>
                        <a:t>SNOWFLAKE GRAPH, GRAPHRAG, ONTOLOGY SETUP – ALL NATIVE</a:t>
                      </a:r>
                    </a:p>
                    <a:p>
                      <a:pPr marL="228600" indent="-228600">
                        <a:buFont typeface="+mj-lt"/>
                        <a:buAutoNum type="arabicPeriod"/>
                      </a:pPr>
                      <a:r>
                        <a:rPr lang="en-AU" sz="800"/>
                        <a:t>UI </a:t>
                      </a:r>
                      <a:r>
                        <a:rPr lang="en-AU" sz="800">
                          <a:sym typeface="Wingdings" panose="05000000000000000000" pitchFamily="2" charset="2"/>
                        </a:rPr>
                        <a:t> COULD BE UNIFIED VIA SNOWFLAKE WEB APP, CUSTOM UI ON MESH / K8 (SPCS / AKS) </a:t>
                      </a:r>
                    </a:p>
                    <a:p>
                      <a:pPr marL="228600" indent="-228600">
                        <a:buFont typeface="+mj-lt"/>
                        <a:buAutoNum type="arabicPeriod"/>
                      </a:pPr>
                      <a:endParaRPr lang="en-AU" sz="800">
                        <a:sym typeface="Wingdings" panose="05000000000000000000" pitchFamily="2" charset="2"/>
                      </a:endParaRPr>
                    </a:p>
                    <a:p>
                      <a:pPr marL="228600" indent="-228600">
                        <a:buFont typeface="+mj-lt"/>
                        <a:buAutoNum type="arabicPeriod"/>
                      </a:pPr>
                      <a:endParaRPr lang="en-AU" sz="800">
                        <a:sym typeface="Wingdings" panose="05000000000000000000" pitchFamily="2" charset="2"/>
                      </a:endParaRPr>
                    </a:p>
                    <a:p>
                      <a:pPr marL="0" indent="0">
                        <a:buFont typeface="+mj-lt"/>
                        <a:buNone/>
                      </a:pPr>
                      <a:r>
                        <a:rPr lang="en-AU" sz="800">
                          <a:sym typeface="Wingdings" panose="05000000000000000000" pitchFamily="2" charset="2"/>
                        </a:rPr>
                        <a:t>LEVERAGE SNOWFLAKE NATIVE GRAPH, GRAPHRAG AND ONTOLOGY CAPABILITIES TO REDUCE </a:t>
                      </a:r>
                    </a:p>
                    <a:p>
                      <a:pPr marL="171450" indent="-171450">
                        <a:buFontTx/>
                        <a:buChar char="-"/>
                      </a:pPr>
                      <a:r>
                        <a:rPr lang="en-AU" sz="800">
                          <a:sym typeface="Wingdings" panose="05000000000000000000" pitchFamily="2" charset="2"/>
                        </a:rPr>
                        <a:t>COMPLEX INTEGARTION BETWEEN MULTIPLE SOLUTION STACKS, DATA HOPS, FAILURE POINTS, SEPRATE ACCESS FOR DATA TO MODELS, FEATURE STORE INTEGRATION</a:t>
                      </a:r>
                    </a:p>
                    <a:p>
                      <a:pPr marL="171450" indent="-171450">
                        <a:buFontTx/>
                        <a:buChar char="-"/>
                      </a:pPr>
                      <a:r>
                        <a:rPr lang="en-AU" sz="800">
                          <a:sym typeface="Wingdings" panose="05000000000000000000" pitchFamily="2" charset="2"/>
                        </a:rPr>
                        <a:t>OPEX SAVING (SAVES US FROM STANDING AND STITCHING UP MULTIPLE SOLUTION COMPONENTS)</a:t>
                      </a:r>
                      <a:endParaRPr lang="en-AU"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5152237"/>
                  </a:ext>
                </a:extLst>
              </a:tr>
            </a:tbl>
          </a:graphicData>
        </a:graphic>
      </p:graphicFrame>
      <p:sp>
        <p:nvSpPr>
          <p:cNvPr id="66" name="Rectangle: Rounded Corners 65">
            <a:extLst>
              <a:ext uri="{FF2B5EF4-FFF2-40B4-BE49-F238E27FC236}">
                <a16:creationId xmlns:a16="http://schemas.microsoft.com/office/drawing/2014/main" id="{95106E96-89FB-8B59-B43E-BCBBD0537F35}"/>
              </a:ext>
            </a:extLst>
          </p:cNvPr>
          <p:cNvSpPr/>
          <p:nvPr/>
        </p:nvSpPr>
        <p:spPr>
          <a:xfrm>
            <a:off x="545382" y="2209576"/>
            <a:ext cx="245523" cy="1259141"/>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solidFill>
                  <a:schemeClr val="tx1"/>
                </a:solidFill>
                <a:effectLst/>
                <a:uLnTx/>
                <a:uFillTx/>
                <a:latin typeface="Aptos" panose="02110004020202020204"/>
                <a:ea typeface="+mn-ea"/>
                <a:cs typeface="+mn-cs"/>
              </a:rPr>
              <a:t>DATA</a:t>
            </a:r>
          </a:p>
        </p:txBody>
      </p:sp>
      <p:sp>
        <p:nvSpPr>
          <p:cNvPr id="67" name="Rectangle: Rounded Corners 66">
            <a:extLst>
              <a:ext uri="{FF2B5EF4-FFF2-40B4-BE49-F238E27FC236}">
                <a16:creationId xmlns:a16="http://schemas.microsoft.com/office/drawing/2014/main" id="{E96D4F7B-97DF-98F1-1317-41575449B97F}"/>
              </a:ext>
            </a:extLst>
          </p:cNvPr>
          <p:cNvSpPr/>
          <p:nvPr/>
        </p:nvSpPr>
        <p:spPr>
          <a:xfrm>
            <a:off x="1374123" y="3189319"/>
            <a:ext cx="524933" cy="3810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solidFill>
                  <a:schemeClr val="tx1"/>
                </a:solidFill>
                <a:effectLst/>
                <a:uLnTx/>
                <a:uFillTx/>
                <a:latin typeface="Aptos" panose="02110004020202020204"/>
                <a:ea typeface="+mn-ea"/>
                <a:cs typeface="+mn-cs"/>
              </a:rPr>
              <a:t>ADLS / S3 /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solidFill>
                  <a:schemeClr val="tx1"/>
                </a:solidFill>
                <a:effectLst/>
                <a:uLnTx/>
                <a:uFillTx/>
                <a:latin typeface="Aptos" panose="02110004020202020204"/>
                <a:ea typeface="+mn-ea"/>
                <a:cs typeface="+mn-cs"/>
              </a:rPr>
              <a:t>GCS</a:t>
            </a:r>
          </a:p>
        </p:txBody>
      </p:sp>
      <p:sp>
        <p:nvSpPr>
          <p:cNvPr id="68" name="Rectangle: Rounded Corners 67">
            <a:extLst>
              <a:ext uri="{FF2B5EF4-FFF2-40B4-BE49-F238E27FC236}">
                <a16:creationId xmlns:a16="http://schemas.microsoft.com/office/drawing/2014/main" id="{7A3E56B4-D881-5BE5-A03B-85CDC21CE365}"/>
              </a:ext>
            </a:extLst>
          </p:cNvPr>
          <p:cNvSpPr/>
          <p:nvPr/>
        </p:nvSpPr>
        <p:spPr>
          <a:xfrm>
            <a:off x="1251357" y="2465417"/>
            <a:ext cx="770467" cy="3810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solidFill>
                  <a:schemeClr val="tx1"/>
                </a:solidFill>
                <a:effectLst/>
                <a:uLnTx/>
                <a:uFillTx/>
                <a:latin typeface="Aptos" panose="02110004020202020204"/>
                <a:ea typeface="+mn-ea"/>
                <a:cs typeface="+mn-cs"/>
              </a:rPr>
              <a:t>SNOWFLAKE</a:t>
            </a:r>
          </a:p>
        </p:txBody>
      </p:sp>
      <p:cxnSp>
        <p:nvCxnSpPr>
          <p:cNvPr id="69" name="Straight Arrow Connector 68">
            <a:extLst>
              <a:ext uri="{FF2B5EF4-FFF2-40B4-BE49-F238E27FC236}">
                <a16:creationId xmlns:a16="http://schemas.microsoft.com/office/drawing/2014/main" id="{BFDCEE4D-5884-EA96-B767-20ED5BF7B436}"/>
              </a:ext>
            </a:extLst>
          </p:cNvPr>
          <p:cNvCxnSpPr>
            <a:stCxn id="68" idx="2"/>
            <a:endCxn id="67" idx="0"/>
          </p:cNvCxnSpPr>
          <p:nvPr/>
        </p:nvCxnSpPr>
        <p:spPr>
          <a:xfrm flipH="1">
            <a:off x="1636590" y="2846417"/>
            <a:ext cx="1" cy="3429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1D37CD52-FD07-0238-8579-A9B861560276}"/>
              </a:ext>
            </a:extLst>
          </p:cNvPr>
          <p:cNvCxnSpPr>
            <a:cxnSpLocks/>
            <a:endCxn id="67" idx="1"/>
          </p:cNvCxnSpPr>
          <p:nvPr/>
        </p:nvCxnSpPr>
        <p:spPr>
          <a:xfrm>
            <a:off x="794158" y="3379819"/>
            <a:ext cx="57996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Flowchart: Predefined Process 74">
            <a:extLst>
              <a:ext uri="{FF2B5EF4-FFF2-40B4-BE49-F238E27FC236}">
                <a16:creationId xmlns:a16="http://schemas.microsoft.com/office/drawing/2014/main" id="{BCB6FA0F-739B-9E8A-A4C2-B395C9369C82}"/>
              </a:ext>
            </a:extLst>
          </p:cNvPr>
          <p:cNvSpPr/>
          <p:nvPr/>
        </p:nvSpPr>
        <p:spPr>
          <a:xfrm>
            <a:off x="2823903" y="2461364"/>
            <a:ext cx="770463" cy="381000"/>
          </a:xfrm>
          <a:prstGeom prst="flowChartPredefinedProces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solidFill>
                  <a:schemeClr val="tx1"/>
                </a:solidFill>
                <a:effectLst/>
                <a:uLnTx/>
                <a:uFillTx/>
                <a:latin typeface="Aptos" panose="02110004020202020204"/>
                <a:ea typeface="+mn-ea"/>
                <a:cs typeface="+mn-cs"/>
              </a:rPr>
              <a:t>MESH UI /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solidFill>
                  <a:schemeClr val="tx1"/>
                </a:solidFill>
                <a:effectLst/>
                <a:uLnTx/>
                <a:uFillTx/>
                <a:latin typeface="Aptos" panose="02110004020202020204"/>
                <a:ea typeface="+mn-ea"/>
                <a:cs typeface="+mn-cs"/>
              </a:rPr>
              <a:t>UI ON K8</a:t>
            </a:r>
          </a:p>
        </p:txBody>
      </p:sp>
      <p:cxnSp>
        <p:nvCxnSpPr>
          <p:cNvPr id="78" name="Straight Arrow Connector 77">
            <a:extLst>
              <a:ext uri="{FF2B5EF4-FFF2-40B4-BE49-F238E27FC236}">
                <a16:creationId xmlns:a16="http://schemas.microsoft.com/office/drawing/2014/main" id="{AFD35477-F2BC-3085-7DD2-563EDBE74D0C}"/>
              </a:ext>
            </a:extLst>
          </p:cNvPr>
          <p:cNvCxnSpPr>
            <a:cxnSpLocks/>
          </p:cNvCxnSpPr>
          <p:nvPr/>
        </p:nvCxnSpPr>
        <p:spPr>
          <a:xfrm>
            <a:off x="853426" y="2655917"/>
            <a:ext cx="3979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40">
            <a:extLst>
              <a:ext uri="{FF2B5EF4-FFF2-40B4-BE49-F238E27FC236}">
                <a16:creationId xmlns:a16="http://schemas.microsoft.com/office/drawing/2014/main" id="{198FA69D-DCEE-0B3E-EB6A-A7EE2A2CFAD9}"/>
              </a:ext>
            </a:extLst>
          </p:cNvPr>
          <p:cNvCxnSpPr>
            <a:cxnSpLocks/>
            <a:stCxn id="68" idx="3"/>
            <a:endCxn id="75" idx="1"/>
          </p:cNvCxnSpPr>
          <p:nvPr/>
        </p:nvCxnSpPr>
        <p:spPr>
          <a:xfrm flipV="1">
            <a:off x="2021824" y="2651864"/>
            <a:ext cx="802079" cy="4053"/>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40">
            <a:extLst>
              <a:ext uri="{FF2B5EF4-FFF2-40B4-BE49-F238E27FC236}">
                <a16:creationId xmlns:a16="http://schemas.microsoft.com/office/drawing/2014/main" id="{7004EA11-1D3D-52CA-AD92-672BC19E9B38}"/>
              </a:ext>
            </a:extLst>
          </p:cNvPr>
          <p:cNvCxnSpPr>
            <a:cxnSpLocks/>
            <a:stCxn id="68" idx="0"/>
            <a:endCxn id="75" idx="0"/>
          </p:cNvCxnSpPr>
          <p:nvPr/>
        </p:nvCxnSpPr>
        <p:spPr>
          <a:xfrm rot="5400000" flipH="1" flipV="1">
            <a:off x="2420837" y="1677119"/>
            <a:ext cx="4053" cy="1572544"/>
          </a:xfrm>
          <a:prstGeom prst="bentConnector3">
            <a:avLst>
              <a:gd name="adj1" fmla="val 5740266"/>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10" name="TextBox 109">
            <a:extLst>
              <a:ext uri="{FF2B5EF4-FFF2-40B4-BE49-F238E27FC236}">
                <a16:creationId xmlns:a16="http://schemas.microsoft.com/office/drawing/2014/main" id="{43864F40-B50C-E865-CEB7-49EB48841BC0}"/>
              </a:ext>
            </a:extLst>
          </p:cNvPr>
          <p:cNvSpPr txBox="1"/>
          <p:nvPr/>
        </p:nvSpPr>
        <p:spPr>
          <a:xfrm>
            <a:off x="220134" y="190716"/>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000" b="1">
                <a:latin typeface="Calibri"/>
              </a:rPr>
              <a:t>Recommendation</a:t>
            </a:r>
            <a:endParaRPr kumimoji="0" sz="3000" b="1" i="0" u="none" strike="noStrike" kern="1200" cap="none" spc="0" normalizeH="0" baseline="0" noProof="0">
              <a:ln>
                <a:noFill/>
              </a:ln>
              <a:effectLst/>
              <a:uLnTx/>
              <a:uFillTx/>
              <a:latin typeface="Calibri"/>
              <a:ea typeface="+mn-ea"/>
              <a:cs typeface="+mn-cs"/>
            </a:endParaRPr>
          </a:p>
        </p:txBody>
      </p:sp>
      <p:sp>
        <p:nvSpPr>
          <p:cNvPr id="126" name="Flowchart: Predefined Process 125">
            <a:extLst>
              <a:ext uri="{FF2B5EF4-FFF2-40B4-BE49-F238E27FC236}">
                <a16:creationId xmlns:a16="http://schemas.microsoft.com/office/drawing/2014/main" id="{97723A9D-C523-488D-1FC0-65EF3D8F83A9}"/>
              </a:ext>
            </a:extLst>
          </p:cNvPr>
          <p:cNvSpPr/>
          <p:nvPr/>
        </p:nvSpPr>
        <p:spPr>
          <a:xfrm>
            <a:off x="1896355" y="2749454"/>
            <a:ext cx="770463" cy="381000"/>
          </a:xfrm>
          <a:prstGeom prst="flowChartPredefinedProces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solidFill>
                  <a:schemeClr val="tx1"/>
                </a:solidFill>
                <a:effectLst/>
                <a:uLnTx/>
                <a:uFillTx/>
                <a:latin typeface="Aptos" panose="02110004020202020204"/>
                <a:ea typeface="+mn-ea"/>
                <a:cs typeface="+mn-cs"/>
              </a:rPr>
              <a:t>SF APP RUNTIME / SPCS</a:t>
            </a:r>
          </a:p>
        </p:txBody>
      </p:sp>
      <p:sp>
        <p:nvSpPr>
          <p:cNvPr id="2" name="Star: 5 Points 1">
            <a:extLst>
              <a:ext uri="{FF2B5EF4-FFF2-40B4-BE49-F238E27FC236}">
                <a16:creationId xmlns:a16="http://schemas.microsoft.com/office/drawing/2014/main" id="{F63B08AE-91F4-EC34-EF89-ECBA4075FA76}"/>
              </a:ext>
            </a:extLst>
          </p:cNvPr>
          <p:cNvSpPr/>
          <p:nvPr/>
        </p:nvSpPr>
        <p:spPr>
          <a:xfrm>
            <a:off x="1832044" y="2343215"/>
            <a:ext cx="189780" cy="150739"/>
          </a:xfrm>
          <a:prstGeom prst="star5">
            <a:avLst/>
          </a:prstGeom>
          <a:solidFill>
            <a:schemeClr val="accent1">
              <a:lumMod val="60000"/>
              <a:lumOff val="40000"/>
            </a:schemeClr>
          </a:solid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AU">
              <a:solidFill>
                <a:schemeClr val="tx1"/>
              </a:solidFill>
            </a:endParaRPr>
          </a:p>
        </p:txBody>
      </p:sp>
      <p:sp>
        <p:nvSpPr>
          <p:cNvPr id="5" name="Star: 5 Points 4">
            <a:extLst>
              <a:ext uri="{FF2B5EF4-FFF2-40B4-BE49-F238E27FC236}">
                <a16:creationId xmlns:a16="http://schemas.microsoft.com/office/drawing/2014/main" id="{CC69EE19-AAC1-8ECD-FACB-1C989F0F00F9}"/>
              </a:ext>
            </a:extLst>
          </p:cNvPr>
          <p:cNvSpPr/>
          <p:nvPr/>
        </p:nvSpPr>
        <p:spPr>
          <a:xfrm>
            <a:off x="4030133" y="1894481"/>
            <a:ext cx="189780" cy="150739"/>
          </a:xfrm>
          <a:prstGeom prst="star5">
            <a:avLst/>
          </a:prstGeom>
          <a:solidFill>
            <a:schemeClr val="accent1">
              <a:lumMod val="60000"/>
              <a:lumOff val="40000"/>
            </a:schemeClr>
          </a:solidFill>
        </p:spPr>
        <p:style>
          <a:lnRef idx="1">
            <a:schemeClr val="accent4"/>
          </a:lnRef>
          <a:fillRef idx="3">
            <a:schemeClr val="accent4"/>
          </a:fillRef>
          <a:effectRef idx="2">
            <a:schemeClr val="accent4"/>
          </a:effectRef>
          <a:fontRef idx="minor">
            <a:schemeClr val="lt1"/>
          </a:fontRef>
        </p:style>
        <p:txBody>
          <a:bodyPr rtlCol="0" anchor="ctr"/>
          <a:lstStyle/>
          <a:p>
            <a:pPr algn="ctr"/>
            <a:endParaRPr lang="en-AU">
              <a:solidFill>
                <a:schemeClr val="tx1"/>
              </a:solidFill>
            </a:endParaRPr>
          </a:p>
        </p:txBody>
      </p:sp>
      <p:sp>
        <p:nvSpPr>
          <p:cNvPr id="4" name="TextBox 3">
            <a:extLst>
              <a:ext uri="{FF2B5EF4-FFF2-40B4-BE49-F238E27FC236}">
                <a16:creationId xmlns:a16="http://schemas.microsoft.com/office/drawing/2014/main" id="{9F365809-BA19-B3E7-2CAA-C0C44D6DDAC5}"/>
              </a:ext>
            </a:extLst>
          </p:cNvPr>
          <p:cNvSpPr txBox="1"/>
          <p:nvPr/>
        </p:nvSpPr>
        <p:spPr>
          <a:xfrm>
            <a:off x="3811756" y="1846739"/>
            <a:ext cx="1773675"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effectLst/>
                <a:uLnTx/>
                <a:uFillTx/>
                <a:latin typeface="Aptos" panose="02110004020202020204"/>
                <a:ea typeface="+mn-ea"/>
                <a:cs typeface="+mn-cs"/>
              </a:rPr>
              <a:t>ML Platform</a:t>
            </a:r>
            <a:endParaRPr kumimoji="0" sz="1000" b="1" i="0" u="none" strike="noStrike" kern="1200" cap="none" spc="0" normalizeH="0" baseline="0" noProof="0">
              <a:ln>
                <a:noFill/>
              </a:ln>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F3AE5D3D-3D77-0936-C56B-4AB7B6A965B3}"/>
              </a:ext>
            </a:extLst>
          </p:cNvPr>
          <p:cNvSpPr txBox="1"/>
          <p:nvPr/>
        </p:nvSpPr>
        <p:spPr>
          <a:xfrm>
            <a:off x="5442310" y="1173400"/>
            <a:ext cx="6439394" cy="4216539"/>
          </a:xfrm>
          <a:prstGeom prst="rect">
            <a:avLst/>
          </a:prstGeom>
          <a:noFill/>
          <a:ln>
            <a:solidFill>
              <a:schemeClr val="tx1"/>
            </a:solidFill>
          </a:ln>
        </p:spPr>
        <p:txBody>
          <a:bodyPr wrap="square">
            <a:spAutoFit/>
          </a:bodyPr>
          <a:lstStyle/>
          <a:p>
            <a:pPr marR="0" algn="l">
              <a:spcBef>
                <a:spcPts val="750"/>
              </a:spcBef>
            </a:pPr>
            <a:r>
              <a:rPr lang="en-AU" b="0" i="0" u="sng">
                <a:effectLst/>
                <a:latin typeface="-apple-system"/>
              </a:rPr>
              <a:t>Justification</a:t>
            </a:r>
          </a:p>
          <a:p>
            <a:pPr marL="171450" indent="-171450">
              <a:spcBef>
                <a:spcPts val="750"/>
              </a:spcBef>
              <a:buFont typeface="Arial" panose="020B0604020202020204" pitchFamily="34" charset="0"/>
              <a:buChar char="•"/>
            </a:pPr>
            <a:r>
              <a:rPr lang="en-AU" sz="1000" b="0" i="0">
                <a:effectLst/>
                <a:latin typeface="-apple-system"/>
              </a:rPr>
              <a:t>Implement the solution within Snowflake where all data is already </a:t>
            </a:r>
            <a:r>
              <a:rPr lang="en-AU" sz="1000">
                <a:latin typeface="-apple-system"/>
              </a:rPr>
              <a:t>integrated</a:t>
            </a:r>
            <a:r>
              <a:rPr lang="en-AU" sz="1000" b="0" i="0">
                <a:effectLst/>
                <a:latin typeface="-apple-system"/>
              </a:rPr>
              <a:t> in Production </a:t>
            </a:r>
            <a:r>
              <a:rPr lang="en-AU" sz="1000">
                <a:latin typeface="-apple-system"/>
              </a:rPr>
              <a:t>via daily automated </a:t>
            </a:r>
            <a:r>
              <a:rPr lang="en-AU" sz="1000" b="0" i="0">
                <a:effectLst/>
                <a:latin typeface="-apple-system"/>
              </a:rPr>
              <a:t>jobs.</a:t>
            </a:r>
          </a:p>
          <a:p>
            <a:pPr marL="171450" marR="0" indent="-171450" algn="l">
              <a:spcBef>
                <a:spcPts val="750"/>
              </a:spcBef>
              <a:buFont typeface="Arial" panose="020B0604020202020204" pitchFamily="34" charset="0"/>
              <a:buChar char="•"/>
            </a:pPr>
            <a:r>
              <a:rPr lang="en-AU" sz="1000" b="0" i="0">
                <a:effectLst/>
                <a:latin typeface="-apple-system"/>
              </a:rPr>
              <a:t>Financial crime Snowflake is already implemented with all the capabilities needed for this solution to be implemented.</a:t>
            </a:r>
          </a:p>
          <a:p>
            <a:pPr marL="171450" marR="0" indent="-171450" algn="l">
              <a:spcBef>
                <a:spcPts val="750"/>
              </a:spcBef>
              <a:buFont typeface="Arial" panose="020B0604020202020204" pitchFamily="34" charset="0"/>
              <a:buChar char="•"/>
            </a:pPr>
            <a:r>
              <a:rPr lang="en-AU" sz="1000" b="0" i="0">
                <a:effectLst/>
                <a:latin typeface="-apple-system"/>
              </a:rPr>
              <a:t>Saves integration, compute, storage, operational overheads which come with stitching individual technology components together.</a:t>
            </a:r>
          </a:p>
          <a:p>
            <a:pPr marL="171450" marR="0" indent="-171450" algn="l">
              <a:spcBef>
                <a:spcPts val="750"/>
              </a:spcBef>
              <a:buFont typeface="Arial" panose="020B0604020202020204" pitchFamily="34" charset="0"/>
              <a:buChar char="•"/>
            </a:pPr>
            <a:r>
              <a:rPr lang="en-AU" sz="1000" b="0" i="0">
                <a:effectLst/>
                <a:latin typeface="-apple-system"/>
              </a:rPr>
              <a:t>Costs are baked into each of the platform solutions already put in place.</a:t>
            </a:r>
          </a:p>
          <a:p>
            <a:pPr marL="628650" marR="0" lvl="1" indent="-171450" algn="l">
              <a:spcBef>
                <a:spcPts val="750"/>
              </a:spcBef>
              <a:buFont typeface="Arial" panose="020B0604020202020204" pitchFamily="34" charset="0"/>
              <a:buChar char="•"/>
            </a:pPr>
            <a:r>
              <a:rPr lang="en-AU" sz="1000" b="0" i="0">
                <a:effectLst/>
                <a:latin typeface="-apple-system"/>
              </a:rPr>
              <a:t>FCSAI → Financial Crime setup (with ADLS integrations) and majority of data already provisioned and end-to-end automated.</a:t>
            </a:r>
          </a:p>
          <a:p>
            <a:pPr marL="628650" marR="0" lvl="1" indent="-171450" algn="l">
              <a:spcBef>
                <a:spcPts val="750"/>
              </a:spcBef>
              <a:buFont typeface="Arial" panose="020B0604020202020204" pitchFamily="34" charset="0"/>
              <a:buChar char="•"/>
            </a:pPr>
            <a:r>
              <a:rPr lang="en-AU" sz="1000" b="0" i="0">
                <a:effectLst/>
                <a:latin typeface="-apple-system"/>
              </a:rPr>
              <a:t>NGM Standard Transaction Monitoring → ML models and costing for all data that is already provisioned as an end-to-end automated solution via FCSAI.</a:t>
            </a:r>
          </a:p>
          <a:p>
            <a:pPr marL="171450" marR="0" indent="-171450" algn="l">
              <a:spcBef>
                <a:spcPts val="750"/>
              </a:spcBef>
              <a:buFont typeface="Arial" panose="020B0604020202020204" pitchFamily="34" charset="0"/>
              <a:buChar char="•"/>
            </a:pPr>
            <a:r>
              <a:rPr lang="en-AU" sz="1000" b="0" i="0">
                <a:effectLst/>
                <a:latin typeface="-apple-system"/>
              </a:rPr>
              <a:t>The solution works natively within the Snowflake ecosystem with no need to provision additional dedicated infrastructure, define new / amend existing integration patterns</a:t>
            </a:r>
            <a:r>
              <a:rPr lang="en-AU" sz="1000">
                <a:latin typeface="-apple-system"/>
              </a:rPr>
              <a:t> or raise concerns about </a:t>
            </a:r>
            <a:r>
              <a:rPr lang="en-AU" sz="1000" b="0" i="0">
                <a:effectLst/>
                <a:latin typeface="-apple-system"/>
              </a:rPr>
              <a:t>network impacts (as supposed to </a:t>
            </a:r>
            <a:r>
              <a:rPr lang="en-AU" sz="1000" b="0" i="0" err="1">
                <a:effectLst/>
                <a:latin typeface="-apple-system"/>
              </a:rPr>
              <a:t>solution'd</a:t>
            </a:r>
            <a:r>
              <a:rPr lang="en-AU" sz="1000" b="0" i="0">
                <a:effectLst/>
                <a:latin typeface="-apple-system"/>
              </a:rPr>
              <a:t> independently needing integration / network traversals).</a:t>
            </a:r>
          </a:p>
          <a:p>
            <a:pPr marL="171450" marR="0" indent="-171450" algn="l">
              <a:spcBef>
                <a:spcPts val="750"/>
              </a:spcBef>
              <a:buFont typeface="Arial" panose="020B0604020202020204" pitchFamily="34" charset="0"/>
              <a:buChar char="•"/>
            </a:pPr>
            <a:r>
              <a:rPr lang="en-AU" sz="1000">
                <a:latin typeface="-apple-system"/>
              </a:rPr>
              <a:t>The downstream systems within Financial Crime are already integrated to Snowflake and separate POCs have been done at various timeframes to test the integration and respective consumption patterns with the outcomes being viable and performant.</a:t>
            </a:r>
          </a:p>
          <a:p>
            <a:pPr marL="171450" marR="0" indent="-171450" algn="l">
              <a:spcBef>
                <a:spcPts val="750"/>
              </a:spcBef>
              <a:buFont typeface="Arial" panose="020B0604020202020204" pitchFamily="34" charset="0"/>
              <a:buChar char="•"/>
            </a:pPr>
            <a:r>
              <a:rPr lang="en-AU" sz="1000">
                <a:latin typeface="-apple-system"/>
              </a:rPr>
              <a:t>As the data execution runs and features are stored as Snowflake Tables, Internal Sharing pattern can be enabled for downstream consumption for Non-Financial Crime tenants on Snowflake.</a:t>
            </a:r>
            <a:br>
              <a:rPr lang="en-AU" sz="1000">
                <a:latin typeface="-apple-system"/>
              </a:rPr>
            </a:br>
            <a:r>
              <a:rPr lang="en-AU" sz="1000">
                <a:latin typeface="-apple-system"/>
              </a:rPr>
              <a:t>If needed, the features / outputs can also be exported to a Parquet file and shipped to downstream systems via EBIP</a:t>
            </a:r>
          </a:p>
        </p:txBody>
      </p:sp>
      <p:sp>
        <p:nvSpPr>
          <p:cNvPr id="17" name="TextBox 16">
            <a:extLst>
              <a:ext uri="{FF2B5EF4-FFF2-40B4-BE49-F238E27FC236}">
                <a16:creationId xmlns:a16="http://schemas.microsoft.com/office/drawing/2014/main" id="{FCB11907-56E7-FB57-EC08-7868B7579567}"/>
              </a:ext>
            </a:extLst>
          </p:cNvPr>
          <p:cNvSpPr txBox="1"/>
          <p:nvPr/>
        </p:nvSpPr>
        <p:spPr>
          <a:xfrm>
            <a:off x="220133" y="6380330"/>
            <a:ext cx="7433733" cy="246221"/>
          </a:xfrm>
          <a:prstGeom prst="rect">
            <a:avLst/>
          </a:prstGeom>
          <a:noFill/>
        </p:spPr>
        <p:txBody>
          <a:bodyPr wrap="square">
            <a:spAutoFit/>
          </a:bodyPr>
          <a:lstStyle/>
          <a:p>
            <a:r>
              <a:rPr lang="en-AU" sz="1000">
                <a:hlinkClick r:id="rId3">
                  <a:extLst>
                    <a:ext uri="{A12FA001-AC4F-418D-AE19-62706E023703}">
                      <ahyp:hlinkClr xmlns:ahyp="http://schemas.microsoft.com/office/drawing/2018/hyperlinkcolor" val="tx"/>
                    </a:ext>
                  </a:extLst>
                </a:hlinkClick>
              </a:rPr>
              <a:t>POC - NGM Standard FACE-AML TO Snowflake ML - CTO Strategy and Architecture - Westpac Enterprise Confluence</a:t>
            </a:r>
            <a:endParaRPr lang="en-AU" sz="1000"/>
          </a:p>
        </p:txBody>
      </p:sp>
      <p:sp>
        <p:nvSpPr>
          <p:cNvPr id="21" name="TextBox 20">
            <a:extLst>
              <a:ext uri="{FF2B5EF4-FFF2-40B4-BE49-F238E27FC236}">
                <a16:creationId xmlns:a16="http://schemas.microsoft.com/office/drawing/2014/main" id="{C52F8E08-B858-5374-F26E-C5FF990AE214}"/>
              </a:ext>
            </a:extLst>
          </p:cNvPr>
          <p:cNvSpPr txBox="1"/>
          <p:nvPr/>
        </p:nvSpPr>
        <p:spPr>
          <a:xfrm>
            <a:off x="220132" y="753611"/>
            <a:ext cx="7433733" cy="246221"/>
          </a:xfrm>
          <a:prstGeom prst="rect">
            <a:avLst/>
          </a:prstGeom>
          <a:noFill/>
        </p:spPr>
        <p:txBody>
          <a:bodyPr wrap="square">
            <a:spAutoFit/>
          </a:bodyPr>
          <a:lstStyle/>
          <a:p>
            <a:r>
              <a:rPr lang="en-AU" sz="1000" b="1"/>
              <a:t>Implementation on SNOWFLAKE</a:t>
            </a:r>
          </a:p>
        </p:txBody>
      </p:sp>
    </p:spTree>
    <p:extLst>
      <p:ext uri="{BB962C8B-B14F-4D97-AF65-F5344CB8AC3E}">
        <p14:creationId xmlns:p14="http://schemas.microsoft.com/office/powerpoint/2010/main" val="817289166"/>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B4A443C0-B0F3-1EAB-48F8-ACA3EFDDC2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824951-8099-EFEB-03F3-5238E142C0CA}"/>
              </a:ext>
            </a:extLst>
          </p:cNvPr>
          <p:cNvSpPr txBox="1"/>
          <p:nvPr/>
        </p:nvSpPr>
        <p:spPr>
          <a:xfrm>
            <a:off x="982058" y="2104817"/>
            <a:ext cx="1005840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a:ln>
                  <a:noFill/>
                </a:ln>
                <a:effectLst/>
                <a:uLnTx/>
                <a:uFillTx/>
                <a:latin typeface="Aptos" panose="02110004020202020204"/>
                <a:ea typeface="+mn-ea"/>
                <a:cs typeface="+mn-cs"/>
              </a:rPr>
              <a:t>Appendix</a:t>
            </a:r>
            <a:endParaRPr kumimoji="0" sz="4000" b="1" i="0" u="none" strike="noStrike" kern="1200" cap="none" spc="0" normalizeH="0" baseline="0" noProof="0">
              <a:ln>
                <a:noFill/>
              </a:ln>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CA831F4-6693-8DFE-8057-2C068701CC5F}"/>
              </a:ext>
            </a:extLst>
          </p:cNvPr>
          <p:cNvSpPr/>
          <p:nvPr/>
        </p:nvSpPr>
        <p:spPr>
          <a:xfrm>
            <a:off x="4419752" y="2821094"/>
            <a:ext cx="3047695" cy="365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1D50DD00-F817-7244-1A35-0735B0DB162E}"/>
              </a:ext>
            </a:extLst>
          </p:cNvPr>
          <p:cNvSpPr txBox="1"/>
          <p:nvPr/>
        </p:nvSpPr>
        <p:spPr>
          <a:xfrm>
            <a:off x="3991959" y="2959198"/>
            <a:ext cx="4072466" cy="3231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500" b="1" i="0" u="none" strike="noStrike" kern="1200" cap="none" spc="0" normalizeH="0" baseline="0" noProof="0">
                <a:ln>
                  <a:noFill/>
                </a:ln>
                <a:effectLst/>
                <a:uLnTx/>
                <a:uFillTx/>
                <a:latin typeface="Calibri"/>
                <a:ea typeface="+mn-ea"/>
                <a:cs typeface="+mn-cs"/>
              </a:rPr>
              <a:t>GRAPH, GRAPHRAG, ONTOLOGY, AGENTS, MCP</a:t>
            </a:r>
          </a:p>
        </p:txBody>
      </p:sp>
    </p:spTree>
    <p:extLst>
      <p:ext uri="{BB962C8B-B14F-4D97-AF65-F5344CB8AC3E}">
        <p14:creationId xmlns:p14="http://schemas.microsoft.com/office/powerpoint/2010/main" val="67702987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0A80CEAB-89CE-819E-AAA9-2459C60FD4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BEBAC4-D7EC-0370-A1B6-02F53802794E}"/>
              </a:ext>
            </a:extLst>
          </p:cNvPr>
          <p:cNvSpPr txBox="1"/>
          <p:nvPr/>
        </p:nvSpPr>
        <p:spPr>
          <a:xfrm>
            <a:off x="914400" y="2011680"/>
            <a:ext cx="1005840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a:ln>
                  <a:noFill/>
                </a:ln>
                <a:effectLst/>
                <a:uLnTx/>
                <a:uFillTx/>
                <a:latin typeface="Aptos" panose="02110004020202020204"/>
                <a:ea typeface="+mn-ea"/>
                <a:cs typeface="+mn-cs"/>
              </a:rPr>
              <a:t>Solution</a:t>
            </a:r>
            <a:endParaRPr kumimoji="0" sz="4000" b="1" i="0" u="none" strike="noStrike" kern="1200" cap="none" spc="0" normalizeH="0" baseline="0" noProof="0">
              <a:ln>
                <a:noFill/>
              </a:ln>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F4A074D-1DC8-AE58-9AC1-1536479912B1}"/>
              </a:ext>
            </a:extLst>
          </p:cNvPr>
          <p:cNvSpPr/>
          <p:nvPr/>
        </p:nvSpPr>
        <p:spPr>
          <a:xfrm>
            <a:off x="4419752" y="2821094"/>
            <a:ext cx="3047695" cy="365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564CBAFD-DAFE-C12A-373E-B8EC27F75B3A}"/>
              </a:ext>
            </a:extLst>
          </p:cNvPr>
          <p:cNvSpPr txBox="1"/>
          <p:nvPr/>
        </p:nvSpPr>
        <p:spPr>
          <a:xfrm>
            <a:off x="3912812" y="2959198"/>
            <a:ext cx="6096000" cy="3231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500" b="1" i="0" u="none" strike="noStrike" kern="1200" cap="none" spc="0" normalizeH="0" baseline="0" noProof="0">
                <a:ln>
                  <a:noFill/>
                </a:ln>
                <a:effectLst/>
                <a:uLnTx/>
                <a:uFillTx/>
                <a:latin typeface="Calibri"/>
                <a:ea typeface="+mn-ea"/>
                <a:cs typeface="+mn-cs"/>
              </a:rPr>
              <a:t>CUSTOM BUILT - GRAPH, GRAPHRAG, ONTOLOGY</a:t>
            </a:r>
          </a:p>
        </p:txBody>
      </p:sp>
    </p:spTree>
    <p:extLst>
      <p:ext uri="{BB962C8B-B14F-4D97-AF65-F5344CB8AC3E}">
        <p14:creationId xmlns:p14="http://schemas.microsoft.com/office/powerpoint/2010/main" val="1870282154"/>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B3C5BA8E-9B5C-5EFF-AB1C-FDB84EA88F9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E5643F2-D876-D934-D8F5-D8455D41C885}"/>
              </a:ext>
            </a:extLst>
          </p:cNvPr>
          <p:cNvGraphicFramePr>
            <a:graphicFrameLocks noGrp="1"/>
          </p:cNvGraphicFramePr>
          <p:nvPr>
            <p:extLst>
              <p:ext uri="{D42A27DB-BD31-4B8C-83A1-F6EECF244321}">
                <p14:modId xmlns:p14="http://schemas.microsoft.com/office/powerpoint/2010/main" val="2291073437"/>
              </p:ext>
            </p:extLst>
          </p:nvPr>
        </p:nvGraphicFramePr>
        <p:xfrm>
          <a:off x="220134" y="686809"/>
          <a:ext cx="11726334" cy="5770825"/>
        </p:xfrm>
        <a:graphic>
          <a:graphicData uri="http://schemas.openxmlformats.org/drawingml/2006/table">
            <a:tbl>
              <a:tblPr firstRow="1" bandRow="1">
                <a:tableStyleId>{5C22544A-7EE6-4342-B048-85BDC9FD1C3A}</a:tableStyleId>
              </a:tblPr>
              <a:tblGrid>
                <a:gridCol w="4484962">
                  <a:extLst>
                    <a:ext uri="{9D8B030D-6E8A-4147-A177-3AD203B41FA5}">
                      <a16:colId xmlns:a16="http://schemas.microsoft.com/office/drawing/2014/main" val="191090848"/>
                    </a:ext>
                  </a:extLst>
                </a:gridCol>
                <a:gridCol w="7241372">
                  <a:extLst>
                    <a:ext uri="{9D8B030D-6E8A-4147-A177-3AD203B41FA5}">
                      <a16:colId xmlns:a16="http://schemas.microsoft.com/office/drawing/2014/main" val="787868451"/>
                    </a:ext>
                  </a:extLst>
                </a:gridCol>
              </a:tblGrid>
              <a:tr h="282898">
                <a:tc gridSpan="2">
                  <a:txBody>
                    <a:bodyPr/>
                    <a:lstStyle/>
                    <a:p>
                      <a:pPr algn="ctr"/>
                      <a:r>
                        <a:rPr lang="en-AU" sz="1200">
                          <a:solidFill>
                            <a:schemeClr val="tx1"/>
                          </a:solidFill>
                        </a:rPr>
                        <a:t>Custom Built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hMerge="1">
                  <a:txBody>
                    <a:bodyPr/>
                    <a:lstStyle/>
                    <a:p>
                      <a:endParaRPr lang="en-AU" sz="800"/>
                    </a:p>
                  </a:txBody>
                  <a:tcPr>
                    <a:solidFill>
                      <a:schemeClr val="tx2">
                        <a:lumMod val="75000"/>
                        <a:lumOff val="25000"/>
                      </a:schemeClr>
                    </a:solidFill>
                  </a:tcPr>
                </a:tc>
                <a:extLst>
                  <a:ext uri="{0D108BD9-81ED-4DB2-BD59-A6C34878D82A}">
                    <a16:rowId xmlns:a16="http://schemas.microsoft.com/office/drawing/2014/main" val="1005196009"/>
                  </a:ext>
                </a:extLst>
              </a:tr>
              <a:tr h="801546">
                <a:tc grid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a:solidFill>
                            <a:schemeClr val="tx1"/>
                          </a:solidFill>
                        </a:rPr>
                        <a:t>Graph database stores data by relationships natively along side entities there by avoiding need for expensive / complex joins / indexed lookups at runtime (INDEX FREE ADJENCY)</a:t>
                      </a:r>
                    </a:p>
                    <a:p>
                      <a:pPr marL="0" indent="0">
                        <a:buFont typeface="Arial" panose="020B0604020202020204" pitchFamily="34" charset="0"/>
                        <a:buNone/>
                      </a:pPr>
                      <a:endPar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endParaRPr>
                    </a:p>
                    <a:p>
                      <a:pPr marL="0" indent="0">
                        <a:buFont typeface="Arial" panose="020B0604020202020204" pitchFamily="34" charset="0"/>
                        <a:buNone/>
                      </a:pP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rPr>
                        <a:t>CONCEPT </a:t>
                      </a: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sym typeface="Wingdings" panose="05000000000000000000" pitchFamily="2" charset="2"/>
                        </a:rPr>
                        <a:t>  </a:t>
                      </a: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hlinkClick r:id="rId3">
                            <a:extLst>
                              <a:ext uri="{A12FA001-AC4F-418D-AE19-62706E023703}">
                                <ahyp:hlinkClr xmlns:ahyp="http://schemas.microsoft.com/office/drawing/2018/hyperlinkcolor" val="tx"/>
                              </a:ext>
                            </a:extLst>
                          </a:hlinkClick>
                        </a:rPr>
                        <a:t>https://confluence.srv.westpac.com.au/display/AIA/Graphs+DBs+for+Knowledge+Graphs+for+GraphRAG+pattern</a:t>
                      </a:r>
                      <a:endPar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endParaRPr>
                    </a:p>
                    <a:p>
                      <a:pPr marL="0" indent="0">
                        <a:buFont typeface="Arial" panose="020B0604020202020204" pitchFamily="34" charset="0"/>
                        <a:buNone/>
                      </a:pP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rPr>
                        <a:t>PAPER BASED ASSESSMENT </a:t>
                      </a: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sym typeface="Wingdings" panose="05000000000000000000" pitchFamily="2" charset="2"/>
                        </a:rPr>
                        <a:t> </a:t>
                      </a:r>
                      <a:r>
                        <a:rPr lang="en-AU" sz="900">
                          <a:solidFill>
                            <a:schemeClr val="tx1"/>
                          </a:solidFill>
                          <a:hlinkClick r:id="rId4">
                            <a:extLst>
                              <a:ext uri="{A12FA001-AC4F-418D-AE19-62706E023703}">
                                <ahyp:hlinkClr xmlns:ahyp="http://schemas.microsoft.com/office/drawing/2018/hyperlinkcolor" val="tx"/>
                              </a:ext>
                            </a:extLst>
                          </a:hlinkClick>
                        </a:rPr>
                        <a:t>Vector Stores - Selection &amp; Assessment - AI Services - Westpac Enterprise Confluence</a:t>
                      </a:r>
                      <a:r>
                        <a:rPr lang="en-AU" sz="900">
                          <a:solidFill>
                            <a:schemeClr val="tx1"/>
                          </a:solidFill>
                        </a:rPr>
                        <a:t> &amp; </a:t>
                      </a:r>
                      <a:r>
                        <a:rPr lang="en-AU" sz="900">
                          <a:solidFill>
                            <a:schemeClr val="tx1"/>
                          </a:solidFill>
                          <a:hlinkClick r:id="rId5">
                            <a:extLst>
                              <a:ext uri="{A12FA001-AC4F-418D-AE19-62706E023703}">
                                <ahyp:hlinkClr xmlns:ahyp="http://schemas.microsoft.com/office/drawing/2018/hyperlinkcolor" val="tx"/>
                              </a:ext>
                            </a:extLst>
                          </a:hlinkClick>
                        </a:rPr>
                        <a:t>Knowledge Graphs Assessment - AI Services - Westpac Enterprise Confluence</a:t>
                      </a:r>
                      <a:br>
                        <a:rPr lang="en-AU" sz="900">
                          <a:solidFill>
                            <a:schemeClr val="tx1"/>
                          </a:solidFill>
                        </a:rPr>
                      </a:br>
                      <a:r>
                        <a:rPr lang="en-AU" sz="900">
                          <a:solidFill>
                            <a:schemeClr val="tx1"/>
                          </a:solidFill>
                        </a:rPr>
                        <a:t>ASSESSMENT </a:t>
                      </a:r>
                      <a:r>
                        <a:rPr lang="en-AU" sz="900">
                          <a:solidFill>
                            <a:schemeClr val="tx1"/>
                          </a:solidFill>
                          <a:sym typeface="Wingdings" panose="05000000000000000000" pitchFamily="2" charset="2"/>
                        </a:rPr>
                        <a:t> </a:t>
                      </a:r>
                      <a:r>
                        <a:rPr lang="en-AU" sz="900">
                          <a:solidFill>
                            <a:schemeClr val="tx1"/>
                          </a:solidFill>
                          <a:hlinkClick r:id="rId6">
                            <a:extLst>
                              <a:ext uri="{A12FA001-AC4F-418D-AE19-62706E023703}">
                                <ahyp:hlinkClr xmlns:ahyp="http://schemas.microsoft.com/office/drawing/2018/hyperlinkcolor" val="tx"/>
                              </a:ext>
                            </a:extLst>
                          </a:hlinkClick>
                        </a:rPr>
                        <a:t>Fraud Graph — Benchmark Dashboard</a:t>
                      </a:r>
                      <a:endPar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endParaRPr>
                    </a:p>
                    <a:p>
                      <a:pPr marL="0" indent="0">
                        <a:buFont typeface="Arial" panose="020B0604020202020204" pitchFamily="34" charset="0"/>
                        <a:buNone/>
                      </a:pP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rPr>
                        <a:t>POC </a:t>
                      </a: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sym typeface="Wingdings" panose="05000000000000000000" pitchFamily="2" charset="2"/>
                        </a:rPr>
                        <a:t>(</a:t>
                      </a: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rPr>
                        <a:t>NEO4J VS TIGER GRAPH)   </a:t>
                      </a: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sym typeface="Wingdings" panose="05000000000000000000" pitchFamily="2" charset="2"/>
                        </a:rPr>
                        <a:t>   </a:t>
                      </a:r>
                      <a:r>
                        <a:rPr lang="en-AU" sz="900">
                          <a:solidFill>
                            <a:schemeClr val="tx1"/>
                          </a:solidFill>
                          <a:hlinkClick r:id="rId7">
                            <a:extLst>
                              <a:ext uri="{A12FA001-AC4F-418D-AE19-62706E023703}">
                                <ahyp:hlinkClr xmlns:ahyp="http://schemas.microsoft.com/office/drawing/2018/hyperlinkcolor" val="tx"/>
                              </a:ext>
                            </a:extLst>
                          </a:hlinkClick>
                        </a:rPr>
                        <a:t>Graph, </a:t>
                      </a:r>
                      <a:r>
                        <a:rPr lang="en-AU" sz="900" err="1">
                          <a:solidFill>
                            <a:schemeClr val="tx1"/>
                          </a:solidFill>
                          <a:hlinkClick r:id="rId7">
                            <a:extLst>
                              <a:ext uri="{A12FA001-AC4F-418D-AE19-62706E023703}">
                                <ahyp:hlinkClr xmlns:ahyp="http://schemas.microsoft.com/office/drawing/2018/hyperlinkcolor" val="tx"/>
                              </a:ext>
                            </a:extLst>
                          </a:hlinkClick>
                        </a:rPr>
                        <a:t>GraphRAG</a:t>
                      </a:r>
                      <a:r>
                        <a:rPr lang="en-AU" sz="900">
                          <a:solidFill>
                            <a:schemeClr val="tx1"/>
                          </a:solidFill>
                          <a:hlinkClick r:id="rId7">
                            <a:extLst>
                              <a:ext uri="{A12FA001-AC4F-418D-AE19-62706E023703}">
                                <ahyp:hlinkClr xmlns:ahyp="http://schemas.microsoft.com/office/drawing/2018/hyperlinkcolor" val="tx"/>
                              </a:ext>
                            </a:extLst>
                          </a:hlinkClick>
                        </a:rPr>
                        <a:t> - Analytics - CTO Strategy and Architecture - Westpac Enterprise Confluence</a:t>
                      </a:r>
                      <a:endParaRPr lang="en-AU" sz="9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800"/>
                    </a:p>
                  </a:txBody>
                  <a:tcPr>
                    <a:solidFill>
                      <a:schemeClr val="tx2">
                        <a:lumMod val="10000"/>
                        <a:lumOff val="90000"/>
                      </a:schemeClr>
                    </a:solidFill>
                  </a:tcPr>
                </a:tc>
                <a:extLst>
                  <a:ext uri="{0D108BD9-81ED-4DB2-BD59-A6C34878D82A}">
                    <a16:rowId xmlns:a16="http://schemas.microsoft.com/office/drawing/2014/main" val="3488761819"/>
                  </a:ext>
                </a:extLst>
              </a:tr>
              <a:tr h="377198">
                <a:tc>
                  <a:txBody>
                    <a:bodyPr/>
                    <a:lstStyle/>
                    <a:p>
                      <a:r>
                        <a:rPr lang="en-AU" sz="900" b="1" u="sng">
                          <a:solidFill>
                            <a:schemeClr val="tx1"/>
                          </a:solidFill>
                        </a:rPr>
                        <a:t>NEO4j</a:t>
                      </a:r>
                      <a:br>
                        <a:rPr lang="en-AU" sz="900" b="1" u="sng">
                          <a:solidFill>
                            <a:schemeClr val="tx1"/>
                          </a:solidFill>
                        </a:rPr>
                      </a:br>
                      <a:r>
                        <a:rPr lang="en-AU" sz="900">
                          <a:solidFill>
                            <a:schemeClr val="tx1"/>
                          </a:solidFill>
                        </a:rPr>
                        <a:t>Node, Edge, Property (key-value)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AU" sz="900" b="1" u="sng" err="1">
                          <a:solidFill>
                            <a:schemeClr val="tx1"/>
                          </a:solidFill>
                          <a:sym typeface="Wingdings" panose="05000000000000000000" pitchFamily="2" charset="2"/>
                        </a:rPr>
                        <a:t>TigerGraph</a:t>
                      </a:r>
                      <a:r>
                        <a:rPr lang="en-AU" sz="900" b="0" u="none">
                          <a:solidFill>
                            <a:schemeClr val="tx1"/>
                          </a:solidFill>
                          <a:sym typeface="Wingdings" panose="05000000000000000000" pitchFamily="2" charset="2"/>
                        </a:rPr>
                        <a:t> </a:t>
                      </a:r>
                      <a:br>
                        <a:rPr lang="en-AU" sz="900" b="0" u="none">
                          <a:solidFill>
                            <a:schemeClr val="tx1"/>
                          </a:solidFill>
                          <a:sym typeface="Wingdings" panose="05000000000000000000" pitchFamily="2" charset="2"/>
                        </a:rPr>
                      </a:br>
                      <a:r>
                        <a:rPr lang="en-AU" sz="900" b="0" u="none">
                          <a:solidFill>
                            <a:schemeClr val="tx1"/>
                          </a:solidFill>
                          <a:sym typeface="Wingdings" panose="05000000000000000000" pitchFamily="2" charset="2"/>
                        </a:rPr>
                        <a:t>Vertex, Edge, Property</a:t>
                      </a:r>
                      <a:endParaRPr lang="en-AU" sz="9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102529381"/>
                  </a:ext>
                </a:extLst>
              </a:tr>
              <a:tr h="4196329">
                <a:tc>
                  <a:txBody>
                    <a:bodyPr/>
                    <a:lstStyle/>
                    <a:p>
                      <a:pPr marL="171450" indent="-171450">
                        <a:buFont typeface="Arial" panose="020B0604020202020204" pitchFamily="34" charset="0"/>
                        <a:buChar char="•"/>
                      </a:pPr>
                      <a:r>
                        <a:rPr lang="en-AU" sz="900" b="1" u="sng">
                          <a:solidFill>
                            <a:schemeClr val="tx1"/>
                          </a:solidFill>
                        </a:rPr>
                        <a:t>Storage</a:t>
                      </a:r>
                      <a:br>
                        <a:rPr lang="en-AU" sz="900">
                          <a:solidFill>
                            <a:schemeClr val="tx1"/>
                          </a:solidFill>
                        </a:rPr>
                      </a:br>
                      <a:r>
                        <a:rPr lang="en-AU" sz="900">
                          <a:solidFill>
                            <a:schemeClr val="tx1"/>
                          </a:solidFill>
                        </a:rPr>
                        <a:t>Records use specialised fixed sizes binary files for storage; the DB calculates a record’s exact position on disk using its ID</a:t>
                      </a:r>
                      <a:endParaRPr lang="en-AU" sz="900" b="0" u="sng">
                        <a:solidFill>
                          <a:schemeClr val="tx1"/>
                        </a:solidFill>
                      </a:endParaRPr>
                    </a:p>
                    <a:p>
                      <a:pPr marL="628650" lvl="1" indent="-171450">
                        <a:buFont typeface="Arial" panose="020B0604020202020204" pitchFamily="34" charset="0"/>
                        <a:buChar char="•"/>
                      </a:pPr>
                      <a:r>
                        <a:rPr lang="en-AU" sz="900" b="0" i="1" u="none" err="1">
                          <a:solidFill>
                            <a:schemeClr val="tx1"/>
                          </a:solidFill>
                        </a:rPr>
                        <a:t>Node.db</a:t>
                      </a:r>
                      <a:r>
                        <a:rPr lang="en-AU" sz="900" b="0" i="1" u="none">
                          <a:solidFill>
                            <a:schemeClr val="tx1"/>
                          </a:solidFill>
                        </a:rPr>
                        <a:t> </a:t>
                      </a:r>
                      <a:r>
                        <a:rPr lang="en-AU" sz="900" b="0" i="1" u="none">
                          <a:solidFill>
                            <a:schemeClr val="tx1"/>
                          </a:solidFill>
                          <a:sym typeface="Wingdings" panose="05000000000000000000" pitchFamily="2" charset="2"/>
                        </a:rPr>
                        <a:t> Raw NODEs</a:t>
                      </a:r>
                      <a:endParaRPr lang="en-AU" sz="900" b="0" i="1" u="none">
                        <a:solidFill>
                          <a:schemeClr val="tx1"/>
                        </a:solidFill>
                      </a:endParaRPr>
                    </a:p>
                    <a:p>
                      <a:pPr marL="628650" lvl="1" indent="-171450">
                        <a:buFont typeface="Arial" panose="020B0604020202020204" pitchFamily="34" charset="0"/>
                        <a:buChar char="•"/>
                      </a:pPr>
                      <a:r>
                        <a:rPr lang="en-AU" sz="900" b="0" i="1" u="none" err="1">
                          <a:solidFill>
                            <a:schemeClr val="tx1"/>
                          </a:solidFill>
                        </a:rPr>
                        <a:t>Relationship.db</a:t>
                      </a:r>
                      <a:r>
                        <a:rPr lang="en-AU" sz="900" b="0" i="1" u="none">
                          <a:solidFill>
                            <a:schemeClr val="tx1"/>
                          </a:solidFill>
                        </a:rPr>
                        <a:t> </a:t>
                      </a:r>
                      <a:r>
                        <a:rPr lang="en-AU" sz="900" b="0" i="1" u="none">
                          <a:solidFill>
                            <a:schemeClr val="tx1"/>
                          </a:solidFill>
                          <a:sym typeface="Wingdings" panose="05000000000000000000" pitchFamily="2" charset="2"/>
                        </a:rPr>
                        <a:t> EDGE Records</a:t>
                      </a:r>
                      <a:endParaRPr lang="en-AU" sz="900" b="0" i="1" u="none">
                        <a:solidFill>
                          <a:schemeClr val="tx1"/>
                        </a:solidFill>
                      </a:endParaRPr>
                    </a:p>
                    <a:p>
                      <a:pPr marL="628650" lvl="1" indent="-171450">
                        <a:buFont typeface="Arial" panose="020B0604020202020204" pitchFamily="34" charset="0"/>
                        <a:buChar char="•"/>
                      </a:pPr>
                      <a:r>
                        <a:rPr lang="en-AU" sz="900" b="0" i="1" u="none" err="1">
                          <a:solidFill>
                            <a:schemeClr val="tx1"/>
                          </a:solidFill>
                        </a:rPr>
                        <a:t>Properties.db</a:t>
                      </a:r>
                      <a:r>
                        <a:rPr lang="en-AU" sz="900" b="0" i="1" u="none">
                          <a:solidFill>
                            <a:schemeClr val="tx1"/>
                          </a:solidFill>
                        </a:rPr>
                        <a:t> </a:t>
                      </a:r>
                      <a:r>
                        <a:rPr lang="en-AU" sz="900" b="0" i="1" u="none">
                          <a:solidFill>
                            <a:schemeClr val="tx1"/>
                          </a:solidFill>
                          <a:sym typeface="Wingdings" panose="05000000000000000000" pitchFamily="2" charset="2"/>
                        </a:rPr>
                        <a:t> Key-Value pair (name, email, address etc)</a:t>
                      </a:r>
                      <a:endParaRPr lang="en-AU" sz="900" b="0" i="1" u="none">
                        <a:solidFill>
                          <a:schemeClr val="tx1"/>
                        </a:solidFill>
                      </a:endParaRPr>
                    </a:p>
                    <a:p>
                      <a:pPr marL="628650" lvl="1" indent="-171450">
                        <a:buFont typeface="Arial" panose="020B0604020202020204" pitchFamily="34" charset="0"/>
                        <a:buChar char="•"/>
                      </a:pPr>
                      <a:r>
                        <a:rPr lang="en-AU" sz="900" b="0" i="1" u="none" err="1">
                          <a:solidFill>
                            <a:schemeClr val="tx1"/>
                          </a:solidFill>
                        </a:rPr>
                        <a:t>Labels.db</a:t>
                      </a:r>
                      <a:r>
                        <a:rPr lang="en-AU" sz="900" b="0" i="1" u="none">
                          <a:solidFill>
                            <a:schemeClr val="tx1"/>
                          </a:solidFill>
                        </a:rPr>
                        <a:t> </a:t>
                      </a:r>
                      <a:r>
                        <a:rPr lang="en-AU" sz="900" b="0" i="1" u="none">
                          <a:solidFill>
                            <a:schemeClr val="tx1"/>
                          </a:solidFill>
                          <a:sym typeface="Wingdings" panose="05000000000000000000" pitchFamily="2" charset="2"/>
                        </a:rPr>
                        <a:t> Categories / Types (User, Product, Device etc)</a:t>
                      </a:r>
                      <a:br>
                        <a:rPr lang="en-AU" sz="900" b="0" u="none">
                          <a:solidFill>
                            <a:schemeClr val="tx1"/>
                          </a:solidFill>
                          <a:sym typeface="Wingdings" panose="05000000000000000000" pitchFamily="2" charset="2"/>
                        </a:rPr>
                      </a:br>
                      <a:endParaRPr lang="en-AU" sz="900" b="0" u="none">
                        <a:solidFill>
                          <a:schemeClr val="tx1"/>
                        </a:solidFill>
                        <a:sym typeface="Wingdings" panose="05000000000000000000" pitchFamily="2" charset="2"/>
                      </a:endParaRPr>
                    </a:p>
                    <a:p>
                      <a:pPr marL="171450" lvl="0" indent="-171450">
                        <a:buFont typeface="Arial" panose="020B0604020202020204" pitchFamily="34" charset="0"/>
                        <a:buChar char="•"/>
                      </a:pPr>
                      <a:r>
                        <a:rPr lang="en-AU" sz="900" b="1" u="sng">
                          <a:solidFill>
                            <a:schemeClr val="tx1"/>
                          </a:solidFill>
                          <a:sym typeface="Wingdings" panose="05000000000000000000" pitchFamily="2" charset="2"/>
                        </a:rPr>
                        <a:t>Query</a:t>
                      </a:r>
                      <a:br>
                        <a:rPr lang="en-AU" sz="900" b="0" u="none">
                          <a:solidFill>
                            <a:schemeClr val="tx1"/>
                          </a:solidFill>
                          <a:sym typeface="Wingdings" panose="05000000000000000000" pitchFamily="2" charset="2"/>
                        </a:rPr>
                      </a:br>
                      <a:r>
                        <a:rPr lang="en-AU" sz="900" b="0" u="sng">
                          <a:solidFill>
                            <a:schemeClr val="tx1"/>
                          </a:solidFill>
                          <a:sym typeface="Wingdings" panose="05000000000000000000" pitchFamily="2" charset="2"/>
                        </a:rPr>
                        <a:t>EXECUTION</a:t>
                      </a:r>
                      <a:br>
                        <a:rPr lang="en-AU" sz="900" b="0" u="sng">
                          <a:solidFill>
                            <a:schemeClr val="tx1"/>
                          </a:solidFill>
                          <a:sym typeface="Wingdings" panose="05000000000000000000" pitchFamily="2" charset="2"/>
                        </a:rPr>
                      </a:br>
                      <a:r>
                        <a:rPr lang="en-AU" sz="900" b="0" u="none">
                          <a:solidFill>
                            <a:schemeClr val="tx1"/>
                          </a:solidFill>
                          <a:sym typeface="Wingdings" panose="05000000000000000000" pitchFamily="2" charset="2"/>
                        </a:rPr>
                        <a:t>Every record inside NODE / RELATIONSHIP is fixed and same size, so when a data is requested Say NODEID #150, the DB just does Size*150 and reaches the exact record in the file.</a:t>
                      </a:r>
                      <a:br>
                        <a:rPr lang="en-AU" sz="900" b="0" u="none">
                          <a:solidFill>
                            <a:schemeClr val="tx1"/>
                          </a:solidFill>
                          <a:sym typeface="Wingdings" panose="05000000000000000000" pitchFamily="2" charset="2"/>
                        </a:rPr>
                      </a:br>
                      <a:r>
                        <a:rPr lang="en-AU" sz="900" b="0" u="sng">
                          <a:solidFill>
                            <a:schemeClr val="tx1"/>
                          </a:solidFill>
                          <a:sym typeface="Wingdings" panose="05000000000000000000" pitchFamily="2" charset="2"/>
                        </a:rPr>
                        <a:t>JOINS</a:t>
                      </a:r>
                      <a:br>
                        <a:rPr lang="en-AU" sz="900" b="0" u="sng">
                          <a:solidFill>
                            <a:schemeClr val="tx1"/>
                          </a:solidFill>
                          <a:sym typeface="Wingdings" panose="05000000000000000000" pitchFamily="2" charset="2"/>
                        </a:rPr>
                      </a:br>
                      <a:r>
                        <a:rPr lang="en-AU" sz="900" b="0" u="none">
                          <a:solidFill>
                            <a:schemeClr val="tx1"/>
                          </a:solidFill>
                          <a:sym typeface="Wingdings" panose="05000000000000000000" pitchFamily="2" charset="2"/>
                        </a:rPr>
                        <a:t>Lookup happens as above say for Customer – “</a:t>
                      </a:r>
                      <a:r>
                        <a:rPr lang="en-AU" sz="900" b="0" u="none" err="1">
                          <a:solidFill>
                            <a:schemeClr val="tx1"/>
                          </a:solidFill>
                          <a:sym typeface="Wingdings" panose="05000000000000000000" pitchFamily="2" charset="2"/>
                        </a:rPr>
                        <a:t>abc</a:t>
                      </a:r>
                      <a:r>
                        <a:rPr lang="en-AU" sz="900" b="0" u="none">
                          <a:solidFill>
                            <a:schemeClr val="tx1"/>
                          </a:solidFill>
                          <a:sym typeface="Wingdings" panose="05000000000000000000" pitchFamily="2" charset="2"/>
                        </a:rPr>
                        <a:t> </a:t>
                      </a:r>
                      <a:r>
                        <a:rPr lang="en-AU" sz="900" b="0" u="none" err="1">
                          <a:solidFill>
                            <a:schemeClr val="tx1"/>
                          </a:solidFill>
                          <a:sym typeface="Wingdings" panose="05000000000000000000" pitchFamily="2" charset="2"/>
                        </a:rPr>
                        <a:t>pty</a:t>
                      </a:r>
                      <a:r>
                        <a:rPr lang="en-AU" sz="900" b="0" u="none">
                          <a:solidFill>
                            <a:schemeClr val="tx1"/>
                          </a:solidFill>
                          <a:sym typeface="Wingdings" panose="05000000000000000000" pitchFamily="2" charset="2"/>
                        </a:rPr>
                        <a:t> ltd” (in </a:t>
                      </a:r>
                      <a:r>
                        <a:rPr lang="en-AU" sz="900" b="0" u="none" err="1">
                          <a:solidFill>
                            <a:schemeClr val="tx1"/>
                          </a:solidFill>
                          <a:sym typeface="Wingdings" panose="05000000000000000000" pitchFamily="2" charset="2"/>
                        </a:rPr>
                        <a:t>Node.db</a:t>
                      </a:r>
                      <a:r>
                        <a:rPr lang="en-AU" sz="900" b="0" u="none">
                          <a:solidFill>
                            <a:schemeClr val="tx1"/>
                          </a:solidFill>
                          <a:sym typeface="Wingdings" panose="05000000000000000000" pitchFamily="2" charset="2"/>
                        </a:rPr>
                        <a:t>)</a:t>
                      </a:r>
                      <a:br>
                        <a:rPr lang="en-AU" sz="900" b="0" u="none">
                          <a:solidFill>
                            <a:schemeClr val="tx1"/>
                          </a:solidFill>
                          <a:sym typeface="Wingdings" panose="05000000000000000000" pitchFamily="2" charset="2"/>
                        </a:rPr>
                      </a:br>
                      <a:r>
                        <a:rPr lang="en-AU" sz="900" b="0" u="none">
                          <a:solidFill>
                            <a:schemeClr val="tx1"/>
                          </a:solidFill>
                          <a:sym typeface="Wingdings" panose="05000000000000000000" pitchFamily="2" charset="2"/>
                        </a:rPr>
                        <a:t>This node contains the exact byte address for the first edge (in </a:t>
                      </a:r>
                      <a:r>
                        <a:rPr lang="en-AU" sz="900" b="0" u="none" err="1">
                          <a:solidFill>
                            <a:schemeClr val="tx1"/>
                          </a:solidFill>
                          <a:sym typeface="Wingdings" panose="05000000000000000000" pitchFamily="2" charset="2"/>
                        </a:rPr>
                        <a:t>Relationship.db</a:t>
                      </a:r>
                      <a:r>
                        <a:rPr lang="en-AU" sz="900" b="0" u="none">
                          <a:solidFill>
                            <a:schemeClr val="tx1"/>
                          </a:solidFill>
                          <a:sym typeface="Wingdings" panose="05000000000000000000" pitchFamily="2" charset="2"/>
                        </a:rPr>
                        <a:t>)</a:t>
                      </a:r>
                      <a:br>
                        <a:rPr lang="en-AU" sz="900" b="0" u="none">
                          <a:solidFill>
                            <a:schemeClr val="tx1"/>
                          </a:solidFill>
                          <a:sym typeface="Wingdings" panose="05000000000000000000" pitchFamily="2" charset="2"/>
                        </a:rPr>
                      </a:br>
                      <a:r>
                        <a:rPr lang="en-AU" sz="900" b="0" u="none">
                          <a:solidFill>
                            <a:schemeClr val="tx1"/>
                          </a:solidFill>
                          <a:sym typeface="Wingdings" panose="05000000000000000000" pitchFamily="2" charset="2"/>
                        </a:rPr>
                        <a:t>The edge record contains the exact byte address for the next node</a:t>
                      </a:r>
                      <a:br>
                        <a:rPr lang="en-AU" sz="900" b="0" u="none">
                          <a:solidFill>
                            <a:schemeClr val="tx1"/>
                          </a:solidFill>
                          <a:sym typeface="Wingdings" panose="05000000000000000000" pitchFamily="2" charset="2"/>
                        </a:rPr>
                      </a:br>
                      <a:r>
                        <a:rPr lang="en-AU" sz="900" b="0" u="none">
                          <a:solidFill>
                            <a:schemeClr val="tx1"/>
                          </a:solidFill>
                          <a:sym typeface="Wingdings" panose="05000000000000000000" pitchFamily="2" charset="2"/>
                        </a:rPr>
                        <a:t>This is how things are chained together</a:t>
                      </a:r>
                    </a:p>
                    <a:p>
                      <a:pPr marL="457200" lvl="1" indent="0">
                        <a:buFont typeface="Arial" panose="020B0604020202020204" pitchFamily="34" charset="0"/>
                        <a:buNone/>
                      </a:pPr>
                      <a:endParaRPr lang="en-AU" sz="900" b="0" u="none">
                        <a:solidFill>
                          <a:schemeClr val="tx1"/>
                        </a:solidFill>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AU" sz="900" b="0" u="none">
                        <a:solidFill>
                          <a:schemeClr val="tx1"/>
                        </a:solidFill>
                        <a:sym typeface="Wingdings" panose="05000000000000000000" pitchFamily="2"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b="1" u="sng">
                          <a:solidFill>
                            <a:schemeClr val="tx1"/>
                          </a:solidFill>
                          <a:sym typeface="Wingdings" panose="05000000000000000000" pitchFamily="2" charset="2"/>
                        </a:rPr>
                        <a:t>Storage </a:t>
                      </a:r>
                      <a:r>
                        <a:rPr lang="en-AU" sz="900" b="0" u="none">
                          <a:solidFill>
                            <a:schemeClr val="tx1"/>
                          </a:solidFill>
                          <a:sym typeface="Wingdings" panose="05000000000000000000" pitchFamily="2" charset="2"/>
                        </a:rPr>
                        <a:t> Native Parallel Graph </a:t>
                      </a:r>
                      <a:br>
                        <a:rPr lang="en-AU" sz="900" b="0" u="none">
                          <a:solidFill>
                            <a:schemeClr val="tx1"/>
                          </a:solidFill>
                          <a:sym typeface="Wingdings" panose="05000000000000000000" pitchFamily="2" charset="2"/>
                        </a:rPr>
                      </a:br>
                      <a:r>
                        <a:rPr lang="en-AU" sz="900" b="0" u="none">
                          <a:solidFill>
                            <a:schemeClr val="tx1"/>
                          </a:solidFill>
                          <a:sym typeface="Wingdings" panose="05000000000000000000" pitchFamily="2" charset="2"/>
                        </a:rPr>
                        <a:t>Rather that static fixed size lines in file, it treats every single vertex (node) and edge as active, parallel storage and computational unit.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b="0" i="1" u="none">
                          <a:solidFill>
                            <a:schemeClr val="tx1"/>
                          </a:solidFill>
                          <a:sym typeface="Wingdings" panose="05000000000000000000" pitchFamily="2" charset="2"/>
                        </a:rPr>
                        <a:t>3 Tier storage  RAM, CPU, DISK Storage layers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b="0" i="1" u="none">
                          <a:solidFill>
                            <a:schemeClr val="tx1"/>
                          </a:solidFill>
                          <a:sym typeface="Wingdings" panose="05000000000000000000" pitchFamily="2" charset="2"/>
                        </a:rPr>
                        <a:t>Partitions  Segments concepts (Data grouping works on Vertex type for data locality)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b="0" i="1" u="none">
                          <a:solidFill>
                            <a:schemeClr val="tx1"/>
                          </a:solidFill>
                          <a:sym typeface="Wingdings" panose="05000000000000000000" pitchFamily="2" charset="2"/>
                        </a:rPr>
                        <a:t>For a RECORD ,</a:t>
                      </a:r>
                      <a:br>
                        <a:rPr lang="en-AU" sz="900" b="0" i="1" u="none">
                          <a:solidFill>
                            <a:schemeClr val="tx1"/>
                          </a:solidFill>
                          <a:sym typeface="Wingdings" panose="05000000000000000000" pitchFamily="2" charset="2"/>
                        </a:rPr>
                      </a:br>
                      <a:r>
                        <a:rPr lang="en-AU" sz="900" b="0" i="1" u="none">
                          <a:solidFill>
                            <a:schemeClr val="tx1"/>
                          </a:solidFill>
                          <a:sym typeface="Wingdings" panose="05000000000000000000" pitchFamily="2" charset="2"/>
                        </a:rPr>
                        <a:t>ID MAPPING   [EXTERNALID]  [INTERNALID]</a:t>
                      </a:r>
                      <a:br>
                        <a:rPr lang="en-AU" sz="900" b="0" i="1" u="none">
                          <a:solidFill>
                            <a:schemeClr val="tx1"/>
                          </a:solidFill>
                          <a:sym typeface="Wingdings" panose="05000000000000000000" pitchFamily="2" charset="2"/>
                        </a:rPr>
                      </a:br>
                      <a:r>
                        <a:rPr lang="en-AU" sz="900" b="0" i="1" u="none">
                          <a:solidFill>
                            <a:schemeClr val="tx1"/>
                          </a:solidFill>
                          <a:sym typeface="Wingdings" panose="05000000000000000000" pitchFamily="2" charset="2"/>
                        </a:rPr>
                        <a:t>VERTEX STORE  [INTERNALID] [ATTRIBUTES / PROPERTIES]</a:t>
                      </a:r>
                      <a:br>
                        <a:rPr lang="en-AU" sz="900" b="0" i="1" u="none">
                          <a:solidFill>
                            <a:schemeClr val="tx1"/>
                          </a:solidFill>
                          <a:sym typeface="Wingdings" panose="05000000000000000000" pitchFamily="2" charset="2"/>
                        </a:rPr>
                      </a:br>
                      <a:r>
                        <a:rPr lang="en-AU" sz="900" b="0" i="1" u="none">
                          <a:solidFill>
                            <a:schemeClr val="tx1"/>
                          </a:solidFill>
                          <a:sym typeface="Wingdings" panose="05000000000000000000" pitchFamily="2" charset="2"/>
                        </a:rPr>
                        <a:t>EDGE STORE  [TARGETID] [TARGETID] [EDGE PROPERTIES] </a:t>
                      </a:r>
                      <a:br>
                        <a:rPr lang="en-AU" sz="900" b="0" i="1" u="none">
                          <a:solidFill>
                            <a:schemeClr val="tx1"/>
                          </a:solidFill>
                          <a:sym typeface="Wingdings" panose="05000000000000000000" pitchFamily="2" charset="2"/>
                        </a:rPr>
                      </a:br>
                      <a:endParaRPr lang="en-AU" sz="900" b="0" i="1" u="none">
                        <a:solidFill>
                          <a:schemeClr val="tx1"/>
                        </a:solidFill>
                        <a:sym typeface="Wingdings" panose="05000000000000000000" pitchFamily="2" charset="2"/>
                      </a:endParaRPr>
                    </a:p>
                    <a:p>
                      <a:pPr marL="171450" indent="-171450">
                        <a:buFont typeface="Arial" panose="020B0604020202020204" pitchFamily="34" charset="0"/>
                        <a:buChar char="•"/>
                      </a:pPr>
                      <a:r>
                        <a:rPr lang="en-AU" sz="900" b="1" u="sng">
                          <a:solidFill>
                            <a:schemeClr val="tx1"/>
                          </a:solidFill>
                        </a:rPr>
                        <a:t>Query</a:t>
                      </a:r>
                      <a:br>
                        <a:rPr lang="en-AU" sz="900" b="1" u="sng">
                          <a:solidFill>
                            <a:schemeClr val="tx1"/>
                          </a:solidFill>
                        </a:rPr>
                      </a:br>
                      <a:r>
                        <a:rPr lang="en-AU" sz="900" b="0" i="0" u="sng">
                          <a:solidFill>
                            <a:schemeClr val="tx1"/>
                          </a:solidFill>
                        </a:rPr>
                        <a:t>BIDIRECTIONAL ID MAPPING</a:t>
                      </a:r>
                      <a:br>
                        <a:rPr lang="en-AU" sz="900" b="0" u="none">
                          <a:solidFill>
                            <a:schemeClr val="tx1"/>
                          </a:solidFill>
                        </a:rPr>
                      </a:br>
                      <a:r>
                        <a:rPr lang="en-AU" sz="900" b="0" u="none">
                          <a:solidFill>
                            <a:schemeClr val="tx1"/>
                          </a:solidFill>
                        </a:rPr>
                        <a:t>When data is loaded, it converts data attributes to internal compact ID. This Id maps directly to the array slot in memory</a:t>
                      </a:r>
                      <a:br>
                        <a:rPr lang="en-AU" sz="900" b="0" u="none">
                          <a:solidFill>
                            <a:schemeClr val="tx1"/>
                          </a:solidFill>
                        </a:rPr>
                      </a:br>
                      <a:r>
                        <a:rPr lang="en-AU" sz="900" b="0" u="sng">
                          <a:solidFill>
                            <a:schemeClr val="tx1"/>
                          </a:solidFill>
                        </a:rPr>
                        <a:t>COLOCATED VERTEX DATA</a:t>
                      </a:r>
                      <a:br>
                        <a:rPr lang="en-AU" sz="900" b="0" u="sng">
                          <a:solidFill>
                            <a:schemeClr val="tx1"/>
                          </a:solidFill>
                        </a:rPr>
                      </a:br>
                      <a:r>
                        <a:rPr lang="en-AU" sz="900" b="0" u="none">
                          <a:solidFill>
                            <a:schemeClr val="tx1"/>
                          </a:solidFill>
                        </a:rPr>
                        <a:t>Attributes / Properties are stored right along side the vertex in the same memory allocation. Old graphs are stored in separate files with Pointer references. These too are stored along side the node</a:t>
                      </a:r>
                      <a:br>
                        <a:rPr lang="en-AU" sz="900" b="0" u="none">
                          <a:solidFill>
                            <a:schemeClr val="tx1"/>
                          </a:solidFill>
                        </a:rPr>
                      </a:br>
                      <a:r>
                        <a:rPr lang="en-AU" sz="900" b="0" u="sng">
                          <a:solidFill>
                            <a:schemeClr val="tx1"/>
                          </a:solidFill>
                        </a:rPr>
                        <a:t>SEGMENTED EDGE DATA</a:t>
                      </a:r>
                      <a:br>
                        <a:rPr lang="en-AU" sz="900" b="0" u="sng">
                          <a:solidFill>
                            <a:schemeClr val="tx1"/>
                          </a:solidFill>
                        </a:rPr>
                      </a:br>
                      <a:r>
                        <a:rPr lang="en-AU" sz="900" b="0" u="none">
                          <a:solidFill>
                            <a:schemeClr val="tx1"/>
                          </a:solidFill>
                        </a:rPr>
                        <a:t>EDGEs are partitioned by Source &amp; Internal ID. EDGE attributes are directly collocated with destination targets</a:t>
                      </a:r>
                      <a:br>
                        <a:rPr lang="en-AU" sz="900" b="0" u="none">
                          <a:solidFill>
                            <a:schemeClr val="tx1"/>
                          </a:solidFill>
                        </a:rPr>
                      </a:br>
                      <a:endParaRPr lang="en-AU" sz="900" b="0" u="none">
                        <a:solidFill>
                          <a:schemeClr val="tx1"/>
                        </a:solidFill>
                      </a:endParaRPr>
                    </a:p>
                    <a:p>
                      <a:pPr marL="171450" indent="-171450">
                        <a:buFont typeface="Arial" panose="020B0604020202020204" pitchFamily="34" charset="0"/>
                        <a:buChar char="•"/>
                      </a:pPr>
                      <a:r>
                        <a:rPr lang="en-AU" sz="900" b="1" u="sng">
                          <a:solidFill>
                            <a:schemeClr val="tx1"/>
                          </a:solidFill>
                        </a:rPr>
                        <a:t>Data Compression</a:t>
                      </a:r>
                      <a:br>
                        <a:rPr lang="en-AU" sz="900" b="1" u="sng">
                          <a:solidFill>
                            <a:schemeClr val="tx1"/>
                          </a:solidFill>
                        </a:rPr>
                      </a:br>
                      <a:r>
                        <a:rPr lang="en-AU" sz="900" b="0" u="none">
                          <a:solidFill>
                            <a:schemeClr val="tx1"/>
                          </a:solidFill>
                        </a:rPr>
                        <a:t>As everything is in RAM, it uses GSE (Graph Storage Engine) based compression scheme. 10X compression ratio.</a:t>
                      </a:r>
                      <a:br>
                        <a:rPr lang="en-AU" sz="900" b="0" u="none">
                          <a:solidFill>
                            <a:schemeClr val="tx1"/>
                          </a:solidFill>
                        </a:rPr>
                      </a:br>
                      <a:r>
                        <a:rPr lang="en-AU" sz="900" b="0" u="none">
                          <a:solidFill>
                            <a:schemeClr val="tx1"/>
                          </a:solidFill>
                        </a:rPr>
                        <a:t>How  </a:t>
                      </a:r>
                      <a:r>
                        <a:rPr lang="en-AU" sz="900" b="0" u="none">
                          <a:solidFill>
                            <a:schemeClr val="tx1"/>
                          </a:solidFill>
                          <a:sym typeface="Wingdings" panose="05000000000000000000" pitchFamily="2" charset="2"/>
                        </a:rPr>
                        <a:t> Tokenize repetitive strings, mapping ID to bit-vectors and strips out empty bytes.</a:t>
                      </a:r>
                      <a:br>
                        <a:rPr lang="en-AU" sz="900" b="0" u="none">
                          <a:solidFill>
                            <a:schemeClr val="tx1"/>
                          </a:solidFill>
                          <a:sym typeface="Wingdings" panose="05000000000000000000" pitchFamily="2" charset="2"/>
                        </a:rPr>
                      </a:br>
                      <a:endParaRPr lang="en-AU" sz="900" b="0" u="none">
                        <a:solidFill>
                          <a:schemeClr val="tx1"/>
                        </a:solidFill>
                        <a:sym typeface="Wingdings" panose="05000000000000000000" pitchFamily="2" charset="2"/>
                      </a:endParaRPr>
                    </a:p>
                    <a:p>
                      <a:pPr marL="171450" indent="-171450">
                        <a:buFont typeface="Arial" panose="020B0604020202020204" pitchFamily="34" charset="0"/>
                        <a:buChar char="•"/>
                      </a:pPr>
                      <a:r>
                        <a:rPr lang="en-AU" sz="900" b="1" u="sng">
                          <a:solidFill>
                            <a:schemeClr val="tx1"/>
                          </a:solidFill>
                          <a:sym typeface="Wingdings" panose="05000000000000000000" pitchFamily="2" charset="2"/>
                        </a:rPr>
                        <a:t>Distributed Sharding (auto partitioning)</a:t>
                      </a:r>
                      <a:br>
                        <a:rPr lang="en-AU" sz="900" b="1" u="sng">
                          <a:solidFill>
                            <a:schemeClr val="tx1"/>
                          </a:solidFill>
                          <a:sym typeface="Wingdings" panose="05000000000000000000" pitchFamily="2" charset="2"/>
                        </a:rPr>
                      </a:br>
                      <a:r>
                        <a:rPr lang="en-AU" sz="900" b="0" u="none">
                          <a:solidFill>
                            <a:schemeClr val="tx1"/>
                          </a:solidFill>
                          <a:sym typeface="Wingdings" panose="05000000000000000000" pitchFamily="2" charset="2"/>
                        </a:rPr>
                        <a:t>Auto distribution when graph becomes too large for a single machine and automatically distributes it to the cluster.</a:t>
                      </a:r>
                      <a:br>
                        <a:rPr lang="en-AU" sz="900" b="0" u="none">
                          <a:solidFill>
                            <a:schemeClr val="tx1"/>
                          </a:solidFill>
                          <a:sym typeface="Wingdings" panose="05000000000000000000" pitchFamily="2" charset="2"/>
                        </a:rPr>
                      </a:br>
                      <a:r>
                        <a:rPr lang="en-AU" sz="900" b="0" u="sng">
                          <a:solidFill>
                            <a:schemeClr val="tx1"/>
                          </a:solidFill>
                        </a:rPr>
                        <a:t>VERTEX HASHING</a:t>
                      </a:r>
                      <a:br>
                        <a:rPr lang="en-AU" sz="900" b="0" u="sng">
                          <a:solidFill>
                            <a:schemeClr val="tx1"/>
                          </a:solidFill>
                        </a:rPr>
                      </a:br>
                      <a:r>
                        <a:rPr lang="en-AU" sz="900" b="0" u="none">
                          <a:solidFill>
                            <a:schemeClr val="tx1"/>
                          </a:solidFill>
                        </a:rPr>
                        <a:t>Vertex is assigned to specific machine based on ID</a:t>
                      </a:r>
                      <a:br>
                        <a:rPr lang="en-AU" sz="900" b="0" u="none">
                          <a:solidFill>
                            <a:schemeClr val="tx1"/>
                          </a:solidFill>
                        </a:rPr>
                      </a:br>
                      <a:r>
                        <a:rPr lang="en-AU" sz="900" b="0" u="sng">
                          <a:solidFill>
                            <a:schemeClr val="tx1"/>
                          </a:solidFill>
                        </a:rPr>
                        <a:t>EDGE DISTRIBUTION</a:t>
                      </a:r>
                      <a:br>
                        <a:rPr lang="en-AU" sz="900" b="0" u="sng">
                          <a:solidFill>
                            <a:schemeClr val="tx1"/>
                          </a:solidFill>
                        </a:rPr>
                      </a:br>
                      <a:r>
                        <a:rPr lang="en-AU" sz="900" b="0" u="none">
                          <a:solidFill>
                            <a:schemeClr val="tx1"/>
                          </a:solidFill>
                        </a:rPr>
                        <a:t>If  2 connected nodes are across different machines, the connection is established by duplicating the edge information across both machines OR we have an option to stream across network for linkages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5152237"/>
                  </a:ext>
                </a:extLst>
              </a:tr>
            </a:tbl>
          </a:graphicData>
        </a:graphic>
      </p:graphicFrame>
      <p:sp>
        <p:nvSpPr>
          <p:cNvPr id="110" name="TextBox 109">
            <a:extLst>
              <a:ext uri="{FF2B5EF4-FFF2-40B4-BE49-F238E27FC236}">
                <a16:creationId xmlns:a16="http://schemas.microsoft.com/office/drawing/2014/main" id="{750A4895-77A0-7177-63CC-ADC21426EB0B}"/>
              </a:ext>
            </a:extLst>
          </p:cNvPr>
          <p:cNvSpPr txBox="1"/>
          <p:nvPr/>
        </p:nvSpPr>
        <p:spPr>
          <a:xfrm>
            <a:off x="84666" y="46784"/>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GRAPH – Storage, Retrieval</a:t>
            </a:r>
            <a:endParaRPr kumimoji="0" sz="3000" b="1" i="0" u="none" strike="noStrike" kern="1200" cap="none" spc="0" normalizeH="0" baseline="0" noProof="0">
              <a:ln>
                <a:noFill/>
              </a:ln>
              <a:effectLst/>
              <a:uLnTx/>
              <a:uFillTx/>
              <a:latin typeface="Calibri"/>
              <a:ea typeface="+mn-ea"/>
              <a:cs typeface="+mn-cs"/>
            </a:endParaRPr>
          </a:p>
        </p:txBody>
      </p:sp>
    </p:spTree>
    <p:extLst>
      <p:ext uri="{BB962C8B-B14F-4D97-AF65-F5344CB8AC3E}">
        <p14:creationId xmlns:p14="http://schemas.microsoft.com/office/powerpoint/2010/main" val="2272319928"/>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7027AEBA-FEAD-0FF6-1F15-676315D8E9C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1DC8B1B-62F9-105B-B9B0-B133A6D5A255}"/>
              </a:ext>
            </a:extLst>
          </p:cNvPr>
          <p:cNvGraphicFramePr>
            <a:graphicFrameLocks noGrp="1"/>
          </p:cNvGraphicFramePr>
          <p:nvPr>
            <p:extLst>
              <p:ext uri="{D42A27DB-BD31-4B8C-83A1-F6EECF244321}">
                <p14:modId xmlns:p14="http://schemas.microsoft.com/office/powerpoint/2010/main" val="2368970588"/>
              </p:ext>
            </p:extLst>
          </p:nvPr>
        </p:nvGraphicFramePr>
        <p:xfrm>
          <a:off x="152400" y="799967"/>
          <a:ext cx="11819468" cy="5968356"/>
        </p:xfrm>
        <a:graphic>
          <a:graphicData uri="http://schemas.openxmlformats.org/drawingml/2006/table">
            <a:tbl>
              <a:tblPr firstRow="1" bandRow="1">
                <a:tableStyleId>{5C22544A-7EE6-4342-B048-85BDC9FD1C3A}</a:tableStyleId>
              </a:tblPr>
              <a:tblGrid>
                <a:gridCol w="5909734">
                  <a:extLst>
                    <a:ext uri="{9D8B030D-6E8A-4147-A177-3AD203B41FA5}">
                      <a16:colId xmlns:a16="http://schemas.microsoft.com/office/drawing/2014/main" val="191090848"/>
                    </a:ext>
                  </a:extLst>
                </a:gridCol>
                <a:gridCol w="5909734">
                  <a:extLst>
                    <a:ext uri="{9D8B030D-6E8A-4147-A177-3AD203B41FA5}">
                      <a16:colId xmlns:a16="http://schemas.microsoft.com/office/drawing/2014/main" val="787868451"/>
                    </a:ext>
                  </a:extLst>
                </a:gridCol>
              </a:tblGrid>
              <a:tr h="446226">
                <a:tc gridSpan="2">
                  <a:txBody>
                    <a:bodyPr/>
                    <a:lstStyle/>
                    <a:p>
                      <a:pPr algn="ctr"/>
                      <a:r>
                        <a:rPr lang="en-AU" sz="1200"/>
                        <a:t>Custom Built</a:t>
                      </a:r>
                    </a:p>
                    <a:p>
                      <a:pPr algn="l"/>
                      <a:r>
                        <a:rPr lang="en-AU" sz="900" b="0" i="0" kern="1200">
                          <a:solidFill>
                            <a:schemeClr val="lt1"/>
                          </a:solidFill>
                          <a:effectLst/>
                          <a:latin typeface="+mn-lt"/>
                          <a:ea typeface="+mn-ea"/>
                          <a:cs typeface="+mn-cs"/>
                        </a:rPr>
                        <a:t>Batch ingestion in graph databases involves the insertion or updating of nodes and relationships in bulk. </a:t>
                      </a:r>
                      <a:br>
                        <a:rPr lang="en-AU" sz="900" b="0" i="0" kern="1200">
                          <a:solidFill>
                            <a:schemeClr val="lt1"/>
                          </a:solidFill>
                          <a:effectLst/>
                          <a:latin typeface="+mn-lt"/>
                          <a:ea typeface="+mn-ea"/>
                          <a:cs typeface="+mn-cs"/>
                        </a:rPr>
                      </a:br>
                      <a:r>
                        <a:rPr lang="en-AU" sz="900" b="0" i="0" kern="1200">
                          <a:solidFill>
                            <a:schemeClr val="lt1"/>
                          </a:solidFill>
                          <a:effectLst/>
                          <a:latin typeface="+mn-lt"/>
                          <a:ea typeface="+mn-ea"/>
                          <a:cs typeface="+mn-cs"/>
                        </a:rPr>
                        <a:t>Realtime ingestion in graph databases involves capturing streaming data from sources such as Kafka, MQTT, or webhooks and updating the graph . </a:t>
                      </a:r>
                      <a:endParaRPr lang="en-AU"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hMerge="1">
                  <a:txBody>
                    <a:bodyPr/>
                    <a:lstStyle/>
                    <a:p>
                      <a:endParaRPr lang="en-AU" sz="800"/>
                    </a:p>
                  </a:txBody>
                  <a:tcPr>
                    <a:solidFill>
                      <a:schemeClr val="tx2">
                        <a:lumMod val="75000"/>
                        <a:lumOff val="25000"/>
                      </a:schemeClr>
                    </a:solidFill>
                  </a:tcPr>
                </a:tc>
                <a:extLst>
                  <a:ext uri="{0D108BD9-81ED-4DB2-BD59-A6C34878D82A}">
                    <a16:rowId xmlns:a16="http://schemas.microsoft.com/office/drawing/2014/main" val="1005196009"/>
                  </a:ext>
                </a:extLst>
              </a:tr>
              <a:tr h="460171">
                <a:tc>
                  <a:txBody>
                    <a:bodyPr/>
                    <a:lstStyle/>
                    <a:p>
                      <a:r>
                        <a:rPr lang="en-AU" sz="900" b="1" u="sng"/>
                        <a:t>NEO4j</a:t>
                      </a:r>
                      <a:br>
                        <a:rPr lang="en-AU" sz="900" b="1" u="sng"/>
                      </a:br>
                      <a:r>
                        <a:rPr lang="en-AU" sz="900"/>
                        <a:t>Node, Edge, Property (key-value)</a:t>
                      </a:r>
                      <a:br>
                        <a:rPr lang="en-AU" sz="900"/>
                      </a:br>
                      <a:r>
                        <a:rPr lang="en-AU" sz="900"/>
                        <a:t>CSV -&gt; APOC iterate -&gt; MERGE -&gt; Update properties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AU" sz="900" b="1" u="sng" err="1">
                          <a:sym typeface="Wingdings" panose="05000000000000000000" pitchFamily="2" charset="2"/>
                        </a:rPr>
                        <a:t>TigerGraph</a:t>
                      </a:r>
                      <a:r>
                        <a:rPr lang="en-AU" sz="900" b="0" u="none">
                          <a:sym typeface="Wingdings" panose="05000000000000000000" pitchFamily="2" charset="2"/>
                        </a:rPr>
                        <a:t> </a:t>
                      </a:r>
                      <a:br>
                        <a:rPr lang="en-AU" sz="900" b="0" u="none">
                          <a:sym typeface="Wingdings" panose="05000000000000000000" pitchFamily="2" charset="2"/>
                        </a:rPr>
                      </a:br>
                      <a:r>
                        <a:rPr lang="en-AU" sz="900" b="0" u="none">
                          <a:sym typeface="Wingdings" panose="05000000000000000000" pitchFamily="2" charset="2"/>
                        </a:rPr>
                        <a:t>Vertex, Edge, Property</a:t>
                      </a:r>
                    </a:p>
                    <a:p>
                      <a:r>
                        <a:rPr lang="en-US" sz="900"/>
                        <a:t>CSV -&gt; GSQL loading job -&gt; </a:t>
                      </a:r>
                      <a:r>
                        <a:rPr lang="en-US" sz="900" err="1"/>
                        <a:t>Upsert</a:t>
                      </a:r>
                      <a:r>
                        <a:rPr lang="en-US" sz="900"/>
                        <a:t> -&gt; Parallel bulk insertion</a:t>
                      </a:r>
                      <a:endParaRPr lang="en-AU"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102529381"/>
                  </a:ext>
                </a:extLst>
              </a:tr>
              <a:tr h="3541921">
                <a:tc>
                  <a:txBody>
                    <a:bodyPr/>
                    <a:lstStyle/>
                    <a:p>
                      <a:pPr marL="171450" indent="-171450">
                        <a:buFont typeface="Arial" panose="020B0604020202020204" pitchFamily="34" charset="0"/>
                        <a:buChar char="•"/>
                      </a:pPr>
                      <a:r>
                        <a:rPr lang="en-AU" sz="900" b="1" u="sng"/>
                        <a:t>BATCH</a:t>
                      </a:r>
                    </a:p>
                    <a:p>
                      <a:pPr marL="0" indent="0">
                        <a:buFont typeface="Arial" panose="020B0604020202020204" pitchFamily="34" charset="0"/>
                        <a:buNone/>
                      </a:pPr>
                      <a:r>
                        <a:rPr lang="en-AU" sz="900" b="0" u="sng"/>
                        <a:t>LOAD CSV</a:t>
                      </a:r>
                      <a:br>
                        <a:rPr lang="en-AU" sz="900" b="0" u="none"/>
                      </a:br>
                      <a:r>
                        <a:rPr lang="en-US" sz="900" b="0" u="none"/>
                        <a:t>MERGE ensures idempotent updates—nodes/relationships are created if they do not exist, otherwise updated.</a:t>
                      </a:r>
                      <a:br>
                        <a:rPr lang="en-US" sz="900" b="0" u="none"/>
                      </a:br>
                      <a:r>
                        <a:rPr lang="en-US" sz="900" b="0" u="none"/>
                        <a:t>For very large datasets, Neo4j’s neo4j-admin import tool is recommended for initial imports (offline batch import).</a:t>
                      </a:r>
                      <a:br>
                        <a:rPr lang="en-US" sz="900" b="0" u="none"/>
                      </a:br>
                      <a:endParaRPr lang="en-AU" sz="900" b="0" u="none"/>
                    </a:p>
                    <a:p>
                      <a:pPr marL="0" lvl="0" indent="0">
                        <a:buFont typeface="Arial" panose="020B0604020202020204" pitchFamily="34" charset="0"/>
                        <a:buNone/>
                      </a:pPr>
                      <a:r>
                        <a:rPr lang="en-AU" sz="900" b="0" i="1" u="none">
                          <a:solidFill>
                            <a:srgbClr val="00B050"/>
                          </a:solidFill>
                        </a:rPr>
                        <a:t>// Load nodes from CSV</a:t>
                      </a:r>
                    </a:p>
                    <a:p>
                      <a:pPr marL="0" lvl="0" indent="0">
                        <a:buFont typeface="Arial" panose="020B0604020202020204" pitchFamily="34" charset="0"/>
                        <a:buNone/>
                      </a:pPr>
                      <a:r>
                        <a:rPr lang="en-AU" sz="900" b="0" i="1" u="none">
                          <a:solidFill>
                            <a:srgbClr val="00B050"/>
                          </a:solidFill>
                        </a:rPr>
                        <a:t>LOAD CSV WITH HEADERS FROM 'file:///nodes.csv' AS row</a:t>
                      </a:r>
                    </a:p>
                    <a:p>
                      <a:pPr marL="0" lvl="0" indent="0">
                        <a:buFont typeface="Arial" panose="020B0604020202020204" pitchFamily="34" charset="0"/>
                        <a:buNone/>
                      </a:pPr>
                      <a:r>
                        <a:rPr lang="en-AU" sz="900" b="0" i="1" u="none">
                          <a:solidFill>
                            <a:srgbClr val="00B050"/>
                          </a:solidFill>
                        </a:rPr>
                        <a:t>MERGE (</a:t>
                      </a:r>
                      <a:r>
                        <a:rPr lang="en-AU" sz="900" b="0" i="1" u="none" err="1">
                          <a:solidFill>
                            <a:srgbClr val="00B050"/>
                          </a:solidFill>
                        </a:rPr>
                        <a:t>n:Customer</a:t>
                      </a:r>
                      <a:r>
                        <a:rPr lang="en-AU" sz="900" b="0" i="1" u="none">
                          <a:solidFill>
                            <a:srgbClr val="00B050"/>
                          </a:solidFill>
                        </a:rPr>
                        <a:t> {id: row.id}) SET n.name = row.name;</a:t>
                      </a:r>
                    </a:p>
                    <a:p>
                      <a:pPr marL="0" lvl="0" indent="0">
                        <a:buFont typeface="Arial" panose="020B0604020202020204" pitchFamily="34" charset="0"/>
                        <a:buNone/>
                      </a:pPr>
                      <a:r>
                        <a:rPr lang="en-AU" sz="900" b="0" i="1" u="none">
                          <a:solidFill>
                            <a:srgbClr val="00B050"/>
                          </a:solidFill>
                        </a:rPr>
                        <a:t>// Load relationships from CSV</a:t>
                      </a:r>
                    </a:p>
                    <a:p>
                      <a:pPr marL="0" lvl="0" indent="0">
                        <a:buFont typeface="Arial" panose="020B0604020202020204" pitchFamily="34" charset="0"/>
                        <a:buNone/>
                      </a:pPr>
                      <a:r>
                        <a:rPr lang="en-AU" sz="900" b="0" i="1" u="none">
                          <a:solidFill>
                            <a:srgbClr val="00B050"/>
                          </a:solidFill>
                        </a:rPr>
                        <a:t>LOAD CSV WITH HEADERS FROM 'file:///relationships.csv' AS row</a:t>
                      </a:r>
                    </a:p>
                    <a:p>
                      <a:pPr marL="0" lvl="0" indent="0">
                        <a:buFont typeface="Arial" panose="020B0604020202020204" pitchFamily="34" charset="0"/>
                        <a:buNone/>
                      </a:pPr>
                      <a:r>
                        <a:rPr lang="en-AU" sz="900" b="0" i="1" u="none">
                          <a:solidFill>
                            <a:srgbClr val="00B050"/>
                          </a:solidFill>
                        </a:rPr>
                        <a:t>MATCH (</a:t>
                      </a:r>
                      <a:r>
                        <a:rPr lang="en-AU" sz="900" b="0" i="1" u="none" err="1">
                          <a:solidFill>
                            <a:srgbClr val="00B050"/>
                          </a:solidFill>
                        </a:rPr>
                        <a:t>a:Customer</a:t>
                      </a:r>
                      <a:r>
                        <a:rPr lang="en-AU" sz="900" b="0" i="1" u="none">
                          <a:solidFill>
                            <a:srgbClr val="00B050"/>
                          </a:solidFill>
                        </a:rPr>
                        <a:t> {id: </a:t>
                      </a:r>
                      <a:r>
                        <a:rPr lang="en-AU" sz="900" b="0" i="1" u="none" err="1">
                          <a:solidFill>
                            <a:srgbClr val="00B050"/>
                          </a:solidFill>
                        </a:rPr>
                        <a:t>row.source_id</a:t>
                      </a:r>
                      <a:r>
                        <a:rPr lang="en-AU" sz="900" b="0" i="1" u="none">
                          <a:solidFill>
                            <a:srgbClr val="00B050"/>
                          </a:solidFill>
                        </a:rPr>
                        <a:t>}), (</a:t>
                      </a:r>
                      <a:r>
                        <a:rPr lang="en-AU" sz="900" b="0" i="1" u="none" err="1">
                          <a:solidFill>
                            <a:srgbClr val="00B050"/>
                          </a:solidFill>
                        </a:rPr>
                        <a:t>b:Account</a:t>
                      </a:r>
                      <a:r>
                        <a:rPr lang="en-AU" sz="900" b="0" i="1" u="none">
                          <a:solidFill>
                            <a:srgbClr val="00B050"/>
                          </a:solidFill>
                        </a:rPr>
                        <a:t> {id: </a:t>
                      </a:r>
                      <a:r>
                        <a:rPr lang="en-AU" sz="900" b="0" i="1" u="none" err="1">
                          <a:solidFill>
                            <a:srgbClr val="00B050"/>
                          </a:solidFill>
                        </a:rPr>
                        <a:t>row.target_id</a:t>
                      </a:r>
                      <a:r>
                        <a:rPr lang="en-AU" sz="900" b="0" i="1" u="none">
                          <a:solidFill>
                            <a:srgbClr val="00B050"/>
                          </a:solidFill>
                        </a:rPr>
                        <a:t>})</a:t>
                      </a:r>
                    </a:p>
                    <a:p>
                      <a:pPr marL="0" lvl="0" indent="0">
                        <a:buFont typeface="Arial" panose="020B0604020202020204" pitchFamily="34" charset="0"/>
                        <a:buNone/>
                      </a:pPr>
                      <a:r>
                        <a:rPr lang="en-AU" sz="900" b="0" i="1" u="none">
                          <a:solidFill>
                            <a:srgbClr val="00B050"/>
                          </a:solidFill>
                        </a:rPr>
                        <a:t>MERGE (a)-[</a:t>
                      </a:r>
                      <a:r>
                        <a:rPr lang="en-AU" sz="900" b="0" i="1" u="none" err="1">
                          <a:solidFill>
                            <a:srgbClr val="00B050"/>
                          </a:solidFill>
                        </a:rPr>
                        <a:t>r:CUST_OWNS_PRODUCT</a:t>
                      </a:r>
                      <a:r>
                        <a:rPr lang="en-AU" sz="900" b="0" i="1" u="none">
                          <a:solidFill>
                            <a:srgbClr val="00B050"/>
                          </a:solidFill>
                        </a:rPr>
                        <a:t>]-&gt;(b) SET </a:t>
                      </a:r>
                      <a:r>
                        <a:rPr lang="en-AU" sz="900" b="0" i="1" u="none" err="1">
                          <a:solidFill>
                            <a:srgbClr val="00B050"/>
                          </a:solidFill>
                        </a:rPr>
                        <a:t>r.since</a:t>
                      </a:r>
                      <a:r>
                        <a:rPr lang="en-AU" sz="900" b="0" i="1" u="none">
                          <a:solidFill>
                            <a:srgbClr val="00B050"/>
                          </a:solidFill>
                        </a:rPr>
                        <a:t> = </a:t>
                      </a:r>
                      <a:r>
                        <a:rPr lang="en-AU" sz="900" b="0" i="1" u="none" err="1">
                          <a:solidFill>
                            <a:srgbClr val="00B050"/>
                          </a:solidFill>
                        </a:rPr>
                        <a:t>row.since</a:t>
                      </a:r>
                      <a:r>
                        <a:rPr lang="en-AU" sz="900" b="0" i="1" u="none">
                          <a:solidFill>
                            <a:srgbClr val="00B050"/>
                          </a:solidFill>
                        </a:rPr>
                        <a:t>;</a:t>
                      </a:r>
                    </a:p>
                    <a:p>
                      <a:pPr marL="457200" lvl="1" indent="0">
                        <a:buFont typeface="Arial" panose="020B0604020202020204" pitchFamily="34" charset="0"/>
                        <a:buNone/>
                      </a:pPr>
                      <a:endParaRPr lang="en-AU" sz="900" b="0" u="none"/>
                    </a:p>
                    <a:p>
                      <a:pPr marL="0" lvl="0" indent="0">
                        <a:buFont typeface="Arial" panose="020B0604020202020204" pitchFamily="34" charset="0"/>
                        <a:buNone/>
                      </a:pPr>
                      <a:r>
                        <a:rPr lang="en-AU" sz="900" b="0" u="sng"/>
                        <a:t>APOC PROCEDURES</a:t>
                      </a:r>
                      <a:br>
                        <a:rPr lang="en-AU" sz="900" b="0" u="sng"/>
                      </a:br>
                      <a:r>
                        <a:rPr lang="en-US" sz="900" b="0" u="none" err="1"/>
                        <a:t>apoc.periodic.iterate</a:t>
                      </a:r>
                      <a:r>
                        <a:rPr lang="en-US" sz="900" b="0" u="none"/>
                        <a:t> helps process large CSVs in batches, improving memory management and performance.</a:t>
                      </a:r>
                      <a:br>
                        <a:rPr lang="en-AU" sz="900" b="0" u="sng"/>
                      </a:br>
                      <a:endParaRPr lang="en-AU" sz="900" b="0" u="sng"/>
                    </a:p>
                    <a:p>
                      <a:pPr marL="0" lvl="0" indent="0">
                        <a:buFont typeface="Arial" panose="020B0604020202020204" pitchFamily="34" charset="0"/>
                        <a:buNone/>
                      </a:pPr>
                      <a:r>
                        <a:rPr lang="en-AU" sz="900" b="0" i="1" u="none">
                          <a:solidFill>
                            <a:srgbClr val="00B050"/>
                          </a:solidFill>
                        </a:rPr>
                        <a:t>CALL </a:t>
                      </a:r>
                      <a:r>
                        <a:rPr lang="en-AU" sz="900" b="0" i="1" u="none" err="1">
                          <a:solidFill>
                            <a:srgbClr val="00B050"/>
                          </a:solidFill>
                        </a:rPr>
                        <a:t>apoc.periodic.iterate</a:t>
                      </a:r>
                      <a:r>
                        <a:rPr lang="en-AU" sz="900" b="0" i="1" u="none">
                          <a:solidFill>
                            <a:srgbClr val="00B050"/>
                          </a:solidFill>
                        </a:rPr>
                        <a:t>(</a:t>
                      </a:r>
                    </a:p>
                    <a:p>
                      <a:pPr marL="0" lvl="0" indent="0">
                        <a:buFont typeface="Arial" panose="020B0604020202020204" pitchFamily="34" charset="0"/>
                        <a:buNone/>
                      </a:pPr>
                      <a:r>
                        <a:rPr lang="en-AU" sz="900" b="0" i="1" u="none">
                          <a:solidFill>
                            <a:srgbClr val="00B050"/>
                          </a:solidFill>
                        </a:rPr>
                        <a:t>  "LOAD CSV WITH HEADERS FROM 'file:///nodes.csv' AS row RETURN row",</a:t>
                      </a:r>
                    </a:p>
                    <a:p>
                      <a:pPr marL="0" lvl="0" indent="0">
                        <a:buFont typeface="Arial" panose="020B0604020202020204" pitchFamily="34" charset="0"/>
                        <a:buNone/>
                      </a:pPr>
                      <a:r>
                        <a:rPr lang="en-AU" sz="900" b="0" i="1" u="none">
                          <a:solidFill>
                            <a:srgbClr val="00B050"/>
                          </a:solidFill>
                        </a:rPr>
                        <a:t>  "MERGE (</a:t>
                      </a:r>
                      <a:r>
                        <a:rPr lang="en-AU" sz="900" b="0" i="1" u="none" err="1">
                          <a:solidFill>
                            <a:srgbClr val="00B050"/>
                          </a:solidFill>
                        </a:rPr>
                        <a:t>n:Customer</a:t>
                      </a:r>
                      <a:r>
                        <a:rPr lang="en-AU" sz="900" b="0" i="1" u="none">
                          <a:solidFill>
                            <a:srgbClr val="00B050"/>
                          </a:solidFill>
                        </a:rPr>
                        <a:t> {id: row.id}) SET n.name = row.name", {batchSize:1000, </a:t>
                      </a:r>
                      <a:r>
                        <a:rPr lang="en-AU" sz="900" b="0" i="1" u="none" err="1">
                          <a:solidFill>
                            <a:srgbClr val="00B050"/>
                          </a:solidFill>
                        </a:rPr>
                        <a:t>parallel:true</a:t>
                      </a:r>
                      <a:r>
                        <a:rPr lang="en-AU" sz="900" b="0" i="1" u="none">
                          <a:solidFill>
                            <a:srgbClr val="00B050"/>
                          </a:solidFill>
                        </a:rPr>
                        <a:t>})</a:t>
                      </a:r>
                    </a:p>
                    <a:p>
                      <a:pPr marL="0" lvl="0" indent="0">
                        <a:buFont typeface="Arial" panose="020B0604020202020204" pitchFamily="34" charset="0"/>
                        <a:buNone/>
                      </a:pPr>
                      <a:endParaRPr lang="en-AU" sz="900" b="0" u="sng"/>
                    </a:p>
                    <a:p>
                      <a:pPr marL="171450" indent="-171450">
                        <a:buFont typeface="Arial" panose="020B0604020202020204" pitchFamily="34" charset="0"/>
                        <a:buChar char="•"/>
                      </a:pPr>
                      <a:r>
                        <a:rPr lang="en-AU" sz="900" b="1" u="sng">
                          <a:sym typeface="Wingdings" panose="05000000000000000000" pitchFamily="2" charset="2"/>
                        </a:rPr>
                        <a:t>REAL TIME</a:t>
                      </a:r>
                      <a:endParaRPr lang="en-AU" sz="900" b="0" u="none">
                        <a:sym typeface="Wingdings" panose="05000000000000000000" pitchFamily="2" charset="2"/>
                      </a:endParaRPr>
                    </a:p>
                    <a:p>
                      <a:pPr marL="0" indent="0">
                        <a:buFont typeface="Arial" panose="020B0604020202020204" pitchFamily="34" charset="0"/>
                        <a:buNone/>
                      </a:pPr>
                      <a:r>
                        <a:rPr lang="en-AU" sz="900" b="0" i="0" kern="1200">
                          <a:solidFill>
                            <a:schemeClr val="dk1"/>
                          </a:solidFill>
                          <a:effectLst/>
                          <a:latin typeface="+mn-lt"/>
                          <a:ea typeface="+mn-ea"/>
                          <a:cs typeface="+mn-cs"/>
                        </a:rPr>
                        <a:t>Kafka Streams, APOC triggers</a:t>
                      </a:r>
                      <a:endParaRPr lang="en-AU" sz="900" b="0" u="sng">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AU" sz="900" b="0" u="none">
                        <a:sym typeface="Wingdings" panose="05000000000000000000" pitchFamily="2" charset="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b="0" u="none">
                          <a:sym typeface="Wingdings" panose="05000000000000000000" pitchFamily="2" charset="2"/>
                        </a:rPr>
                        <a:t>Stream Data via Kafka: Neo4j has an official Neo4j Streams plugin for Kafka integration. This allows consumption of real-time events and apply them as graph updates.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b="0" u="none">
                          <a:sym typeface="Wingdings" panose="05000000000000000000" pitchFamily="2" charset="2"/>
                        </a:rPr>
                        <a:t>Cypher Updates: Incoming messages can trigger MERGE or CREATE Cypher queries to update nodes and relationships.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b="0" u="none">
                          <a:sym typeface="Wingdings" panose="05000000000000000000" pitchFamily="2" charset="2"/>
                        </a:rPr>
                        <a:t>Neo4j Aura or Enterprise: Use the transactional API for real-time performance; transactions ensure consistency during updates.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171450" indent="-171450">
                        <a:buFont typeface="Arial" panose="020B0604020202020204" pitchFamily="34" charset="0"/>
                        <a:buChar char="•"/>
                      </a:pPr>
                      <a:r>
                        <a:rPr lang="en-AU" sz="900" b="1" u="sng"/>
                        <a:t>BATCH</a:t>
                      </a:r>
                    </a:p>
                    <a:p>
                      <a:pPr marL="0" indent="0">
                        <a:buFont typeface="Arial" panose="020B0604020202020204" pitchFamily="34" charset="0"/>
                        <a:buNone/>
                      </a:pPr>
                      <a:r>
                        <a:rPr lang="en-US" sz="900" b="0" u="none" err="1"/>
                        <a:t>TigerGraph</a:t>
                      </a:r>
                      <a:r>
                        <a:rPr lang="en-US" sz="900" b="0" u="none"/>
                        <a:t> is optimized for high-velocity and low-latency updates and provides GSQL and Loading Jobs:</a:t>
                      </a:r>
                    </a:p>
                    <a:p>
                      <a:pPr marL="0" indent="0">
                        <a:buFont typeface="Arial" panose="020B0604020202020204" pitchFamily="34" charset="0"/>
                        <a:buNone/>
                      </a:pPr>
                      <a:endParaRPr lang="en-AU" sz="900" b="1" u="sng"/>
                    </a:p>
                    <a:p>
                      <a:pPr marL="0" indent="0">
                        <a:buFont typeface="Arial" panose="020B0604020202020204" pitchFamily="34" charset="0"/>
                        <a:buNone/>
                      </a:pPr>
                      <a:r>
                        <a:rPr lang="en-AU" sz="900" b="0" u="sng"/>
                        <a:t>LOADING JOB - GSQL</a:t>
                      </a:r>
                    </a:p>
                    <a:p>
                      <a:pPr marL="0" indent="0">
                        <a:buFont typeface="Arial" panose="020B0604020202020204" pitchFamily="34" charset="0"/>
                        <a:buNone/>
                      </a:pPr>
                      <a:r>
                        <a:rPr lang="en-US" sz="900" b="0" u="none" err="1"/>
                        <a:t>TigerGraph’s</a:t>
                      </a:r>
                      <a:r>
                        <a:rPr lang="en-US" sz="900" b="0" u="none"/>
                        <a:t> loading jobs allow for </a:t>
                      </a:r>
                      <a:r>
                        <a:rPr lang="en-US" sz="900" b="0" u="none" err="1"/>
                        <a:t>upserts</a:t>
                      </a:r>
                      <a:r>
                        <a:rPr lang="en-US" sz="900" b="0" u="none"/>
                        <a:t>: existing nodes are updated, and new nodes are inserted.</a:t>
                      </a:r>
                      <a:br>
                        <a:rPr lang="en-US" sz="900" b="0" u="none"/>
                      </a:br>
                      <a:br>
                        <a:rPr lang="en-US" sz="900" b="0" u="none"/>
                      </a:br>
                      <a:r>
                        <a:rPr lang="en-US" sz="900" b="0" i="1" u="none">
                          <a:solidFill>
                            <a:srgbClr val="00B050"/>
                          </a:solidFill>
                        </a:rPr>
                        <a:t>CREATE LOADING JOB </a:t>
                      </a:r>
                      <a:r>
                        <a:rPr lang="en-US" sz="900" b="0" i="1" u="none" err="1">
                          <a:solidFill>
                            <a:srgbClr val="00B050"/>
                          </a:solidFill>
                        </a:rPr>
                        <a:t>loadPersonJob</a:t>
                      </a:r>
                      <a:r>
                        <a:rPr lang="en-US" sz="900" b="0" i="1" u="none">
                          <a:solidFill>
                            <a:srgbClr val="00B050"/>
                          </a:solidFill>
                        </a:rPr>
                        <a:t> FOR GRAPH </a:t>
                      </a:r>
                      <a:r>
                        <a:rPr lang="en-US" sz="900" b="0" i="1" u="none" err="1">
                          <a:solidFill>
                            <a:srgbClr val="00B050"/>
                          </a:solidFill>
                        </a:rPr>
                        <a:t>MyGraph</a:t>
                      </a:r>
                      <a:r>
                        <a:rPr lang="en-US" sz="900" b="0" i="1" u="none">
                          <a:solidFill>
                            <a:srgbClr val="00B050"/>
                          </a:solidFill>
                        </a:rPr>
                        <a:t> {</a:t>
                      </a:r>
                    </a:p>
                    <a:p>
                      <a:pPr marL="0" indent="0">
                        <a:buFont typeface="Arial" panose="020B0604020202020204" pitchFamily="34" charset="0"/>
                        <a:buNone/>
                      </a:pPr>
                      <a:r>
                        <a:rPr lang="en-US" sz="900" b="0" i="1" u="none">
                          <a:solidFill>
                            <a:srgbClr val="00B050"/>
                          </a:solidFill>
                        </a:rPr>
                        <a:t>  DEFINE FILENAME </a:t>
                      </a:r>
                      <a:r>
                        <a:rPr lang="en-US" sz="900" b="0" i="1" u="none" err="1">
                          <a:solidFill>
                            <a:srgbClr val="00B050"/>
                          </a:solidFill>
                        </a:rPr>
                        <a:t>dataFile</a:t>
                      </a:r>
                      <a:r>
                        <a:rPr lang="en-US" sz="900" b="0" i="1" u="none">
                          <a:solidFill>
                            <a:srgbClr val="00B050"/>
                          </a:solidFill>
                        </a:rPr>
                        <a:t>;</a:t>
                      </a:r>
                    </a:p>
                    <a:p>
                      <a:pPr marL="0" indent="0">
                        <a:buFont typeface="Arial" panose="020B0604020202020204" pitchFamily="34" charset="0"/>
                        <a:buNone/>
                      </a:pPr>
                      <a:r>
                        <a:rPr lang="en-US" sz="900" b="0" i="1" u="none">
                          <a:solidFill>
                            <a:srgbClr val="00B050"/>
                          </a:solidFill>
                        </a:rPr>
                        <a:t>  LOAD </a:t>
                      </a:r>
                      <a:r>
                        <a:rPr lang="en-US" sz="900" b="0" i="1" u="none" err="1">
                          <a:solidFill>
                            <a:srgbClr val="00B050"/>
                          </a:solidFill>
                        </a:rPr>
                        <a:t>dataFile</a:t>
                      </a:r>
                      <a:r>
                        <a:rPr lang="en-US" sz="900" b="0" i="1" u="none">
                          <a:solidFill>
                            <a:srgbClr val="00B050"/>
                          </a:solidFill>
                        </a:rPr>
                        <a:t> TO VERTEX Person VALUES ($"id", $"name") USING SEPARATOR=",";</a:t>
                      </a:r>
                    </a:p>
                    <a:p>
                      <a:pPr marL="0" indent="0">
                        <a:buFont typeface="Arial" panose="020B0604020202020204" pitchFamily="34" charset="0"/>
                        <a:buNone/>
                      </a:pPr>
                      <a:r>
                        <a:rPr lang="en-US" sz="900" b="0" i="1" u="none">
                          <a:solidFill>
                            <a:srgbClr val="00B050"/>
                          </a:solidFill>
                        </a:rPr>
                        <a:t>}RUN LOADING JOB </a:t>
                      </a:r>
                      <a:r>
                        <a:rPr lang="en-US" sz="900" b="0" i="1" u="none" err="1">
                          <a:solidFill>
                            <a:srgbClr val="00B050"/>
                          </a:solidFill>
                        </a:rPr>
                        <a:t>loadPersonJob</a:t>
                      </a:r>
                      <a:r>
                        <a:rPr lang="en-US" sz="900" b="0" i="1" u="none">
                          <a:solidFill>
                            <a:srgbClr val="00B050"/>
                          </a:solidFill>
                        </a:rPr>
                        <a:t> USING </a:t>
                      </a:r>
                      <a:r>
                        <a:rPr lang="en-US" sz="900" b="0" i="1" u="none" err="1">
                          <a:solidFill>
                            <a:srgbClr val="00B050"/>
                          </a:solidFill>
                        </a:rPr>
                        <a:t>dataFile</a:t>
                      </a:r>
                      <a:r>
                        <a:rPr lang="en-US" sz="900" b="0" i="1" u="none">
                          <a:solidFill>
                            <a:srgbClr val="00B050"/>
                          </a:solidFill>
                        </a:rPr>
                        <a:t>="person.csv";</a:t>
                      </a:r>
                      <a:endParaRPr lang="en-AU" sz="900" b="0" i="1" u="none">
                        <a:solidFill>
                          <a:srgbClr val="00B050"/>
                        </a:solidFill>
                      </a:endParaRPr>
                    </a:p>
                    <a:p>
                      <a:pPr marL="0" indent="0">
                        <a:buFont typeface="Arial" panose="020B0604020202020204" pitchFamily="34" charset="0"/>
                        <a:buNone/>
                      </a:pPr>
                      <a:endParaRPr lang="en-AU" sz="900" b="0" u="sng"/>
                    </a:p>
                    <a:p>
                      <a:pPr marL="0" indent="0">
                        <a:buFont typeface="Arial" panose="020B0604020202020204" pitchFamily="34" charset="0"/>
                        <a:buNone/>
                      </a:pPr>
                      <a:r>
                        <a:rPr lang="en-AU" sz="900" b="0" u="sng"/>
                        <a:t>BULD EDGE INGESTION</a:t>
                      </a:r>
                    </a:p>
                    <a:p>
                      <a:pPr marL="0" indent="0">
                        <a:buFont typeface="Arial" panose="020B0604020202020204" pitchFamily="34" charset="0"/>
                        <a:buNone/>
                      </a:pPr>
                      <a:r>
                        <a:rPr lang="en-US" sz="900" b="0" u="none"/>
                        <a:t>Supports parallel loading for large datasets, and updating edge properties efficiently.</a:t>
                      </a:r>
                    </a:p>
                    <a:p>
                      <a:pPr marL="0" indent="0">
                        <a:buFont typeface="Arial" panose="020B0604020202020204" pitchFamily="34" charset="0"/>
                        <a:buNone/>
                      </a:pPr>
                      <a:endParaRPr lang="en-AU" sz="900" b="0" u="sng"/>
                    </a:p>
                    <a:p>
                      <a:pPr marL="0" indent="0">
                        <a:buFont typeface="Arial" panose="020B0604020202020204" pitchFamily="34" charset="0"/>
                        <a:buNone/>
                      </a:pPr>
                      <a:r>
                        <a:rPr lang="en-AU" sz="900" b="0" i="1" u="sng">
                          <a:solidFill>
                            <a:srgbClr val="00B050"/>
                          </a:solidFill>
                        </a:rPr>
                        <a:t>CREATE LOADING JOB </a:t>
                      </a:r>
                      <a:r>
                        <a:rPr lang="en-AU" sz="900" b="0" i="1" u="sng" err="1">
                          <a:solidFill>
                            <a:srgbClr val="00B050"/>
                          </a:solidFill>
                        </a:rPr>
                        <a:t>loadFriendshipJob</a:t>
                      </a:r>
                      <a:r>
                        <a:rPr lang="en-AU" sz="900" b="0" i="1" u="sng">
                          <a:solidFill>
                            <a:srgbClr val="00B050"/>
                          </a:solidFill>
                        </a:rPr>
                        <a:t> FOR GRAPH </a:t>
                      </a:r>
                      <a:r>
                        <a:rPr lang="en-AU" sz="900" b="0" i="1" u="sng" err="1">
                          <a:solidFill>
                            <a:srgbClr val="00B050"/>
                          </a:solidFill>
                        </a:rPr>
                        <a:t>MyGraph</a:t>
                      </a:r>
                      <a:r>
                        <a:rPr lang="en-AU" sz="900" b="0" i="1" u="sng">
                          <a:solidFill>
                            <a:srgbClr val="00B050"/>
                          </a:solidFill>
                        </a:rPr>
                        <a:t> {</a:t>
                      </a:r>
                    </a:p>
                    <a:p>
                      <a:pPr marL="0" indent="0">
                        <a:buFont typeface="Arial" panose="020B0604020202020204" pitchFamily="34" charset="0"/>
                        <a:buNone/>
                      </a:pPr>
                      <a:r>
                        <a:rPr lang="en-AU" sz="900" b="0" i="1" u="sng">
                          <a:solidFill>
                            <a:srgbClr val="00B050"/>
                          </a:solidFill>
                        </a:rPr>
                        <a:t>  DEFINE FILENAME </a:t>
                      </a:r>
                      <a:r>
                        <a:rPr lang="en-AU" sz="900" b="0" i="1" u="sng" err="1">
                          <a:solidFill>
                            <a:srgbClr val="00B050"/>
                          </a:solidFill>
                        </a:rPr>
                        <a:t>relFile</a:t>
                      </a:r>
                      <a:r>
                        <a:rPr lang="en-AU" sz="900" b="0" i="1" u="sng">
                          <a:solidFill>
                            <a:srgbClr val="00B050"/>
                          </a:solidFill>
                        </a:rPr>
                        <a:t>;</a:t>
                      </a:r>
                    </a:p>
                    <a:p>
                      <a:pPr marL="0" indent="0">
                        <a:buFont typeface="Arial" panose="020B0604020202020204" pitchFamily="34" charset="0"/>
                        <a:buNone/>
                      </a:pPr>
                      <a:r>
                        <a:rPr lang="en-AU" sz="900" b="0" i="1" u="sng">
                          <a:solidFill>
                            <a:srgbClr val="00B050"/>
                          </a:solidFill>
                        </a:rPr>
                        <a:t>  LOAD </a:t>
                      </a:r>
                      <a:r>
                        <a:rPr lang="en-AU" sz="900" b="0" i="1" u="sng" err="1">
                          <a:solidFill>
                            <a:srgbClr val="00B050"/>
                          </a:solidFill>
                        </a:rPr>
                        <a:t>relFile</a:t>
                      </a:r>
                      <a:r>
                        <a:rPr lang="en-AU" sz="900" b="0" i="1" u="sng">
                          <a:solidFill>
                            <a:srgbClr val="00B050"/>
                          </a:solidFill>
                        </a:rPr>
                        <a:t> TO EDGE FRIENDS_WITH VALUES ($"</a:t>
                      </a:r>
                      <a:r>
                        <a:rPr lang="en-AU" sz="900" b="0" i="1" u="sng" err="1">
                          <a:solidFill>
                            <a:srgbClr val="00B050"/>
                          </a:solidFill>
                        </a:rPr>
                        <a:t>source_id</a:t>
                      </a:r>
                      <a:r>
                        <a:rPr lang="en-AU" sz="900" b="0" i="1" u="sng">
                          <a:solidFill>
                            <a:srgbClr val="00B050"/>
                          </a:solidFill>
                        </a:rPr>
                        <a:t>", $"</a:t>
                      </a:r>
                      <a:r>
                        <a:rPr lang="en-AU" sz="900" b="0" i="1" u="sng" err="1">
                          <a:solidFill>
                            <a:srgbClr val="00B050"/>
                          </a:solidFill>
                        </a:rPr>
                        <a:t>target_id</a:t>
                      </a:r>
                      <a:r>
                        <a:rPr lang="en-AU" sz="900" b="0" i="1" u="sng">
                          <a:solidFill>
                            <a:srgbClr val="00B050"/>
                          </a:solidFill>
                        </a:rPr>
                        <a:t>", $"since") USING SEPARATOR=",";</a:t>
                      </a:r>
                    </a:p>
                    <a:p>
                      <a:pPr marL="0" indent="0">
                        <a:buFont typeface="Arial" panose="020B0604020202020204" pitchFamily="34" charset="0"/>
                        <a:buNone/>
                      </a:pPr>
                      <a:r>
                        <a:rPr lang="en-AU" sz="900" b="0" i="1" u="sng">
                          <a:solidFill>
                            <a:srgbClr val="00B050"/>
                          </a:solidFill>
                        </a:rPr>
                        <a:t>}RUN LOADING JOB </a:t>
                      </a:r>
                      <a:r>
                        <a:rPr lang="en-AU" sz="900" b="0" i="1" u="sng" err="1">
                          <a:solidFill>
                            <a:srgbClr val="00B050"/>
                          </a:solidFill>
                        </a:rPr>
                        <a:t>loadFriendshipJob</a:t>
                      </a:r>
                      <a:r>
                        <a:rPr lang="en-AU" sz="900" b="0" i="1" u="sng">
                          <a:solidFill>
                            <a:srgbClr val="00B050"/>
                          </a:solidFill>
                        </a:rPr>
                        <a:t> USING </a:t>
                      </a:r>
                      <a:r>
                        <a:rPr lang="en-AU" sz="900" b="0" i="1" u="sng" err="1">
                          <a:solidFill>
                            <a:srgbClr val="00B050"/>
                          </a:solidFill>
                        </a:rPr>
                        <a:t>relFile</a:t>
                      </a:r>
                      <a:r>
                        <a:rPr lang="en-AU" sz="900" b="0" i="1" u="sng">
                          <a:solidFill>
                            <a:srgbClr val="00B050"/>
                          </a:solidFill>
                        </a:rPr>
                        <a:t>="relationships.csv";</a:t>
                      </a:r>
                    </a:p>
                    <a:p>
                      <a:pPr marL="0" indent="0">
                        <a:buFont typeface="Arial" panose="020B0604020202020204" pitchFamily="34" charset="0"/>
                        <a:buNone/>
                      </a:pPr>
                      <a:endParaRPr lang="en-AU" sz="900" b="0" u="sng"/>
                    </a:p>
                    <a:p>
                      <a:pPr marL="171450" indent="-171450">
                        <a:buFont typeface="Arial" panose="020B0604020202020204" pitchFamily="34" charset="0"/>
                        <a:buChar char="•"/>
                      </a:pPr>
                      <a:r>
                        <a:rPr lang="en-AU" sz="900" b="1" u="sng">
                          <a:sym typeface="Wingdings" panose="05000000000000000000" pitchFamily="2" charset="2"/>
                        </a:rPr>
                        <a:t>REAL TIME</a:t>
                      </a:r>
                    </a:p>
                    <a:p>
                      <a:pPr marL="0" indent="0">
                        <a:buFont typeface="Arial" panose="020B0604020202020204" pitchFamily="34" charset="0"/>
                        <a:buNone/>
                      </a:pPr>
                      <a:r>
                        <a:rPr lang="en-AU" sz="900" b="0" u="none">
                          <a:sym typeface="Wingdings" panose="05000000000000000000" pitchFamily="2" charset="2"/>
                        </a:rPr>
                        <a:t>Stream Loading Jobs, REST++</a:t>
                      </a:r>
                    </a:p>
                    <a:p>
                      <a:pPr marL="0" indent="0">
                        <a:buFont typeface="Arial" panose="020B0604020202020204" pitchFamily="34" charset="0"/>
                        <a:buNone/>
                      </a:pPr>
                      <a:endParaRPr lang="en-AU" sz="900" b="0" u="none"/>
                    </a:p>
                    <a:p>
                      <a:pPr marL="171450" indent="-171450">
                        <a:buFont typeface="Arial" panose="020B0604020202020204" pitchFamily="34" charset="0"/>
                        <a:buChar char="•"/>
                      </a:pPr>
                      <a:r>
                        <a:rPr lang="en-AU" sz="900" b="0" u="none" err="1"/>
                        <a:t>TigerGraph</a:t>
                      </a:r>
                      <a:r>
                        <a:rPr lang="en-AU" sz="900" b="0" u="none"/>
                        <a:t> is optimized for high-velocity graph ingestion and supports GSQL streaming jobs and REST++ endpoints:</a:t>
                      </a:r>
                    </a:p>
                    <a:p>
                      <a:pPr marL="171450" indent="-171450">
                        <a:buFont typeface="Arial" panose="020B0604020202020204" pitchFamily="34" charset="0"/>
                        <a:buChar char="•"/>
                      </a:pPr>
                      <a:r>
                        <a:rPr lang="en-AU" sz="900" b="0" u="none"/>
                        <a:t>Stream Loading Jobs: Define STREAM jobs to continuously ingest data, similar to Kafka-to-</a:t>
                      </a:r>
                      <a:r>
                        <a:rPr lang="en-AU" sz="900" b="0" u="none" err="1"/>
                        <a:t>TigerGraph</a:t>
                      </a:r>
                      <a:r>
                        <a:rPr lang="en-AU" sz="900" b="0" u="none"/>
                        <a:t> pipelines.</a:t>
                      </a:r>
                    </a:p>
                    <a:p>
                      <a:pPr marL="171450" indent="-171450">
                        <a:buFont typeface="Arial" panose="020B0604020202020204" pitchFamily="34" charset="0"/>
                        <a:buChar char="•"/>
                      </a:pPr>
                      <a:r>
                        <a:rPr lang="en-AU" sz="900" b="0" u="none"/>
                        <a:t>UPSERT Semantics: </a:t>
                      </a:r>
                      <a:r>
                        <a:rPr lang="en-AU" sz="900" b="0" u="none" err="1"/>
                        <a:t>TigerGraph</a:t>
                      </a:r>
                      <a:r>
                        <a:rPr lang="en-AU" sz="900" b="0" u="none"/>
                        <a:t> allows UPSERT operations (create-or-update nodes/edges) natively.</a:t>
                      </a:r>
                    </a:p>
                    <a:p>
                      <a:pPr marL="171450" indent="-171450">
                        <a:buFont typeface="Arial" panose="020B0604020202020204" pitchFamily="34" charset="0"/>
                        <a:buChar char="•"/>
                      </a:pPr>
                      <a:r>
                        <a:rPr lang="en-AU" sz="900" b="0" u="none"/>
                        <a:t>Parallelism: Supports multi-threaded edges and node updates on large graphs, typically performing better than Neo4j for very large real-time workloads.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5152237"/>
                  </a:ext>
                </a:extLst>
              </a:tr>
              <a:tr h="847716">
                <a:tc grid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b="1" u="sng">
                          <a:sym typeface="Wingdings" panose="05000000000000000000" pitchFamily="2" charset="2"/>
                        </a:rPr>
                        <a:t>EXEC Summary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b="0" u="none">
                          <a:sym typeface="Wingdings" panose="05000000000000000000" pitchFamily="2" charset="2"/>
                        </a:rPr>
                        <a:t>For Neo4j, use MERGE with </a:t>
                      </a:r>
                      <a:r>
                        <a:rPr lang="en-AU" sz="900" b="0" u="none" err="1">
                          <a:sym typeface="Wingdings" panose="05000000000000000000" pitchFamily="2" charset="2"/>
                        </a:rPr>
                        <a:t>apoc.periodic.iterate</a:t>
                      </a:r>
                      <a:r>
                        <a:rPr lang="en-AU" sz="900" b="0" u="none">
                          <a:sym typeface="Wingdings" panose="05000000000000000000" pitchFamily="2" charset="2"/>
                        </a:rPr>
                        <a:t> for incremental updates to avoid duplicates.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b="0" u="none">
                          <a:sym typeface="Wingdings" panose="05000000000000000000" pitchFamily="2" charset="2"/>
                        </a:rPr>
                        <a:t>For </a:t>
                      </a:r>
                      <a:r>
                        <a:rPr lang="en-AU" sz="900" b="0" u="none" err="1">
                          <a:sym typeface="Wingdings" panose="05000000000000000000" pitchFamily="2" charset="2"/>
                        </a:rPr>
                        <a:t>TigerGraph</a:t>
                      </a:r>
                      <a:r>
                        <a:rPr lang="en-AU" sz="900" b="0" u="none">
                          <a:sym typeface="Wingdings" panose="05000000000000000000" pitchFamily="2" charset="2"/>
                        </a:rPr>
                        <a:t>, leverage GSQL loading jobs, enabling scalable </a:t>
                      </a:r>
                      <a:r>
                        <a:rPr lang="en-AU" sz="900" b="0" u="none" err="1">
                          <a:sym typeface="Wingdings" panose="05000000000000000000" pitchFamily="2" charset="2"/>
                        </a:rPr>
                        <a:t>upserts</a:t>
                      </a:r>
                      <a:r>
                        <a:rPr lang="en-AU" sz="900" b="0" u="none">
                          <a:sym typeface="Wingdings" panose="05000000000000000000" pitchFamily="2" charset="2"/>
                        </a:rPr>
                        <a:t> and parallel processing.</a:t>
                      </a:r>
                    </a:p>
                    <a:p>
                      <a:r>
                        <a:rPr lang="en-AU" sz="900" b="0" u="none">
                          <a:sym typeface="Wingdings" panose="05000000000000000000" pitchFamily="2" charset="2"/>
                        </a:rPr>
                        <a:t>For very large graphs initially, Neo4j may need neo4j-admin import, while </a:t>
                      </a:r>
                      <a:r>
                        <a:rPr lang="en-AU" sz="900" b="0" u="none" err="1">
                          <a:sym typeface="Wingdings" panose="05000000000000000000" pitchFamily="2" charset="2"/>
                        </a:rPr>
                        <a:t>TigerGraph</a:t>
                      </a:r>
                      <a:r>
                        <a:rPr lang="en-AU" sz="900" b="0" u="none">
                          <a:sym typeface="Wingdings" panose="05000000000000000000" pitchFamily="2" charset="2"/>
                        </a:rPr>
                        <a:t> can handle bulk batch ingestion natively.</a:t>
                      </a:r>
                      <a:endParaRPr lang="en-AU" sz="9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hMerge="1">
                  <a:txBody>
                    <a:bodyPr/>
                    <a:lstStyle/>
                    <a:p>
                      <a:pPr marL="0" indent="0">
                        <a:buFont typeface="Arial" panose="020B0604020202020204" pitchFamily="34" charset="0"/>
                        <a:buNone/>
                      </a:pPr>
                      <a:endParaRPr lang="en-AU" sz="800" b="0" u="none"/>
                    </a:p>
                  </a:txBody>
                  <a:tcPr>
                    <a:solidFill>
                      <a:schemeClr val="tx2">
                        <a:lumMod val="10000"/>
                        <a:lumOff val="90000"/>
                      </a:schemeClr>
                    </a:solidFill>
                  </a:tcPr>
                </a:tc>
                <a:extLst>
                  <a:ext uri="{0D108BD9-81ED-4DB2-BD59-A6C34878D82A}">
                    <a16:rowId xmlns:a16="http://schemas.microsoft.com/office/drawing/2014/main" val="2534859736"/>
                  </a:ext>
                </a:extLst>
              </a:tr>
            </a:tbl>
          </a:graphicData>
        </a:graphic>
      </p:graphicFrame>
      <p:sp>
        <p:nvSpPr>
          <p:cNvPr id="110" name="TextBox 109">
            <a:extLst>
              <a:ext uri="{FF2B5EF4-FFF2-40B4-BE49-F238E27FC236}">
                <a16:creationId xmlns:a16="http://schemas.microsoft.com/office/drawing/2014/main" id="{8C48FBC8-F0F5-615B-39F5-C922126CF578}"/>
              </a:ext>
            </a:extLst>
          </p:cNvPr>
          <p:cNvSpPr txBox="1"/>
          <p:nvPr/>
        </p:nvSpPr>
        <p:spPr>
          <a:xfrm>
            <a:off x="84666" y="46784"/>
            <a:ext cx="11954936" cy="553998"/>
          </a:xfrm>
          <a:prstGeom prst="rect">
            <a:avLst/>
          </a:prstGeom>
          <a:noFill/>
        </p:spPr>
        <p:txBody>
          <a:bodyPr wrap="square">
            <a:spAutoFit/>
          </a:bodyPr>
          <a:lstStyle/>
          <a:p>
            <a:r>
              <a:rPr kumimoji="0" lang="en-AU" sz="3000" b="1" i="0" u="none" strike="noStrike" kern="1200" cap="none" spc="0" normalizeH="0" baseline="0" noProof="0">
                <a:ln>
                  <a:noFill/>
                </a:ln>
                <a:effectLst/>
                <a:uLnTx/>
                <a:uFillTx/>
                <a:latin typeface="Calibri"/>
                <a:ea typeface="+mn-ea"/>
                <a:cs typeface="+mn-cs"/>
              </a:rPr>
              <a:t>GRAPH – </a:t>
            </a:r>
            <a:r>
              <a:rPr lang="en-AU" sz="3000">
                <a:ea typeface="Times New Roman" panose="02020603050405020304" pitchFamily="18" charset="0"/>
              </a:rPr>
              <a:t>Data Integration (Batch + Realtime)</a:t>
            </a:r>
            <a:endParaRPr lang="en-AU" sz="3000"/>
          </a:p>
        </p:txBody>
      </p:sp>
    </p:spTree>
    <p:extLst>
      <p:ext uri="{BB962C8B-B14F-4D97-AF65-F5344CB8AC3E}">
        <p14:creationId xmlns:p14="http://schemas.microsoft.com/office/powerpoint/2010/main" val="3712171052"/>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A5995BBA-D153-FC72-32B7-C9B0C4DA9FB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5F30D4-29CF-EEFC-8A2A-32FA51E18836}"/>
              </a:ext>
            </a:extLst>
          </p:cNvPr>
          <p:cNvGraphicFramePr>
            <a:graphicFrameLocks noGrp="1"/>
          </p:cNvGraphicFramePr>
          <p:nvPr>
            <p:extLst>
              <p:ext uri="{D42A27DB-BD31-4B8C-83A1-F6EECF244321}">
                <p14:modId xmlns:p14="http://schemas.microsoft.com/office/powerpoint/2010/main" val="1389151381"/>
              </p:ext>
            </p:extLst>
          </p:nvPr>
        </p:nvGraphicFramePr>
        <p:xfrm>
          <a:off x="152400" y="767310"/>
          <a:ext cx="11819468" cy="6003102"/>
        </p:xfrm>
        <a:graphic>
          <a:graphicData uri="http://schemas.openxmlformats.org/drawingml/2006/table">
            <a:tbl>
              <a:tblPr firstRow="1" bandRow="1">
                <a:tableStyleId>{5C22544A-7EE6-4342-B048-85BDC9FD1C3A}</a:tableStyleId>
              </a:tblPr>
              <a:tblGrid>
                <a:gridCol w="5156200">
                  <a:extLst>
                    <a:ext uri="{9D8B030D-6E8A-4147-A177-3AD203B41FA5}">
                      <a16:colId xmlns:a16="http://schemas.microsoft.com/office/drawing/2014/main" val="191090848"/>
                    </a:ext>
                  </a:extLst>
                </a:gridCol>
                <a:gridCol w="6663268">
                  <a:extLst>
                    <a:ext uri="{9D8B030D-6E8A-4147-A177-3AD203B41FA5}">
                      <a16:colId xmlns:a16="http://schemas.microsoft.com/office/drawing/2014/main" val="787868451"/>
                    </a:ext>
                  </a:extLst>
                </a:gridCol>
              </a:tblGrid>
              <a:tr h="446226">
                <a:tc gridSpan="2">
                  <a:txBody>
                    <a:bodyPr/>
                    <a:lstStyle/>
                    <a:p>
                      <a:pPr algn="ctr"/>
                      <a:r>
                        <a:rPr lang="en-AU" sz="1000"/>
                        <a:t>Custom Built</a:t>
                      </a:r>
                      <a:br>
                        <a:rPr lang="en-AU" sz="800" b="0" i="0" kern="1200">
                          <a:solidFill>
                            <a:schemeClr val="lt1"/>
                          </a:solidFill>
                          <a:effectLst/>
                          <a:latin typeface="+mn-lt"/>
                          <a:ea typeface="+mn-ea"/>
                          <a:cs typeface="+mn-cs"/>
                        </a:rPr>
                      </a:br>
                      <a:r>
                        <a:rPr lang="en-AU" sz="800" b="0" i="0" kern="1200">
                          <a:solidFill>
                            <a:schemeClr val="lt1"/>
                          </a:solidFill>
                          <a:effectLst/>
                          <a:latin typeface="+mn-lt"/>
                          <a:ea typeface="+mn-ea"/>
                          <a:cs typeface="+mn-cs"/>
                        </a:rPr>
                        <a:t>Realtime ingestion in graph databases involves capturing streaming data from sources such as Kafka, MQTT, or webhooks and updating the graph . </a:t>
                      </a:r>
                      <a:endParaRPr lang="en-AU" sz="8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hMerge="1">
                  <a:txBody>
                    <a:bodyPr/>
                    <a:lstStyle/>
                    <a:p>
                      <a:endParaRPr lang="en-AU" sz="800"/>
                    </a:p>
                  </a:txBody>
                  <a:tcPr>
                    <a:solidFill>
                      <a:schemeClr val="tx2">
                        <a:lumMod val="75000"/>
                        <a:lumOff val="25000"/>
                      </a:schemeClr>
                    </a:solidFill>
                  </a:tcPr>
                </a:tc>
                <a:extLst>
                  <a:ext uri="{0D108BD9-81ED-4DB2-BD59-A6C34878D82A}">
                    <a16:rowId xmlns:a16="http://schemas.microsoft.com/office/drawing/2014/main" val="1005196009"/>
                  </a:ext>
                </a:extLst>
              </a:tr>
              <a:tr h="337953">
                <a:tc>
                  <a:txBody>
                    <a:bodyPr/>
                    <a:lstStyle/>
                    <a:p>
                      <a:r>
                        <a:rPr lang="en-AU" sz="900" b="1" u="sng"/>
                        <a:t>NEO4j</a:t>
                      </a:r>
                      <a:br>
                        <a:rPr lang="en-AU" sz="900" b="1" u="sng"/>
                      </a:br>
                      <a:r>
                        <a:rPr lang="en-AU" sz="900"/>
                        <a:t>Node, Edge, Property (key-value)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AU" sz="900" b="1" u="sng" err="1">
                          <a:sym typeface="Wingdings" panose="05000000000000000000" pitchFamily="2" charset="2"/>
                        </a:rPr>
                        <a:t>TigerGraph</a:t>
                      </a:r>
                      <a:r>
                        <a:rPr lang="en-AU" sz="900" b="0" u="none">
                          <a:sym typeface="Wingdings" panose="05000000000000000000" pitchFamily="2" charset="2"/>
                        </a:rPr>
                        <a:t> </a:t>
                      </a:r>
                      <a:br>
                        <a:rPr lang="en-AU" sz="900" b="0" u="none">
                          <a:sym typeface="Wingdings" panose="05000000000000000000" pitchFamily="2" charset="2"/>
                        </a:rPr>
                      </a:br>
                      <a:r>
                        <a:rPr lang="en-AU" sz="900" b="0" u="none">
                          <a:sym typeface="Wingdings" panose="05000000000000000000" pitchFamily="2" charset="2"/>
                        </a:rPr>
                        <a:t>Vertex, Edge, Property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102529381"/>
                  </a:ext>
                </a:extLst>
              </a:tr>
              <a:tr h="3541921">
                <a:tc>
                  <a:txBody>
                    <a:bodyPr/>
                    <a:lstStyle/>
                    <a:p>
                      <a:pPr marL="171450" indent="-171450">
                        <a:buFont typeface="Arial" panose="020B0604020202020204" pitchFamily="34" charset="0"/>
                        <a:buChar char="•"/>
                      </a:pPr>
                      <a:r>
                        <a:rPr lang="en-AU" sz="900" b="1" u="sng">
                          <a:sym typeface="Wingdings" panose="05000000000000000000" pitchFamily="2" charset="2"/>
                        </a:rPr>
                        <a:t>REAL TIME</a:t>
                      </a:r>
                    </a:p>
                    <a:p>
                      <a:pPr marL="0" indent="0">
                        <a:buFont typeface="Arial" panose="020B0604020202020204" pitchFamily="34" charset="0"/>
                        <a:buNone/>
                      </a:pPr>
                      <a:r>
                        <a:rPr lang="en-AU" sz="900" b="0" i="0" kern="1200">
                          <a:solidFill>
                            <a:schemeClr val="dk1"/>
                          </a:solidFill>
                          <a:effectLst/>
                          <a:latin typeface="+mn-lt"/>
                          <a:ea typeface="+mn-ea"/>
                          <a:cs typeface="+mn-cs"/>
                        </a:rPr>
                        <a:t>DATA INGESTION </a:t>
                      </a:r>
                      <a:r>
                        <a:rPr lang="en-AU" sz="900" b="0" i="0" kern="1200">
                          <a:solidFill>
                            <a:schemeClr val="dk1"/>
                          </a:solidFill>
                          <a:effectLst/>
                          <a:latin typeface="+mn-lt"/>
                          <a:ea typeface="+mn-ea"/>
                          <a:cs typeface="+mn-cs"/>
                          <a:sym typeface="Wingdings" panose="05000000000000000000" pitchFamily="2" charset="2"/>
                        </a:rPr>
                        <a:t> </a:t>
                      </a:r>
                      <a:r>
                        <a:rPr lang="en-AU" sz="900" b="0" i="0" kern="1200">
                          <a:solidFill>
                            <a:schemeClr val="dk1"/>
                          </a:solidFill>
                          <a:effectLst/>
                          <a:latin typeface="+mn-lt"/>
                          <a:ea typeface="+mn-ea"/>
                          <a:cs typeface="+mn-cs"/>
                        </a:rPr>
                        <a:t>Kafka Streams, APOC triggers</a:t>
                      </a:r>
                    </a:p>
                    <a:p>
                      <a:pPr marL="0" indent="0">
                        <a:buFont typeface="Arial" panose="020B0604020202020204" pitchFamily="34" charset="0"/>
                        <a:buNone/>
                      </a:pPr>
                      <a:endParaRPr lang="en-AU" sz="900" b="0" i="0" u="sng" kern="1200">
                        <a:solidFill>
                          <a:schemeClr val="dk1"/>
                        </a:solidFill>
                        <a:effectLst/>
                        <a:latin typeface="+mn-lt"/>
                        <a:ea typeface="+mn-ea"/>
                        <a:cs typeface="+mn-cs"/>
                        <a:sym typeface="Wingdings" panose="05000000000000000000" pitchFamily="2" charset="2"/>
                      </a:endParaRPr>
                    </a:p>
                    <a:p>
                      <a:pPr marL="0" indent="0" algn="l">
                        <a:buFont typeface="Arial" panose="020B0604020202020204" pitchFamily="34" charset="0"/>
                        <a:buNone/>
                      </a:pPr>
                      <a:r>
                        <a:rPr lang="en-AU" sz="900" b="0" i="1" u="none">
                          <a:solidFill>
                            <a:srgbClr val="00B050"/>
                          </a:solidFill>
                          <a:sym typeface="Wingdings" panose="05000000000000000000" pitchFamily="2" charset="2"/>
                        </a:rPr>
                        <a:t># Language: Python</a:t>
                      </a:r>
                    </a:p>
                    <a:p>
                      <a:pPr marL="0" indent="0" algn="l">
                        <a:buFont typeface="Arial" panose="020B0604020202020204" pitchFamily="34" charset="0"/>
                        <a:buNone/>
                      </a:pPr>
                      <a:r>
                        <a:rPr lang="en-AU" sz="900" b="0" i="1" u="none">
                          <a:solidFill>
                            <a:srgbClr val="00B050"/>
                          </a:solidFill>
                          <a:sym typeface="Wingdings" panose="05000000000000000000" pitchFamily="2" charset="2"/>
                        </a:rPr>
                        <a:t>from neo4j import </a:t>
                      </a:r>
                      <a:r>
                        <a:rPr lang="en-AU" sz="900" b="0" i="1" u="none" err="1">
                          <a:solidFill>
                            <a:srgbClr val="00B050"/>
                          </a:solidFill>
                          <a:sym typeface="Wingdings" panose="05000000000000000000" pitchFamily="2" charset="2"/>
                        </a:rPr>
                        <a:t>GraphDatabase</a:t>
                      </a:r>
                      <a:endParaRPr lang="en-AU" sz="900" b="0" i="1" u="none">
                        <a:solidFill>
                          <a:srgbClr val="00B050"/>
                        </a:solidFill>
                        <a:sym typeface="Wingdings" panose="05000000000000000000" pitchFamily="2" charset="2"/>
                      </a:endParaRPr>
                    </a:p>
                    <a:p>
                      <a:pPr marL="0" indent="0" algn="l">
                        <a:buFont typeface="Arial" panose="020B0604020202020204" pitchFamily="34" charset="0"/>
                        <a:buNone/>
                      </a:pPr>
                      <a:r>
                        <a:rPr lang="en-AU" sz="900" b="0" i="1" u="none">
                          <a:solidFill>
                            <a:srgbClr val="00B050"/>
                          </a:solidFill>
                          <a:sym typeface="Wingdings" panose="05000000000000000000" pitchFamily="2" charset="2"/>
                        </a:rPr>
                        <a:t>from </a:t>
                      </a:r>
                      <a:r>
                        <a:rPr lang="en-AU" sz="900" b="0" i="1" u="none" err="1">
                          <a:solidFill>
                            <a:srgbClr val="00B050"/>
                          </a:solidFill>
                          <a:sym typeface="Wingdings" panose="05000000000000000000" pitchFamily="2" charset="2"/>
                        </a:rPr>
                        <a:t>kafka</a:t>
                      </a:r>
                      <a:r>
                        <a:rPr lang="en-AU" sz="900" b="0" i="1" u="none">
                          <a:solidFill>
                            <a:srgbClr val="00B050"/>
                          </a:solidFill>
                          <a:sym typeface="Wingdings" panose="05000000000000000000" pitchFamily="2" charset="2"/>
                        </a:rPr>
                        <a:t> import </a:t>
                      </a:r>
                      <a:r>
                        <a:rPr lang="en-AU" sz="900" b="0" i="1" u="none" err="1">
                          <a:solidFill>
                            <a:srgbClr val="00B050"/>
                          </a:solidFill>
                          <a:sym typeface="Wingdings" panose="05000000000000000000" pitchFamily="2" charset="2"/>
                        </a:rPr>
                        <a:t>KafkaConsumer</a:t>
                      </a:r>
                      <a:endParaRPr lang="en-AU" sz="900" b="0" i="1" u="none">
                        <a:solidFill>
                          <a:srgbClr val="00B050"/>
                        </a:solidFill>
                        <a:sym typeface="Wingdings" panose="05000000000000000000" pitchFamily="2" charset="2"/>
                      </a:endParaRPr>
                    </a:p>
                    <a:p>
                      <a:pPr marL="0" indent="0" algn="l">
                        <a:buFont typeface="Arial" panose="020B0604020202020204" pitchFamily="34" charset="0"/>
                        <a:buNone/>
                      </a:pPr>
                      <a:r>
                        <a:rPr lang="en-AU" sz="900" b="0" i="1" u="none">
                          <a:solidFill>
                            <a:srgbClr val="00B050"/>
                          </a:solidFill>
                          <a:sym typeface="Wingdings" panose="05000000000000000000" pitchFamily="2" charset="2"/>
                        </a:rPr>
                        <a:t>import </a:t>
                      </a:r>
                      <a:r>
                        <a:rPr lang="en-AU" sz="900" b="0" i="1" u="none" err="1">
                          <a:solidFill>
                            <a:srgbClr val="00B050"/>
                          </a:solidFill>
                          <a:sym typeface="Wingdings" panose="05000000000000000000" pitchFamily="2" charset="2"/>
                        </a:rPr>
                        <a:t>json</a:t>
                      </a:r>
                      <a:endParaRPr lang="en-AU" sz="900" b="0" i="1" u="none">
                        <a:solidFill>
                          <a:srgbClr val="00B050"/>
                        </a:solidFill>
                        <a:sym typeface="Wingdings" panose="05000000000000000000" pitchFamily="2" charset="2"/>
                      </a:endParaRPr>
                    </a:p>
                    <a:p>
                      <a:pPr marL="0" indent="0" algn="l">
                        <a:buFont typeface="Arial" panose="020B0604020202020204" pitchFamily="34" charset="0"/>
                        <a:buNone/>
                      </a:pPr>
                      <a:r>
                        <a:rPr lang="en-AU" sz="900" b="0" i="1" u="none">
                          <a:solidFill>
                            <a:srgbClr val="00B050"/>
                          </a:solidFill>
                          <a:sym typeface="Wingdings" panose="05000000000000000000" pitchFamily="2" charset="2"/>
                        </a:rPr>
                        <a:t># Connect to Neo4j</a:t>
                      </a:r>
                    </a:p>
                    <a:p>
                      <a:pPr marL="0" indent="0" algn="l">
                        <a:buFont typeface="Arial" panose="020B0604020202020204" pitchFamily="34" charset="0"/>
                        <a:buNone/>
                      </a:pPr>
                      <a:r>
                        <a:rPr lang="en-AU" sz="900" b="0" i="1" u="none" err="1">
                          <a:solidFill>
                            <a:srgbClr val="00B050"/>
                          </a:solidFill>
                          <a:sym typeface="Wingdings" panose="05000000000000000000" pitchFamily="2" charset="2"/>
                        </a:rPr>
                        <a:t>uri</a:t>
                      </a:r>
                      <a:r>
                        <a:rPr lang="en-AU" sz="900" b="0" i="1" u="none">
                          <a:solidFill>
                            <a:srgbClr val="00B050"/>
                          </a:solidFill>
                          <a:sym typeface="Wingdings" panose="05000000000000000000" pitchFamily="2" charset="2"/>
                        </a:rPr>
                        <a:t> = "bolt://localhost:7687"</a:t>
                      </a:r>
                    </a:p>
                    <a:p>
                      <a:pPr marL="0" indent="0" algn="l">
                        <a:buFont typeface="Arial" panose="020B0604020202020204" pitchFamily="34" charset="0"/>
                        <a:buNone/>
                      </a:pPr>
                      <a:r>
                        <a:rPr lang="en-AU" sz="900" b="0" i="1" u="none">
                          <a:solidFill>
                            <a:srgbClr val="00B050"/>
                          </a:solidFill>
                          <a:sym typeface="Wingdings" panose="05000000000000000000" pitchFamily="2" charset="2"/>
                        </a:rPr>
                        <a:t>driver = </a:t>
                      </a:r>
                      <a:r>
                        <a:rPr lang="en-AU" sz="900" b="0" i="1" u="none" err="1">
                          <a:solidFill>
                            <a:srgbClr val="00B050"/>
                          </a:solidFill>
                          <a:sym typeface="Wingdings" panose="05000000000000000000" pitchFamily="2" charset="2"/>
                        </a:rPr>
                        <a:t>GraphDatabase.driver</a:t>
                      </a:r>
                      <a:r>
                        <a:rPr lang="en-AU" sz="900" b="0" i="1" u="none">
                          <a:solidFill>
                            <a:srgbClr val="00B050"/>
                          </a:solidFill>
                          <a:sym typeface="Wingdings" panose="05000000000000000000" pitchFamily="2" charset="2"/>
                        </a:rPr>
                        <a:t>(</a:t>
                      </a:r>
                      <a:r>
                        <a:rPr lang="en-AU" sz="900" b="0" i="1" u="none" err="1">
                          <a:solidFill>
                            <a:srgbClr val="00B050"/>
                          </a:solidFill>
                          <a:sym typeface="Wingdings" panose="05000000000000000000" pitchFamily="2" charset="2"/>
                        </a:rPr>
                        <a:t>uri</a:t>
                      </a:r>
                      <a:r>
                        <a:rPr lang="en-AU" sz="900" b="0" i="1" u="none">
                          <a:solidFill>
                            <a:srgbClr val="00B050"/>
                          </a:solidFill>
                          <a:sym typeface="Wingdings" panose="05000000000000000000" pitchFamily="2" charset="2"/>
                        </a:rPr>
                        <a:t>, auth=("neo4j", "password"))</a:t>
                      </a:r>
                    </a:p>
                    <a:p>
                      <a:pPr marL="0" indent="0" algn="l">
                        <a:buFont typeface="Arial" panose="020B0604020202020204" pitchFamily="34" charset="0"/>
                        <a:buNone/>
                      </a:pPr>
                      <a:r>
                        <a:rPr lang="en-AU" sz="900" b="0" i="1" u="none">
                          <a:solidFill>
                            <a:srgbClr val="00B050"/>
                          </a:solidFill>
                          <a:sym typeface="Wingdings" panose="05000000000000000000" pitchFamily="2" charset="2"/>
                        </a:rPr>
                        <a:t>def </a:t>
                      </a:r>
                      <a:r>
                        <a:rPr lang="en-AU" sz="900" b="0" i="1" u="none" err="1">
                          <a:solidFill>
                            <a:srgbClr val="00B050"/>
                          </a:solidFill>
                          <a:sym typeface="Wingdings" panose="05000000000000000000" pitchFamily="2" charset="2"/>
                        </a:rPr>
                        <a:t>update_graph</a:t>
                      </a:r>
                      <a:r>
                        <a:rPr lang="en-AU" sz="900" b="0" i="1" u="none">
                          <a:solidFill>
                            <a:srgbClr val="00B050"/>
                          </a:solidFill>
                          <a:sym typeface="Wingdings" panose="05000000000000000000" pitchFamily="2" charset="2"/>
                        </a:rPr>
                        <a:t>(</a:t>
                      </a:r>
                      <a:r>
                        <a:rPr lang="en-AU" sz="900" b="0" i="1" u="none" err="1">
                          <a:solidFill>
                            <a:srgbClr val="00B050"/>
                          </a:solidFill>
                          <a:sym typeface="Wingdings" panose="05000000000000000000" pitchFamily="2" charset="2"/>
                        </a:rPr>
                        <a:t>tx</a:t>
                      </a:r>
                      <a:r>
                        <a:rPr lang="en-AU" sz="900" b="0" i="1" u="none">
                          <a:solidFill>
                            <a:srgbClr val="00B050"/>
                          </a:solidFill>
                          <a:sym typeface="Wingdings" panose="05000000000000000000" pitchFamily="2" charset="2"/>
                        </a:rPr>
                        <a:t>, </a:t>
                      </a:r>
                      <a:r>
                        <a:rPr lang="en-AU" sz="900" b="0" i="1" u="none" err="1">
                          <a:solidFill>
                            <a:srgbClr val="00B050"/>
                          </a:solidFill>
                          <a:sym typeface="Wingdings" panose="05000000000000000000" pitchFamily="2" charset="2"/>
                        </a:rPr>
                        <a:t>user_id</a:t>
                      </a:r>
                      <a:r>
                        <a:rPr lang="en-AU" sz="900" b="0" i="1" u="none">
                          <a:solidFill>
                            <a:srgbClr val="00B050"/>
                          </a:solidFill>
                          <a:sym typeface="Wingdings" panose="05000000000000000000" pitchFamily="2" charset="2"/>
                        </a:rPr>
                        <a:t>, action):</a:t>
                      </a:r>
                    </a:p>
                    <a:p>
                      <a:pPr marL="0" indent="0" algn="l">
                        <a:buFont typeface="Arial" panose="020B0604020202020204" pitchFamily="34" charset="0"/>
                        <a:buNone/>
                      </a:pPr>
                      <a:r>
                        <a:rPr lang="en-AU" sz="900" b="0" i="1" u="none">
                          <a:solidFill>
                            <a:srgbClr val="00B050"/>
                          </a:solidFill>
                          <a:sym typeface="Wingdings" panose="05000000000000000000" pitchFamily="2" charset="2"/>
                        </a:rPr>
                        <a:t>    </a:t>
                      </a:r>
                      <a:r>
                        <a:rPr lang="en-AU" sz="900" b="0" i="1" u="none" err="1">
                          <a:solidFill>
                            <a:srgbClr val="00B050"/>
                          </a:solidFill>
                          <a:sym typeface="Wingdings" panose="05000000000000000000" pitchFamily="2" charset="2"/>
                        </a:rPr>
                        <a:t>tx.run</a:t>
                      </a:r>
                      <a:r>
                        <a:rPr lang="en-AU" sz="900" b="0" i="1" u="none">
                          <a:solidFill>
                            <a:srgbClr val="00B050"/>
                          </a:solidFill>
                          <a:sym typeface="Wingdings" panose="05000000000000000000" pitchFamily="2" charset="2"/>
                        </a:rPr>
                        <a:t>("MERGE (</a:t>
                      </a:r>
                      <a:r>
                        <a:rPr lang="en-AU" sz="900" b="0" i="1" u="none" err="1">
                          <a:solidFill>
                            <a:srgbClr val="00B050"/>
                          </a:solidFill>
                          <a:sym typeface="Wingdings" panose="05000000000000000000" pitchFamily="2" charset="2"/>
                        </a:rPr>
                        <a:t>u:User</a:t>
                      </a:r>
                      <a:r>
                        <a:rPr lang="en-AU" sz="900" b="0" i="1" u="none">
                          <a:solidFill>
                            <a:srgbClr val="00B050"/>
                          </a:solidFill>
                          <a:sym typeface="Wingdings" panose="05000000000000000000" pitchFamily="2" charset="2"/>
                        </a:rPr>
                        <a:t> {id: $</a:t>
                      </a:r>
                      <a:r>
                        <a:rPr lang="en-AU" sz="900" b="0" i="1" u="none" err="1">
                          <a:solidFill>
                            <a:srgbClr val="00B050"/>
                          </a:solidFill>
                          <a:sym typeface="Wingdings" panose="05000000000000000000" pitchFamily="2" charset="2"/>
                        </a:rPr>
                        <a:t>user_id</a:t>
                      </a:r>
                      <a:r>
                        <a:rPr lang="en-AU" sz="900" b="0" i="1" u="none">
                          <a:solidFill>
                            <a:srgbClr val="00B050"/>
                          </a:solidFill>
                          <a:sym typeface="Wingdings" panose="05000000000000000000" pitchFamily="2" charset="2"/>
                        </a:rPr>
                        <a:t>}) " "SET </a:t>
                      </a:r>
                      <a:r>
                        <a:rPr lang="en-AU" sz="900" b="0" i="1" u="none" err="1">
                          <a:solidFill>
                            <a:srgbClr val="00B050"/>
                          </a:solidFill>
                          <a:sym typeface="Wingdings" panose="05000000000000000000" pitchFamily="2" charset="2"/>
                        </a:rPr>
                        <a:t>u.last_action</a:t>
                      </a:r>
                      <a:r>
                        <a:rPr lang="en-AU" sz="900" b="0" i="1" u="none">
                          <a:solidFill>
                            <a:srgbClr val="00B050"/>
                          </a:solidFill>
                          <a:sym typeface="Wingdings" panose="05000000000000000000" pitchFamily="2" charset="2"/>
                        </a:rPr>
                        <a:t> = $action",</a:t>
                      </a:r>
                    </a:p>
                    <a:p>
                      <a:pPr marL="0" indent="0" algn="l">
                        <a:buFont typeface="Arial" panose="020B0604020202020204" pitchFamily="34" charset="0"/>
                        <a:buNone/>
                      </a:pPr>
                      <a:r>
                        <a:rPr lang="en-AU" sz="900" b="0" i="1" u="none">
                          <a:solidFill>
                            <a:srgbClr val="00B050"/>
                          </a:solidFill>
                          <a:sym typeface="Wingdings" panose="05000000000000000000" pitchFamily="2" charset="2"/>
                        </a:rPr>
                        <a:t>           </a:t>
                      </a:r>
                      <a:r>
                        <a:rPr lang="en-AU" sz="900" b="0" i="1" u="none" err="1">
                          <a:solidFill>
                            <a:srgbClr val="00B050"/>
                          </a:solidFill>
                          <a:sym typeface="Wingdings" panose="05000000000000000000" pitchFamily="2" charset="2"/>
                        </a:rPr>
                        <a:t>user_id</a:t>
                      </a:r>
                      <a:r>
                        <a:rPr lang="en-AU" sz="900" b="0" i="1" u="none">
                          <a:solidFill>
                            <a:srgbClr val="00B050"/>
                          </a:solidFill>
                          <a:sym typeface="Wingdings" panose="05000000000000000000" pitchFamily="2" charset="2"/>
                        </a:rPr>
                        <a:t>=</a:t>
                      </a:r>
                      <a:r>
                        <a:rPr lang="en-AU" sz="900" b="0" i="1" u="none" err="1">
                          <a:solidFill>
                            <a:srgbClr val="00B050"/>
                          </a:solidFill>
                          <a:sym typeface="Wingdings" panose="05000000000000000000" pitchFamily="2" charset="2"/>
                        </a:rPr>
                        <a:t>user_id</a:t>
                      </a:r>
                      <a:r>
                        <a:rPr lang="en-AU" sz="900" b="0" i="1" u="none">
                          <a:solidFill>
                            <a:srgbClr val="00B050"/>
                          </a:solidFill>
                          <a:sym typeface="Wingdings" panose="05000000000000000000" pitchFamily="2" charset="2"/>
                        </a:rPr>
                        <a:t>, action=action)</a:t>
                      </a:r>
                    </a:p>
                    <a:p>
                      <a:pPr marL="0" indent="0" algn="l">
                        <a:buFont typeface="Arial" panose="020B0604020202020204" pitchFamily="34" charset="0"/>
                        <a:buNone/>
                      </a:pPr>
                      <a:r>
                        <a:rPr lang="en-AU" sz="900" b="0" i="1" u="none">
                          <a:solidFill>
                            <a:srgbClr val="00B050"/>
                          </a:solidFill>
                          <a:sym typeface="Wingdings" panose="05000000000000000000" pitchFamily="2" charset="2"/>
                        </a:rPr>
                        <a:t># Kafka consumer</a:t>
                      </a:r>
                    </a:p>
                    <a:p>
                      <a:pPr marL="0" indent="0" algn="l">
                        <a:buFont typeface="Arial" panose="020B0604020202020204" pitchFamily="34" charset="0"/>
                        <a:buNone/>
                      </a:pPr>
                      <a:r>
                        <a:rPr lang="en-AU" sz="900" b="0" i="1" u="none">
                          <a:solidFill>
                            <a:srgbClr val="00B050"/>
                          </a:solidFill>
                          <a:sym typeface="Wingdings" panose="05000000000000000000" pitchFamily="2" charset="2"/>
                        </a:rPr>
                        <a:t>consumer = </a:t>
                      </a:r>
                      <a:r>
                        <a:rPr lang="en-AU" sz="900" b="0" i="1" u="none" err="1">
                          <a:solidFill>
                            <a:srgbClr val="00B050"/>
                          </a:solidFill>
                          <a:sym typeface="Wingdings" panose="05000000000000000000" pitchFamily="2" charset="2"/>
                        </a:rPr>
                        <a:t>KafkaConsumer</a:t>
                      </a:r>
                      <a:r>
                        <a:rPr lang="en-AU" sz="900" b="0" i="1" u="none">
                          <a:solidFill>
                            <a:srgbClr val="00B050"/>
                          </a:solidFill>
                          <a:sym typeface="Wingdings" panose="05000000000000000000" pitchFamily="2" charset="2"/>
                        </a:rPr>
                        <a:t>(</a:t>
                      </a:r>
                    </a:p>
                    <a:p>
                      <a:pPr marL="0" indent="0" algn="l">
                        <a:buFont typeface="Arial" panose="020B0604020202020204" pitchFamily="34" charset="0"/>
                        <a:buNone/>
                      </a:pPr>
                      <a:r>
                        <a:rPr lang="en-AU" sz="900" b="0" i="1" u="none">
                          <a:solidFill>
                            <a:srgbClr val="00B050"/>
                          </a:solidFill>
                          <a:sym typeface="Wingdings" panose="05000000000000000000" pitchFamily="2" charset="2"/>
                        </a:rPr>
                        <a:t>    'user-actions’,     </a:t>
                      </a:r>
                      <a:r>
                        <a:rPr lang="en-AU" sz="900" b="0" i="1" u="none" err="1">
                          <a:solidFill>
                            <a:srgbClr val="00B050"/>
                          </a:solidFill>
                          <a:sym typeface="Wingdings" panose="05000000000000000000" pitchFamily="2" charset="2"/>
                        </a:rPr>
                        <a:t>bootstrap_servers</a:t>
                      </a:r>
                      <a:r>
                        <a:rPr lang="en-AU" sz="900" b="0" i="1" u="none">
                          <a:solidFill>
                            <a:srgbClr val="00B050"/>
                          </a:solidFill>
                          <a:sym typeface="Wingdings" panose="05000000000000000000" pitchFamily="2" charset="2"/>
                        </a:rPr>
                        <a:t>=['localhost:9092'],</a:t>
                      </a:r>
                    </a:p>
                    <a:p>
                      <a:pPr marL="0" indent="0" algn="l">
                        <a:buFont typeface="Arial" panose="020B0604020202020204" pitchFamily="34" charset="0"/>
                        <a:buNone/>
                      </a:pPr>
                      <a:r>
                        <a:rPr lang="en-AU" sz="900" b="0" i="1" u="none">
                          <a:solidFill>
                            <a:srgbClr val="00B050"/>
                          </a:solidFill>
                          <a:sym typeface="Wingdings" panose="05000000000000000000" pitchFamily="2" charset="2"/>
                        </a:rPr>
                        <a:t>    </a:t>
                      </a:r>
                      <a:r>
                        <a:rPr lang="en-AU" sz="900" b="0" i="1" u="none" err="1">
                          <a:solidFill>
                            <a:srgbClr val="00B050"/>
                          </a:solidFill>
                          <a:sym typeface="Wingdings" panose="05000000000000000000" pitchFamily="2" charset="2"/>
                        </a:rPr>
                        <a:t>value_deserializer</a:t>
                      </a:r>
                      <a:r>
                        <a:rPr lang="en-AU" sz="900" b="0" i="1" u="none">
                          <a:solidFill>
                            <a:srgbClr val="00B050"/>
                          </a:solidFill>
                          <a:sym typeface="Wingdings" panose="05000000000000000000" pitchFamily="2" charset="2"/>
                        </a:rPr>
                        <a:t>=lambda m: </a:t>
                      </a:r>
                      <a:r>
                        <a:rPr lang="en-AU" sz="900" b="0" i="1" u="none" err="1">
                          <a:solidFill>
                            <a:srgbClr val="00B050"/>
                          </a:solidFill>
                          <a:sym typeface="Wingdings" panose="05000000000000000000" pitchFamily="2" charset="2"/>
                        </a:rPr>
                        <a:t>json.loads</a:t>
                      </a:r>
                      <a:r>
                        <a:rPr lang="en-AU" sz="900" b="0" i="1" u="none">
                          <a:solidFill>
                            <a:srgbClr val="00B050"/>
                          </a:solidFill>
                          <a:sym typeface="Wingdings" panose="05000000000000000000" pitchFamily="2" charset="2"/>
                        </a:rPr>
                        <a:t>(</a:t>
                      </a:r>
                      <a:r>
                        <a:rPr lang="en-AU" sz="900" b="0" i="1" u="none" err="1">
                          <a:solidFill>
                            <a:srgbClr val="00B050"/>
                          </a:solidFill>
                          <a:sym typeface="Wingdings" panose="05000000000000000000" pitchFamily="2" charset="2"/>
                        </a:rPr>
                        <a:t>m.decode</a:t>
                      </a:r>
                      <a:r>
                        <a:rPr lang="en-AU" sz="900" b="0" i="1" u="none">
                          <a:solidFill>
                            <a:srgbClr val="00B050"/>
                          </a:solidFill>
                          <a:sym typeface="Wingdings" panose="05000000000000000000" pitchFamily="2" charset="2"/>
                        </a:rPr>
                        <a:t>('utf-8')))</a:t>
                      </a:r>
                    </a:p>
                    <a:p>
                      <a:pPr marL="0" indent="0" algn="l">
                        <a:buFont typeface="Arial" panose="020B0604020202020204" pitchFamily="34" charset="0"/>
                        <a:buNone/>
                      </a:pPr>
                      <a:r>
                        <a:rPr lang="en-AU" sz="900" b="0" i="1" u="none">
                          <a:solidFill>
                            <a:srgbClr val="00B050"/>
                          </a:solidFill>
                          <a:sym typeface="Wingdings" panose="05000000000000000000" pitchFamily="2" charset="2"/>
                        </a:rPr>
                        <a:t>for message in consumer:</a:t>
                      </a:r>
                    </a:p>
                    <a:p>
                      <a:pPr marL="0" indent="0" algn="l">
                        <a:buFont typeface="Arial" panose="020B0604020202020204" pitchFamily="34" charset="0"/>
                        <a:buNone/>
                      </a:pPr>
                      <a:r>
                        <a:rPr lang="en-AU" sz="900" b="0" i="1" u="none">
                          <a:solidFill>
                            <a:srgbClr val="00B050"/>
                          </a:solidFill>
                          <a:sym typeface="Wingdings" panose="05000000000000000000" pitchFamily="2" charset="2"/>
                        </a:rPr>
                        <a:t>    data = </a:t>
                      </a:r>
                      <a:r>
                        <a:rPr lang="en-AU" sz="900" b="0" i="1" u="none" err="1">
                          <a:solidFill>
                            <a:srgbClr val="00B050"/>
                          </a:solidFill>
                          <a:sym typeface="Wingdings" panose="05000000000000000000" pitchFamily="2" charset="2"/>
                        </a:rPr>
                        <a:t>message.value</a:t>
                      </a:r>
                      <a:endParaRPr lang="en-AU" sz="900" b="0" i="1" u="none">
                        <a:solidFill>
                          <a:srgbClr val="00B050"/>
                        </a:solidFill>
                        <a:sym typeface="Wingdings" panose="05000000000000000000" pitchFamily="2" charset="2"/>
                      </a:endParaRPr>
                    </a:p>
                    <a:p>
                      <a:pPr marL="0" indent="0" algn="l">
                        <a:buFont typeface="Arial" panose="020B0604020202020204" pitchFamily="34" charset="0"/>
                        <a:buNone/>
                      </a:pPr>
                      <a:r>
                        <a:rPr lang="en-AU" sz="900" b="0" i="1" u="none">
                          <a:solidFill>
                            <a:srgbClr val="00B050"/>
                          </a:solidFill>
                          <a:sym typeface="Wingdings" panose="05000000000000000000" pitchFamily="2" charset="2"/>
                        </a:rPr>
                        <a:t>    with </a:t>
                      </a:r>
                      <a:r>
                        <a:rPr lang="en-AU" sz="900" b="0" i="1" u="none" err="1">
                          <a:solidFill>
                            <a:srgbClr val="00B050"/>
                          </a:solidFill>
                          <a:sym typeface="Wingdings" panose="05000000000000000000" pitchFamily="2" charset="2"/>
                        </a:rPr>
                        <a:t>driver.session</a:t>
                      </a:r>
                      <a:r>
                        <a:rPr lang="en-AU" sz="900" b="0" i="1" u="none">
                          <a:solidFill>
                            <a:srgbClr val="00B050"/>
                          </a:solidFill>
                          <a:sym typeface="Wingdings" panose="05000000000000000000" pitchFamily="2" charset="2"/>
                        </a:rPr>
                        <a:t>() as session:</a:t>
                      </a:r>
                    </a:p>
                    <a:p>
                      <a:pPr marL="0" indent="0" algn="l">
                        <a:buFont typeface="Arial" panose="020B0604020202020204" pitchFamily="34" charset="0"/>
                        <a:buNone/>
                      </a:pPr>
                      <a:r>
                        <a:rPr lang="en-AU" sz="900" b="0" i="1" u="none">
                          <a:solidFill>
                            <a:srgbClr val="00B050"/>
                          </a:solidFill>
                          <a:sym typeface="Wingdings" panose="05000000000000000000" pitchFamily="2" charset="2"/>
                        </a:rPr>
                        <a:t>        </a:t>
                      </a:r>
                      <a:r>
                        <a:rPr lang="en-AU" sz="900" b="0" i="1" u="none" err="1">
                          <a:solidFill>
                            <a:srgbClr val="00B050"/>
                          </a:solidFill>
                          <a:sym typeface="Wingdings" panose="05000000000000000000" pitchFamily="2" charset="2"/>
                        </a:rPr>
                        <a:t>session.write_transaction</a:t>
                      </a:r>
                      <a:r>
                        <a:rPr lang="en-AU" sz="900" b="0" i="1" u="none">
                          <a:solidFill>
                            <a:srgbClr val="00B050"/>
                          </a:solidFill>
                          <a:sym typeface="Wingdings" panose="05000000000000000000" pitchFamily="2" charset="2"/>
                        </a:rPr>
                        <a:t>(</a:t>
                      </a:r>
                      <a:r>
                        <a:rPr lang="en-AU" sz="900" b="0" i="1" u="none" err="1">
                          <a:solidFill>
                            <a:srgbClr val="00B050"/>
                          </a:solidFill>
                          <a:sym typeface="Wingdings" panose="05000000000000000000" pitchFamily="2" charset="2"/>
                        </a:rPr>
                        <a:t>update_graph</a:t>
                      </a:r>
                      <a:r>
                        <a:rPr lang="en-AU" sz="900" b="0" i="1" u="none">
                          <a:solidFill>
                            <a:srgbClr val="00B050"/>
                          </a:solidFill>
                          <a:sym typeface="Wingdings" panose="05000000000000000000" pitchFamily="2" charset="2"/>
                        </a:rPr>
                        <a:t>, data["</a:t>
                      </a:r>
                      <a:r>
                        <a:rPr lang="en-AU" sz="900" b="0" i="1" u="none" err="1">
                          <a:solidFill>
                            <a:srgbClr val="00B050"/>
                          </a:solidFill>
                          <a:sym typeface="Wingdings" panose="05000000000000000000" pitchFamily="2" charset="2"/>
                        </a:rPr>
                        <a:t>user_id</a:t>
                      </a:r>
                      <a:r>
                        <a:rPr lang="en-AU" sz="900" b="0" i="1" u="none">
                          <a:solidFill>
                            <a:srgbClr val="00B050"/>
                          </a:solidFill>
                          <a:sym typeface="Wingdings" panose="05000000000000000000" pitchFamily="2" charset="2"/>
                        </a:rPr>
                        <a:t>"], data["action"])</a:t>
                      </a:r>
                    </a:p>
                    <a:p>
                      <a:pPr marL="0" indent="0" algn="l">
                        <a:buFont typeface="Arial" panose="020B0604020202020204" pitchFamily="34" charset="0"/>
                        <a:buNone/>
                      </a:pPr>
                      <a:endParaRPr lang="en-AU" sz="900" b="0" i="1" u="none">
                        <a:solidFill>
                          <a:srgbClr val="00B050"/>
                        </a:solidFill>
                        <a:sym typeface="Wingdings" panose="05000000000000000000" pitchFamily="2" charset="2"/>
                      </a:endParaRPr>
                    </a:p>
                    <a:p>
                      <a:pPr marL="171450" indent="-171450">
                        <a:buFont typeface="Arial" panose="020B0604020202020204" pitchFamily="34" charset="0"/>
                        <a:buChar char="•"/>
                      </a:pPr>
                      <a:r>
                        <a:rPr lang="en-AU" sz="900" b="0" i="1" kern="1200" err="1">
                          <a:solidFill>
                            <a:schemeClr val="dk1"/>
                          </a:solidFill>
                          <a:effectLst/>
                          <a:latin typeface="+mn-lt"/>
                          <a:ea typeface="+mn-ea"/>
                          <a:cs typeface="+mn-cs"/>
                        </a:rPr>
                        <a:t>KafkaConsumer</a:t>
                      </a:r>
                      <a:r>
                        <a:rPr lang="en-AU" sz="900" b="0" i="1" kern="1200">
                          <a:solidFill>
                            <a:schemeClr val="dk1"/>
                          </a:solidFill>
                          <a:effectLst/>
                          <a:latin typeface="+mn-lt"/>
                          <a:ea typeface="+mn-ea"/>
                          <a:cs typeface="+mn-cs"/>
                        </a:rPr>
                        <a:t> listens for real-time messages.</a:t>
                      </a:r>
                    </a:p>
                    <a:p>
                      <a:pPr marL="171450" indent="-171450">
                        <a:buFont typeface="Arial" panose="020B0604020202020204" pitchFamily="34" charset="0"/>
                        <a:buChar char="•"/>
                      </a:pPr>
                      <a:r>
                        <a:rPr lang="en-AU" sz="900" b="0" i="1" kern="1200">
                          <a:solidFill>
                            <a:schemeClr val="dk1"/>
                          </a:solidFill>
                          <a:effectLst/>
                          <a:latin typeface="+mn-lt"/>
                          <a:ea typeface="+mn-ea"/>
                          <a:cs typeface="+mn-cs"/>
                        </a:rPr>
                        <a:t>Neo4j MERGE ensures nodes are created if they do not exist.</a:t>
                      </a:r>
                    </a:p>
                    <a:p>
                      <a:pPr marL="171450" indent="-171450">
                        <a:buFont typeface="Arial" panose="020B0604020202020204" pitchFamily="34" charset="0"/>
                        <a:buChar char="•"/>
                      </a:pPr>
                      <a:r>
                        <a:rPr lang="en-AU" sz="900" b="0" i="1" kern="1200" err="1">
                          <a:solidFill>
                            <a:schemeClr val="dk1"/>
                          </a:solidFill>
                          <a:effectLst/>
                          <a:latin typeface="+mn-lt"/>
                          <a:ea typeface="+mn-ea"/>
                          <a:cs typeface="+mn-cs"/>
                        </a:rPr>
                        <a:t>write_transaction</a:t>
                      </a:r>
                      <a:r>
                        <a:rPr lang="en-AU" sz="900" b="0" i="1" kern="1200">
                          <a:solidFill>
                            <a:schemeClr val="dk1"/>
                          </a:solidFill>
                          <a:effectLst/>
                          <a:latin typeface="+mn-lt"/>
                          <a:ea typeface="+mn-ea"/>
                          <a:cs typeface="+mn-cs"/>
                        </a:rPr>
                        <a:t> updates the graph with new data as it arrives.</a:t>
                      </a:r>
                    </a:p>
                    <a:p>
                      <a:pPr marL="171450" indent="-171450">
                        <a:buFont typeface="Arial" panose="020B0604020202020204" pitchFamily="34" charset="0"/>
                        <a:buChar char="•"/>
                      </a:pPr>
                      <a:endParaRPr lang="en-AU" sz="900" b="0" i="1" kern="1200">
                        <a:solidFill>
                          <a:schemeClr val="dk1"/>
                        </a:solidFill>
                        <a:effectLst/>
                        <a:latin typeface="+mn-lt"/>
                        <a:ea typeface="+mn-ea"/>
                        <a:cs typeface="+mn-cs"/>
                      </a:endParaRPr>
                    </a:p>
                    <a:p>
                      <a:pPr marL="0" indent="0">
                        <a:buFont typeface="Arial" panose="020B0604020202020204" pitchFamily="34" charset="0"/>
                        <a:buNone/>
                      </a:pPr>
                      <a:r>
                        <a:rPr lang="en-AU" sz="900" b="0" i="0" kern="1200">
                          <a:solidFill>
                            <a:schemeClr val="dk1"/>
                          </a:solidFill>
                          <a:effectLst/>
                          <a:latin typeface="+mn-lt"/>
                          <a:ea typeface="+mn-ea"/>
                          <a:cs typeface="+mn-cs"/>
                        </a:rPr>
                        <a:t>Note </a:t>
                      </a:r>
                      <a:r>
                        <a:rPr lang="en-AU" sz="900" b="0" i="0" kern="1200">
                          <a:solidFill>
                            <a:schemeClr val="dk1"/>
                          </a:solidFill>
                          <a:effectLst/>
                          <a:latin typeface="+mn-lt"/>
                          <a:ea typeface="+mn-ea"/>
                          <a:cs typeface="+mn-cs"/>
                          <a:sym typeface="Wingdings" panose="05000000000000000000" pitchFamily="2" charset="2"/>
                        </a:rPr>
                        <a:t> Webhooks</a:t>
                      </a:r>
                      <a:br>
                        <a:rPr lang="en-AU" sz="900" b="0" i="0" kern="1200">
                          <a:solidFill>
                            <a:schemeClr val="dk1"/>
                          </a:solidFill>
                          <a:effectLst/>
                          <a:latin typeface="+mn-lt"/>
                          <a:ea typeface="+mn-ea"/>
                          <a:cs typeface="+mn-cs"/>
                          <a:sym typeface="Wingdings" panose="05000000000000000000" pitchFamily="2" charset="2"/>
                        </a:rPr>
                      </a:br>
                      <a:r>
                        <a:rPr lang="en-AU" sz="900" b="0" i="0" kern="1200">
                          <a:solidFill>
                            <a:schemeClr val="dk1"/>
                          </a:solidFill>
                          <a:effectLst/>
                          <a:latin typeface="+mn-lt"/>
                          <a:ea typeface="+mn-ea"/>
                          <a:cs typeface="+mn-cs"/>
                          <a:sym typeface="Wingdings" panose="05000000000000000000" pitchFamily="2" charset="2"/>
                        </a:rPr>
                        <a:t>Use Python, Flask (simple webhook listener)</a:t>
                      </a:r>
                      <a:endParaRPr lang="en-AU" sz="9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171450" indent="-171450">
                        <a:buFont typeface="Arial" panose="020B0604020202020204" pitchFamily="34" charset="0"/>
                        <a:buChar char="•"/>
                      </a:pPr>
                      <a:r>
                        <a:rPr lang="en-AU" sz="900" b="1" u="sng">
                          <a:sym typeface="Wingdings" panose="05000000000000000000" pitchFamily="2" charset="2"/>
                        </a:rPr>
                        <a:t>REAL TIME</a:t>
                      </a:r>
                    </a:p>
                    <a:p>
                      <a:pPr marL="0" indent="0">
                        <a:buFont typeface="Arial" panose="020B0604020202020204" pitchFamily="34" charset="0"/>
                        <a:buNone/>
                      </a:pPr>
                      <a:r>
                        <a:rPr lang="en-AU" sz="900" b="0" u="none">
                          <a:sym typeface="Wingdings" panose="05000000000000000000" pitchFamily="2" charset="2"/>
                        </a:rPr>
                        <a:t>Stream Loading Jobs, REST++</a:t>
                      </a:r>
                    </a:p>
                    <a:p>
                      <a:pPr marL="0" indent="0">
                        <a:buFont typeface="Arial" panose="020B0604020202020204" pitchFamily="34" charset="0"/>
                        <a:buNone/>
                      </a:pPr>
                      <a:endParaRPr lang="en-AU" sz="900" b="0" u="none"/>
                    </a:p>
                    <a:p>
                      <a:pPr marL="0" indent="0">
                        <a:buFont typeface="Arial" panose="020B0604020202020204" pitchFamily="34" charset="0"/>
                        <a:buNone/>
                      </a:pPr>
                      <a:r>
                        <a:rPr lang="en-AU" sz="900" b="0" i="1" u="none">
                          <a:solidFill>
                            <a:srgbClr val="00B050"/>
                          </a:solidFill>
                        </a:rPr>
                        <a:t># Python example for </a:t>
                      </a:r>
                      <a:r>
                        <a:rPr lang="en-AU" sz="900" b="0" i="1" u="none" err="1">
                          <a:solidFill>
                            <a:srgbClr val="00B050"/>
                          </a:solidFill>
                        </a:rPr>
                        <a:t>TigerGraph</a:t>
                      </a:r>
                      <a:r>
                        <a:rPr lang="en-AU" sz="900" b="0" i="1" u="none">
                          <a:solidFill>
                            <a:srgbClr val="00B050"/>
                          </a:solidFill>
                        </a:rPr>
                        <a:t> REST API</a:t>
                      </a:r>
                    </a:p>
                    <a:p>
                      <a:pPr marL="0" indent="0">
                        <a:buFont typeface="Arial" panose="020B0604020202020204" pitchFamily="34" charset="0"/>
                        <a:buNone/>
                      </a:pPr>
                      <a:r>
                        <a:rPr lang="en-AU" sz="900" b="0" i="1" u="none">
                          <a:solidFill>
                            <a:srgbClr val="00B050"/>
                          </a:solidFill>
                        </a:rPr>
                        <a:t>import requests</a:t>
                      </a:r>
                    </a:p>
                    <a:p>
                      <a:pPr marL="0" indent="0">
                        <a:buFont typeface="Arial" panose="020B0604020202020204" pitchFamily="34" charset="0"/>
                        <a:buNone/>
                      </a:pPr>
                      <a:r>
                        <a:rPr lang="en-AU" sz="900" b="0" i="1" u="none">
                          <a:solidFill>
                            <a:srgbClr val="00B050"/>
                          </a:solidFill>
                        </a:rPr>
                        <a:t>import </a:t>
                      </a:r>
                      <a:r>
                        <a:rPr lang="en-AU" sz="900" b="0" i="1" u="none" err="1">
                          <a:solidFill>
                            <a:srgbClr val="00B050"/>
                          </a:solidFill>
                        </a:rPr>
                        <a:t>json</a:t>
                      </a:r>
                      <a:endParaRPr lang="en-AU" sz="900" b="0" i="1" u="none">
                        <a:solidFill>
                          <a:srgbClr val="00B050"/>
                        </a:solidFill>
                      </a:endParaRPr>
                    </a:p>
                    <a:p>
                      <a:pPr marL="0" indent="0">
                        <a:buFont typeface="Arial" panose="020B0604020202020204" pitchFamily="34" charset="0"/>
                        <a:buNone/>
                      </a:pPr>
                      <a:r>
                        <a:rPr lang="en-AU" sz="900" b="0" i="1" u="none">
                          <a:solidFill>
                            <a:srgbClr val="00B050"/>
                          </a:solidFill>
                        </a:rPr>
                        <a:t>TG_REST_URL = "http://localhost:9000"</a:t>
                      </a:r>
                    </a:p>
                    <a:p>
                      <a:pPr marL="0" indent="0">
                        <a:buFont typeface="Arial" panose="020B0604020202020204" pitchFamily="34" charset="0"/>
                        <a:buNone/>
                      </a:pPr>
                      <a:r>
                        <a:rPr lang="en-AU" sz="900" b="0" i="1" u="none">
                          <a:solidFill>
                            <a:srgbClr val="00B050"/>
                          </a:solidFill>
                        </a:rPr>
                        <a:t>TOKEN = "YOUR_TOKEN_HERE"</a:t>
                      </a:r>
                    </a:p>
                    <a:p>
                      <a:pPr marL="0" indent="0">
                        <a:buFont typeface="Arial" panose="020B0604020202020204" pitchFamily="34" charset="0"/>
                        <a:buNone/>
                      </a:pPr>
                      <a:r>
                        <a:rPr lang="en-AU" sz="900" b="0" i="1" u="none">
                          <a:solidFill>
                            <a:srgbClr val="00B050"/>
                          </a:solidFill>
                        </a:rPr>
                        <a:t>GRAPH = "</a:t>
                      </a:r>
                      <a:r>
                        <a:rPr lang="en-AU" sz="900" b="0" i="1" u="none" err="1">
                          <a:solidFill>
                            <a:srgbClr val="00B050"/>
                          </a:solidFill>
                        </a:rPr>
                        <a:t>MyGraph</a:t>
                      </a:r>
                      <a:r>
                        <a:rPr lang="en-AU" sz="900" b="0" i="1" u="none">
                          <a:solidFill>
                            <a:srgbClr val="00B050"/>
                          </a:solidFill>
                        </a:rPr>
                        <a:t>"</a:t>
                      </a:r>
                    </a:p>
                    <a:p>
                      <a:pPr marL="0" indent="0">
                        <a:buFont typeface="Arial" panose="020B0604020202020204" pitchFamily="34" charset="0"/>
                        <a:buNone/>
                      </a:pPr>
                      <a:r>
                        <a:rPr lang="en-AU" sz="900" b="0" i="1" u="none">
                          <a:solidFill>
                            <a:srgbClr val="00B050"/>
                          </a:solidFill>
                        </a:rPr>
                        <a:t>def </a:t>
                      </a:r>
                      <a:r>
                        <a:rPr lang="en-AU" sz="900" b="0" i="1" u="none" err="1">
                          <a:solidFill>
                            <a:srgbClr val="00B050"/>
                          </a:solidFill>
                        </a:rPr>
                        <a:t>add_or_update_vertex</a:t>
                      </a:r>
                      <a:r>
                        <a:rPr lang="en-AU" sz="900" b="0" i="1" u="none">
                          <a:solidFill>
                            <a:srgbClr val="00B050"/>
                          </a:solidFill>
                        </a:rPr>
                        <a:t>(</a:t>
                      </a:r>
                      <a:r>
                        <a:rPr lang="en-AU" sz="900" b="0" i="1" u="none" err="1">
                          <a:solidFill>
                            <a:srgbClr val="00B050"/>
                          </a:solidFill>
                        </a:rPr>
                        <a:t>user_id</a:t>
                      </a:r>
                      <a:r>
                        <a:rPr lang="en-AU" sz="900" b="0" i="1" u="none">
                          <a:solidFill>
                            <a:srgbClr val="00B050"/>
                          </a:solidFill>
                        </a:rPr>
                        <a:t>, action):</a:t>
                      </a:r>
                    </a:p>
                    <a:p>
                      <a:pPr marL="0" indent="0">
                        <a:buFont typeface="Arial" panose="020B0604020202020204" pitchFamily="34" charset="0"/>
                        <a:buNone/>
                      </a:pPr>
                      <a:r>
                        <a:rPr lang="en-AU" sz="900" b="0" i="1" u="none">
                          <a:solidFill>
                            <a:srgbClr val="00B050"/>
                          </a:solidFill>
                        </a:rPr>
                        <a:t>    </a:t>
                      </a:r>
                      <a:r>
                        <a:rPr lang="en-AU" sz="900" b="0" i="1" u="none" err="1">
                          <a:solidFill>
                            <a:srgbClr val="00B050"/>
                          </a:solidFill>
                        </a:rPr>
                        <a:t>url</a:t>
                      </a:r>
                      <a:r>
                        <a:rPr lang="en-AU" sz="900" b="0" i="1" u="none">
                          <a:solidFill>
                            <a:srgbClr val="00B050"/>
                          </a:solidFill>
                        </a:rPr>
                        <a:t> = f"{TG_REST_URL}/graph/{GRAPH}/vertices/User/{</a:t>
                      </a:r>
                      <a:r>
                        <a:rPr lang="en-AU" sz="900" b="0" i="1" u="none" err="1">
                          <a:solidFill>
                            <a:srgbClr val="00B050"/>
                          </a:solidFill>
                        </a:rPr>
                        <a:t>user_id</a:t>
                      </a:r>
                      <a:r>
                        <a:rPr lang="en-AU" sz="900" b="0" i="1" u="none">
                          <a:solidFill>
                            <a:srgbClr val="00B050"/>
                          </a:solidFill>
                        </a:rPr>
                        <a:t>}"</a:t>
                      </a:r>
                    </a:p>
                    <a:p>
                      <a:pPr marL="0" indent="0">
                        <a:buFont typeface="Arial" panose="020B0604020202020204" pitchFamily="34" charset="0"/>
                        <a:buNone/>
                      </a:pPr>
                      <a:r>
                        <a:rPr lang="en-AU" sz="900" b="0" i="1" u="none">
                          <a:solidFill>
                            <a:srgbClr val="00B050"/>
                          </a:solidFill>
                        </a:rPr>
                        <a:t>    payload = {</a:t>
                      </a:r>
                    </a:p>
                    <a:p>
                      <a:pPr marL="0" indent="0">
                        <a:buFont typeface="Arial" panose="020B0604020202020204" pitchFamily="34" charset="0"/>
                        <a:buNone/>
                      </a:pPr>
                      <a:r>
                        <a:rPr lang="en-AU" sz="900" b="0" i="1" u="none">
                          <a:solidFill>
                            <a:srgbClr val="00B050"/>
                          </a:solidFill>
                        </a:rPr>
                        <a:t>        "attributes": {"</a:t>
                      </a:r>
                      <a:r>
                        <a:rPr lang="en-AU" sz="900" b="0" i="1" u="none" err="1">
                          <a:solidFill>
                            <a:srgbClr val="00B050"/>
                          </a:solidFill>
                        </a:rPr>
                        <a:t>last_action</a:t>
                      </a:r>
                      <a:r>
                        <a:rPr lang="en-AU" sz="900" b="0" i="1" u="none">
                          <a:solidFill>
                            <a:srgbClr val="00B050"/>
                          </a:solidFill>
                        </a:rPr>
                        <a:t>": action}</a:t>
                      </a:r>
                    </a:p>
                    <a:p>
                      <a:pPr marL="0" indent="0">
                        <a:buFont typeface="Arial" panose="020B0604020202020204" pitchFamily="34" charset="0"/>
                        <a:buNone/>
                      </a:pPr>
                      <a:r>
                        <a:rPr lang="en-AU" sz="900" b="0" i="1" u="none">
                          <a:solidFill>
                            <a:srgbClr val="00B050"/>
                          </a:solidFill>
                        </a:rPr>
                        <a:t>    }</a:t>
                      </a:r>
                    </a:p>
                    <a:p>
                      <a:pPr marL="0" indent="0">
                        <a:buFont typeface="Arial" panose="020B0604020202020204" pitchFamily="34" charset="0"/>
                        <a:buNone/>
                      </a:pPr>
                      <a:r>
                        <a:rPr lang="en-AU" sz="900" b="0" i="1" u="none">
                          <a:solidFill>
                            <a:srgbClr val="00B050"/>
                          </a:solidFill>
                        </a:rPr>
                        <a:t>    headers = {"Authorization": </a:t>
                      </a:r>
                      <a:r>
                        <a:rPr lang="en-AU" sz="900" b="0" i="1" u="none" err="1">
                          <a:solidFill>
                            <a:srgbClr val="00B050"/>
                          </a:solidFill>
                        </a:rPr>
                        <a:t>f"Bearer</a:t>
                      </a:r>
                      <a:r>
                        <a:rPr lang="en-AU" sz="900" b="0" i="1" u="none">
                          <a:solidFill>
                            <a:srgbClr val="00B050"/>
                          </a:solidFill>
                        </a:rPr>
                        <a:t> {TOKEN}"}</a:t>
                      </a:r>
                    </a:p>
                    <a:p>
                      <a:pPr marL="0" indent="0">
                        <a:buFont typeface="Arial" panose="020B0604020202020204" pitchFamily="34" charset="0"/>
                        <a:buNone/>
                      </a:pPr>
                      <a:r>
                        <a:rPr lang="en-AU" sz="900" b="0" i="1" u="none">
                          <a:solidFill>
                            <a:srgbClr val="00B050"/>
                          </a:solidFill>
                        </a:rPr>
                        <a:t>    response = </a:t>
                      </a:r>
                      <a:r>
                        <a:rPr lang="en-AU" sz="900" b="0" i="1" u="none" err="1">
                          <a:solidFill>
                            <a:srgbClr val="00B050"/>
                          </a:solidFill>
                        </a:rPr>
                        <a:t>requests.post</a:t>
                      </a:r>
                      <a:r>
                        <a:rPr lang="en-AU" sz="900" b="0" i="1" u="none">
                          <a:solidFill>
                            <a:srgbClr val="00B050"/>
                          </a:solidFill>
                        </a:rPr>
                        <a:t>(</a:t>
                      </a:r>
                      <a:r>
                        <a:rPr lang="en-AU" sz="900" b="0" i="1" u="none" err="1">
                          <a:solidFill>
                            <a:srgbClr val="00B050"/>
                          </a:solidFill>
                        </a:rPr>
                        <a:t>url</a:t>
                      </a:r>
                      <a:r>
                        <a:rPr lang="en-AU" sz="900" b="0" i="1" u="none">
                          <a:solidFill>
                            <a:srgbClr val="00B050"/>
                          </a:solidFill>
                        </a:rPr>
                        <a:t>, </a:t>
                      </a:r>
                      <a:r>
                        <a:rPr lang="en-AU" sz="900" b="0" i="1" u="none" err="1">
                          <a:solidFill>
                            <a:srgbClr val="00B050"/>
                          </a:solidFill>
                        </a:rPr>
                        <a:t>json</a:t>
                      </a:r>
                      <a:r>
                        <a:rPr lang="en-AU" sz="900" b="0" i="1" u="none">
                          <a:solidFill>
                            <a:srgbClr val="00B050"/>
                          </a:solidFill>
                        </a:rPr>
                        <a:t>=payload, headers=headers)</a:t>
                      </a:r>
                    </a:p>
                    <a:p>
                      <a:pPr marL="0" indent="0">
                        <a:buFont typeface="Arial" panose="020B0604020202020204" pitchFamily="34" charset="0"/>
                        <a:buNone/>
                      </a:pPr>
                      <a:r>
                        <a:rPr lang="en-AU" sz="900" b="0" i="1" u="none">
                          <a:solidFill>
                            <a:srgbClr val="00B050"/>
                          </a:solidFill>
                        </a:rPr>
                        <a:t>    print(</a:t>
                      </a:r>
                      <a:r>
                        <a:rPr lang="en-AU" sz="900" b="0" i="1" u="none" err="1">
                          <a:solidFill>
                            <a:srgbClr val="00B050"/>
                          </a:solidFill>
                        </a:rPr>
                        <a:t>response.json</a:t>
                      </a:r>
                      <a:r>
                        <a:rPr lang="en-AU" sz="900" b="0" i="1" u="none">
                          <a:solidFill>
                            <a:srgbClr val="00B050"/>
                          </a:solidFill>
                        </a:rPr>
                        <a:t>())</a:t>
                      </a:r>
                    </a:p>
                    <a:p>
                      <a:pPr marL="0" indent="0">
                        <a:buFont typeface="Arial" panose="020B0604020202020204" pitchFamily="34" charset="0"/>
                        <a:buNone/>
                      </a:pPr>
                      <a:r>
                        <a:rPr lang="en-AU" sz="900" b="0" i="1" u="none">
                          <a:solidFill>
                            <a:srgbClr val="00B050"/>
                          </a:solidFill>
                        </a:rPr>
                        <a:t># Simulated Kafka listener</a:t>
                      </a:r>
                    </a:p>
                    <a:p>
                      <a:pPr marL="0" indent="0">
                        <a:buFont typeface="Arial" panose="020B0604020202020204" pitchFamily="34" charset="0"/>
                        <a:buNone/>
                      </a:pPr>
                      <a:r>
                        <a:rPr lang="en-AU" sz="900" b="0" i="1" u="none">
                          <a:solidFill>
                            <a:srgbClr val="00B050"/>
                          </a:solidFill>
                        </a:rPr>
                        <a:t>from </a:t>
                      </a:r>
                      <a:r>
                        <a:rPr lang="en-AU" sz="900" b="0" i="1" u="none" err="1">
                          <a:solidFill>
                            <a:srgbClr val="00B050"/>
                          </a:solidFill>
                        </a:rPr>
                        <a:t>kafka</a:t>
                      </a:r>
                      <a:r>
                        <a:rPr lang="en-AU" sz="900" b="0" i="1" u="none">
                          <a:solidFill>
                            <a:srgbClr val="00B050"/>
                          </a:solidFill>
                        </a:rPr>
                        <a:t> import </a:t>
                      </a:r>
                      <a:r>
                        <a:rPr lang="en-AU" sz="900" b="0" i="1" u="none" err="1">
                          <a:solidFill>
                            <a:srgbClr val="00B050"/>
                          </a:solidFill>
                        </a:rPr>
                        <a:t>KafkaConsumer</a:t>
                      </a:r>
                      <a:endParaRPr lang="en-AU" sz="900" b="0" i="1" u="none">
                        <a:solidFill>
                          <a:srgbClr val="00B050"/>
                        </a:solidFill>
                      </a:endParaRPr>
                    </a:p>
                    <a:p>
                      <a:pPr marL="0" indent="0">
                        <a:buFont typeface="Arial" panose="020B0604020202020204" pitchFamily="34" charset="0"/>
                        <a:buNone/>
                      </a:pPr>
                      <a:r>
                        <a:rPr lang="en-AU" sz="900" b="0" i="1" u="none">
                          <a:solidFill>
                            <a:srgbClr val="00B050"/>
                          </a:solidFill>
                        </a:rPr>
                        <a:t>consumer = </a:t>
                      </a:r>
                      <a:r>
                        <a:rPr lang="en-AU" sz="900" b="0" i="1" u="none" err="1">
                          <a:solidFill>
                            <a:srgbClr val="00B050"/>
                          </a:solidFill>
                        </a:rPr>
                        <a:t>KafkaConsumer</a:t>
                      </a:r>
                      <a:r>
                        <a:rPr lang="en-AU" sz="900" b="0" i="1" u="none">
                          <a:solidFill>
                            <a:srgbClr val="00B050"/>
                          </a:solidFill>
                        </a:rPr>
                        <a:t>('user-actions', </a:t>
                      </a:r>
                      <a:r>
                        <a:rPr lang="en-AU" sz="900" b="0" i="1" u="none" err="1">
                          <a:solidFill>
                            <a:srgbClr val="00B050"/>
                          </a:solidFill>
                        </a:rPr>
                        <a:t>bootstrap_servers</a:t>
                      </a:r>
                      <a:r>
                        <a:rPr lang="en-AU" sz="900" b="0" i="1" u="none">
                          <a:solidFill>
                            <a:srgbClr val="00B050"/>
                          </a:solidFill>
                        </a:rPr>
                        <a:t>=['localhost:9092'], </a:t>
                      </a:r>
                      <a:r>
                        <a:rPr lang="en-AU" sz="900" b="0" i="1" u="none" err="1">
                          <a:solidFill>
                            <a:srgbClr val="00B050"/>
                          </a:solidFill>
                        </a:rPr>
                        <a:t>value_deserializer</a:t>
                      </a:r>
                      <a:r>
                        <a:rPr lang="en-AU" sz="900" b="0" i="1" u="none">
                          <a:solidFill>
                            <a:srgbClr val="00B050"/>
                          </a:solidFill>
                        </a:rPr>
                        <a:t>=lambda m: </a:t>
                      </a:r>
                      <a:r>
                        <a:rPr lang="en-AU" sz="900" b="0" i="1" u="none" err="1">
                          <a:solidFill>
                            <a:srgbClr val="00B050"/>
                          </a:solidFill>
                        </a:rPr>
                        <a:t>json.loads</a:t>
                      </a:r>
                      <a:r>
                        <a:rPr lang="en-AU" sz="900" b="0" i="1" u="none">
                          <a:solidFill>
                            <a:srgbClr val="00B050"/>
                          </a:solidFill>
                        </a:rPr>
                        <a:t>(</a:t>
                      </a:r>
                      <a:r>
                        <a:rPr lang="en-AU" sz="900" b="0" i="1" u="none" err="1">
                          <a:solidFill>
                            <a:srgbClr val="00B050"/>
                          </a:solidFill>
                        </a:rPr>
                        <a:t>m.decode</a:t>
                      </a:r>
                      <a:r>
                        <a:rPr lang="en-AU" sz="900" b="0" i="1" u="none">
                          <a:solidFill>
                            <a:srgbClr val="00B050"/>
                          </a:solidFill>
                        </a:rPr>
                        <a:t>('utf-8')))</a:t>
                      </a:r>
                    </a:p>
                    <a:p>
                      <a:pPr marL="0" indent="0">
                        <a:buFont typeface="Arial" panose="020B0604020202020204" pitchFamily="34" charset="0"/>
                        <a:buNone/>
                      </a:pPr>
                      <a:r>
                        <a:rPr lang="en-AU" sz="900" b="0" i="1" u="none">
                          <a:solidFill>
                            <a:srgbClr val="00B050"/>
                          </a:solidFill>
                        </a:rPr>
                        <a:t>for message in consumer:</a:t>
                      </a:r>
                    </a:p>
                    <a:p>
                      <a:pPr marL="0" indent="0">
                        <a:buFont typeface="Arial" panose="020B0604020202020204" pitchFamily="34" charset="0"/>
                        <a:buNone/>
                      </a:pPr>
                      <a:r>
                        <a:rPr lang="en-AU" sz="900" b="0" i="1" u="none">
                          <a:solidFill>
                            <a:srgbClr val="00B050"/>
                          </a:solidFill>
                        </a:rPr>
                        <a:t>    data = </a:t>
                      </a:r>
                      <a:r>
                        <a:rPr lang="en-AU" sz="900" b="0" i="1" u="none" err="1">
                          <a:solidFill>
                            <a:srgbClr val="00B050"/>
                          </a:solidFill>
                        </a:rPr>
                        <a:t>message.value</a:t>
                      </a:r>
                      <a:endParaRPr lang="en-AU" sz="900" b="0" i="1" u="none">
                        <a:solidFill>
                          <a:srgbClr val="00B050"/>
                        </a:solidFill>
                      </a:endParaRPr>
                    </a:p>
                    <a:p>
                      <a:pPr marL="0" indent="0">
                        <a:buFont typeface="Arial" panose="020B0604020202020204" pitchFamily="34" charset="0"/>
                        <a:buNone/>
                      </a:pPr>
                      <a:r>
                        <a:rPr lang="en-AU" sz="900" b="0" i="1" u="none">
                          <a:solidFill>
                            <a:srgbClr val="00B050"/>
                          </a:solidFill>
                        </a:rPr>
                        <a:t>    </a:t>
                      </a:r>
                      <a:r>
                        <a:rPr lang="en-AU" sz="900" b="0" i="1" u="none" err="1">
                          <a:solidFill>
                            <a:srgbClr val="00B050"/>
                          </a:solidFill>
                        </a:rPr>
                        <a:t>add_or_update_vertex</a:t>
                      </a:r>
                      <a:r>
                        <a:rPr lang="en-AU" sz="900" b="0" i="1" u="none">
                          <a:solidFill>
                            <a:srgbClr val="00B050"/>
                          </a:solidFill>
                        </a:rPr>
                        <a:t>(data["</a:t>
                      </a:r>
                      <a:r>
                        <a:rPr lang="en-AU" sz="900" b="0" i="1" u="none" err="1">
                          <a:solidFill>
                            <a:srgbClr val="00B050"/>
                          </a:solidFill>
                        </a:rPr>
                        <a:t>user_id</a:t>
                      </a:r>
                      <a:r>
                        <a:rPr lang="en-AU" sz="900" b="0" i="1" u="none">
                          <a:solidFill>
                            <a:srgbClr val="00B050"/>
                          </a:solidFill>
                        </a:rPr>
                        <a:t>"], data["action"])</a:t>
                      </a:r>
                    </a:p>
                    <a:p>
                      <a:pPr marL="0" indent="0">
                        <a:buFont typeface="Arial" panose="020B0604020202020204" pitchFamily="34" charset="0"/>
                        <a:buNone/>
                      </a:pPr>
                      <a:endParaRPr lang="en-AU" sz="900" b="0" i="1" u="none">
                        <a:solidFill>
                          <a:srgbClr val="00B050"/>
                        </a:solidFill>
                      </a:endParaRPr>
                    </a:p>
                    <a:p>
                      <a:pPr marL="171450" indent="-171450">
                        <a:buFont typeface="Arial" panose="020B0604020202020204" pitchFamily="34" charset="0"/>
                        <a:buChar char="•"/>
                      </a:pPr>
                      <a:r>
                        <a:rPr lang="en-US" sz="900" b="0" i="0" u="none">
                          <a:solidFill>
                            <a:schemeClr val="tx1"/>
                          </a:solidFill>
                        </a:rPr>
                        <a:t>Use </a:t>
                      </a:r>
                      <a:r>
                        <a:rPr lang="en-US" sz="900" b="0" i="0" u="none" err="1">
                          <a:solidFill>
                            <a:schemeClr val="tx1"/>
                          </a:solidFill>
                        </a:rPr>
                        <a:t>TigerGraph</a:t>
                      </a:r>
                      <a:r>
                        <a:rPr lang="en-US" sz="900" b="0" i="0" u="none">
                          <a:solidFill>
                            <a:schemeClr val="tx1"/>
                          </a:solidFill>
                        </a:rPr>
                        <a:t> REST API or built-in streaming/Kafka ingestion features.</a:t>
                      </a:r>
                    </a:p>
                    <a:p>
                      <a:pPr marL="171450" indent="-171450">
                        <a:buFont typeface="Arial" panose="020B0604020202020204" pitchFamily="34" charset="0"/>
                        <a:buChar char="•"/>
                      </a:pPr>
                      <a:endParaRPr lang="en-US" sz="900" b="0" i="0" u="none">
                        <a:solidFill>
                          <a:schemeClr val="tx1"/>
                        </a:solidFill>
                      </a:endParaRPr>
                    </a:p>
                    <a:p>
                      <a:pPr marL="0" indent="0">
                        <a:buFont typeface="Arial" panose="020B0604020202020204" pitchFamily="34" charset="0"/>
                        <a:buNone/>
                      </a:pPr>
                      <a:r>
                        <a:rPr lang="en-US" sz="900" b="0" i="0" u="none">
                          <a:solidFill>
                            <a:schemeClr val="tx1"/>
                          </a:solidFill>
                        </a:rPr>
                        <a:t>Note </a:t>
                      </a:r>
                      <a:r>
                        <a:rPr lang="en-US" sz="900" b="0" i="0" u="none">
                          <a:solidFill>
                            <a:schemeClr val="tx1"/>
                          </a:solidFill>
                          <a:sym typeface="Wingdings" panose="05000000000000000000" pitchFamily="2" charset="2"/>
                        </a:rPr>
                        <a:t> Webhooks</a:t>
                      </a:r>
                    </a:p>
                    <a:p>
                      <a:pPr marL="0" indent="0">
                        <a:buFont typeface="Arial" panose="020B0604020202020204" pitchFamily="34" charset="0"/>
                        <a:buNone/>
                      </a:pPr>
                      <a:r>
                        <a:rPr lang="en-US" sz="900" b="0" i="1" u="none" err="1">
                          <a:solidFill>
                            <a:schemeClr val="tx1"/>
                          </a:solidFill>
                          <a:sym typeface="Wingdings" panose="05000000000000000000" pitchFamily="2" charset="2"/>
                        </a:rPr>
                        <a:t>TigerGraph</a:t>
                      </a:r>
                      <a:r>
                        <a:rPr lang="en-US" sz="900" b="0" i="1" u="none">
                          <a:solidFill>
                            <a:schemeClr val="tx1"/>
                          </a:solidFill>
                          <a:sym typeface="Wingdings" panose="05000000000000000000" pitchFamily="2" charset="2"/>
                        </a:rPr>
                        <a:t> can expose REST endpoints or </a:t>
                      </a:r>
                      <a:r>
                        <a:rPr lang="en-US" sz="900" b="0" i="1" u="none" err="1">
                          <a:solidFill>
                            <a:schemeClr val="tx1"/>
                          </a:solidFill>
                          <a:sym typeface="Wingdings" panose="05000000000000000000" pitchFamily="2" charset="2"/>
                        </a:rPr>
                        <a:t>GraphStudio</a:t>
                      </a:r>
                      <a:r>
                        <a:rPr lang="en-US" sz="900" b="0" i="1" u="none">
                          <a:solidFill>
                            <a:schemeClr val="tx1"/>
                          </a:solidFill>
                          <a:sym typeface="Wingdings" panose="05000000000000000000" pitchFamily="2" charset="2"/>
                        </a:rPr>
                        <a:t> REST queries to receive webhook POSTs.</a:t>
                      </a:r>
                    </a:p>
                    <a:p>
                      <a:pPr marL="0" indent="0">
                        <a:buFont typeface="Arial" panose="020B0604020202020204" pitchFamily="34" charset="0"/>
                        <a:buNone/>
                      </a:pPr>
                      <a:r>
                        <a:rPr lang="en-US" sz="900" b="0" i="1" u="none">
                          <a:solidFill>
                            <a:schemeClr val="tx1"/>
                          </a:solidFill>
                          <a:sym typeface="Wingdings" panose="05000000000000000000" pitchFamily="2" charset="2"/>
                        </a:rPr>
                        <a:t>Incoming webhook JSON payloads can be mapped to vertex or edge insert/update operations via POST /graph/{graph}/vertices or /edges.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5152237"/>
                  </a:ext>
                </a:extLst>
              </a:tr>
              <a:tr h="847716">
                <a:tc grid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b="1" u="sng">
                          <a:sym typeface="Wingdings" panose="05000000000000000000" pitchFamily="2" charset="2"/>
                        </a:rPr>
                        <a:t>EXEC Summary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b="0" u="none">
                          <a:sym typeface="Wingdings" panose="05000000000000000000" pitchFamily="2" charset="2"/>
                        </a:rPr>
                        <a:t>Neo4j: Use Neo4j Python Driver with Kafka or MQTT consumers for dynamic graph updates.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b="0" u="none" err="1">
                          <a:sym typeface="Wingdings" panose="05000000000000000000" pitchFamily="2" charset="2"/>
                        </a:rPr>
                        <a:t>TigerGraph</a:t>
                      </a:r>
                      <a:r>
                        <a:rPr lang="en-AU" sz="900" b="0" u="none">
                          <a:sym typeface="Wingdings" panose="05000000000000000000" pitchFamily="2" charset="2"/>
                        </a:rPr>
                        <a:t>: Use </a:t>
                      </a:r>
                      <a:r>
                        <a:rPr lang="en-AU" sz="900" b="0" u="none" err="1">
                          <a:sym typeface="Wingdings" panose="05000000000000000000" pitchFamily="2" charset="2"/>
                        </a:rPr>
                        <a:t>TigerGraph</a:t>
                      </a:r>
                      <a:r>
                        <a:rPr lang="en-AU" sz="900" b="0" u="none">
                          <a:sym typeface="Wingdings" panose="05000000000000000000" pitchFamily="2" charset="2"/>
                        </a:rPr>
                        <a:t> REST API or built-in streaming/Kafka ingestion features.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900" b="0" u="none">
                          <a:sym typeface="Wingdings" panose="05000000000000000000" pitchFamily="2" charset="2"/>
                        </a:rPr>
                        <a:t>Both platforms support real-time updates, enabling seamless modification of nodes and edges by listening to streaming data sources or webhooks.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hMerge="1">
                  <a:txBody>
                    <a:bodyPr/>
                    <a:lstStyle/>
                    <a:p>
                      <a:pPr marL="0" indent="0">
                        <a:buFont typeface="Arial" panose="020B0604020202020204" pitchFamily="34" charset="0"/>
                        <a:buNone/>
                      </a:pPr>
                      <a:endParaRPr lang="en-AU" sz="800" b="0" u="none"/>
                    </a:p>
                  </a:txBody>
                  <a:tcPr>
                    <a:solidFill>
                      <a:schemeClr val="tx2">
                        <a:lumMod val="10000"/>
                        <a:lumOff val="90000"/>
                      </a:schemeClr>
                    </a:solidFill>
                  </a:tcPr>
                </a:tc>
                <a:extLst>
                  <a:ext uri="{0D108BD9-81ED-4DB2-BD59-A6C34878D82A}">
                    <a16:rowId xmlns:a16="http://schemas.microsoft.com/office/drawing/2014/main" val="2534859736"/>
                  </a:ext>
                </a:extLst>
              </a:tr>
            </a:tbl>
          </a:graphicData>
        </a:graphic>
      </p:graphicFrame>
      <p:sp>
        <p:nvSpPr>
          <p:cNvPr id="110" name="TextBox 109">
            <a:extLst>
              <a:ext uri="{FF2B5EF4-FFF2-40B4-BE49-F238E27FC236}">
                <a16:creationId xmlns:a16="http://schemas.microsoft.com/office/drawing/2014/main" id="{2580A7A7-8E77-AA70-F096-1CBF249CB64A}"/>
              </a:ext>
            </a:extLst>
          </p:cNvPr>
          <p:cNvSpPr txBox="1"/>
          <p:nvPr/>
        </p:nvSpPr>
        <p:spPr>
          <a:xfrm>
            <a:off x="84666" y="131452"/>
            <a:ext cx="11954936" cy="553998"/>
          </a:xfrm>
          <a:prstGeom prst="rect">
            <a:avLst/>
          </a:prstGeom>
          <a:noFill/>
        </p:spPr>
        <p:txBody>
          <a:bodyPr wrap="square">
            <a:spAutoFit/>
          </a:bodyPr>
          <a:lstStyle/>
          <a:p>
            <a:r>
              <a:rPr kumimoji="0" lang="en-AU" sz="3000" b="1" i="0" u="none" strike="noStrike" kern="1200" cap="none" spc="0" normalizeH="0" baseline="0" noProof="0">
                <a:ln>
                  <a:noFill/>
                </a:ln>
                <a:effectLst/>
                <a:uLnTx/>
                <a:uFillTx/>
                <a:latin typeface="Calibri"/>
                <a:ea typeface="+mn-ea"/>
                <a:cs typeface="+mn-cs"/>
              </a:rPr>
              <a:t>GRAPH – </a:t>
            </a:r>
            <a:r>
              <a:rPr lang="en-AU" sz="3000">
                <a:ea typeface="Times New Roman" panose="02020603050405020304" pitchFamily="18" charset="0"/>
              </a:rPr>
              <a:t>Data Integration (Realtime)</a:t>
            </a:r>
            <a:endParaRPr lang="en-AU" sz="3000"/>
          </a:p>
        </p:txBody>
      </p:sp>
    </p:spTree>
    <p:extLst>
      <p:ext uri="{BB962C8B-B14F-4D97-AF65-F5344CB8AC3E}">
        <p14:creationId xmlns:p14="http://schemas.microsoft.com/office/powerpoint/2010/main" val="1060563035"/>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0415C742-37BC-299D-C4E4-44977EEEA5C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A55968B-A37A-3D4A-FC4A-CE5BE65ADE7D}"/>
              </a:ext>
            </a:extLst>
          </p:cNvPr>
          <p:cNvGraphicFramePr>
            <a:graphicFrameLocks noGrp="1"/>
          </p:cNvGraphicFramePr>
          <p:nvPr>
            <p:extLst>
              <p:ext uri="{D42A27DB-BD31-4B8C-83A1-F6EECF244321}">
                <p14:modId xmlns:p14="http://schemas.microsoft.com/office/powerpoint/2010/main" val="3989824118"/>
              </p:ext>
            </p:extLst>
          </p:nvPr>
        </p:nvGraphicFramePr>
        <p:xfrm>
          <a:off x="152400" y="657241"/>
          <a:ext cx="11819468" cy="2272910"/>
        </p:xfrm>
        <a:graphic>
          <a:graphicData uri="http://schemas.openxmlformats.org/drawingml/2006/table">
            <a:tbl>
              <a:tblPr firstRow="1" bandRow="1">
                <a:tableStyleId>{5C22544A-7EE6-4342-B048-85BDC9FD1C3A}</a:tableStyleId>
              </a:tblPr>
              <a:tblGrid>
                <a:gridCol w="5748867">
                  <a:extLst>
                    <a:ext uri="{9D8B030D-6E8A-4147-A177-3AD203B41FA5}">
                      <a16:colId xmlns:a16="http://schemas.microsoft.com/office/drawing/2014/main" val="191090848"/>
                    </a:ext>
                  </a:extLst>
                </a:gridCol>
                <a:gridCol w="6070601">
                  <a:extLst>
                    <a:ext uri="{9D8B030D-6E8A-4147-A177-3AD203B41FA5}">
                      <a16:colId xmlns:a16="http://schemas.microsoft.com/office/drawing/2014/main" val="787868451"/>
                    </a:ext>
                  </a:extLst>
                </a:gridCol>
              </a:tblGrid>
              <a:tr h="222991">
                <a:tc gridSpan="2">
                  <a:txBody>
                    <a:bodyPr/>
                    <a:lstStyle/>
                    <a:p>
                      <a:pPr algn="ctr"/>
                      <a:r>
                        <a:rPr lang="en-AU" sz="1200"/>
                        <a:t>Custom Built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hMerge="1">
                  <a:txBody>
                    <a:bodyPr/>
                    <a:lstStyle/>
                    <a:p>
                      <a:endParaRPr lang="en-AU" sz="800"/>
                    </a:p>
                  </a:txBody>
                  <a:tcPr>
                    <a:solidFill>
                      <a:schemeClr val="tx2">
                        <a:lumMod val="75000"/>
                        <a:lumOff val="25000"/>
                      </a:schemeClr>
                    </a:solidFill>
                  </a:tcPr>
                </a:tc>
                <a:extLst>
                  <a:ext uri="{0D108BD9-81ED-4DB2-BD59-A6C34878D82A}">
                    <a16:rowId xmlns:a16="http://schemas.microsoft.com/office/drawing/2014/main" val="1005196009"/>
                  </a:ext>
                </a:extLst>
              </a:tr>
              <a:tr h="168884">
                <a:tc>
                  <a:txBody>
                    <a:bodyPr/>
                    <a:lstStyle/>
                    <a:p>
                      <a:r>
                        <a:rPr lang="en-AU" sz="900" b="1" u="sng"/>
                        <a:t>NEO4j</a:t>
                      </a:r>
                      <a:endParaRPr lang="en-AU"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AU" sz="900" b="1" u="sng" err="1">
                          <a:sym typeface="Wingdings" panose="05000000000000000000" pitchFamily="2" charset="2"/>
                        </a:rPr>
                        <a:t>TigerGraph</a:t>
                      </a:r>
                      <a:r>
                        <a:rPr lang="en-AU" sz="900" b="0" u="none">
                          <a:sym typeface="Wingdings" panose="05000000000000000000" pitchFamily="2" charset="2"/>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102529381"/>
                  </a:ext>
                </a:extLst>
              </a:tr>
              <a:tr h="1769990">
                <a:tc>
                  <a:txBody>
                    <a:bodyPr/>
                    <a:lstStyle/>
                    <a:p>
                      <a:r>
                        <a:rPr lang="en-AU" sz="900" b="1" i="0" kern="1200">
                          <a:solidFill>
                            <a:schemeClr val="dk1"/>
                          </a:solidFill>
                          <a:effectLst/>
                          <a:latin typeface="+mn-lt"/>
                          <a:ea typeface="+mn-ea"/>
                          <a:cs typeface="+mn-cs"/>
                        </a:rPr>
                        <a:t>Graph Data Science (GDS) library</a:t>
                      </a:r>
                      <a:endParaRPr lang="en-AU" sz="900" b="0" i="0" kern="1200">
                        <a:solidFill>
                          <a:schemeClr val="dk1"/>
                        </a:solidFill>
                        <a:effectLst/>
                        <a:latin typeface="+mn-lt"/>
                        <a:ea typeface="+mn-ea"/>
                        <a:cs typeface="+mn-cs"/>
                      </a:endParaRPr>
                    </a:p>
                    <a:p>
                      <a:endParaRPr lang="en-AU" sz="900" b="0" i="0" kern="1200">
                        <a:solidFill>
                          <a:srgbClr val="00B050"/>
                        </a:solidFill>
                        <a:effectLst/>
                        <a:latin typeface="+mn-lt"/>
                        <a:ea typeface="+mn-ea"/>
                        <a:cs typeface="+mn-cs"/>
                      </a:endParaRPr>
                    </a:p>
                    <a:p>
                      <a:pPr marL="171450" indent="-171450">
                        <a:buFont typeface="Arial" panose="020B0604020202020204" pitchFamily="34" charset="0"/>
                        <a:buChar char="•"/>
                      </a:pPr>
                      <a:r>
                        <a:rPr lang="en-AU" sz="900" b="0" i="0" kern="1200">
                          <a:solidFill>
                            <a:srgbClr val="00B050"/>
                          </a:solidFill>
                          <a:effectLst/>
                          <a:latin typeface="+mn-lt"/>
                          <a:ea typeface="+mn-ea"/>
                          <a:cs typeface="+mn-cs"/>
                        </a:rPr>
                        <a:t>The GDS library provides a wide range of graph algorithms categorized into problem classes such as centrality, community detection, similarity, pathfinding, and more. These algorithms are accessible via Cypher procedures, making them easy to integrate into existing Neo4j workflows.</a:t>
                      </a:r>
                    </a:p>
                    <a:p>
                      <a:pPr marL="171450" indent="-171450">
                        <a:buFont typeface="Arial" panose="020B0604020202020204" pitchFamily="34" charset="0"/>
                        <a:buChar char="•"/>
                      </a:pPr>
                      <a:r>
                        <a:rPr lang="en-AU" sz="900" b="0" i="0" kern="1200">
                          <a:solidFill>
                            <a:srgbClr val="00B050"/>
                          </a:solidFill>
                          <a:effectLst/>
                          <a:latin typeface="+mn-lt"/>
                          <a:ea typeface="+mn-ea"/>
                          <a:cs typeface="+mn-cs"/>
                        </a:rPr>
                        <a:t>It supports graph projections, allowing users to create in-memory representations of their graph data for efficient computation. Additionally, GDS includes tools for node embeddings, topological link prediction, and the Pregel API for custom algorithm development.</a:t>
                      </a:r>
                    </a:p>
                    <a:p>
                      <a:endParaRPr lang="en-AU" sz="9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lang="en-AU" sz="900" b="0" i="0" kern="1200">
                          <a:solidFill>
                            <a:schemeClr val="dk1"/>
                          </a:solidFill>
                          <a:effectLst/>
                          <a:latin typeface="+mn-lt"/>
                          <a:ea typeface="+mn-ea"/>
                          <a:cs typeface="+mn-cs"/>
                        </a:rPr>
                        <a:t>Instead of a separate plug-in library, </a:t>
                      </a:r>
                      <a:r>
                        <a:rPr lang="en-AU" sz="900" b="1" i="0" kern="1200" err="1">
                          <a:solidFill>
                            <a:schemeClr val="dk1"/>
                          </a:solidFill>
                          <a:effectLst/>
                          <a:latin typeface="+mn-lt"/>
                          <a:ea typeface="+mn-ea"/>
                          <a:cs typeface="+mn-cs"/>
                        </a:rPr>
                        <a:t>TigerGraph</a:t>
                      </a:r>
                      <a:r>
                        <a:rPr lang="en-AU" sz="900" b="1" i="0" kern="1200">
                          <a:solidFill>
                            <a:schemeClr val="dk1"/>
                          </a:solidFill>
                          <a:effectLst/>
                          <a:latin typeface="+mn-lt"/>
                          <a:ea typeface="+mn-ea"/>
                          <a:cs typeface="+mn-cs"/>
                        </a:rPr>
                        <a:t> embeds its graph analytics and machine learning capabilities directly into its native parallel processing engine using GSQL. </a:t>
                      </a:r>
                    </a:p>
                    <a:p>
                      <a:endParaRPr lang="en-AU" sz="900" b="0" i="0" kern="1200">
                        <a:solidFill>
                          <a:schemeClr val="dk1"/>
                        </a:solidFill>
                        <a:effectLst/>
                        <a:latin typeface="+mn-lt"/>
                        <a:ea typeface="+mn-ea"/>
                        <a:cs typeface="+mn-cs"/>
                      </a:endParaRPr>
                    </a:p>
                    <a:p>
                      <a:r>
                        <a:rPr lang="en-AU" sz="900" b="0" i="0" u="sng" kern="1200" err="1">
                          <a:solidFill>
                            <a:schemeClr val="dk1"/>
                          </a:solidFill>
                          <a:effectLst/>
                          <a:latin typeface="+mn-lt"/>
                          <a:ea typeface="+mn-ea"/>
                          <a:cs typeface="+mn-cs"/>
                        </a:rPr>
                        <a:t>TigerGraph</a:t>
                      </a:r>
                      <a:r>
                        <a:rPr lang="en-AU" sz="900" b="0" i="0" u="sng" kern="1200">
                          <a:solidFill>
                            <a:schemeClr val="dk1"/>
                          </a:solidFill>
                          <a:effectLst/>
                          <a:latin typeface="+mn-lt"/>
                          <a:ea typeface="+mn-ea"/>
                          <a:cs typeface="+mn-cs"/>
                        </a:rPr>
                        <a:t> Algorithm Capabilities (GDS Equivalent)</a:t>
                      </a:r>
                      <a:endParaRPr lang="en-AU" sz="900" b="0" i="0" u="sng" kern="1200">
                        <a:solidFill>
                          <a:srgbClr val="00B050"/>
                        </a:solidFill>
                        <a:effectLst/>
                        <a:latin typeface="+mn-lt"/>
                        <a:ea typeface="+mn-ea"/>
                        <a:cs typeface="+mn-cs"/>
                      </a:endParaRPr>
                    </a:p>
                    <a:p>
                      <a:pPr marL="171450" indent="-171450">
                        <a:buFont typeface="Arial" panose="020B0604020202020204" pitchFamily="34" charset="0"/>
                        <a:buChar char="•"/>
                      </a:pPr>
                      <a:r>
                        <a:rPr lang="en-AU" sz="900" b="1" i="0" kern="1200">
                          <a:solidFill>
                            <a:srgbClr val="00B050"/>
                          </a:solidFill>
                          <a:effectLst/>
                          <a:latin typeface="+mn-lt"/>
                          <a:ea typeface="+mn-ea"/>
                          <a:cs typeface="+mn-cs"/>
                        </a:rPr>
                        <a:t>Graph Data Science Library:</a:t>
                      </a:r>
                      <a:r>
                        <a:rPr lang="en-AU" sz="900" b="0" i="0" kern="1200">
                          <a:solidFill>
                            <a:srgbClr val="00B050"/>
                          </a:solidFill>
                          <a:effectLst/>
                          <a:latin typeface="+mn-lt"/>
                          <a:ea typeface="+mn-ea"/>
                          <a:cs typeface="+mn-cs"/>
                        </a:rPr>
                        <a:t> </a:t>
                      </a:r>
                      <a:r>
                        <a:rPr lang="en-AU" sz="900" b="0" i="0" kern="1200" err="1">
                          <a:solidFill>
                            <a:srgbClr val="00B050"/>
                          </a:solidFill>
                          <a:effectLst/>
                          <a:latin typeface="+mn-lt"/>
                          <a:ea typeface="+mn-ea"/>
                          <a:cs typeface="+mn-cs"/>
                        </a:rPr>
                        <a:t>TigerGraph</a:t>
                      </a:r>
                      <a:r>
                        <a:rPr lang="en-AU" sz="900" b="0" i="0" kern="1200">
                          <a:solidFill>
                            <a:srgbClr val="00B050"/>
                          </a:solidFill>
                          <a:effectLst/>
                          <a:latin typeface="+mn-lt"/>
                          <a:ea typeface="+mn-ea"/>
                          <a:cs typeface="+mn-cs"/>
                        </a:rPr>
                        <a:t> provides a library of pre-built, optimized algorithms in GSQL for graph analytics, including PageRank, Community Detection (Louvain), Connected Components, and Shortest Path.</a:t>
                      </a:r>
                    </a:p>
                    <a:p>
                      <a:pPr marL="171450" indent="-171450">
                        <a:buFont typeface="Arial" panose="020B0604020202020204" pitchFamily="34" charset="0"/>
                        <a:buChar char="•"/>
                      </a:pPr>
                      <a:r>
                        <a:rPr lang="en-AU" sz="900" b="1" i="0" kern="1200">
                          <a:solidFill>
                            <a:schemeClr val="dk1"/>
                          </a:solidFill>
                          <a:effectLst/>
                          <a:latin typeface="+mn-lt"/>
                          <a:ea typeface="+mn-ea"/>
                          <a:cs typeface="+mn-cs"/>
                        </a:rPr>
                        <a:t>Parallel Execution:</a:t>
                      </a:r>
                      <a:r>
                        <a:rPr lang="en-AU" sz="900" b="0" i="0" kern="1200">
                          <a:solidFill>
                            <a:schemeClr val="dk1"/>
                          </a:solidFill>
                          <a:effectLst/>
                          <a:latin typeface="+mn-lt"/>
                          <a:ea typeface="+mn-ea"/>
                          <a:cs typeface="+mn-cs"/>
                        </a:rPr>
                        <a:t> </a:t>
                      </a:r>
                      <a:r>
                        <a:rPr lang="en-AU" sz="900" b="0" i="0" kern="1200" err="1">
                          <a:solidFill>
                            <a:schemeClr val="dk1"/>
                          </a:solidFill>
                          <a:effectLst/>
                          <a:latin typeface="+mn-lt"/>
                          <a:ea typeface="+mn-ea"/>
                          <a:cs typeface="+mn-cs"/>
                        </a:rPr>
                        <a:t>TigerGraph's</a:t>
                      </a:r>
                      <a:r>
                        <a:rPr lang="en-AU" sz="900" b="0" i="0" kern="1200">
                          <a:solidFill>
                            <a:schemeClr val="dk1"/>
                          </a:solidFill>
                          <a:effectLst/>
                          <a:latin typeface="+mn-lt"/>
                          <a:ea typeface="+mn-ea"/>
                          <a:cs typeface="+mn-cs"/>
                        </a:rPr>
                        <a:t> strength is its ability to run these algorithms in parallel across a distributed cluster, designed for massive datasets and deep (multi-hop) traversals.</a:t>
                      </a:r>
                    </a:p>
                    <a:p>
                      <a:pPr marL="171450" indent="-171450">
                        <a:buFont typeface="Arial" panose="020B0604020202020204" pitchFamily="34" charset="0"/>
                        <a:buChar char="•"/>
                      </a:pPr>
                      <a:r>
                        <a:rPr lang="en-AU" sz="900" b="1" i="0" kern="1200">
                          <a:solidFill>
                            <a:schemeClr val="dk1"/>
                          </a:solidFill>
                          <a:effectLst/>
                          <a:latin typeface="+mn-lt"/>
                          <a:ea typeface="+mn-ea"/>
                          <a:cs typeface="+mn-cs"/>
                        </a:rPr>
                        <a:t>Machine Learning (</a:t>
                      </a:r>
                      <a:r>
                        <a:rPr lang="en-AU" sz="900" b="1" i="0" kern="1200" err="1">
                          <a:solidFill>
                            <a:schemeClr val="dk1"/>
                          </a:solidFill>
                          <a:effectLst/>
                          <a:latin typeface="+mn-lt"/>
                          <a:ea typeface="+mn-ea"/>
                          <a:cs typeface="+mn-cs"/>
                        </a:rPr>
                        <a:t>GraphRAG</a:t>
                      </a:r>
                      <a:r>
                        <a:rPr lang="en-AU" sz="900" b="1" i="0" kern="1200">
                          <a:solidFill>
                            <a:schemeClr val="dk1"/>
                          </a:solidFill>
                          <a:effectLst/>
                          <a:latin typeface="+mn-lt"/>
                          <a:ea typeface="+mn-ea"/>
                          <a:cs typeface="+mn-cs"/>
                        </a:rPr>
                        <a:t>/GNN):</a:t>
                      </a:r>
                      <a:r>
                        <a:rPr lang="en-AU" sz="900" b="0" i="0" kern="1200" err="1">
                          <a:solidFill>
                            <a:schemeClr val="dk1"/>
                          </a:solidFill>
                          <a:effectLst/>
                          <a:latin typeface="+mn-lt"/>
                          <a:ea typeface="+mn-ea"/>
                          <a:cs typeface="+mn-cs"/>
                        </a:rPr>
                        <a:t>TigerGraph</a:t>
                      </a:r>
                      <a:r>
                        <a:rPr lang="en-AU" sz="900" b="0" i="0" kern="1200">
                          <a:solidFill>
                            <a:schemeClr val="dk1"/>
                          </a:solidFill>
                          <a:effectLst/>
                          <a:latin typeface="+mn-lt"/>
                          <a:ea typeface="+mn-ea"/>
                          <a:cs typeface="+mn-cs"/>
                        </a:rPr>
                        <a:t> supports Graph Machine Learning, including Graph Neural Networks (GNNs) and </a:t>
                      </a:r>
                      <a:r>
                        <a:rPr lang="en-AU" sz="900" b="0" i="0" kern="1200" err="1">
                          <a:solidFill>
                            <a:schemeClr val="dk1"/>
                          </a:solidFill>
                          <a:effectLst/>
                          <a:latin typeface="+mn-lt"/>
                          <a:ea typeface="+mn-ea"/>
                          <a:cs typeface="+mn-cs"/>
                        </a:rPr>
                        <a:t>GraphRAG</a:t>
                      </a:r>
                      <a:r>
                        <a:rPr lang="en-AU" sz="900" b="0" i="0" kern="1200">
                          <a:solidFill>
                            <a:schemeClr val="dk1"/>
                          </a:solidFill>
                          <a:effectLst/>
                          <a:latin typeface="+mn-lt"/>
                          <a:ea typeface="+mn-ea"/>
                          <a:cs typeface="+mn-cs"/>
                        </a:rPr>
                        <a:t> (Retrieval-Augmented Generation) to incorporate graph structure into AI models.</a:t>
                      </a:r>
                    </a:p>
                    <a:p>
                      <a:pPr marL="171450" indent="-171450">
                        <a:buFont typeface="Arial" panose="020B0604020202020204" pitchFamily="34" charset="0"/>
                        <a:buChar char="•"/>
                      </a:pPr>
                      <a:r>
                        <a:rPr lang="en-AU" sz="900" b="1" i="0" kern="1200" err="1">
                          <a:solidFill>
                            <a:schemeClr val="dk1"/>
                          </a:solidFill>
                          <a:effectLst/>
                          <a:latin typeface="+mn-lt"/>
                          <a:ea typeface="+mn-ea"/>
                          <a:cs typeface="+mn-cs"/>
                        </a:rPr>
                        <a:t>TigerVector</a:t>
                      </a:r>
                      <a:r>
                        <a:rPr lang="en-AU" sz="900" b="1" i="0" kern="1200">
                          <a:solidFill>
                            <a:schemeClr val="dk1"/>
                          </a:solidFill>
                          <a:effectLst/>
                          <a:latin typeface="+mn-lt"/>
                          <a:ea typeface="+mn-ea"/>
                          <a:cs typeface="+mn-cs"/>
                        </a:rPr>
                        <a:t>:</a:t>
                      </a:r>
                      <a:r>
                        <a:rPr lang="en-AU" sz="900" b="0" i="0" kern="1200">
                          <a:solidFill>
                            <a:schemeClr val="dk1"/>
                          </a:solidFill>
                          <a:effectLst/>
                          <a:latin typeface="+mn-lt"/>
                          <a:ea typeface="+mn-ea"/>
                          <a:cs typeface="+mn-cs"/>
                        </a:rPr>
                        <a:t> As of v4.2, </a:t>
                      </a:r>
                      <a:r>
                        <a:rPr lang="en-AU" sz="900" b="0" i="0" kern="1200" err="1">
                          <a:solidFill>
                            <a:schemeClr val="dk1"/>
                          </a:solidFill>
                          <a:effectLst/>
                          <a:latin typeface="+mn-lt"/>
                          <a:ea typeface="+mn-ea"/>
                          <a:cs typeface="+mn-cs"/>
                        </a:rPr>
                        <a:t>TigerGraph</a:t>
                      </a:r>
                      <a:r>
                        <a:rPr lang="en-AU" sz="900" b="0" i="0" kern="1200">
                          <a:solidFill>
                            <a:schemeClr val="dk1"/>
                          </a:solidFill>
                          <a:effectLst/>
                          <a:latin typeface="+mn-lt"/>
                          <a:ea typeface="+mn-ea"/>
                          <a:cs typeface="+mn-cs"/>
                        </a:rPr>
                        <a:t> supports native vector search, enabling advanced vector similarity searches for RAG, which can outperform specialized vector databases. </a:t>
                      </a:r>
                      <a:endParaRPr lang="en-US" sz="900" b="0" i="1" u="none">
                        <a:solidFill>
                          <a:schemeClr val="tx1"/>
                        </a:solidFill>
                        <a:sym typeface="Wingdings" panose="05000000000000000000" pitchFamily="2"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5152237"/>
                  </a:ext>
                </a:extLst>
              </a:tr>
            </a:tbl>
          </a:graphicData>
        </a:graphic>
      </p:graphicFrame>
      <p:sp>
        <p:nvSpPr>
          <p:cNvPr id="110" name="TextBox 109">
            <a:extLst>
              <a:ext uri="{FF2B5EF4-FFF2-40B4-BE49-F238E27FC236}">
                <a16:creationId xmlns:a16="http://schemas.microsoft.com/office/drawing/2014/main" id="{15138102-1586-DA8D-55EF-BFF479BE1075}"/>
              </a:ext>
            </a:extLst>
          </p:cNvPr>
          <p:cNvSpPr txBox="1"/>
          <p:nvPr/>
        </p:nvSpPr>
        <p:spPr>
          <a:xfrm>
            <a:off x="84666" y="46784"/>
            <a:ext cx="11954936"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GRAPH – </a:t>
            </a:r>
            <a:r>
              <a:rPr kumimoji="0" lang="en-AU" sz="3000" b="0" i="0" u="none" strike="noStrike" kern="1200" cap="none" spc="0" normalizeH="0" baseline="0" noProof="0">
                <a:ln>
                  <a:noFill/>
                </a:ln>
                <a:effectLst/>
                <a:uLnTx/>
                <a:uFillTx/>
                <a:latin typeface="Aptos" panose="02110004020202020204"/>
                <a:ea typeface="Times New Roman" panose="02020603050405020304" pitchFamily="18" charset="0"/>
                <a:cs typeface="+mn-cs"/>
              </a:rPr>
              <a:t>Data Science</a:t>
            </a:r>
            <a:endParaRPr kumimoji="0" lang="en-AU" sz="3000" b="0" i="0" u="none" strike="noStrike" kern="1200" cap="none" spc="0" normalizeH="0" baseline="0" noProof="0">
              <a:ln>
                <a:noFill/>
              </a:ln>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79D87594-FEE4-20E1-94CE-237B5C72870F}"/>
              </a:ext>
            </a:extLst>
          </p:cNvPr>
          <p:cNvSpPr txBox="1"/>
          <p:nvPr/>
        </p:nvSpPr>
        <p:spPr>
          <a:xfrm>
            <a:off x="84666" y="3151928"/>
            <a:ext cx="11954936" cy="3185487"/>
          </a:xfrm>
          <a:prstGeom prst="rect">
            <a:avLst/>
          </a:prstGeom>
          <a:noFill/>
          <a:ln>
            <a:solidFill>
              <a:schemeClr val="tx1"/>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Conclusion</a:t>
            </a:r>
            <a:endParaRPr lang="en-AU" sz="3000" b="1">
              <a:latin typeface="Calibri"/>
            </a:endParaRPr>
          </a:p>
          <a:p>
            <a:r>
              <a:rPr lang="en-AU" sz="900" b="1" err="1">
                <a:solidFill>
                  <a:srgbClr val="00B050"/>
                </a:solidFill>
              </a:rPr>
              <a:t>TigerGraph</a:t>
            </a:r>
            <a:r>
              <a:rPr lang="en-AU" sz="900" b="1">
                <a:solidFill>
                  <a:srgbClr val="00B050"/>
                </a:solidFill>
              </a:rPr>
              <a:t> is generally cheaper to run than Neo4j for large-scale, high-performance, and deeply connected datasets. </a:t>
            </a:r>
          </a:p>
          <a:p>
            <a:br>
              <a:rPr lang="en-AU" sz="900"/>
            </a:br>
            <a:r>
              <a:rPr lang="en-AU" sz="900"/>
              <a:t>While Neo4j is often easier to start with for small projects, </a:t>
            </a:r>
            <a:r>
              <a:rPr lang="en-AU" sz="900" err="1"/>
              <a:t>TigerGraph’s</a:t>
            </a:r>
            <a:r>
              <a:rPr lang="en-AU" sz="900"/>
              <a:t> superior performance and higher compression efficiency can result in significantly lower infrastructure costs (up to 77% less in some case studies) when dealing with massive data volumes. </a:t>
            </a:r>
          </a:p>
          <a:p>
            <a:endParaRPr lang="en-AU" sz="900"/>
          </a:p>
          <a:p>
            <a:r>
              <a:rPr lang="en-AU" sz="900"/>
              <a:t>Here is a breakdown of the cost comparison between </a:t>
            </a:r>
            <a:r>
              <a:rPr lang="en-AU" sz="900" err="1"/>
              <a:t>TigerGraph</a:t>
            </a:r>
            <a:r>
              <a:rPr lang="en-AU" sz="900"/>
              <a:t> and Neo4j:</a:t>
            </a:r>
          </a:p>
          <a:p>
            <a:r>
              <a:rPr lang="en-AU" sz="900" u="sng"/>
              <a:t>Storage and Infrastructure Costs (Efficiency Advantage)</a:t>
            </a:r>
            <a:endParaRPr lang="en-AU" sz="900"/>
          </a:p>
          <a:p>
            <a:pPr lvl="1"/>
            <a:r>
              <a:rPr lang="en-AU" sz="900" b="1"/>
              <a:t>Storage Efficiency:</a:t>
            </a:r>
            <a:r>
              <a:rPr lang="en-AU" sz="900"/>
              <a:t> </a:t>
            </a:r>
            <a:r>
              <a:rPr lang="en-AU" sz="900" err="1"/>
              <a:t>TigerGraph</a:t>
            </a:r>
            <a:r>
              <a:rPr lang="en-AU" sz="900"/>
              <a:t> is more storage-efficient, often requiring 10x to 19x less storage space than Neo4j. This drastically reduces the cost of memory (RAM) and disk space, which are the main cost drivers for large graphs.</a:t>
            </a:r>
          </a:p>
          <a:p>
            <a:pPr lvl="1"/>
            <a:r>
              <a:rPr lang="en-AU" sz="900" b="1"/>
              <a:t>Performance Scaling:</a:t>
            </a:r>
            <a:r>
              <a:rPr lang="en-AU" sz="900"/>
              <a:t> Because </a:t>
            </a:r>
            <a:r>
              <a:rPr lang="en-AU" sz="900" err="1"/>
              <a:t>TigerGraph</a:t>
            </a:r>
            <a:r>
              <a:rPr lang="en-AU" sz="900"/>
              <a:t> uses a native parallel graph engine, it can process complex queries (deep queries involving 3+ hops) faster than Neo4j, avoiding the need for excessively large, costly infrastructure to handle complex queries.</a:t>
            </a:r>
          </a:p>
          <a:p>
            <a:pPr lvl="1"/>
            <a:r>
              <a:rPr lang="en-AU" sz="900" b="1"/>
              <a:t>Real-world Savings:</a:t>
            </a:r>
            <a:r>
              <a:rPr lang="en-AU" sz="900"/>
              <a:t> A case study showed that for large-scale enterprise use cases, </a:t>
            </a:r>
            <a:r>
              <a:rPr lang="en-AU" sz="900" err="1"/>
              <a:t>TigerGraph</a:t>
            </a:r>
            <a:r>
              <a:rPr lang="en-AU" sz="900"/>
              <a:t> provided a 77% reduction in infrastructure costs compared to competitors. </a:t>
            </a:r>
          </a:p>
          <a:p>
            <a:r>
              <a:rPr lang="en-AU" sz="900" u="sng"/>
              <a:t>Pricing Models</a:t>
            </a:r>
            <a:endParaRPr lang="en-AU" sz="900"/>
          </a:p>
          <a:p>
            <a:pPr lvl="1"/>
            <a:r>
              <a:rPr lang="en-AU" sz="900" b="1" err="1"/>
              <a:t>TigerGraph</a:t>
            </a:r>
            <a:r>
              <a:rPr lang="en-AU" sz="900" b="1"/>
              <a:t>:</a:t>
            </a:r>
            <a:r>
              <a:rPr lang="en-AU" sz="900"/>
              <a:t> Generally priced based on the volume of data stored rather than just query performance or hardware size, although they do offer a "pay-as-you-go" hourly model. It provides a generous free tier (300GB) for development, which is quite competitive for early-stage evaluation.</a:t>
            </a:r>
          </a:p>
          <a:p>
            <a:pPr lvl="1"/>
            <a:r>
              <a:rPr lang="en-AU" sz="900" b="1"/>
              <a:t>Neo4j:</a:t>
            </a:r>
            <a:r>
              <a:rPr lang="en-AU" sz="900"/>
              <a:t> Often viewed as cheaper for small-to-medium-sized projects with its easy-to-use </a:t>
            </a:r>
            <a:r>
              <a:rPr lang="en-AU" sz="900" err="1"/>
              <a:t>AuraDB</a:t>
            </a:r>
            <a:r>
              <a:rPr lang="en-AU" sz="900"/>
              <a:t> cloud service. However, as the graph grows to a terabyte-scale, its licensing (Enterprise Edition) and infrastructure costs can become high. </a:t>
            </a:r>
          </a:p>
          <a:p>
            <a:r>
              <a:rPr lang="en-AU" sz="900"/>
              <a:t>Total Cost of Ownership (TCO) Factors</a:t>
            </a:r>
          </a:p>
          <a:p>
            <a:pPr lvl="1"/>
            <a:r>
              <a:rPr lang="en-AU" sz="900" b="1"/>
              <a:t>Learning Curve:</a:t>
            </a:r>
            <a:r>
              <a:rPr lang="en-AU" sz="900"/>
              <a:t> GSQL (</a:t>
            </a:r>
            <a:r>
              <a:rPr lang="en-AU" sz="900" err="1"/>
              <a:t>TigerGraph's</a:t>
            </a:r>
            <a:r>
              <a:rPr lang="en-AU" sz="900"/>
              <a:t> query language) has a steeper learning curve (4–8 weeks for proficiency) than Cypher (Neo4j), which might increase initial development personnel costs.</a:t>
            </a:r>
          </a:p>
          <a:p>
            <a:pPr lvl="1"/>
            <a:r>
              <a:rPr lang="en-AU" sz="900" b="1"/>
              <a:t>Development Speed:</a:t>
            </a:r>
            <a:r>
              <a:rPr lang="en-AU" sz="900"/>
              <a:t> Neo4j is generally considered easier to set up, faster to start with, and has a larger developer community, which can make it cheaper for rapid prototyping and smaller, less complex projects. </a:t>
            </a:r>
          </a:p>
        </p:txBody>
      </p:sp>
    </p:spTree>
    <p:extLst>
      <p:ext uri="{BB962C8B-B14F-4D97-AF65-F5344CB8AC3E}">
        <p14:creationId xmlns:p14="http://schemas.microsoft.com/office/powerpoint/2010/main" val="1797715510"/>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6CAAE811-9DFD-8B82-F26A-E034774D47B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117BC46-DABB-093A-0C63-0407188B7D3E}"/>
              </a:ext>
            </a:extLst>
          </p:cNvPr>
          <p:cNvSpPr txBox="1"/>
          <p:nvPr/>
        </p:nvSpPr>
        <p:spPr>
          <a:xfrm>
            <a:off x="177646" y="106457"/>
            <a:ext cx="11836402" cy="830997"/>
          </a:xfrm>
          <a:prstGeom prst="rect">
            <a:avLst/>
          </a:prstGeom>
          <a:noFill/>
        </p:spPr>
        <p:txBody>
          <a:bodyPr wrap="square">
            <a:spAutoFit/>
          </a:bodyPr>
          <a:lstStyle/>
          <a:p>
            <a:pPr lvl="0">
              <a:defRPr/>
            </a:pPr>
            <a:r>
              <a:rPr lang="en-AU" sz="3000" b="1">
                <a:latin typeface="Calibri"/>
              </a:rPr>
              <a:t>ONTOLOGY</a:t>
            </a:r>
          </a:p>
          <a:p>
            <a:pPr lvl="0">
              <a:defRPr/>
            </a:pPr>
            <a:r>
              <a:rPr lang="en-AU" sz="800" b="1" u="sng">
                <a:latin typeface="Calibri"/>
              </a:rPr>
              <a:t>MAP SEMANTIC DEFINITIONS TO EXISTING DATA SOURCES (DATABASE, APIs etc) &amp; QUERY THEM USING STANDARD OPEN-SOURCE SEMANTIC WEB TECHNOLOGY / GRAPH DB</a:t>
            </a:r>
          </a:p>
          <a:p>
            <a:pPr>
              <a:buNone/>
            </a:pPr>
            <a:endParaRPr lang="en-AU" sz="1000" b="1">
              <a:latin typeface="Aptos Display (Headings)"/>
              <a:ea typeface="Times New Roman" panose="02020603050405020304" pitchFamily="18" charset="0"/>
              <a:cs typeface="Aptos" panose="020B0004020202020204" pitchFamily="34" charset="0"/>
            </a:endParaRPr>
          </a:p>
        </p:txBody>
      </p:sp>
      <p:sp>
        <p:nvSpPr>
          <p:cNvPr id="3" name="TextBox 2">
            <a:extLst>
              <a:ext uri="{FF2B5EF4-FFF2-40B4-BE49-F238E27FC236}">
                <a16:creationId xmlns:a16="http://schemas.microsoft.com/office/drawing/2014/main" id="{EFFE4D18-019F-8077-2E51-89536A4E41A1}"/>
              </a:ext>
            </a:extLst>
          </p:cNvPr>
          <p:cNvSpPr txBox="1"/>
          <p:nvPr/>
        </p:nvSpPr>
        <p:spPr>
          <a:xfrm>
            <a:off x="203353" y="4911296"/>
            <a:ext cx="11802228" cy="1682512"/>
          </a:xfrm>
          <a:prstGeom prst="rect">
            <a:avLst/>
          </a:prstGeom>
          <a:noFill/>
          <a:ln>
            <a:solidFill>
              <a:schemeClr val="tx1"/>
            </a:solidFill>
          </a:ln>
        </p:spPr>
        <p:txBody>
          <a:bodyPr wrap="square">
            <a:spAutoFit/>
          </a:bodyPr>
          <a:lstStyle/>
          <a:p>
            <a:pPr marR="0" algn="l">
              <a:spcBef>
                <a:spcPts val="750"/>
              </a:spcBef>
            </a:pPr>
            <a:r>
              <a:rPr lang="en-AU" sz="1000" b="1" i="0" u="sng">
                <a:effectLst/>
                <a:latin typeface="-apple-system"/>
              </a:rPr>
              <a:t>Key considerations</a:t>
            </a:r>
          </a:p>
          <a:p>
            <a:pPr marL="171450" marR="0" indent="-171450" algn="l">
              <a:spcBef>
                <a:spcPts val="750"/>
              </a:spcBef>
              <a:buFont typeface="Arial" panose="020B0604020202020204" pitchFamily="34" charset="0"/>
              <a:buChar char="•"/>
            </a:pPr>
            <a:r>
              <a:rPr lang="en-AU" sz="1000" b="1" i="0">
                <a:effectLst/>
                <a:latin typeface="-apple-system"/>
              </a:rPr>
              <a:t>Ontologies are critical if we are going to build agents which need to accurately understand concepts, relationships and rules </a:t>
            </a:r>
          </a:p>
          <a:p>
            <a:pPr marL="171450" marR="0" indent="-171450" algn="l">
              <a:spcBef>
                <a:spcPts val="750"/>
              </a:spcBef>
              <a:buFont typeface="Arial" panose="020B0604020202020204" pitchFamily="34" charset="0"/>
              <a:buChar char="•"/>
            </a:pPr>
            <a:r>
              <a:rPr lang="en-AU" sz="1000" b="1" i="0">
                <a:effectLst/>
                <a:latin typeface="-apple-system"/>
              </a:rPr>
              <a:t>Difficulty with building Ontologies are they take a lot of effort to construct. Notations such as OWL/RDF are difficult to learn and construct native. However, when constructed they offer major benefits.</a:t>
            </a:r>
          </a:p>
          <a:p>
            <a:pPr marL="171450" marR="0" indent="-171450" algn="l">
              <a:spcBef>
                <a:spcPts val="750"/>
              </a:spcBef>
              <a:buFont typeface="Arial" panose="020B0604020202020204" pitchFamily="34" charset="0"/>
              <a:buChar char="•"/>
            </a:pPr>
            <a:r>
              <a:rPr lang="en-AU" sz="1000" b="1" i="0">
                <a:effectLst/>
                <a:latin typeface="-apple-system"/>
              </a:rPr>
              <a:t>When we create an ontology, we model the data, information, knowledge and process.  Notations such as OWL/RDF do not represent rules and process well, and we have to produce </a:t>
            </a:r>
            <a:r>
              <a:rPr lang="en-AU" sz="1000" b="1">
                <a:latin typeface="-apple-system"/>
              </a:rPr>
              <a:t>our</a:t>
            </a:r>
            <a:r>
              <a:rPr lang="en-AU" sz="1000" b="1" i="0">
                <a:effectLst/>
                <a:latin typeface="-apple-system"/>
              </a:rPr>
              <a:t> own convention. Also, tools in the industry vary on how they represent rules and process . </a:t>
            </a:r>
            <a:r>
              <a:rPr lang="en-AU" sz="1000" b="1" i="0" err="1">
                <a:effectLst/>
                <a:latin typeface="-apple-system"/>
              </a:rPr>
              <a:t>eg.</a:t>
            </a:r>
            <a:r>
              <a:rPr lang="en-AU" sz="1000" b="1" i="0">
                <a:effectLst/>
                <a:latin typeface="-apple-system"/>
              </a:rPr>
              <a:t> Neoj4 does not represent rules in their tool and queries </a:t>
            </a:r>
          </a:p>
          <a:p>
            <a:pPr marL="171450" marR="0" indent="-171450" algn="l">
              <a:spcBef>
                <a:spcPts val="750"/>
              </a:spcBef>
              <a:buFont typeface="Arial" panose="020B0604020202020204" pitchFamily="34" charset="0"/>
              <a:buChar char="•"/>
            </a:pPr>
            <a:r>
              <a:rPr lang="en-AU" sz="1000" b="1" i="0">
                <a:effectLst/>
                <a:latin typeface="-apple-system"/>
              </a:rPr>
              <a:t>Challenge for us as an organisation is how to rapidly enable the business/technology to construct ontologies from their material (</a:t>
            </a:r>
            <a:r>
              <a:rPr lang="en-AU" sz="1000" b="1" i="0" err="1">
                <a:effectLst/>
                <a:latin typeface="-apple-system"/>
              </a:rPr>
              <a:t>eg.</a:t>
            </a:r>
            <a:r>
              <a:rPr lang="en-AU" sz="1000" b="1" i="0">
                <a:effectLst/>
                <a:latin typeface="-apple-system"/>
              </a:rPr>
              <a:t> policies and requirements) and how we can easily embed in agents, etc. </a:t>
            </a:r>
          </a:p>
          <a:p>
            <a:pPr marL="171450" marR="0" indent="-171450" algn="l">
              <a:spcBef>
                <a:spcPts val="750"/>
              </a:spcBef>
              <a:buFont typeface="Arial" panose="020B0604020202020204" pitchFamily="34" charset="0"/>
              <a:buChar char="•"/>
            </a:pPr>
            <a:r>
              <a:rPr lang="en-AU" sz="1000" b="1" i="0">
                <a:effectLst/>
                <a:latin typeface="-apple-system"/>
              </a:rPr>
              <a:t>Also need to think about how ontologies can be used for different purposes - and how as a model they can be deployed in a connected or disconnect mode.</a:t>
            </a:r>
            <a:endParaRPr lang="en-AU" sz="1000" b="1"/>
          </a:p>
        </p:txBody>
      </p:sp>
      <p:sp>
        <p:nvSpPr>
          <p:cNvPr id="4" name="TextBox 3">
            <a:extLst>
              <a:ext uri="{FF2B5EF4-FFF2-40B4-BE49-F238E27FC236}">
                <a16:creationId xmlns:a16="http://schemas.microsoft.com/office/drawing/2014/main" id="{024D538D-8199-A390-0B49-DE884CA9FB5C}"/>
              </a:ext>
            </a:extLst>
          </p:cNvPr>
          <p:cNvSpPr txBox="1"/>
          <p:nvPr/>
        </p:nvSpPr>
        <p:spPr>
          <a:xfrm>
            <a:off x="203353" y="860530"/>
            <a:ext cx="11836402" cy="3939540"/>
          </a:xfrm>
          <a:prstGeom prst="rect">
            <a:avLst/>
          </a:prstGeom>
          <a:noFill/>
          <a:ln>
            <a:solidFill>
              <a:schemeClr val="tx1"/>
            </a:solidFill>
          </a:ln>
        </p:spPr>
        <p:txBody>
          <a:bodyPr wrap="square">
            <a:spAutoFit/>
          </a:bodyPr>
          <a:lstStyle/>
          <a:p>
            <a:r>
              <a:rPr lang="en-AU" sz="1000" b="1">
                <a:latin typeface="Aptos Display (Headings)"/>
                <a:ea typeface="Times New Roman" panose="02020603050405020304" pitchFamily="18" charset="0"/>
                <a:cs typeface="Aptos" panose="020B0004020202020204" pitchFamily="34" charset="0"/>
              </a:rPr>
              <a:t>1. Define Ontology (Schema – core entity &lt;classes&gt;,  relationship, attributes)</a:t>
            </a:r>
            <a:endParaRPr lang="en-AU" sz="1000">
              <a:latin typeface="Aptos Display (Headings)"/>
              <a:ea typeface="Aptos" panose="020B0004020202020204" pitchFamily="34" charset="0"/>
              <a:cs typeface="Aptos" panose="020B0004020202020204" pitchFamily="34" charset="0"/>
            </a:endParaRPr>
          </a:p>
          <a:p>
            <a:pPr>
              <a:buNone/>
            </a:pPr>
            <a:endParaRPr lang="en-AU" sz="1000" b="1">
              <a:latin typeface="Aptos Display (Headings)"/>
              <a:ea typeface="Times New Roman" panose="02020603050405020304" pitchFamily="18" charset="0"/>
              <a:cs typeface="Aptos" panose="020B0004020202020204" pitchFamily="34" charset="0"/>
            </a:endParaRPr>
          </a:p>
          <a:p>
            <a:pPr>
              <a:buNone/>
            </a:pPr>
            <a:r>
              <a:rPr lang="en-AU" sz="1000" b="1">
                <a:latin typeface="Aptos Display (Headings)"/>
                <a:ea typeface="Times New Roman" panose="02020603050405020304" pitchFamily="18" charset="0"/>
                <a:cs typeface="Aptos" panose="020B0004020202020204" pitchFamily="34" charset="0"/>
              </a:rPr>
              <a:t>2. Semantic Web &amp; Linked Data (W3C Standards)</a:t>
            </a:r>
            <a:endParaRPr lang="en-AU" sz="1000">
              <a:latin typeface="Aptos Display (Headings)"/>
              <a:ea typeface="Aptos" panose="020B0004020202020204" pitchFamily="34" charset="0"/>
              <a:cs typeface="Aptos" panose="020B0004020202020204" pitchFamily="34" charset="0"/>
            </a:endParaRPr>
          </a:p>
          <a:p>
            <a:pPr>
              <a:buNone/>
            </a:pPr>
            <a:r>
              <a:rPr lang="en-AU" sz="1000">
                <a:latin typeface="Aptos Display (Headings)"/>
                <a:ea typeface="Times New Roman" panose="02020603050405020304" pitchFamily="18" charset="0"/>
                <a:cs typeface="Aptos" panose="020B0004020202020204" pitchFamily="34" charset="0"/>
              </a:rPr>
              <a:t>This is the most formal and widely accepted method for sharing structured data across systems.</a:t>
            </a:r>
            <a:endParaRPr lang="en-AU" sz="1000">
              <a:latin typeface="Aptos Display (Headings)"/>
              <a:ea typeface="Aptos" panose="020B0004020202020204" pitchFamily="34" charset="0"/>
              <a:cs typeface="Aptos" panose="020B0004020202020204" pitchFamily="34" charset="0"/>
            </a:endParaRPr>
          </a:p>
          <a:p>
            <a:pPr marL="342900" lvl="0" indent="-342900">
              <a:buSzPts val="1000"/>
              <a:buFont typeface="Symbol" panose="05050102010706020507" pitchFamily="18" charset="2"/>
              <a:buChar char=""/>
              <a:tabLst>
                <a:tab pos="457200" algn="l"/>
              </a:tabLst>
            </a:pPr>
            <a:r>
              <a:rPr lang="en-AU" sz="1000" b="1">
                <a:latin typeface="Aptos Display (Headings)"/>
                <a:ea typeface="Times New Roman" panose="02020603050405020304" pitchFamily="18" charset="0"/>
                <a:cs typeface="Aptos" panose="020B0004020202020204" pitchFamily="34" charset="0"/>
              </a:rPr>
              <a:t>RDF (Resource Description Framework):</a:t>
            </a:r>
            <a:r>
              <a:rPr lang="en-AU" sz="1000">
                <a:latin typeface="Aptos Display (Headings)"/>
                <a:ea typeface="Times New Roman" panose="02020603050405020304" pitchFamily="18" charset="0"/>
                <a:cs typeface="Aptos" panose="020B0004020202020204" pitchFamily="34" charset="0"/>
              </a:rPr>
              <a:t> Represents data as simple subject-predicate-object statements (triples).</a:t>
            </a:r>
            <a:endParaRPr lang="en-AU" sz="1000">
              <a:latin typeface="Aptos Display (Headings)"/>
              <a:ea typeface="Aptos" panose="020B0004020202020204" pitchFamily="34" charset="0"/>
              <a:cs typeface="Aptos" panose="020B0004020202020204" pitchFamily="34" charset="0"/>
            </a:endParaRPr>
          </a:p>
          <a:p>
            <a:pPr marL="342900" lvl="0" indent="-342900">
              <a:buSzPts val="1000"/>
              <a:buFont typeface="Symbol" panose="05050102010706020507" pitchFamily="18" charset="2"/>
              <a:buChar char=""/>
              <a:tabLst>
                <a:tab pos="457200" algn="l"/>
              </a:tabLst>
            </a:pPr>
            <a:r>
              <a:rPr lang="en-AU" sz="1000" b="1">
                <a:latin typeface="Aptos Display (Headings)"/>
                <a:ea typeface="Times New Roman" panose="02020603050405020304" pitchFamily="18" charset="0"/>
                <a:cs typeface="Aptos" panose="020B0004020202020204" pitchFamily="34" charset="0"/>
              </a:rPr>
              <a:t>OWL (Web Ontology Language):</a:t>
            </a:r>
            <a:r>
              <a:rPr lang="en-AU" sz="1000">
                <a:latin typeface="Aptos Display (Headings)"/>
                <a:ea typeface="Times New Roman" panose="02020603050405020304" pitchFamily="18" charset="0"/>
                <a:cs typeface="Aptos" panose="020B0004020202020204" pitchFamily="34" charset="0"/>
              </a:rPr>
              <a:t> Adds massive logical reasoning capabilities to RDF, allowing systems to infer new information from explicitly defined rules. </a:t>
            </a:r>
            <a:endParaRPr lang="en-AU" sz="1000">
              <a:latin typeface="Aptos Display (Headings)"/>
              <a:ea typeface="Aptos" panose="020B0004020202020204" pitchFamily="34" charset="0"/>
              <a:cs typeface="Aptos" panose="020B0004020202020204" pitchFamily="34" charset="0"/>
            </a:endParaRPr>
          </a:p>
          <a:p>
            <a:pPr marL="342900" lvl="0" indent="-342900">
              <a:buSzPts val="1000"/>
              <a:buFont typeface="Symbol" panose="05050102010706020507" pitchFamily="18" charset="2"/>
              <a:buChar char=""/>
              <a:tabLst>
                <a:tab pos="457200" algn="l"/>
              </a:tabLst>
            </a:pPr>
            <a:r>
              <a:rPr lang="en-AU" sz="1000" b="1">
                <a:latin typeface="Aptos Display (Headings)"/>
                <a:ea typeface="Times New Roman" panose="02020603050405020304" pitchFamily="18" charset="0"/>
                <a:cs typeface="Aptos" panose="020B0004020202020204" pitchFamily="34" charset="0"/>
              </a:rPr>
              <a:t>SPARQL:</a:t>
            </a:r>
            <a:r>
              <a:rPr lang="en-AU" sz="1000">
                <a:latin typeface="Aptos Display (Headings)"/>
                <a:ea typeface="Times New Roman" panose="02020603050405020304" pitchFamily="18" charset="0"/>
                <a:cs typeface="Aptos" panose="020B0004020202020204" pitchFamily="34" charset="0"/>
              </a:rPr>
              <a:t> The standard query language used to extract and manipulate data from RDF stores. </a:t>
            </a:r>
          </a:p>
          <a:p>
            <a:pPr marL="342900" lvl="0" indent="-342900">
              <a:buSzPts val="1000"/>
              <a:buFont typeface="Symbol" panose="05050102010706020507" pitchFamily="18" charset="2"/>
              <a:buChar char=""/>
              <a:tabLst>
                <a:tab pos="457200" algn="l"/>
              </a:tabLst>
            </a:pPr>
            <a:r>
              <a:rPr lang="en-AU" sz="1000" b="1">
                <a:latin typeface="Aptos Display (Headings)"/>
              </a:rPr>
              <a:t>TURTLE &lt;Terse RDF Triple Language&gt;: </a:t>
            </a:r>
            <a:r>
              <a:rPr lang="en-US" sz="1000">
                <a:latin typeface="Aptos Display (Headings)"/>
              </a:rPr>
              <a:t>compact, human-readable syntax for expressing RDF graphs. It represents data as triples — each consisting of a subject, predicate, and object — and supports abbreviations to reduce repetition.</a:t>
            </a:r>
            <a:endParaRPr lang="en-AU" sz="1000">
              <a:latin typeface="Aptos Display (Headings)"/>
              <a:ea typeface="Times New Roman" panose="02020603050405020304" pitchFamily="18" charset="0"/>
              <a:cs typeface="Aptos" panose="020B0004020202020204" pitchFamily="34" charset="0"/>
            </a:endParaRPr>
          </a:p>
          <a:p>
            <a:pPr marL="342900" lvl="0" indent="-342900">
              <a:buSzPts val="1000"/>
              <a:buFont typeface="Symbol" panose="05050102010706020507" pitchFamily="18" charset="2"/>
              <a:buChar char=""/>
              <a:tabLst>
                <a:tab pos="457200" algn="l"/>
              </a:tabLst>
            </a:pPr>
            <a:r>
              <a:rPr lang="en-AU" sz="1000" b="1">
                <a:latin typeface="Aptos Display (Headings)"/>
                <a:ea typeface="Aptos" panose="020B0004020202020204" pitchFamily="34" charset="0"/>
                <a:cs typeface="Aptos" panose="020B0004020202020204" pitchFamily="34" charset="0"/>
              </a:rPr>
              <a:t>OTHERS </a:t>
            </a:r>
            <a:r>
              <a:rPr lang="en-AU" sz="1000" b="1">
                <a:latin typeface="Aptos Display (Headings)"/>
                <a:ea typeface="Aptos" panose="020B0004020202020204" pitchFamily="34" charset="0"/>
                <a:cs typeface="Aptos" panose="020B0004020202020204" pitchFamily="34" charset="0"/>
                <a:sym typeface="Wingdings" panose="05000000000000000000" pitchFamily="2" charset="2"/>
              </a:rPr>
              <a:t> JSON-LD, Python – </a:t>
            </a:r>
            <a:r>
              <a:rPr lang="en-AU" sz="1000" b="1" err="1">
                <a:latin typeface="Aptos Display (Headings)"/>
                <a:ea typeface="Aptos" panose="020B0004020202020204" pitchFamily="34" charset="0"/>
                <a:cs typeface="Aptos" panose="020B0004020202020204" pitchFamily="34" charset="0"/>
                <a:sym typeface="Wingdings" panose="05000000000000000000" pitchFamily="2" charset="2"/>
              </a:rPr>
              <a:t>rdflib</a:t>
            </a:r>
            <a:r>
              <a:rPr lang="en-AU" sz="1000" b="1">
                <a:latin typeface="Aptos Display (Headings)"/>
                <a:ea typeface="Aptos" panose="020B0004020202020204" pitchFamily="34" charset="0"/>
                <a:cs typeface="Aptos" panose="020B0004020202020204" pitchFamily="34" charset="0"/>
                <a:sym typeface="Wingdings" panose="05000000000000000000" pitchFamily="2" charset="2"/>
              </a:rPr>
              <a:t> , owlready2</a:t>
            </a:r>
            <a:endParaRPr lang="en-AU" sz="1000" b="1">
              <a:latin typeface="Aptos Display (Headings)"/>
              <a:ea typeface="Aptos" panose="020B0004020202020204" pitchFamily="34" charset="0"/>
              <a:cs typeface="Aptos" panose="020B0004020202020204" pitchFamily="34" charset="0"/>
            </a:endParaRPr>
          </a:p>
          <a:p>
            <a:pPr marL="342900" lvl="0" indent="-342900">
              <a:buSzPts val="1000"/>
              <a:buFont typeface="Symbol" panose="05050102010706020507" pitchFamily="18" charset="2"/>
              <a:buChar char=""/>
              <a:tabLst>
                <a:tab pos="457200" algn="l"/>
              </a:tabLst>
            </a:pPr>
            <a:r>
              <a:rPr lang="en-AU" sz="1000" b="1">
                <a:latin typeface="Aptos Display (Headings)"/>
                <a:ea typeface="Times New Roman" panose="02020603050405020304" pitchFamily="18" charset="0"/>
                <a:cs typeface="Aptos" panose="020B0004020202020204" pitchFamily="34" charset="0"/>
              </a:rPr>
              <a:t>How to use:</a:t>
            </a:r>
            <a:r>
              <a:rPr lang="en-AU" sz="1000">
                <a:latin typeface="Aptos Display (Headings)"/>
                <a:ea typeface="Times New Roman" panose="02020603050405020304" pitchFamily="18" charset="0"/>
                <a:cs typeface="Aptos" panose="020B0004020202020204" pitchFamily="34" charset="0"/>
              </a:rPr>
              <a:t> design the ontology visually or programmatically using editors and then host it on a </a:t>
            </a:r>
            <a:r>
              <a:rPr lang="en-AU" sz="1000" err="1">
                <a:latin typeface="Aptos Display (Headings)"/>
                <a:ea typeface="Times New Roman" panose="02020603050405020304" pitchFamily="18" charset="0"/>
                <a:cs typeface="Aptos" panose="020B0004020202020204" pitchFamily="34" charset="0"/>
              </a:rPr>
              <a:t>triplestore</a:t>
            </a:r>
            <a:r>
              <a:rPr lang="en-AU" sz="1000">
                <a:latin typeface="Aptos Display (Headings)"/>
                <a:ea typeface="Times New Roman" panose="02020603050405020304" pitchFamily="18" charset="0"/>
                <a:cs typeface="Aptos" panose="020B0004020202020204" pitchFamily="34" charset="0"/>
              </a:rPr>
              <a:t> (e.g., </a:t>
            </a:r>
            <a:r>
              <a:rPr lang="en-AU" sz="1000" err="1">
                <a:latin typeface="Aptos Display (Headings)"/>
                <a:ea typeface="Times New Roman" panose="02020603050405020304" pitchFamily="18" charset="0"/>
                <a:cs typeface="Aptos" panose="020B0004020202020204" pitchFamily="34" charset="0"/>
              </a:rPr>
              <a:t>GraphDB</a:t>
            </a:r>
            <a:r>
              <a:rPr lang="en-AU" sz="1000">
                <a:latin typeface="Aptos Display (Headings)"/>
                <a:ea typeface="Times New Roman" panose="02020603050405020304" pitchFamily="18" charset="0"/>
                <a:cs typeface="Aptos" panose="020B0004020202020204" pitchFamily="34" charset="0"/>
              </a:rPr>
              <a:t>). </a:t>
            </a:r>
            <a:br>
              <a:rPr lang="en-AU" sz="1000">
                <a:latin typeface="Aptos Display (Headings)"/>
                <a:ea typeface="Times New Roman" panose="02020603050405020304" pitchFamily="18" charset="0"/>
                <a:cs typeface="Aptos" panose="020B0004020202020204" pitchFamily="34" charset="0"/>
              </a:rPr>
            </a:br>
            <a:endParaRPr lang="en-AU" sz="1000">
              <a:latin typeface="Aptos Display (Headings)"/>
              <a:ea typeface="Aptos" panose="020B0004020202020204" pitchFamily="34" charset="0"/>
              <a:cs typeface="Aptos" panose="020B0004020202020204" pitchFamily="34" charset="0"/>
            </a:endParaRPr>
          </a:p>
          <a:p>
            <a:pPr>
              <a:buNone/>
            </a:pPr>
            <a:r>
              <a:rPr lang="en-AU" sz="1000" b="1">
                <a:latin typeface="Aptos Display (Headings)"/>
                <a:ea typeface="Times New Roman" panose="02020603050405020304" pitchFamily="18" charset="0"/>
                <a:cs typeface="Aptos" panose="020B0004020202020204" pitchFamily="34" charset="0"/>
              </a:rPr>
              <a:t>3. Knowledge Graphs &amp; Graph Databases</a:t>
            </a:r>
            <a:endParaRPr lang="en-AU" sz="1000">
              <a:latin typeface="Aptos Display (Headings)"/>
              <a:ea typeface="Aptos" panose="020B0004020202020204" pitchFamily="34" charset="0"/>
              <a:cs typeface="Aptos" panose="020B0004020202020204" pitchFamily="34" charset="0"/>
            </a:endParaRPr>
          </a:p>
          <a:p>
            <a:pPr>
              <a:buNone/>
            </a:pPr>
            <a:r>
              <a:rPr lang="en-AU" sz="1000">
                <a:latin typeface="Aptos Display (Headings)"/>
                <a:ea typeface="Times New Roman" panose="02020603050405020304" pitchFamily="18" charset="0"/>
                <a:cs typeface="Aptos" panose="020B0004020202020204" pitchFamily="34" charset="0"/>
              </a:rPr>
              <a:t>Ideal for integrating mixed data formats (structured and unstructured) and powering semantic search and AI applications. </a:t>
            </a:r>
            <a:endParaRPr lang="en-AU" sz="1000">
              <a:latin typeface="Aptos Display (Headings)"/>
              <a:ea typeface="Aptos" panose="020B0004020202020204" pitchFamily="34" charset="0"/>
              <a:cs typeface="Aptos" panose="020B0004020202020204" pitchFamily="34" charset="0"/>
            </a:endParaRPr>
          </a:p>
          <a:p>
            <a:pPr marL="342900" lvl="0" indent="-342900">
              <a:buSzPts val="1000"/>
              <a:buFont typeface="Symbol" panose="05050102010706020507" pitchFamily="18" charset="2"/>
              <a:buChar char=""/>
              <a:tabLst>
                <a:tab pos="457200" algn="l"/>
              </a:tabLst>
            </a:pPr>
            <a:r>
              <a:rPr lang="en-AU" sz="1000" b="1" err="1">
                <a:latin typeface="Aptos Display (Headings)"/>
                <a:ea typeface="Times New Roman" panose="02020603050405020304" pitchFamily="18" charset="0"/>
                <a:cs typeface="Aptos" panose="020B0004020202020204" pitchFamily="34" charset="0"/>
              </a:rPr>
              <a:t>Labeled</a:t>
            </a:r>
            <a:r>
              <a:rPr lang="en-AU" sz="1000" b="1">
                <a:latin typeface="Aptos Display (Headings)"/>
                <a:ea typeface="Times New Roman" panose="02020603050405020304" pitchFamily="18" charset="0"/>
                <a:cs typeface="Aptos" panose="020B0004020202020204" pitchFamily="34" charset="0"/>
              </a:rPr>
              <a:t> Property Graphs (LPGs):</a:t>
            </a:r>
            <a:r>
              <a:rPr lang="en-AU" sz="1000">
                <a:latin typeface="Aptos Display (Headings)"/>
                <a:ea typeface="Times New Roman" panose="02020603050405020304" pitchFamily="18" charset="0"/>
                <a:cs typeface="Aptos" panose="020B0004020202020204" pitchFamily="34" charset="0"/>
              </a:rPr>
              <a:t> Stores nodes (entities) and edges (relationships) while allowing to attach properties (attributes) directly to those connections. </a:t>
            </a:r>
            <a:endParaRPr lang="en-AU" sz="1000">
              <a:latin typeface="Aptos Display (Headings)"/>
              <a:ea typeface="Aptos" panose="020B0004020202020204" pitchFamily="34" charset="0"/>
              <a:cs typeface="Aptos" panose="020B0004020202020204" pitchFamily="34" charset="0"/>
            </a:endParaRPr>
          </a:p>
          <a:p>
            <a:pPr marL="342900" lvl="0" indent="-342900">
              <a:buSzPts val="1000"/>
              <a:buFont typeface="Symbol" panose="05050102010706020507" pitchFamily="18" charset="2"/>
              <a:buChar char=""/>
              <a:tabLst>
                <a:tab pos="457200" algn="l"/>
              </a:tabLst>
            </a:pPr>
            <a:r>
              <a:rPr lang="en-AU" sz="1000" b="1">
                <a:latin typeface="Aptos Display (Headings)"/>
                <a:ea typeface="Times New Roman" panose="02020603050405020304" pitchFamily="18" charset="0"/>
                <a:cs typeface="Aptos" panose="020B0004020202020204" pitchFamily="34" charset="0"/>
              </a:rPr>
              <a:t>How to use:</a:t>
            </a:r>
            <a:r>
              <a:rPr lang="en-AU" sz="1000">
                <a:latin typeface="Aptos Display (Headings)"/>
                <a:ea typeface="Times New Roman" panose="02020603050405020304" pitchFamily="18" charset="0"/>
                <a:cs typeface="Aptos" panose="020B0004020202020204" pitchFamily="34" charset="0"/>
              </a:rPr>
              <a:t> build an ontology schema and drive data ingestion using graph databases. Query relationships directly using languages like Cypher or GQL.</a:t>
            </a:r>
            <a:br>
              <a:rPr lang="en-AU" sz="1000">
                <a:latin typeface="Aptos Display (Headings)"/>
                <a:ea typeface="Times New Roman" panose="02020603050405020304" pitchFamily="18" charset="0"/>
                <a:cs typeface="Aptos" panose="020B0004020202020204" pitchFamily="34" charset="0"/>
              </a:rPr>
            </a:br>
            <a:endParaRPr lang="en-AU" sz="1000">
              <a:latin typeface="Aptos Display (Headings)"/>
              <a:ea typeface="Aptos" panose="020B0004020202020204" pitchFamily="34" charset="0"/>
              <a:cs typeface="Aptos" panose="020B0004020202020204" pitchFamily="34" charset="0"/>
            </a:endParaRPr>
          </a:p>
          <a:p>
            <a:pPr>
              <a:buNone/>
            </a:pPr>
            <a:r>
              <a:rPr lang="en-AU" sz="1000" b="1">
                <a:latin typeface="Aptos Display (Headings)"/>
                <a:ea typeface="Times New Roman" panose="02020603050405020304" pitchFamily="18" charset="0"/>
                <a:cs typeface="Aptos" panose="020B0004020202020204" pitchFamily="34" charset="0"/>
              </a:rPr>
              <a:t>4. Enterprise Platforms &amp; Data </a:t>
            </a:r>
            <a:r>
              <a:rPr lang="en-AU" sz="1000" b="1" err="1">
                <a:latin typeface="Aptos Display (Headings)"/>
                <a:ea typeface="Times New Roman" panose="02020603050405020304" pitchFamily="18" charset="0"/>
                <a:cs typeface="Aptos" panose="020B0004020202020204" pitchFamily="34" charset="0"/>
              </a:rPr>
              <a:t>Catalogs</a:t>
            </a:r>
            <a:endParaRPr lang="en-AU" sz="1000">
              <a:latin typeface="Aptos Display (Headings)"/>
              <a:ea typeface="Aptos" panose="020B0004020202020204" pitchFamily="34" charset="0"/>
              <a:cs typeface="Aptos" panose="020B0004020202020204" pitchFamily="34" charset="0"/>
            </a:endParaRPr>
          </a:p>
          <a:p>
            <a:pPr>
              <a:buNone/>
            </a:pPr>
            <a:r>
              <a:rPr lang="en-AU" sz="1000">
                <a:latin typeface="Aptos Display (Headings)"/>
                <a:ea typeface="Times New Roman" panose="02020603050405020304" pitchFamily="18" charset="0"/>
                <a:cs typeface="Aptos" panose="020B0004020202020204" pitchFamily="34" charset="0"/>
              </a:rPr>
              <a:t>Many modern organizations implement ontologies to unify disparate databases, track data lineage, and build operational workflows.</a:t>
            </a:r>
            <a:endParaRPr lang="en-AU" sz="1000">
              <a:latin typeface="Aptos Display (Headings)"/>
              <a:ea typeface="Aptos" panose="020B0004020202020204" pitchFamily="34" charset="0"/>
              <a:cs typeface="Aptos" panose="020B0004020202020204" pitchFamily="34" charset="0"/>
            </a:endParaRPr>
          </a:p>
          <a:p>
            <a:pPr marL="342900" lvl="0" indent="-342900">
              <a:buSzPts val="1000"/>
              <a:buFont typeface="Symbol" panose="05050102010706020507" pitchFamily="18" charset="2"/>
              <a:buChar char=""/>
              <a:tabLst>
                <a:tab pos="457200" algn="l"/>
              </a:tabLst>
            </a:pPr>
            <a:r>
              <a:rPr lang="en-AU" sz="1000" b="1">
                <a:latin typeface="Aptos Display (Headings)"/>
                <a:ea typeface="Times New Roman" panose="02020603050405020304" pitchFamily="18" charset="0"/>
                <a:cs typeface="Aptos" panose="020B0004020202020204" pitchFamily="34" charset="0"/>
              </a:rPr>
              <a:t>Domain-Driven </a:t>
            </a:r>
            <a:r>
              <a:rPr lang="en-AU" sz="1000" b="1" err="1">
                <a:latin typeface="Aptos Display (Headings)"/>
                <a:ea typeface="Times New Roman" panose="02020603050405020304" pitchFamily="18" charset="0"/>
                <a:cs typeface="Aptos" panose="020B0004020202020204" pitchFamily="34" charset="0"/>
              </a:rPr>
              <a:t>Modeling</a:t>
            </a:r>
            <a:r>
              <a:rPr lang="en-AU" sz="1000" b="1">
                <a:latin typeface="Aptos Display (Headings)"/>
                <a:ea typeface="Times New Roman" panose="02020603050405020304" pitchFamily="18" charset="0"/>
                <a:cs typeface="Aptos" panose="020B0004020202020204" pitchFamily="34" charset="0"/>
              </a:rPr>
              <a:t>:</a:t>
            </a:r>
            <a:r>
              <a:rPr lang="en-AU" sz="1000">
                <a:latin typeface="Aptos Display (Headings)"/>
                <a:ea typeface="Times New Roman" panose="02020603050405020304" pitchFamily="18" charset="0"/>
                <a:cs typeface="Aptos" panose="020B0004020202020204" pitchFamily="34" charset="0"/>
              </a:rPr>
              <a:t> Focuses on mapping real-world business objects rather than system-specific databases.</a:t>
            </a:r>
            <a:endParaRPr lang="en-AU" sz="1000">
              <a:latin typeface="Aptos Display (Headings)"/>
              <a:ea typeface="Aptos" panose="020B0004020202020204" pitchFamily="34" charset="0"/>
              <a:cs typeface="Aptos" panose="020B0004020202020204" pitchFamily="34" charset="0"/>
            </a:endParaRPr>
          </a:p>
          <a:p>
            <a:pPr marL="342900" lvl="0" indent="-342900">
              <a:buSzPts val="1000"/>
              <a:buFont typeface="Symbol" panose="05050102010706020507" pitchFamily="18" charset="2"/>
              <a:buChar char=""/>
              <a:tabLst>
                <a:tab pos="457200" algn="l"/>
              </a:tabLst>
            </a:pPr>
            <a:r>
              <a:rPr lang="en-AU" sz="1000" b="1">
                <a:latin typeface="Aptos Display (Headings)"/>
                <a:ea typeface="Times New Roman" panose="02020603050405020304" pitchFamily="18" charset="0"/>
                <a:cs typeface="Aptos" panose="020B0004020202020204" pitchFamily="34" charset="0"/>
              </a:rPr>
              <a:t>Data Binding:</a:t>
            </a:r>
            <a:r>
              <a:rPr lang="en-AU" sz="1000">
                <a:latin typeface="Aptos Display (Headings)"/>
                <a:ea typeface="Times New Roman" panose="02020603050405020304" pitchFamily="18" charset="0"/>
                <a:cs typeface="Aptos" panose="020B0004020202020204" pitchFamily="34" charset="0"/>
              </a:rPr>
              <a:t> Direct mapping of unstructured text and structured tables to the conceptual ontology layer.</a:t>
            </a:r>
            <a:endParaRPr lang="en-AU" sz="1000">
              <a:latin typeface="Aptos Display (Headings)"/>
              <a:ea typeface="Aptos" panose="020B0004020202020204" pitchFamily="34" charset="0"/>
              <a:cs typeface="Aptos" panose="020B0004020202020204" pitchFamily="34" charset="0"/>
            </a:endParaRPr>
          </a:p>
          <a:p>
            <a:pPr marL="342900" lvl="0" indent="-342900">
              <a:buSzPts val="1000"/>
              <a:buFont typeface="Symbol" panose="05050102010706020507" pitchFamily="18" charset="2"/>
              <a:buChar char=""/>
              <a:tabLst>
                <a:tab pos="457200" algn="l"/>
              </a:tabLst>
            </a:pPr>
            <a:r>
              <a:rPr lang="en-AU" sz="1000" b="1">
                <a:latin typeface="Aptos Display (Headings)"/>
                <a:ea typeface="Times New Roman" panose="02020603050405020304" pitchFamily="18" charset="0"/>
                <a:cs typeface="Aptos" panose="020B0004020202020204" pitchFamily="34" charset="0"/>
              </a:rPr>
              <a:t>How to use:</a:t>
            </a:r>
            <a:r>
              <a:rPr lang="en-AU" sz="1000">
                <a:latin typeface="Aptos Display (Headings)"/>
                <a:ea typeface="Times New Roman" panose="02020603050405020304" pitchFamily="18" charset="0"/>
                <a:cs typeface="Aptos" panose="020B0004020202020204" pitchFamily="34" charset="0"/>
              </a:rPr>
              <a:t> leverage Platforms that provide built-in Ontology Managers where we define object types, map physical data sources to them, and expose the semantic layer for Human or AI-driven workflows. </a:t>
            </a:r>
            <a:br>
              <a:rPr lang="en-AU" sz="1000">
                <a:latin typeface="Aptos Display (Headings)"/>
                <a:ea typeface="Times New Roman" panose="02020603050405020304" pitchFamily="18" charset="0"/>
                <a:cs typeface="Aptos" panose="020B0004020202020204" pitchFamily="34" charset="0"/>
              </a:rPr>
            </a:br>
            <a:endParaRPr lang="en-AU" sz="1000">
              <a:latin typeface="Aptos Display (Headings)"/>
              <a:ea typeface="Aptos" panose="020B0004020202020204" pitchFamily="34" charset="0"/>
              <a:cs typeface="Aptos" panose="020B0004020202020204" pitchFamily="34" charset="0"/>
            </a:endParaRPr>
          </a:p>
          <a:p>
            <a:pPr>
              <a:buNone/>
            </a:pPr>
            <a:r>
              <a:rPr lang="en-AU" sz="1000" b="1">
                <a:latin typeface="Aptos Display (Headings)"/>
                <a:ea typeface="Times New Roman" panose="02020603050405020304" pitchFamily="18" charset="0"/>
                <a:cs typeface="Aptos" panose="020B0004020202020204" pitchFamily="34" charset="0"/>
              </a:rPr>
              <a:t>5. Lightweight Taxonomies and Vocabularies</a:t>
            </a:r>
            <a:endParaRPr lang="en-AU" sz="1000">
              <a:latin typeface="Aptos Display (Headings)"/>
              <a:ea typeface="Aptos" panose="020B0004020202020204" pitchFamily="34" charset="0"/>
              <a:cs typeface="Aptos" panose="020B0004020202020204" pitchFamily="34" charset="0"/>
            </a:endParaRPr>
          </a:p>
          <a:p>
            <a:pPr marL="342900" lvl="0" indent="-342900">
              <a:buSzPts val="1000"/>
              <a:buFont typeface="Symbol" panose="05050102010706020507" pitchFamily="18" charset="2"/>
              <a:buChar char=""/>
              <a:tabLst>
                <a:tab pos="457200" algn="l"/>
              </a:tabLst>
            </a:pPr>
            <a:r>
              <a:rPr lang="en-AU" sz="1000" b="1">
                <a:latin typeface="Aptos Display (Headings)"/>
                <a:ea typeface="Times New Roman" panose="02020603050405020304" pitchFamily="18" charset="0"/>
                <a:cs typeface="Aptos" panose="020B0004020202020204" pitchFamily="34" charset="0"/>
              </a:rPr>
              <a:t>SKOS (Simple Knowledge Organization System):</a:t>
            </a:r>
            <a:r>
              <a:rPr lang="en-AU" sz="1000">
                <a:latin typeface="Aptos Display (Headings)"/>
                <a:ea typeface="Times New Roman" panose="02020603050405020304" pitchFamily="18" charset="0"/>
                <a:cs typeface="Aptos" panose="020B0004020202020204" pitchFamily="34" charset="0"/>
              </a:rPr>
              <a:t> Built to encode classifications and thesauri, defining relationships like "broader than" or "narrower than"</a:t>
            </a:r>
            <a:endParaRPr lang="en-AU" sz="1000">
              <a:latin typeface="Aptos Display (Headings)"/>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3884354163"/>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EFECCF69-1BD1-2C04-23B2-4B9887BA72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D9F6BF-1C23-215A-37E4-B9F18795D46C}"/>
              </a:ext>
            </a:extLst>
          </p:cNvPr>
          <p:cNvSpPr txBox="1"/>
          <p:nvPr/>
        </p:nvSpPr>
        <p:spPr>
          <a:xfrm>
            <a:off x="177799" y="143980"/>
            <a:ext cx="10972800" cy="553998"/>
          </a:xfrm>
          <a:prstGeom prst="rect">
            <a:avLst/>
          </a:prstGeom>
          <a:noFill/>
        </p:spPr>
        <p:txBody>
          <a:bodyPr wrap="square">
            <a:spAutoFit/>
          </a:bodyPr>
          <a:lstStyle/>
          <a:p>
            <a:pPr lvl="0">
              <a:defRPr/>
            </a:pPr>
            <a:r>
              <a:rPr lang="en-AU" sz="3000" b="1">
                <a:latin typeface="Calibri"/>
              </a:rPr>
              <a:t>ONTOLOGY</a:t>
            </a:r>
            <a:r>
              <a:rPr kumimoji="0" lang="en-AU" sz="3000" b="1" i="0" u="none" strike="noStrike" kern="1200" cap="none" spc="0" normalizeH="0" baseline="0" noProof="0">
                <a:ln>
                  <a:noFill/>
                </a:ln>
                <a:effectLst/>
                <a:uLnTx/>
                <a:uFillTx/>
                <a:latin typeface="Calibri"/>
                <a:ea typeface="+mn-ea"/>
                <a:cs typeface="+mn-cs"/>
              </a:rPr>
              <a:t> – Approach</a:t>
            </a:r>
            <a:endParaRPr kumimoji="0" sz="3000" b="1" i="0" u="none" strike="noStrike" kern="1200" cap="none" spc="0" normalizeH="0" baseline="0" noProof="0">
              <a:ln>
                <a:noFill/>
              </a:ln>
              <a:effectLst/>
              <a:uLnTx/>
              <a:uFillTx/>
              <a:latin typeface="Calibri"/>
              <a:ea typeface="+mn-ea"/>
              <a:cs typeface="+mn-cs"/>
            </a:endParaRPr>
          </a:p>
        </p:txBody>
      </p:sp>
      <p:sp>
        <p:nvSpPr>
          <p:cNvPr id="10" name="TextBox 9">
            <a:extLst>
              <a:ext uri="{FF2B5EF4-FFF2-40B4-BE49-F238E27FC236}">
                <a16:creationId xmlns:a16="http://schemas.microsoft.com/office/drawing/2014/main" id="{0416396C-3EB5-1BF4-86D1-5FB274D4DEAA}"/>
              </a:ext>
            </a:extLst>
          </p:cNvPr>
          <p:cNvSpPr txBox="1"/>
          <p:nvPr/>
        </p:nvSpPr>
        <p:spPr>
          <a:xfrm>
            <a:off x="110065" y="1124554"/>
            <a:ext cx="6578601" cy="5632311"/>
          </a:xfrm>
          <a:prstGeom prst="rect">
            <a:avLst/>
          </a:prstGeom>
          <a:noFill/>
          <a:ln>
            <a:solidFill>
              <a:schemeClr val="tx1"/>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sng" strike="noStrike" kern="1200" cap="none" spc="0" normalizeH="0" baseline="0" noProof="0">
                <a:ln>
                  <a:noFill/>
                </a:ln>
                <a:effectLst/>
                <a:uLnTx/>
                <a:uFillTx/>
                <a:latin typeface="Aptos" panose="020B0004020202020204" pitchFamily="34" charset="0"/>
                <a:ea typeface="Aptos" panose="020B0004020202020204" pitchFamily="34" charset="0"/>
                <a:cs typeface="Aptos" panose="020B0004020202020204" pitchFamily="34" charset="0"/>
              </a:rPr>
              <a:t>________________________________________________________________________</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0" u="sng" strike="noStrike" kern="1200" cap="none" spc="0" normalizeH="0" baseline="0" noProof="0">
                <a:ln>
                  <a:noFill/>
                </a:ln>
                <a:effectLst/>
                <a:uLnTx/>
                <a:uFillTx/>
                <a:latin typeface="Aptos" panose="02110004020202020204"/>
                <a:ea typeface="+mn-ea"/>
                <a:cs typeface="+mn-cs"/>
              </a:rPr>
              <a:t>Use Case 1: Automated Fraud &amp; Anti-Money Laundering (AML) Detection</a:t>
            </a:r>
            <a:br>
              <a:rPr kumimoji="0" lang="en-AU" sz="800" b="1" i="0" u="sng" strike="noStrike" kern="1200" cap="none" spc="0" normalizeH="0" baseline="0" noProof="0">
                <a:ln>
                  <a:noFill/>
                </a:ln>
                <a:effectLst/>
                <a:uLnTx/>
                <a:uFillTx/>
                <a:latin typeface="Aptos" panose="02110004020202020204"/>
                <a:ea typeface="+mn-ea"/>
                <a:cs typeface="+mn-cs"/>
              </a:rPr>
            </a:br>
            <a:endParaRPr kumimoji="0" lang="en-AU" sz="800" b="1" i="0" u="sng"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Fraud and AML detection rely heavily on uncovering hidden connections, tracking transaction chains, and verifying complex regulatory compliance rules.</a:t>
            </a:r>
            <a:br>
              <a:rPr kumimoji="0" lang="en-AU" sz="800" b="0" i="0" u="none" strike="noStrike" kern="1200" cap="none" spc="0" normalizeH="0" baseline="0" noProof="0">
                <a:ln>
                  <a:noFill/>
                </a:ln>
                <a:effectLst/>
                <a:uLnTx/>
                <a:uFillTx/>
                <a:latin typeface="Aptos" panose="02110004020202020204"/>
                <a:ea typeface="+mn-ea"/>
                <a:cs typeface="+mn-cs"/>
              </a:rPr>
            </a:br>
            <a:endParaRPr kumimoji="0" lang="en-AU" sz="8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TOP-DOWN APPROACH (Recommended)                     	 BOTTOM-UP APPROACH</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Global Risk &amp; Compliance Laws                      	Core Transaction &amp; Entity Data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Define abstract risk typologies                  		 Ingest raw event logs &amp; transfers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(e.g., "Structuring", "Layering")                 		(e.g., </a:t>
            </a:r>
            <a:r>
              <a:rPr kumimoji="0" lang="en-AU" sz="800" b="0" i="0" u="none" strike="noStrike" kern="1200" cap="none" spc="0" normalizeH="0" baseline="0" noProof="0" err="1">
                <a:ln>
                  <a:noFill/>
                </a:ln>
                <a:effectLst/>
                <a:uLnTx/>
                <a:uFillTx/>
                <a:latin typeface="Aptos" panose="02110004020202020204"/>
                <a:ea typeface="+mn-ea"/>
                <a:cs typeface="+mn-cs"/>
              </a:rPr>
              <a:t>wire_id</a:t>
            </a:r>
            <a:r>
              <a:rPr kumimoji="0" lang="en-AU" sz="800" b="0" i="0" u="none" strike="noStrike" kern="1200" cap="none" spc="0" normalizeH="0" baseline="0" noProof="0">
                <a:ln>
                  <a:noFill/>
                </a:ln>
                <a:effectLst/>
                <a:uLnTx/>
                <a:uFillTx/>
                <a:latin typeface="Aptos" panose="02110004020202020204"/>
                <a:ea typeface="+mn-ea"/>
                <a:cs typeface="+mn-cs"/>
              </a:rPr>
              <a:t>, </a:t>
            </a:r>
            <a:r>
              <a:rPr kumimoji="0" lang="en-AU" sz="800" b="0" i="0" u="none" strike="noStrike" kern="1200" cap="none" spc="0" normalizeH="0" baseline="0" noProof="0" err="1">
                <a:ln>
                  <a:noFill/>
                </a:ln>
                <a:effectLst/>
                <a:uLnTx/>
                <a:uFillTx/>
                <a:latin typeface="Aptos" panose="02110004020202020204"/>
                <a:ea typeface="+mn-ea"/>
                <a:cs typeface="+mn-cs"/>
              </a:rPr>
              <a:t>swift_code</a:t>
            </a:r>
            <a:r>
              <a:rPr kumimoji="0" lang="en-AU" sz="800" b="0" i="0" u="none" strike="noStrike" kern="1200" cap="none" spc="0" normalizeH="0" baseline="0" noProof="0">
                <a:ln>
                  <a:noFill/>
                </a:ln>
                <a:effectLst/>
                <a:uLnTx/>
                <a:uFillTx/>
                <a:latin typeface="Aptos"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Enforce consistent structural rules               		Identify high-risk patterns on the fly</a:t>
            </a:r>
            <a:br>
              <a:rPr kumimoji="0" lang="en-AU" sz="800" b="0" i="0" u="none" strike="noStrike" kern="1200" cap="none" spc="0" normalizeH="0" baseline="0" noProof="0">
                <a:ln>
                  <a:noFill/>
                </a:ln>
                <a:effectLst/>
                <a:uLnTx/>
                <a:uFillTx/>
                <a:latin typeface="Aptos" panose="02110004020202020204"/>
                <a:ea typeface="+mn-ea"/>
                <a:cs typeface="+mn-cs"/>
              </a:rPr>
            </a:br>
            <a:endParaRPr kumimoji="0" lang="en-AU" sz="8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effectLst/>
                <a:uLnTx/>
                <a:uFillTx/>
                <a:latin typeface="Aptos" panose="02110004020202020204"/>
                <a:ea typeface="+mn-ea"/>
                <a:cs typeface="+mn-cs"/>
              </a:rPr>
              <a:t>Why Top-Down Wins:</a:t>
            </a:r>
            <a:r>
              <a:rPr kumimoji="0" lang="en-AU" sz="800" b="0" i="0" u="none" strike="noStrike" kern="1200" cap="none" spc="0" normalizeH="0" baseline="0" noProof="0">
                <a:ln>
                  <a:noFill/>
                </a:ln>
                <a:effectLst/>
                <a:uLnTx/>
                <a:uFillTx/>
                <a:latin typeface="Aptos" panose="02110004020202020204"/>
                <a:ea typeface="+mn-ea"/>
                <a:cs typeface="+mn-cs"/>
              </a:rPr>
              <a:t> AML requires strict regulatory consistency. A top-down approach lets model abstract risk behaviour's (like "Structuring" or "Layering") based on legal definitions before mapping them to actual data. This ensures logical rules catch suspicious paths universally, regardless of which local branch processed the transfer.</a:t>
            </a:r>
            <a:br>
              <a:rPr kumimoji="0" lang="en-AU" sz="800" b="0" i="0" u="none" strike="noStrike" kern="1200" cap="none" spc="0" normalizeH="0" baseline="0" noProof="0">
                <a:ln>
                  <a:noFill/>
                </a:ln>
                <a:effectLst/>
                <a:uLnTx/>
                <a:uFillTx/>
                <a:latin typeface="Aptos" panose="02110004020202020204"/>
                <a:ea typeface="+mn-ea"/>
                <a:cs typeface="+mn-cs"/>
              </a:rPr>
            </a:br>
            <a:endParaRPr kumimoji="0" lang="en-AU" sz="8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effectLst/>
                <a:uLnTx/>
                <a:uFillTx/>
                <a:latin typeface="Aptos" panose="02110004020202020204"/>
                <a:ea typeface="+mn-ea"/>
                <a:cs typeface="+mn-cs"/>
              </a:rPr>
              <a:t>The Bottom-Up Risk:</a:t>
            </a:r>
            <a:r>
              <a:rPr kumimoji="0" lang="en-AU" sz="800" b="0" i="0" u="none" strike="noStrike" kern="1200" cap="none" spc="0" normalizeH="0" baseline="0" noProof="0">
                <a:ln>
                  <a:noFill/>
                </a:ln>
                <a:effectLst/>
                <a:uLnTx/>
                <a:uFillTx/>
                <a:latin typeface="Aptos" panose="02110004020202020204"/>
                <a:ea typeface="+mn-ea"/>
                <a:cs typeface="+mn-cs"/>
              </a:rPr>
              <a:t> If </a:t>
            </a:r>
            <a:r>
              <a:rPr lang="en-AU" sz="800">
                <a:latin typeface="Aptos" panose="02110004020202020204"/>
              </a:rPr>
              <a:t>we</a:t>
            </a:r>
            <a:r>
              <a:rPr kumimoji="0" lang="en-AU" sz="800" b="0" i="0" u="none" strike="noStrike" kern="1200" cap="none" spc="0" normalizeH="0" baseline="0" noProof="0">
                <a:ln>
                  <a:noFill/>
                </a:ln>
                <a:effectLst/>
                <a:uLnTx/>
                <a:uFillTx/>
                <a:latin typeface="Aptos" panose="02110004020202020204"/>
                <a:ea typeface="+mn-ea"/>
                <a:cs typeface="+mn-cs"/>
              </a:rPr>
              <a:t> build bottom-up from local branch transaction logs, we will inherit fragmented data definitions. A wire transfer in Europe might use different database fields than a wire transfer in Asia, leaving blind spots where fraud patterns can slip through unnoticed.</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AU" sz="800" b="0" i="0" u="none" strike="noStrike" kern="1200" cap="none" spc="0" normalizeH="0" baseline="0" noProof="0">
                <a:ln>
                  <a:noFill/>
                </a:ln>
                <a:effectLst/>
                <a:uLnTx/>
                <a:uFillTx/>
                <a:latin typeface="Aptos" panose="02110004020202020204"/>
                <a:ea typeface="+mn-ea"/>
                <a:cs typeface="+mn-cs"/>
              </a:rPr>
            </a:br>
            <a:r>
              <a:rPr kumimoji="0" lang="en-AU" sz="800" b="0" i="0" u="none" strike="noStrike" kern="1200" cap="none" spc="0" normalizeH="0" baseline="0" noProof="0">
                <a:ln>
                  <a:noFill/>
                </a:ln>
                <a:effectLst/>
                <a:uLnTx/>
                <a:uFillTx/>
                <a:latin typeface="Aptos" panose="02110004020202020204"/>
                <a:ea typeface="+mn-ea"/>
                <a:cs typeface="+mn-cs"/>
              </a:rPr>
              <a:t>______________________________________________________</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0" u="sng" strike="noStrike" kern="1200" cap="none" spc="0" normalizeH="0" baseline="0" noProof="0">
                <a:ln>
                  <a:noFill/>
                </a:ln>
                <a:effectLst/>
                <a:uLnTx/>
                <a:uFillTx/>
                <a:latin typeface="Aptos" panose="02110004020202020204"/>
                <a:ea typeface="+mn-ea"/>
                <a:cs typeface="+mn-cs"/>
              </a:rPr>
              <a:t>Use Case 2: Centralising a 360-Degree Customer View</a:t>
            </a:r>
            <a:endParaRPr kumimoji="0" lang="en-AU" sz="800" b="0" i="0" u="sng"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AU" sz="800" b="0" i="0" u="none" strike="noStrike" kern="1200" cap="none" spc="0" normalizeH="0" baseline="0" noProof="0">
                <a:ln>
                  <a:noFill/>
                </a:ln>
                <a:effectLst/>
                <a:uLnTx/>
                <a:uFillTx/>
                <a:latin typeface="Aptos" panose="02110004020202020204"/>
                <a:ea typeface="+mn-ea"/>
                <a:cs typeface="+mn-cs"/>
              </a:rPr>
            </a:br>
            <a:r>
              <a:rPr kumimoji="0" lang="en-AU" sz="800" b="0" i="0" u="none" strike="noStrike" kern="1200" cap="none" spc="0" normalizeH="0" baseline="0" noProof="0">
                <a:ln>
                  <a:noFill/>
                </a:ln>
                <a:effectLst/>
                <a:uLnTx/>
                <a:uFillTx/>
                <a:latin typeface="Aptos" panose="02110004020202020204"/>
                <a:ea typeface="+mn-ea"/>
                <a:cs typeface="+mn-cs"/>
              </a:rPr>
              <a:t>This use case focuses on data integration: breaking down corporate silos to unify retail accounts, credit cards, mortgages, and CRM data into a single profile.</a:t>
            </a:r>
            <a:br>
              <a:rPr kumimoji="0" lang="en-AU" sz="800" b="0" i="0" u="none" strike="noStrike" kern="1200" cap="none" spc="0" normalizeH="0" baseline="0" noProof="0">
                <a:ln>
                  <a:noFill/>
                </a:ln>
                <a:effectLst/>
                <a:uLnTx/>
                <a:uFillTx/>
                <a:latin typeface="Aptos" panose="02110004020202020204"/>
                <a:ea typeface="+mn-ea"/>
                <a:cs typeface="+mn-cs"/>
              </a:rPr>
            </a:br>
            <a:endParaRPr kumimoji="0" lang="en-AU" sz="8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TOP-DOWN APPROACH                                 		BOTTOM-UP APPROACH (Recommended)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Universal "Legal Entity" Rules                     		Existing Siloed Production DBs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Rigid master schema constraints                      	Map &amp; match existing system keys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(Can stall project for months)                    		(e.g., </a:t>
            </a:r>
            <a:r>
              <a:rPr kumimoji="0" lang="en-AU" sz="800" b="0" i="0" u="none" strike="noStrike" kern="1200" cap="none" spc="0" normalizeH="0" baseline="0" noProof="0" err="1">
                <a:ln>
                  <a:noFill/>
                </a:ln>
                <a:effectLst/>
                <a:uLnTx/>
                <a:uFillTx/>
                <a:latin typeface="Aptos" panose="02110004020202020204"/>
                <a:ea typeface="+mn-ea"/>
                <a:cs typeface="+mn-cs"/>
              </a:rPr>
              <a:t>CreditCard_DB</a:t>
            </a:r>
            <a:r>
              <a:rPr kumimoji="0" lang="en-AU" sz="800" b="0" i="0" u="none" strike="noStrike" kern="1200" cap="none" spc="0" normalizeH="0" baseline="0" noProof="0">
                <a:ln>
                  <a:noFill/>
                </a:ln>
                <a:effectLst/>
                <a:uLnTx/>
                <a:uFillTx/>
                <a:latin typeface="Aptos" panose="02110004020202020204"/>
                <a:ea typeface="+mn-ea"/>
                <a:cs typeface="+mn-cs"/>
              </a:rPr>
              <a:t> ID == </a:t>
            </a:r>
            <a:r>
              <a:rPr kumimoji="0" lang="en-AU" sz="800" b="0" i="0" u="none" strike="noStrike" kern="1200" cap="none" spc="0" normalizeH="0" baseline="0" noProof="0" err="1">
                <a:ln>
                  <a:noFill/>
                </a:ln>
                <a:effectLst/>
                <a:uLnTx/>
                <a:uFillTx/>
                <a:latin typeface="Aptos" panose="02110004020202020204"/>
                <a:ea typeface="+mn-ea"/>
                <a:cs typeface="+mn-cs"/>
              </a:rPr>
              <a:t>Checking_DB</a:t>
            </a:r>
            <a:r>
              <a:rPr kumimoji="0" lang="en-AU" sz="800" b="0" i="0" u="none" strike="noStrike" kern="1200" cap="none" spc="0" normalizeH="0" baseline="0" noProof="0">
                <a:ln>
                  <a:noFill/>
                </a:ln>
                <a:effectLst/>
                <a:uLnTx/>
                <a:uFillTx/>
                <a:latin typeface="Aptos" panose="02110004020202020204"/>
                <a:ea typeface="+mn-ea"/>
                <a:cs typeface="+mn-cs"/>
              </a:rPr>
              <a:t> ID)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Theoretical customer profile                            		Unified, operational Customer View</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AU" sz="800" b="1" i="0" u="none" strike="noStrike" kern="1200" cap="none" spc="0" normalizeH="0" baseline="0" noProof="0">
                <a:ln>
                  <a:noFill/>
                </a:ln>
                <a:effectLst/>
                <a:uLnTx/>
                <a:uFillTx/>
                <a:latin typeface="Aptos" panose="02110004020202020204"/>
                <a:ea typeface="+mn-ea"/>
                <a:cs typeface="+mn-cs"/>
              </a:rPr>
            </a:br>
            <a:r>
              <a:rPr kumimoji="0" lang="en-AU" sz="800" b="1" i="0" u="none" strike="noStrike" kern="1200" cap="none" spc="0" normalizeH="0" baseline="0" noProof="0">
                <a:ln>
                  <a:noFill/>
                </a:ln>
                <a:effectLst/>
                <a:uLnTx/>
                <a:uFillTx/>
                <a:latin typeface="Aptos" panose="02110004020202020204"/>
                <a:ea typeface="+mn-ea"/>
                <a:cs typeface="+mn-cs"/>
              </a:rPr>
              <a:t>Why Bottom-Up Wins:</a:t>
            </a:r>
            <a:r>
              <a:rPr kumimoji="0" lang="en-AU" sz="800" b="0" i="0" u="none" strike="noStrike" kern="1200" cap="none" spc="0" normalizeH="0" baseline="0" noProof="0">
                <a:ln>
                  <a:noFill/>
                </a:ln>
                <a:effectLst/>
                <a:uLnTx/>
                <a:uFillTx/>
                <a:latin typeface="Aptos" panose="02110004020202020204"/>
                <a:ea typeface="+mn-ea"/>
                <a:cs typeface="+mn-cs"/>
              </a:rPr>
              <a:t> Bank already possesses the customer data across dozens of active databases. A bottom-up approach allows to harvest these existing schemas, instantly resolve identity matches (e.g., confirming </a:t>
            </a:r>
            <a:r>
              <a:rPr kumimoji="0" lang="en-AU" sz="800" b="0" i="0" u="none" strike="noStrike" kern="1200" cap="none" spc="0" normalizeH="0" baseline="0" noProof="0" err="1">
                <a:ln>
                  <a:noFill/>
                </a:ln>
                <a:effectLst/>
                <a:uLnTx/>
                <a:uFillTx/>
                <a:latin typeface="Aptos" panose="02110004020202020204"/>
                <a:ea typeface="+mn-ea"/>
                <a:cs typeface="+mn-cs"/>
              </a:rPr>
              <a:t>Checking_Acct.Holder</a:t>
            </a:r>
            <a:r>
              <a:rPr kumimoji="0" lang="en-AU" sz="800" b="0" i="0" u="none" strike="noStrike" kern="1200" cap="none" spc="0" normalizeH="0" baseline="0" noProof="0">
                <a:ln>
                  <a:noFill/>
                </a:ln>
                <a:effectLst/>
                <a:uLnTx/>
                <a:uFillTx/>
                <a:latin typeface="Aptos" panose="02110004020202020204"/>
                <a:ea typeface="+mn-ea"/>
                <a:cs typeface="+mn-cs"/>
              </a:rPr>
              <a:t> is the same person as </a:t>
            </a:r>
            <a:r>
              <a:rPr kumimoji="0" lang="en-AU" sz="800" b="0" i="0" u="none" strike="noStrike" kern="1200" cap="none" spc="0" normalizeH="0" baseline="0" noProof="0" err="1">
                <a:ln>
                  <a:noFill/>
                </a:ln>
                <a:effectLst/>
                <a:uLnTx/>
                <a:uFillTx/>
                <a:latin typeface="Aptos" panose="02110004020202020204"/>
                <a:ea typeface="+mn-ea"/>
                <a:cs typeface="+mn-cs"/>
              </a:rPr>
              <a:t>Credit_Card.User</a:t>
            </a:r>
            <a:r>
              <a:rPr kumimoji="0" lang="en-AU" sz="800" b="0" i="0" u="none" strike="noStrike" kern="1200" cap="none" spc="0" normalizeH="0" baseline="0" noProof="0">
                <a:ln>
                  <a:noFill/>
                </a:ln>
                <a:effectLst/>
                <a:uLnTx/>
                <a:uFillTx/>
                <a:latin typeface="Aptos" panose="02110004020202020204"/>
                <a:ea typeface="+mn-ea"/>
                <a:cs typeface="+mn-cs"/>
              </a:rPr>
              <a:t>), and generate immediate business value.</a:t>
            </a:r>
            <a:br>
              <a:rPr kumimoji="0" lang="en-AU" sz="800" b="0" i="0" u="none" strike="noStrike" kern="1200" cap="none" spc="0" normalizeH="0" baseline="0" noProof="0">
                <a:ln>
                  <a:noFill/>
                </a:ln>
                <a:effectLst/>
                <a:uLnTx/>
                <a:uFillTx/>
                <a:latin typeface="Aptos" panose="02110004020202020204"/>
                <a:ea typeface="+mn-ea"/>
                <a:cs typeface="+mn-cs"/>
              </a:rPr>
            </a:br>
            <a:endParaRPr kumimoji="0" lang="en-AU" sz="8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effectLst/>
                <a:uLnTx/>
                <a:uFillTx/>
                <a:latin typeface="Aptos" panose="02110004020202020204"/>
                <a:ea typeface="+mn-ea"/>
                <a:cs typeface="+mn-cs"/>
              </a:rPr>
              <a:t>The Top-Down Risk:</a:t>
            </a:r>
            <a:r>
              <a:rPr kumimoji="0" lang="en-AU" sz="800" b="0" i="0" u="none" strike="noStrike" kern="1200" cap="none" spc="0" normalizeH="0" baseline="0" noProof="0">
                <a:ln>
                  <a:noFill/>
                </a:ln>
                <a:effectLst/>
                <a:uLnTx/>
                <a:uFillTx/>
                <a:latin typeface="Aptos" panose="02110004020202020204"/>
                <a:ea typeface="+mn-ea"/>
                <a:cs typeface="+mn-cs"/>
              </a:rPr>
              <a:t> Starting top-down forces into endless corporate alignment meetings trying to define the perfect, universal concept of a "Customer" or "Account" across retail, commercial, and wealth management divisions, frequently stalling the project before any code is written.</a:t>
            </a:r>
            <a:endParaRPr kumimoji="0" lang="en-AU" sz="800" b="0" i="0" u="sng" strike="noStrike" kern="1200" cap="none" spc="0" normalizeH="0" baseline="0" noProof="0">
              <a:ln>
                <a:noFill/>
              </a:ln>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5" name="TextBox 4">
            <a:extLst>
              <a:ext uri="{FF2B5EF4-FFF2-40B4-BE49-F238E27FC236}">
                <a16:creationId xmlns:a16="http://schemas.microsoft.com/office/drawing/2014/main" id="{F8C67B91-4042-57E0-347B-2544B8D43D8A}"/>
              </a:ext>
            </a:extLst>
          </p:cNvPr>
          <p:cNvSpPr txBox="1"/>
          <p:nvPr/>
        </p:nvSpPr>
        <p:spPr>
          <a:xfrm>
            <a:off x="6807200" y="2057401"/>
            <a:ext cx="5274735" cy="3539430"/>
          </a:xfrm>
          <a:prstGeom prst="rect">
            <a:avLst/>
          </a:prstGeom>
          <a:noFill/>
          <a:ln>
            <a:solidFill>
              <a:schemeClr val="tx1"/>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0" u="sng" strike="noStrike" kern="1200" cap="none" spc="0" normalizeH="0" baseline="0" noProof="0">
                <a:ln>
                  <a:noFill/>
                </a:ln>
                <a:effectLst/>
                <a:uLnTx/>
                <a:uFillTx/>
                <a:latin typeface="Aptos" panose="02110004020202020204"/>
                <a:ea typeface="+mn-ea"/>
                <a:cs typeface="+mn-cs"/>
              </a:rPr>
              <a:t>___________________________________________________________</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0" u="sng" strike="noStrike" kern="1200" cap="none" spc="0" normalizeH="0" baseline="0" noProof="0">
                <a:ln>
                  <a:noFill/>
                </a:ln>
                <a:effectLst/>
                <a:uLnTx/>
                <a:uFillTx/>
                <a:latin typeface="Aptos" panose="02110004020202020204"/>
                <a:ea typeface="+mn-ea"/>
                <a:cs typeface="+mn-cs"/>
              </a:rPr>
              <a:t>Use Case 3: Powering an LLM Financial Advisor (</a:t>
            </a:r>
            <a:r>
              <a:rPr kumimoji="0" lang="en-AU" sz="800" b="1" i="0" u="sng" strike="noStrike" kern="1200" cap="none" spc="0" normalizeH="0" baseline="0" noProof="0" err="1">
                <a:ln>
                  <a:noFill/>
                </a:ln>
                <a:effectLst/>
                <a:uLnTx/>
                <a:uFillTx/>
                <a:latin typeface="Aptos" panose="02110004020202020204"/>
                <a:ea typeface="+mn-ea"/>
                <a:cs typeface="+mn-cs"/>
              </a:rPr>
              <a:t>GraphRAG</a:t>
            </a:r>
            <a:r>
              <a:rPr kumimoji="0" lang="en-AU" sz="800" b="1" i="0" u="sng" strike="noStrike" kern="1200" cap="none" spc="0" normalizeH="0" baseline="0" noProof="0">
                <a:ln>
                  <a:noFill/>
                </a:ln>
                <a:effectLst/>
                <a:uLnTx/>
                <a:uFillTx/>
                <a:latin typeface="Aptos" panose="02110004020202020204"/>
                <a:ea typeface="+mn-ea"/>
                <a:cs typeface="+mn-cs"/>
              </a:rPr>
              <a:t>)</a:t>
            </a:r>
            <a:endParaRPr kumimoji="0" lang="en-AU" sz="800" b="0" i="0" u="sng"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AU" sz="800" b="0" i="0" u="none" strike="noStrike" kern="1200" cap="none" spc="0" normalizeH="0" baseline="0" noProof="0">
                <a:ln>
                  <a:noFill/>
                </a:ln>
                <a:effectLst/>
                <a:uLnTx/>
                <a:uFillTx/>
                <a:latin typeface="Aptos" panose="02110004020202020204"/>
                <a:ea typeface="+mn-ea"/>
                <a:cs typeface="+mn-cs"/>
              </a:rPr>
            </a:br>
            <a:r>
              <a:rPr kumimoji="0" lang="en-AU" sz="800" b="0" i="0" u="none" strike="noStrike" kern="1200" cap="none" spc="0" normalizeH="0" baseline="0" noProof="0">
                <a:ln>
                  <a:noFill/>
                </a:ln>
                <a:effectLst/>
                <a:uLnTx/>
                <a:uFillTx/>
                <a:latin typeface="Aptos" panose="02110004020202020204"/>
                <a:ea typeface="+mn-ea"/>
                <a:cs typeface="+mn-cs"/>
              </a:rPr>
              <a:t>This architecture connects ontology to an AI pipeline so a Large Language Model can accurately reason over complex financial advice, product terms, and customer financial goals.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a:t>
            </a:r>
            <a:br>
              <a:rPr kumimoji="0" lang="en-AU" sz="800" b="0" i="0" u="none" strike="noStrike" kern="1200" cap="none" spc="0" normalizeH="0" baseline="0" noProof="0">
                <a:ln>
                  <a:noFill/>
                </a:ln>
                <a:effectLst/>
                <a:uLnTx/>
                <a:uFillTx/>
                <a:latin typeface="Aptos" panose="02110004020202020204"/>
                <a:ea typeface="+mn-ea"/>
                <a:cs typeface="+mn-cs"/>
              </a:rPr>
            </a:br>
            <a:r>
              <a:rPr kumimoji="0" lang="en-AU" sz="800" b="0" i="0" u="none" strike="noStrike" kern="1200" cap="none" spc="0" normalizeH="0" baseline="0" noProof="0">
                <a:ln>
                  <a:noFill/>
                </a:ln>
                <a:effectLst/>
                <a:uLnTx/>
                <a:uFillTx/>
                <a:latin typeface="Aptos" panose="02110004020202020204"/>
                <a:ea typeface="+mn-ea"/>
                <a:cs typeface="+mn-cs"/>
              </a:rPr>
              <a:t>         MIDDLE-OUT APPROACH (The Ideal Hybrid)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High-Level Frameworks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(e.g., Regulations)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   Core Conversational Nouns (The Middle)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  (e.g., Investment Product, Financial Goal)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Siloed Product Data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                    (e.g., PDF Terms,  Interest Rates)</a:t>
            </a:r>
            <a:br>
              <a:rPr kumimoji="0" lang="en-AU" sz="800" b="0" i="0" u="none" strike="noStrike" kern="1200" cap="none" spc="0" normalizeH="0" baseline="0" noProof="0">
                <a:ln>
                  <a:noFill/>
                </a:ln>
                <a:effectLst/>
                <a:uLnTx/>
                <a:uFillTx/>
                <a:latin typeface="Aptos" panose="02110004020202020204"/>
                <a:ea typeface="+mn-ea"/>
                <a:cs typeface="+mn-cs"/>
              </a:rPr>
            </a:br>
            <a:endParaRPr kumimoji="0" lang="en-AU" sz="8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effectLst/>
                <a:uLnTx/>
                <a:uFillTx/>
                <a:latin typeface="Aptos" panose="02110004020202020204"/>
                <a:ea typeface="+mn-ea"/>
                <a:cs typeface="+mn-cs"/>
              </a:rPr>
              <a:t>Why Middle-Out Wins:</a:t>
            </a:r>
            <a:r>
              <a:rPr kumimoji="0" lang="en-AU" sz="800" b="0" i="0" u="none" strike="noStrike" kern="1200" cap="none" spc="0" normalizeH="0" baseline="0" noProof="0">
                <a:ln>
                  <a:noFill/>
                </a:ln>
                <a:effectLst/>
                <a:uLnTx/>
                <a:uFillTx/>
                <a:latin typeface="Aptos" panose="02110004020202020204"/>
                <a:ea typeface="+mn-ea"/>
                <a:cs typeface="+mn-cs"/>
              </a:rPr>
              <a:t> An LLM interacts using natural, human concepts. Start in the </a:t>
            </a:r>
            <a:r>
              <a:rPr kumimoji="0" lang="en-AU" sz="800" b="1" i="0" u="none" strike="noStrike" kern="1200" cap="none" spc="0" normalizeH="0" baseline="0" noProof="0">
                <a:ln>
                  <a:noFill/>
                </a:ln>
                <a:effectLst/>
                <a:uLnTx/>
                <a:uFillTx/>
                <a:latin typeface="Aptos" panose="02110004020202020204"/>
                <a:ea typeface="+mn-ea"/>
                <a:cs typeface="+mn-cs"/>
              </a:rPr>
              <a:t>middle</a:t>
            </a:r>
            <a:r>
              <a:rPr kumimoji="0" lang="en-AU" sz="800" b="0" i="0" u="none" strike="noStrike" kern="1200" cap="none" spc="0" normalizeH="0" baseline="0" noProof="0">
                <a:ln>
                  <a:noFill/>
                </a:ln>
                <a:effectLst/>
                <a:uLnTx/>
                <a:uFillTx/>
                <a:latin typeface="Aptos" panose="02110004020202020204"/>
                <a:ea typeface="+mn-ea"/>
                <a:cs typeface="+mn-cs"/>
              </a:rPr>
              <a:t> by </a:t>
            </a:r>
            <a:r>
              <a:rPr kumimoji="0" lang="en-AU" sz="800" b="0" i="0" u="none" strike="noStrike" kern="1200" cap="none" spc="0" normalizeH="0" baseline="0" noProof="0" err="1">
                <a:ln>
                  <a:noFill/>
                </a:ln>
                <a:effectLst/>
                <a:uLnTx/>
                <a:uFillTx/>
                <a:latin typeface="Aptos" panose="02110004020202020204"/>
                <a:ea typeface="+mn-ea"/>
                <a:cs typeface="+mn-cs"/>
              </a:rPr>
              <a:t>modeling</a:t>
            </a:r>
            <a:r>
              <a:rPr kumimoji="0" lang="en-AU" sz="800" b="0" i="0" u="none" strike="noStrike" kern="1200" cap="none" spc="0" normalizeH="0" baseline="0" noProof="0">
                <a:ln>
                  <a:noFill/>
                </a:ln>
                <a:effectLst/>
                <a:uLnTx/>
                <a:uFillTx/>
                <a:latin typeface="Aptos" panose="02110004020202020204"/>
                <a:ea typeface="+mn-ea"/>
                <a:cs typeface="+mn-cs"/>
              </a:rPr>
              <a:t> the exact conversational nouns clients use (e.g., </a:t>
            </a:r>
            <a:r>
              <a:rPr kumimoji="0" lang="en-AU" sz="800" b="0" i="0" u="none" strike="noStrike" kern="1200" cap="none" spc="0" normalizeH="0" baseline="0" noProof="0" err="1">
                <a:ln>
                  <a:noFill/>
                </a:ln>
                <a:effectLst/>
                <a:uLnTx/>
                <a:uFillTx/>
                <a:latin typeface="Aptos" panose="02110004020202020204"/>
                <a:ea typeface="+mn-ea"/>
                <a:cs typeface="+mn-cs"/>
              </a:rPr>
              <a:t>FinancialGoal</a:t>
            </a:r>
            <a:r>
              <a:rPr kumimoji="0" lang="en-AU" sz="800" b="0" i="0" u="none" strike="noStrike" kern="1200" cap="none" spc="0" normalizeH="0" baseline="0" noProof="0">
                <a:ln>
                  <a:noFill/>
                </a:ln>
                <a:effectLst/>
                <a:uLnTx/>
                <a:uFillTx/>
                <a:latin typeface="Aptos" panose="02110004020202020204"/>
                <a:ea typeface="+mn-ea"/>
                <a:cs typeface="+mn-cs"/>
              </a:rPr>
              <a:t>, </a:t>
            </a:r>
            <a:r>
              <a:rPr kumimoji="0" lang="en-AU" sz="800" b="0" i="0" u="none" strike="noStrike" kern="1200" cap="none" spc="0" normalizeH="0" baseline="0" noProof="0" err="1">
                <a:ln>
                  <a:noFill/>
                </a:ln>
                <a:effectLst/>
                <a:uLnTx/>
                <a:uFillTx/>
                <a:latin typeface="Aptos" panose="02110004020202020204"/>
                <a:ea typeface="+mn-ea"/>
                <a:cs typeface="+mn-cs"/>
              </a:rPr>
              <a:t>InvestmentProduct</a:t>
            </a:r>
            <a:r>
              <a:rPr kumimoji="0" lang="en-AU" sz="800" b="0" i="0" u="none" strike="noStrike" kern="1200" cap="none" spc="0" normalizeH="0" baseline="0" noProof="0">
                <a:ln>
                  <a:noFill/>
                </a:ln>
                <a:effectLst/>
                <a:uLnTx/>
                <a:uFillTx/>
                <a:latin typeface="Aptos" panose="02110004020202020204"/>
                <a:ea typeface="+mn-ea"/>
                <a:cs typeface="+mn-cs"/>
              </a:rPr>
              <a:t>, </a:t>
            </a:r>
            <a:r>
              <a:rPr kumimoji="0" lang="en-AU" sz="800" b="0" i="0" u="none" strike="noStrike" kern="1200" cap="none" spc="0" normalizeH="0" baseline="0" noProof="0" err="1">
                <a:ln>
                  <a:noFill/>
                </a:ln>
                <a:effectLst/>
                <a:uLnTx/>
                <a:uFillTx/>
                <a:latin typeface="Aptos" panose="02110004020202020204"/>
                <a:ea typeface="+mn-ea"/>
                <a:cs typeface="+mn-cs"/>
              </a:rPr>
              <a:t>InterestRate</a:t>
            </a:r>
            <a:r>
              <a:rPr kumimoji="0" lang="en-AU" sz="800" b="0" i="0" u="none" strike="noStrike" kern="1200" cap="none" spc="0" normalizeH="0" baseline="0" noProof="0">
                <a:ln>
                  <a:noFill/>
                </a:ln>
                <a:effectLst/>
                <a:uLnTx/>
                <a:uFillTx/>
                <a:latin typeface="Aptos" panose="02110004020202020204"/>
                <a:ea typeface="+mn-ea"/>
                <a:cs typeface="+mn-cs"/>
              </a:rPr>
              <a:t>).</a:t>
            </a:r>
            <a:br>
              <a:rPr kumimoji="0" lang="en-AU" sz="800" b="0" i="0" u="none" strike="noStrike" kern="1200" cap="none" spc="0" normalizeH="0" baseline="0" noProof="0">
                <a:ln>
                  <a:noFill/>
                </a:ln>
                <a:effectLst/>
                <a:uLnTx/>
                <a:uFillTx/>
                <a:latin typeface="Aptos" panose="02110004020202020204"/>
                <a:ea typeface="+mn-ea"/>
                <a:cs typeface="+mn-cs"/>
              </a:rPr>
            </a:br>
            <a:br>
              <a:rPr kumimoji="0" lang="en-AU" sz="800" b="0" i="0" u="none" strike="noStrike" kern="1200" cap="none" spc="0" normalizeH="0" baseline="0" noProof="0">
                <a:ln>
                  <a:noFill/>
                </a:ln>
                <a:effectLst/>
                <a:uLnTx/>
                <a:uFillTx/>
                <a:latin typeface="Aptos" panose="02110004020202020204"/>
                <a:ea typeface="+mn-ea"/>
                <a:cs typeface="+mn-cs"/>
              </a:rPr>
            </a:br>
            <a:r>
              <a:rPr kumimoji="0" lang="en-AU" sz="800" b="1" i="0" u="none" strike="noStrike" kern="1200" cap="none" spc="0" normalizeH="0" baseline="0" noProof="0">
                <a:ln>
                  <a:noFill/>
                </a:ln>
                <a:effectLst/>
                <a:uLnTx/>
                <a:uFillTx/>
                <a:latin typeface="Aptos" panose="02110004020202020204"/>
                <a:ea typeface="+mn-ea"/>
                <a:cs typeface="+mn-cs"/>
              </a:rPr>
              <a:t>Extending the Hierarchy:</a:t>
            </a:r>
            <a:r>
              <a:rPr kumimoji="0" lang="en-AU" sz="800" b="0" i="0" u="none" strike="noStrike" kern="1200" cap="none" spc="0" normalizeH="0" baseline="0" noProof="0">
                <a:ln>
                  <a:noFill/>
                </a:ln>
                <a:effectLst/>
                <a:uLnTx/>
                <a:uFillTx/>
                <a:latin typeface="Aptos" panose="02110004020202020204"/>
                <a:ea typeface="+mn-ea"/>
                <a:cs typeface="+mn-cs"/>
              </a:rPr>
              <a:t> </a:t>
            </a:r>
            <a:r>
              <a:rPr kumimoji="0" lang="en-AU" sz="800" b="1" i="0" u="none" strike="noStrike" kern="1200" cap="none" spc="0" normalizeH="0" baseline="0" noProof="0">
                <a:ln>
                  <a:noFill/>
                </a:ln>
                <a:effectLst/>
                <a:uLnTx/>
                <a:uFillTx/>
                <a:latin typeface="Aptos" panose="02110004020202020204"/>
                <a:ea typeface="+mn-ea"/>
                <a:cs typeface="+mn-cs"/>
              </a:rPr>
              <a:t>Look Down (Bottom-Up)</a:t>
            </a:r>
            <a:r>
              <a:rPr kumimoji="0" lang="en-AU" sz="800" b="0" i="0" u="none" strike="noStrike" kern="1200" cap="none" spc="0" normalizeH="0" baseline="0" noProof="0">
                <a:ln>
                  <a:noFill/>
                </a:ln>
                <a:effectLst/>
                <a:uLnTx/>
                <a:uFillTx/>
                <a:latin typeface="Aptos" panose="02110004020202020204"/>
                <a:ea typeface="+mn-ea"/>
                <a:cs typeface="+mn-cs"/>
              </a:rPr>
              <a:t> to ingest the concrete data the LLM needs to reference, such as product disclosure PDF texts, current interest rate tables, and fee schedules.</a:t>
            </a:r>
            <a:br>
              <a:rPr kumimoji="0" lang="en-AU" sz="800" b="0" i="0" u="none" strike="noStrike" kern="1200" cap="none" spc="0" normalizeH="0" baseline="0" noProof="0">
                <a:ln>
                  <a:noFill/>
                </a:ln>
                <a:effectLst/>
                <a:uLnTx/>
                <a:uFillTx/>
                <a:latin typeface="Aptos" panose="02110004020202020204"/>
                <a:ea typeface="+mn-ea"/>
                <a:cs typeface="+mn-cs"/>
              </a:rPr>
            </a:br>
            <a:br>
              <a:rPr kumimoji="0" lang="en-AU" sz="800" b="0" i="0" u="none" strike="noStrike" kern="1200" cap="none" spc="0" normalizeH="0" baseline="0" noProof="0">
                <a:ln>
                  <a:noFill/>
                </a:ln>
                <a:effectLst/>
                <a:uLnTx/>
                <a:uFillTx/>
                <a:latin typeface="Aptos" panose="02110004020202020204"/>
                <a:ea typeface="+mn-ea"/>
                <a:cs typeface="+mn-cs"/>
              </a:rPr>
            </a:br>
            <a:r>
              <a:rPr kumimoji="0" lang="en-AU" sz="800" b="1" i="0" u="none" strike="noStrike" kern="1200" cap="none" spc="0" normalizeH="0" baseline="0" noProof="0">
                <a:ln>
                  <a:noFill/>
                </a:ln>
                <a:effectLst/>
                <a:uLnTx/>
                <a:uFillTx/>
                <a:latin typeface="Aptos" panose="02110004020202020204"/>
                <a:ea typeface="+mn-ea"/>
                <a:cs typeface="+mn-cs"/>
              </a:rPr>
              <a:t>Look Up (Top-Down)</a:t>
            </a:r>
            <a:r>
              <a:rPr kumimoji="0" lang="en-AU" sz="800" b="0" i="0" u="none" strike="noStrike" kern="1200" cap="none" spc="0" normalizeH="0" baseline="0" noProof="0">
                <a:ln>
                  <a:noFill/>
                </a:ln>
                <a:effectLst/>
                <a:uLnTx/>
                <a:uFillTx/>
                <a:latin typeface="Aptos" panose="02110004020202020204"/>
                <a:ea typeface="+mn-ea"/>
                <a:cs typeface="+mn-cs"/>
              </a:rPr>
              <a:t> to attach regulatory guardrails (e.g., ensuring an investment product node is logically linked to a strict </a:t>
            </a:r>
            <a:r>
              <a:rPr kumimoji="0" lang="en-AU" sz="800" b="0" i="0" u="none" strike="noStrike" kern="1200" cap="none" spc="0" normalizeH="0" baseline="0" noProof="0" err="1">
                <a:ln>
                  <a:noFill/>
                </a:ln>
                <a:effectLst/>
                <a:uLnTx/>
                <a:uFillTx/>
                <a:latin typeface="Aptos" panose="02110004020202020204"/>
                <a:ea typeface="+mn-ea"/>
                <a:cs typeface="+mn-cs"/>
              </a:rPr>
              <a:t>RiskSuitabilityTier</a:t>
            </a:r>
            <a:r>
              <a:rPr kumimoji="0" lang="en-AU" sz="800" b="0" i="0" u="none" strike="noStrike" kern="1200" cap="none" spc="0" normalizeH="0" baseline="0" noProof="0">
                <a:ln>
                  <a:noFill/>
                </a:ln>
                <a:effectLst/>
                <a:uLnTx/>
                <a:uFillTx/>
                <a:latin typeface="Aptos" panose="02110004020202020204"/>
                <a:ea typeface="+mn-ea"/>
                <a:cs typeface="+mn-cs"/>
              </a:rPr>
              <a:t> compliance concept) to prevent the LLM from hallucinating unsafe financial advice.</a:t>
            </a:r>
          </a:p>
        </p:txBody>
      </p:sp>
      <p:sp>
        <p:nvSpPr>
          <p:cNvPr id="9" name="TextBox 8">
            <a:extLst>
              <a:ext uri="{FF2B5EF4-FFF2-40B4-BE49-F238E27FC236}">
                <a16:creationId xmlns:a16="http://schemas.microsoft.com/office/drawing/2014/main" id="{21EB368B-26B4-34E1-3A29-076040B6BB68}"/>
              </a:ext>
            </a:extLst>
          </p:cNvPr>
          <p:cNvSpPr txBox="1"/>
          <p:nvPr/>
        </p:nvSpPr>
        <p:spPr>
          <a:xfrm>
            <a:off x="126997" y="725349"/>
            <a:ext cx="10972800" cy="276999"/>
          </a:xfrm>
          <a:prstGeom prst="rect">
            <a:avLst/>
          </a:prstGeom>
          <a:noFill/>
        </p:spPr>
        <p:txBody>
          <a:bodyPr wrap="square">
            <a:spAutoFit/>
          </a:bodyPr>
          <a:lstStyle/>
          <a:p>
            <a:pPr lvl="0">
              <a:defRPr/>
            </a:pPr>
            <a:r>
              <a:rPr lang="en-AU" sz="1200" u="sng"/>
              <a:t>TOP-DOWN Vs BOTTOM-UP methodologies</a:t>
            </a:r>
          </a:p>
        </p:txBody>
      </p:sp>
    </p:spTree>
    <p:extLst>
      <p:ext uri="{BB962C8B-B14F-4D97-AF65-F5344CB8AC3E}">
        <p14:creationId xmlns:p14="http://schemas.microsoft.com/office/powerpoint/2010/main" val="2853644152"/>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50923FE2-4862-EE02-6118-2DB1EE7F43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3E0399-34D8-998D-E30D-4ADD570AAA3D}"/>
              </a:ext>
            </a:extLst>
          </p:cNvPr>
          <p:cNvSpPr txBox="1"/>
          <p:nvPr/>
        </p:nvSpPr>
        <p:spPr>
          <a:xfrm>
            <a:off x="177799" y="89115"/>
            <a:ext cx="10972800" cy="553998"/>
          </a:xfrm>
          <a:prstGeom prst="rect">
            <a:avLst/>
          </a:prstGeom>
          <a:noFill/>
        </p:spPr>
        <p:txBody>
          <a:bodyPr wrap="square">
            <a:spAutoFit/>
          </a:bodyPr>
          <a:lstStyle/>
          <a:p>
            <a:pPr lvl="0">
              <a:defRPr/>
            </a:pPr>
            <a:r>
              <a:rPr lang="en-AU" sz="3000" b="1">
                <a:latin typeface="Calibri"/>
              </a:rPr>
              <a:t>ONTOLOGY</a:t>
            </a:r>
            <a:r>
              <a:rPr kumimoji="0" lang="en-AU" sz="3000" b="1" i="0" u="none" strike="noStrike" kern="1200" cap="none" spc="0" normalizeH="0" baseline="0" noProof="0">
                <a:ln>
                  <a:noFill/>
                </a:ln>
                <a:effectLst/>
                <a:uLnTx/>
                <a:uFillTx/>
                <a:latin typeface="Calibri"/>
                <a:ea typeface="+mn-ea"/>
                <a:cs typeface="+mn-cs"/>
              </a:rPr>
              <a:t> - LLM</a:t>
            </a:r>
            <a:endParaRPr kumimoji="0" sz="3000" b="1" i="0" u="none" strike="noStrike" kern="1200" cap="none" spc="0" normalizeH="0" baseline="0" noProof="0">
              <a:ln>
                <a:noFill/>
              </a:ln>
              <a:effectLst/>
              <a:uLnTx/>
              <a:uFillTx/>
              <a:latin typeface="Calibri"/>
              <a:ea typeface="+mn-ea"/>
              <a:cs typeface="+mn-cs"/>
            </a:endParaRPr>
          </a:p>
        </p:txBody>
      </p:sp>
      <p:sp>
        <p:nvSpPr>
          <p:cNvPr id="8" name="TextBox 7">
            <a:extLst>
              <a:ext uri="{FF2B5EF4-FFF2-40B4-BE49-F238E27FC236}">
                <a16:creationId xmlns:a16="http://schemas.microsoft.com/office/drawing/2014/main" id="{E2AB4615-A89E-DE4D-2588-48BFFD593295}"/>
              </a:ext>
            </a:extLst>
          </p:cNvPr>
          <p:cNvSpPr txBox="1"/>
          <p:nvPr/>
        </p:nvSpPr>
        <p:spPr>
          <a:xfrm>
            <a:off x="177798" y="698998"/>
            <a:ext cx="11760201" cy="6093976"/>
          </a:xfrm>
          <a:prstGeom prst="rect">
            <a:avLst/>
          </a:prstGeom>
          <a:noFill/>
          <a:ln>
            <a:solidFill>
              <a:schemeClr val="tx1"/>
            </a:solidFill>
          </a:ln>
        </p:spPr>
        <p:txBody>
          <a:bodyPr wrap="square">
            <a:spAutoFit/>
          </a:bodyPr>
          <a:lstStyle/>
          <a:p>
            <a:r>
              <a:rPr lang="en-AU" sz="1000">
                <a:latin typeface="Aptos Display (Headings)"/>
              </a:rPr>
              <a:t>To connect an ontology to an AI or Large Language Model (LLM) retrieval pipeline for reasoning, </a:t>
            </a:r>
            <a:r>
              <a:rPr lang="en-AU" sz="1000" err="1">
                <a:latin typeface="Aptos Display (Headings)"/>
              </a:rPr>
              <a:t>uild</a:t>
            </a:r>
            <a:r>
              <a:rPr lang="en-AU" sz="1000">
                <a:latin typeface="Aptos Display (Headings)"/>
              </a:rPr>
              <a:t> a </a:t>
            </a:r>
            <a:r>
              <a:rPr lang="en-AU" sz="1000" b="1">
                <a:latin typeface="Aptos Display (Headings)"/>
              </a:rPr>
              <a:t>Knowledge Graph-Enhanced RAG (</a:t>
            </a:r>
            <a:r>
              <a:rPr lang="en-AU" sz="1000" b="1" err="1">
                <a:latin typeface="Aptos Display (Headings)"/>
              </a:rPr>
              <a:t>GraphRAG</a:t>
            </a:r>
            <a:r>
              <a:rPr lang="en-AU" sz="1000" b="1">
                <a:latin typeface="Aptos Display (Headings)"/>
              </a:rPr>
              <a:t>)</a:t>
            </a:r>
            <a:r>
              <a:rPr lang="en-AU" sz="1000">
                <a:latin typeface="Aptos Display (Headings)"/>
              </a:rPr>
              <a:t> .</a:t>
            </a:r>
            <a:br>
              <a:rPr lang="en-AU" sz="1000">
                <a:latin typeface="Aptos Display (Headings)"/>
              </a:rPr>
            </a:br>
            <a:r>
              <a:rPr lang="en-AU" sz="1000">
                <a:latin typeface="Aptos Display (Headings)"/>
              </a:rPr>
              <a:t>This architecture replaces standard vector search with structured semantic context, eliminating hallucinations and enabling multi-hop logical reasoning </a:t>
            </a:r>
          </a:p>
          <a:p>
            <a:endParaRPr lang="en-AU" sz="1000" b="1">
              <a:latin typeface="Aptos Display (Headings)"/>
            </a:endParaRPr>
          </a:p>
          <a:p>
            <a:r>
              <a:rPr lang="en-AU" sz="1000" b="1">
                <a:latin typeface="Aptos Display (Headings)"/>
              </a:rPr>
              <a:t>1. </a:t>
            </a:r>
            <a:r>
              <a:rPr lang="en-AU" sz="1000" b="1" err="1">
                <a:latin typeface="Aptos Display (Headings)"/>
              </a:rPr>
              <a:t>Vectorise</a:t>
            </a:r>
            <a:r>
              <a:rPr lang="en-AU" sz="1000" b="1">
                <a:latin typeface="Aptos Display (Headings)"/>
              </a:rPr>
              <a:t> and Index the Ontology</a:t>
            </a:r>
            <a:endParaRPr lang="en-AU" sz="1000">
              <a:latin typeface="Aptos Display (Headings)"/>
            </a:endParaRPr>
          </a:p>
          <a:p>
            <a:r>
              <a:rPr lang="en-AU" sz="1000">
                <a:latin typeface="Aptos Display (Headings)"/>
              </a:rPr>
              <a:t>To make ontology searchable by an LLM, index both its unstructured text and its structured semantic relationships.</a:t>
            </a:r>
          </a:p>
          <a:p>
            <a:pPr lvl="0"/>
            <a:r>
              <a:rPr lang="en-AU" sz="1000" b="1">
                <a:latin typeface="Aptos Display (Headings)"/>
              </a:rPr>
              <a:t>Hybrid Embedding</a:t>
            </a:r>
            <a:r>
              <a:rPr lang="en-AU" sz="1000">
                <a:latin typeface="Aptos Display (Headings)"/>
              </a:rPr>
              <a:t>: Generate text embeddings for entity names, descriptions, and properties.</a:t>
            </a:r>
          </a:p>
          <a:p>
            <a:pPr lvl="0"/>
            <a:r>
              <a:rPr lang="en-AU" sz="1000" b="1">
                <a:latin typeface="Aptos Display (Headings)"/>
              </a:rPr>
              <a:t>Graph Embedding</a:t>
            </a:r>
            <a:r>
              <a:rPr lang="en-AU" sz="1000">
                <a:latin typeface="Aptos Display (Headings)"/>
              </a:rPr>
              <a:t>: Use algorithms like Node2Vec to convert structural connections and hierarchy paths into mathematical vectors.</a:t>
            </a:r>
          </a:p>
          <a:p>
            <a:pPr lvl="0"/>
            <a:r>
              <a:rPr lang="en-AU" sz="1000" b="1">
                <a:latin typeface="Aptos Display (Headings)"/>
              </a:rPr>
              <a:t>Vector Store Integration</a:t>
            </a:r>
            <a:r>
              <a:rPr lang="en-AU" sz="1000">
                <a:latin typeface="Aptos Display (Headings)"/>
              </a:rPr>
              <a:t>: Store these vectors in databases that support both graph queries and vector searches.</a:t>
            </a:r>
          </a:p>
          <a:p>
            <a:pPr lvl="0"/>
            <a:endParaRPr lang="en-AU" sz="1000">
              <a:latin typeface="Aptos Display (Headings)"/>
            </a:endParaRPr>
          </a:p>
          <a:p>
            <a:r>
              <a:rPr lang="en-AU" sz="1000" b="1">
                <a:latin typeface="Aptos Display (Headings)"/>
              </a:rPr>
              <a:t>2. Extract Entities from the User Query</a:t>
            </a:r>
            <a:endParaRPr lang="en-AU" sz="1000">
              <a:latin typeface="Aptos Display (Headings)"/>
            </a:endParaRPr>
          </a:p>
          <a:p>
            <a:r>
              <a:rPr lang="en-AU" sz="1000">
                <a:latin typeface="Aptos Display (Headings)"/>
              </a:rPr>
              <a:t>When a user asks a question, the pipeline must identify which parts of the text match ontology. </a:t>
            </a:r>
          </a:p>
          <a:p>
            <a:pPr lvl="0"/>
            <a:r>
              <a:rPr lang="en-AU" sz="1000" b="1">
                <a:latin typeface="Aptos Display (Headings)"/>
              </a:rPr>
              <a:t>Named Entity Recognition (NER)</a:t>
            </a:r>
            <a:r>
              <a:rPr lang="en-AU" sz="1000">
                <a:latin typeface="Aptos Display (Headings)"/>
              </a:rPr>
              <a:t>: Use lightweight models or LLM prompting to extract key entities, attributes, and relationships from the prompt. </a:t>
            </a:r>
          </a:p>
          <a:p>
            <a:pPr lvl="0"/>
            <a:r>
              <a:rPr lang="en-AU" sz="1000" b="1">
                <a:latin typeface="Aptos Display (Headings)"/>
              </a:rPr>
              <a:t>Entity Linking</a:t>
            </a:r>
            <a:r>
              <a:rPr lang="en-AU" sz="1000">
                <a:latin typeface="Aptos Display (Headings)"/>
              </a:rPr>
              <a:t>: Map the extracted words directly to the unique resource identifiers (URIs) or node IDs inside ontology to resolve ambiguity (e.g., matching "Apple" to the fruit vs. the tech company).</a:t>
            </a:r>
            <a:br>
              <a:rPr lang="en-AU" sz="1000">
                <a:latin typeface="Aptos Display (Headings)"/>
              </a:rPr>
            </a:br>
            <a:endParaRPr lang="en-AU" sz="1000">
              <a:latin typeface="Aptos Display (Headings)"/>
            </a:endParaRPr>
          </a:p>
          <a:p>
            <a:r>
              <a:rPr lang="en-AU" sz="1000" b="1">
                <a:latin typeface="Aptos Display (Headings)"/>
              </a:rPr>
              <a:t>3. Retrieve Context via Graph Traversal</a:t>
            </a:r>
            <a:endParaRPr lang="en-AU" sz="1000">
              <a:latin typeface="Aptos Display (Headings)"/>
            </a:endParaRPr>
          </a:p>
          <a:p>
            <a:r>
              <a:rPr lang="en-AU" sz="1000">
                <a:latin typeface="Aptos Display (Headings)"/>
              </a:rPr>
              <a:t>Instead of retrieving isolated text snippets, pull an interconnected subgraph based on the matched entities.</a:t>
            </a:r>
          </a:p>
          <a:p>
            <a:pPr lvl="0"/>
            <a:r>
              <a:rPr lang="en-AU" sz="1000" b="1">
                <a:latin typeface="Aptos Display (Headings)"/>
              </a:rPr>
              <a:t>Multi-Hop Retrieval</a:t>
            </a:r>
            <a:r>
              <a:rPr lang="en-AU" sz="1000">
                <a:latin typeface="Aptos Display (Headings)"/>
              </a:rPr>
              <a:t>: Look up the target node and fetch all connected entities within 1 to 3 degrees of separation (e.g., </a:t>
            </a:r>
            <a:r>
              <a:rPr lang="en-AU" sz="1000" i="1">
                <a:latin typeface="Aptos Display (Headings)"/>
              </a:rPr>
              <a:t>Entity A</a:t>
            </a:r>
            <a:r>
              <a:rPr lang="en-AU" sz="1000">
                <a:latin typeface="Aptos Display (Headings)"/>
              </a:rPr>
              <a:t> → </a:t>
            </a:r>
            <a:r>
              <a:rPr lang="en-AU" sz="1000" i="1">
                <a:latin typeface="Aptos Display (Headings)"/>
              </a:rPr>
              <a:t>controls</a:t>
            </a:r>
            <a:r>
              <a:rPr lang="en-AU" sz="1000">
                <a:latin typeface="Aptos Display (Headings)"/>
              </a:rPr>
              <a:t> → </a:t>
            </a:r>
            <a:r>
              <a:rPr lang="en-AU" sz="1000" i="1">
                <a:latin typeface="Aptos Display (Headings)"/>
              </a:rPr>
              <a:t>Entity B</a:t>
            </a:r>
            <a:r>
              <a:rPr lang="en-AU" sz="1000">
                <a:latin typeface="Aptos Display (Headings)"/>
              </a:rPr>
              <a:t> → </a:t>
            </a:r>
            <a:r>
              <a:rPr lang="en-AU" sz="1000" i="1">
                <a:latin typeface="Aptos Display (Headings)"/>
              </a:rPr>
              <a:t>manufactures</a:t>
            </a:r>
            <a:r>
              <a:rPr lang="en-AU" sz="1000">
                <a:latin typeface="Aptos Display (Headings)"/>
              </a:rPr>
              <a:t> → </a:t>
            </a:r>
            <a:r>
              <a:rPr lang="en-AU" sz="1000" i="1">
                <a:latin typeface="Aptos Display (Headings)"/>
              </a:rPr>
              <a:t>Product C</a:t>
            </a:r>
            <a:r>
              <a:rPr lang="en-AU" sz="1000">
                <a:latin typeface="Aptos Display (Headings)"/>
              </a:rPr>
              <a:t>).</a:t>
            </a:r>
          </a:p>
          <a:p>
            <a:pPr lvl="0"/>
            <a:r>
              <a:rPr lang="en-AU" sz="1000" b="1">
                <a:latin typeface="Aptos Display (Headings)"/>
              </a:rPr>
              <a:t>Rule-Based Inferencing</a:t>
            </a:r>
            <a:r>
              <a:rPr lang="en-AU" sz="1000">
                <a:latin typeface="Aptos Display (Headings)"/>
              </a:rPr>
              <a:t>: Use a semantic reasoner to execute OWL logical rules </a:t>
            </a:r>
            <a:r>
              <a:rPr lang="en-AU" sz="1000" i="1">
                <a:latin typeface="Aptos Display (Headings)"/>
              </a:rPr>
              <a:t>before</a:t>
            </a:r>
            <a:r>
              <a:rPr lang="en-AU" sz="1000">
                <a:latin typeface="Aptos Display (Headings)"/>
              </a:rPr>
              <a:t> the LLM sees the data, creating new explicit facts from implicit relationships.</a:t>
            </a:r>
          </a:p>
          <a:p>
            <a:endParaRPr lang="en-AU" sz="1000" b="1">
              <a:latin typeface="Aptos Display (Headings)"/>
            </a:endParaRPr>
          </a:p>
          <a:p>
            <a:r>
              <a:rPr lang="en-AU" sz="1000" b="1">
                <a:latin typeface="Aptos Display (Headings)"/>
              </a:rPr>
              <a:t>4. Construct the Graph-Augmented Prompt </a:t>
            </a:r>
            <a:endParaRPr lang="en-AU" sz="1000">
              <a:latin typeface="Aptos Display (Headings)"/>
            </a:endParaRPr>
          </a:p>
          <a:p>
            <a:r>
              <a:rPr lang="en-AU" sz="1000">
                <a:latin typeface="Aptos Display (Headings)"/>
              </a:rPr>
              <a:t>Convert the retrieved structured data into a natural language format that the LLM can easily read and reason against. </a:t>
            </a:r>
          </a:p>
          <a:p>
            <a:pPr lvl="0"/>
            <a:r>
              <a:rPr lang="en-AU" sz="1000" b="1">
                <a:latin typeface="Aptos Display (Headings)"/>
              </a:rPr>
              <a:t>Serialization</a:t>
            </a:r>
            <a:r>
              <a:rPr lang="en-AU" sz="1000">
                <a:latin typeface="Aptos Display (Headings)"/>
              </a:rPr>
              <a:t>: Convert the retrieved triples or paths into structured strings, Markdown tables, or declarative sentences (e.g., Convert (</a:t>
            </a:r>
            <a:r>
              <a:rPr lang="en-AU" sz="1000" err="1">
                <a:latin typeface="Aptos Display (Headings)"/>
              </a:rPr>
              <a:t>CustomerA</a:t>
            </a:r>
            <a:r>
              <a:rPr lang="en-AU" sz="1000">
                <a:latin typeface="Aptos Display (Headings)"/>
              </a:rPr>
              <a:t>, owns, </a:t>
            </a:r>
            <a:r>
              <a:rPr lang="en-AU" sz="1000" err="1">
                <a:latin typeface="Aptos Display (Headings)"/>
              </a:rPr>
              <a:t>AccountB</a:t>
            </a:r>
            <a:r>
              <a:rPr lang="en-AU" sz="1000">
                <a:latin typeface="Aptos Display (Headings)"/>
              </a:rPr>
              <a:t>) into " </a:t>
            </a:r>
            <a:r>
              <a:rPr lang="en-AU" sz="1000" err="1">
                <a:latin typeface="Aptos Display (Headings)"/>
              </a:rPr>
              <a:t>CustomerA</a:t>
            </a:r>
            <a:r>
              <a:rPr lang="en-AU" sz="1000">
                <a:latin typeface="Aptos Display (Headings)"/>
              </a:rPr>
              <a:t> owns </a:t>
            </a:r>
            <a:r>
              <a:rPr lang="en-AU" sz="1000" err="1">
                <a:latin typeface="Aptos Display (Headings)"/>
              </a:rPr>
              <a:t>AccountB</a:t>
            </a:r>
            <a:r>
              <a:rPr lang="en-AU" sz="1000">
                <a:latin typeface="Aptos Display (Headings)"/>
              </a:rPr>
              <a:t>").</a:t>
            </a:r>
          </a:p>
          <a:p>
            <a:pPr lvl="0"/>
            <a:r>
              <a:rPr lang="en-AU" sz="1000" b="1">
                <a:latin typeface="Aptos Display (Headings)"/>
              </a:rPr>
              <a:t>System Prompting</a:t>
            </a:r>
            <a:r>
              <a:rPr lang="en-AU" sz="1000">
                <a:latin typeface="Aptos Display (Headings)"/>
              </a:rPr>
              <a:t>: Instruct the LLM to use </a:t>
            </a:r>
            <a:r>
              <a:rPr lang="en-AU" sz="1000" i="1">
                <a:latin typeface="Aptos Display (Headings)"/>
              </a:rPr>
              <a:t>only</a:t>
            </a:r>
            <a:r>
              <a:rPr lang="en-AU" sz="1000">
                <a:latin typeface="Aptos Display (Headings)"/>
              </a:rPr>
              <a:t> the provided ontological facts to deduce its final answer. </a:t>
            </a:r>
            <a:br>
              <a:rPr lang="en-AU" sz="1000">
                <a:latin typeface="Aptos Display (Headings)"/>
              </a:rPr>
            </a:br>
            <a:endParaRPr lang="en-AU" sz="1000">
              <a:latin typeface="Aptos Display (Headings)"/>
            </a:endParaRPr>
          </a:p>
          <a:p>
            <a:r>
              <a:rPr lang="en-AU" sz="1000" i="1">
                <a:latin typeface="Aptos Display (Headings)"/>
              </a:rPr>
              <a:t>[System Prompt]: </a:t>
            </a:r>
            <a:br>
              <a:rPr lang="en-AU" sz="1000" i="1">
                <a:latin typeface="Aptos Display (Headings)"/>
              </a:rPr>
            </a:br>
            <a:r>
              <a:rPr lang="en-AU" sz="1000" i="1">
                <a:latin typeface="Aptos Display (Headings)"/>
              </a:rPr>
              <a:t>You are a logical reasoning assistant. Use the verified facts below to answer the user's question. Do not assume facts outside this context. </a:t>
            </a:r>
          </a:p>
          <a:p>
            <a:r>
              <a:rPr lang="en-AU" sz="1000" i="1">
                <a:latin typeface="Aptos Display (Headings)"/>
              </a:rPr>
              <a:t>[Ontology Facts]:</a:t>
            </a:r>
          </a:p>
          <a:p>
            <a:r>
              <a:rPr lang="en-AU" sz="1000" i="1">
                <a:latin typeface="Aptos Display (Headings)"/>
              </a:rPr>
              <a:t>- Customer_1 </a:t>
            </a:r>
            <a:r>
              <a:rPr lang="en-AU" sz="1000" i="1" err="1">
                <a:latin typeface="Aptos Display (Headings)"/>
              </a:rPr>
              <a:t>has_product</a:t>
            </a:r>
            <a:r>
              <a:rPr lang="en-AU" sz="1000" i="1">
                <a:latin typeface="Aptos Display (Headings)"/>
              </a:rPr>
              <a:t> Loan.</a:t>
            </a:r>
          </a:p>
          <a:p>
            <a:r>
              <a:rPr lang="en-AU" sz="1000" i="1">
                <a:latin typeface="Aptos Display (Headings)"/>
              </a:rPr>
              <a:t>- Loan </a:t>
            </a:r>
            <a:r>
              <a:rPr lang="en-AU" sz="1000" i="1" err="1">
                <a:latin typeface="Aptos Display (Headings)"/>
              </a:rPr>
              <a:t>has_offset_account_for_savings</a:t>
            </a:r>
            <a:r>
              <a:rPr lang="en-AU" sz="1000" i="1">
                <a:latin typeface="Aptos Display (Headings)"/>
              </a:rPr>
              <a:t>.</a:t>
            </a:r>
            <a:br>
              <a:rPr lang="en-AU" sz="1000" i="1">
                <a:latin typeface="Aptos Display (Headings)"/>
              </a:rPr>
            </a:br>
            <a:r>
              <a:rPr lang="en-AU" sz="1000" i="1">
                <a:latin typeface="Aptos Display (Headings)"/>
              </a:rPr>
              <a:t>- Loan has_loanaccount_with_balance_1M.</a:t>
            </a:r>
          </a:p>
          <a:p>
            <a:r>
              <a:rPr lang="en-AU" sz="1000" i="1">
                <a:latin typeface="Aptos Display (Headings)"/>
              </a:rPr>
              <a:t>- Loan with_balance_1M includes </a:t>
            </a:r>
            <a:r>
              <a:rPr lang="en-AU" sz="1000" i="1" err="1">
                <a:latin typeface="Aptos Display (Headings)"/>
              </a:rPr>
              <a:t>offset_saving</a:t>
            </a:r>
            <a:r>
              <a:rPr lang="en-AU" sz="1000" i="1">
                <a:latin typeface="Aptos Display (Headings)"/>
              </a:rPr>
              <a:t>.</a:t>
            </a:r>
          </a:p>
          <a:p>
            <a:r>
              <a:rPr lang="en-AU" sz="1000" i="1">
                <a:latin typeface="Aptos Display (Headings)"/>
              </a:rPr>
              <a:t>[User Question]: </a:t>
            </a:r>
            <a:br>
              <a:rPr lang="en-AU" sz="1000" i="1">
                <a:latin typeface="Aptos Display (Headings)"/>
              </a:rPr>
            </a:br>
            <a:r>
              <a:rPr lang="en-AU" sz="1000" i="1">
                <a:latin typeface="Aptos Display (Headings)"/>
              </a:rPr>
              <a:t>Can we give </a:t>
            </a:r>
            <a:r>
              <a:rPr lang="en-AU" sz="1000" i="1" err="1">
                <a:latin typeface="Aptos Display (Headings)"/>
              </a:rPr>
              <a:t>offset_saving</a:t>
            </a:r>
            <a:r>
              <a:rPr lang="en-AU" sz="1000" i="1">
                <a:latin typeface="Aptos Display (Headings)"/>
              </a:rPr>
              <a:t> to Customer_1?</a:t>
            </a:r>
          </a:p>
          <a:p>
            <a:endParaRPr lang="en-AU" sz="1000" b="1">
              <a:latin typeface="Aptos Display (Headings)"/>
            </a:endParaRPr>
          </a:p>
          <a:p>
            <a:r>
              <a:rPr lang="en-AU" sz="1000" b="1">
                <a:latin typeface="Aptos Display (Headings)"/>
              </a:rPr>
              <a:t>5. Generate and Validate the Response</a:t>
            </a:r>
            <a:endParaRPr lang="en-AU" sz="1000">
              <a:latin typeface="Aptos Display (Headings)"/>
            </a:endParaRPr>
          </a:p>
          <a:p>
            <a:r>
              <a:rPr lang="en-AU" sz="1000">
                <a:latin typeface="Aptos Display (Headings)"/>
              </a:rPr>
              <a:t>The LLM processes the facts, executes the final reasoning step, and delivers the answer. </a:t>
            </a:r>
          </a:p>
          <a:p>
            <a:pPr lvl="0"/>
            <a:r>
              <a:rPr lang="en-AU" sz="1000" b="1">
                <a:latin typeface="Aptos Display (Headings)"/>
              </a:rPr>
              <a:t>Deterministic Reasoning</a:t>
            </a:r>
            <a:r>
              <a:rPr lang="en-AU" sz="1000">
                <a:latin typeface="Aptos Display (Headings)"/>
              </a:rPr>
              <a:t>: The LLM easily concludes: </a:t>
            </a:r>
            <a:r>
              <a:rPr lang="en-AU" sz="1000" i="1">
                <a:latin typeface="Aptos Display (Headings)"/>
              </a:rPr>
              <a:t>Yes, because Customer_1 has a 1M loan.</a:t>
            </a:r>
            <a:r>
              <a:rPr lang="en-AU" sz="1000">
                <a:latin typeface="Aptos Display (Headings)"/>
              </a:rPr>
              <a:t> </a:t>
            </a:r>
            <a:br>
              <a:rPr lang="en-AU" sz="1000">
                <a:latin typeface="Aptos Display (Headings)"/>
              </a:rPr>
            </a:br>
            <a:r>
              <a:rPr lang="en-AU" sz="1000" b="1">
                <a:latin typeface="Aptos Display (Headings)"/>
              </a:rPr>
              <a:t>Fact-Checking Loop</a:t>
            </a:r>
            <a:r>
              <a:rPr lang="en-AU" sz="1000">
                <a:latin typeface="Aptos Display (Headings)"/>
              </a:rPr>
              <a:t>: Use the ontology to validate the LLM's output. If the LLM generates a response claiming a relationship that explicitly violates ontology rules, flag or block the output.</a:t>
            </a:r>
          </a:p>
        </p:txBody>
      </p:sp>
    </p:spTree>
    <p:extLst>
      <p:ext uri="{BB962C8B-B14F-4D97-AF65-F5344CB8AC3E}">
        <p14:creationId xmlns:p14="http://schemas.microsoft.com/office/powerpoint/2010/main" val="2604069347"/>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B6990F8C-59E6-0263-99FC-601BE4C830E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B76E44-99C1-4767-5E86-4DE145DD93C4}"/>
              </a:ext>
            </a:extLst>
          </p:cNvPr>
          <p:cNvSpPr txBox="1"/>
          <p:nvPr/>
        </p:nvSpPr>
        <p:spPr>
          <a:xfrm>
            <a:off x="914400" y="2011680"/>
            <a:ext cx="1005840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a:ln>
                  <a:noFill/>
                </a:ln>
                <a:effectLst/>
                <a:uLnTx/>
                <a:uFillTx/>
                <a:latin typeface="Aptos" panose="02110004020202020204"/>
                <a:ea typeface="+mn-ea"/>
                <a:cs typeface="+mn-cs"/>
              </a:rPr>
              <a:t>Solution</a:t>
            </a:r>
            <a:endParaRPr kumimoji="0" sz="4000" b="1" i="0" u="none" strike="noStrike" kern="1200" cap="none" spc="0" normalizeH="0" baseline="0" noProof="0">
              <a:ln>
                <a:noFill/>
              </a:ln>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373004F6-AF4D-AC36-E651-6BFE1E51855A}"/>
              </a:ext>
            </a:extLst>
          </p:cNvPr>
          <p:cNvSpPr/>
          <p:nvPr/>
        </p:nvSpPr>
        <p:spPr>
          <a:xfrm>
            <a:off x="4419752" y="2821094"/>
            <a:ext cx="3047695" cy="365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751BA99E-FBB8-9976-8B28-FDAFCDC0B5C4}"/>
              </a:ext>
            </a:extLst>
          </p:cNvPr>
          <p:cNvSpPr txBox="1"/>
          <p:nvPr/>
        </p:nvSpPr>
        <p:spPr>
          <a:xfrm>
            <a:off x="4949375" y="2959198"/>
            <a:ext cx="6096000" cy="3231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500" b="1" i="0" u="none" strike="noStrike" kern="1200" cap="none" spc="0" normalizeH="0" baseline="0" noProof="0">
                <a:ln>
                  <a:noFill/>
                </a:ln>
                <a:effectLst/>
                <a:uLnTx/>
                <a:uFillTx/>
                <a:latin typeface="Calibri"/>
                <a:ea typeface="+mn-ea"/>
                <a:cs typeface="+mn-cs"/>
              </a:rPr>
              <a:t>GRPAH DB - ONTOLOGY</a:t>
            </a:r>
          </a:p>
        </p:txBody>
      </p:sp>
    </p:spTree>
    <p:extLst>
      <p:ext uri="{BB962C8B-B14F-4D97-AF65-F5344CB8AC3E}">
        <p14:creationId xmlns:p14="http://schemas.microsoft.com/office/powerpoint/2010/main" val="3409326560"/>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F6DC93B9-A434-CCD6-48E7-160CAE2209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01383B-12CF-AD1F-3D0E-282B7F23251A}"/>
              </a:ext>
            </a:extLst>
          </p:cNvPr>
          <p:cNvSpPr txBox="1"/>
          <p:nvPr/>
        </p:nvSpPr>
        <p:spPr>
          <a:xfrm>
            <a:off x="177952" y="92432"/>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ONTOLOGY – </a:t>
            </a:r>
            <a:r>
              <a:rPr lang="en-AU" sz="3000" b="1">
                <a:latin typeface="Calibri"/>
              </a:rPr>
              <a:t> </a:t>
            </a:r>
            <a:r>
              <a:rPr kumimoji="0" lang="en-AU" sz="3000" b="1" i="0" u="none" strike="noStrike" kern="1200" cap="none" spc="0" normalizeH="0" baseline="0" noProof="0">
                <a:ln>
                  <a:noFill/>
                </a:ln>
                <a:effectLst/>
                <a:uLnTx/>
                <a:uFillTx/>
                <a:latin typeface="Calibri"/>
                <a:ea typeface="+mn-ea"/>
                <a:cs typeface="+mn-cs"/>
              </a:rPr>
              <a:t>Graph DB</a:t>
            </a:r>
            <a:endParaRPr kumimoji="0" sz="3000" b="1" i="0" u="none" strike="noStrike" kern="1200" cap="none" spc="0" normalizeH="0" baseline="0" noProof="0">
              <a:ln>
                <a:noFill/>
              </a:ln>
              <a:effectLst/>
              <a:uLnTx/>
              <a:uFillTx/>
              <a:latin typeface="Calibri"/>
              <a:ea typeface="+mn-ea"/>
              <a:cs typeface="+mn-cs"/>
            </a:endParaRPr>
          </a:p>
        </p:txBody>
      </p:sp>
      <p:sp>
        <p:nvSpPr>
          <p:cNvPr id="8" name="TextBox 7">
            <a:extLst>
              <a:ext uri="{FF2B5EF4-FFF2-40B4-BE49-F238E27FC236}">
                <a16:creationId xmlns:a16="http://schemas.microsoft.com/office/drawing/2014/main" id="{1A2E4B56-677D-FB62-D741-5E7A359F6EDD}"/>
              </a:ext>
            </a:extLst>
          </p:cNvPr>
          <p:cNvSpPr txBox="1"/>
          <p:nvPr/>
        </p:nvSpPr>
        <p:spPr>
          <a:xfrm>
            <a:off x="245381" y="2996776"/>
            <a:ext cx="6612620" cy="3477875"/>
          </a:xfrm>
          <a:prstGeom prst="rect">
            <a:avLst/>
          </a:prstGeom>
          <a:noFill/>
          <a:ln>
            <a:solidFill>
              <a:schemeClr val="tx1"/>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sng" strike="noStrike" kern="1200" cap="none" spc="0" normalizeH="0" baseline="0" noProof="0">
                <a:ln>
                  <a:noFill/>
                </a:ln>
                <a:effectLst/>
                <a:uLnTx/>
                <a:uFillTx/>
                <a:latin typeface="Aptos Display (Headings)"/>
                <a:ea typeface="+mn-ea"/>
                <a:cs typeface="+mn-cs"/>
              </a:rPr>
              <a:t>Steps on implementation</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lang="en-AU" sz="1000">
                <a:latin typeface="Aptos Display (Headings)"/>
              </a:rPr>
              <a:t>Translate OWL classes, properties and restrictions into TG schema </a:t>
            </a:r>
          </a:p>
          <a:p>
            <a:pPr marL="685800" lvl="1" indent="-228600">
              <a:buFont typeface="Arial" panose="020B0604020202020204" pitchFamily="34" charset="0"/>
              <a:buChar char="•"/>
            </a:pPr>
            <a:r>
              <a:rPr kumimoji="0" lang="en-AU" sz="1000" b="0" i="0" strike="noStrike" kern="1200" cap="none" spc="0" normalizeH="0" baseline="0" noProof="0">
                <a:ln>
                  <a:noFill/>
                </a:ln>
                <a:effectLst/>
                <a:uLnTx/>
                <a:uFillTx/>
                <a:latin typeface="Aptos Display (Headings)"/>
                <a:ea typeface="+mn-ea"/>
                <a:cs typeface="+mn-cs"/>
              </a:rPr>
              <a:t>Vertex, Edge, Attributes</a:t>
            </a:r>
          </a:p>
          <a:p>
            <a:pPr marL="1143000" lvl="2" indent="-228600">
              <a:buFont typeface="Arial" panose="020B0604020202020204" pitchFamily="34" charset="0"/>
              <a:buChar char="•"/>
            </a:pPr>
            <a:r>
              <a:rPr lang="en-AU" sz="1000">
                <a:latin typeface="Aptos Display (Headings)"/>
              </a:rPr>
              <a:t>OWL CLASS </a:t>
            </a:r>
            <a:r>
              <a:rPr lang="en-AU" sz="1000">
                <a:latin typeface="Aptos Display (Headings)"/>
                <a:sym typeface="Wingdings" panose="05000000000000000000" pitchFamily="2" charset="2"/>
              </a:rPr>
              <a:t> TG VERTEX  (multi-level hierarchies &lt;implemented via VERTEX Inheritance&gt;)</a:t>
            </a:r>
            <a:br>
              <a:rPr lang="en-AU" sz="1000">
                <a:latin typeface="Aptos Display (Headings)"/>
                <a:sym typeface="Wingdings" panose="05000000000000000000" pitchFamily="2" charset="2"/>
              </a:rPr>
            </a:br>
            <a:r>
              <a:rPr lang="en-AU" sz="1000">
                <a:latin typeface="Aptos Display (Headings)"/>
                <a:sym typeface="Wingdings" panose="05000000000000000000" pitchFamily="2" charset="2"/>
              </a:rPr>
              <a:t>CREATE VERTEX</a:t>
            </a:r>
          </a:p>
          <a:p>
            <a:pPr marL="1143000" lvl="2" indent="-228600">
              <a:buFont typeface="Arial" panose="020B0604020202020204" pitchFamily="34" charset="0"/>
              <a:buChar char="•"/>
            </a:pPr>
            <a: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t>OWL PROPERTIES  TG EDGE</a:t>
            </a:r>
            <a:b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br>
            <a: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t>CREATE DIRECTED EDGE</a:t>
            </a:r>
          </a:p>
          <a:p>
            <a:pPr marL="1143000" lvl="2" indent="-228600">
              <a:buFont typeface="Arial" panose="020B0604020202020204" pitchFamily="34" charset="0"/>
              <a:buChar char="•"/>
            </a:pPr>
            <a:r>
              <a:rPr lang="en-AU" sz="1000">
                <a:latin typeface="Aptos Display (Headings)"/>
                <a:sym typeface="Wingdings" panose="05000000000000000000" pitchFamily="2" charset="2"/>
              </a:rPr>
              <a:t>OWL RESTRICTIONS  enforced via GSQL Constraints</a:t>
            </a:r>
          </a:p>
          <a:p>
            <a:pPr marL="1600200" lvl="3" indent="-228600">
              <a:buFont typeface="Arial" panose="020B0604020202020204" pitchFamily="34" charset="0"/>
              <a:buChar char="•"/>
            </a:pPr>
            <a:r>
              <a:rPr lang="en-AU" sz="1000">
                <a:latin typeface="Aptos Display (Headings)"/>
                <a:sym typeface="Wingdings" panose="05000000000000000000" pitchFamily="2" charset="2"/>
              </a:rPr>
              <a:t>Use GSQL constraints</a:t>
            </a:r>
          </a:p>
          <a:p>
            <a:pPr marL="1600200" lvl="3" indent="-228600">
              <a:buFont typeface="Arial" panose="020B0604020202020204" pitchFamily="34" charset="0"/>
              <a:buChar char="•"/>
            </a:pPr>
            <a: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t>Use pre-processing </a:t>
            </a:r>
            <a:b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br>
            <a: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t>Transitive OR Symmetric properties rules</a:t>
            </a:r>
            <a:b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br>
            <a: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t>Customer A uses Device X to fund Account B, then CustA is linked to </a:t>
            </a:r>
            <a:r>
              <a:rPr kumimoji="0" lang="en-AU" sz="1000" b="0" i="0" strike="noStrike" kern="1200" cap="none" spc="0" normalizeH="0" baseline="0" noProof="0" err="1">
                <a:ln>
                  <a:noFill/>
                </a:ln>
                <a:effectLst/>
                <a:uLnTx/>
                <a:uFillTx/>
                <a:latin typeface="Aptos Display (Headings)"/>
                <a:ea typeface="+mn-ea"/>
                <a:cs typeface="+mn-cs"/>
                <a:sym typeface="Wingdings" panose="05000000000000000000" pitchFamily="2" charset="2"/>
              </a:rPr>
              <a:t>AccB</a:t>
            </a:r>
            <a:b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br>
            <a: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t>Account A can only have Y linked Customers where each Customer has 1 device registered</a:t>
            </a:r>
          </a:p>
          <a:p>
            <a:pPr marL="228600" indent="-228600">
              <a:buFont typeface="+mj-lt"/>
              <a:buAutoNum type="arabicPeriod"/>
            </a:pPr>
            <a:r>
              <a:rPr lang="en-AU" sz="1000">
                <a:latin typeface="Aptos Display (Headings)"/>
                <a:sym typeface="Wingdings" panose="05000000000000000000" pitchFamily="2" charset="2"/>
              </a:rPr>
              <a:t>Parsing  to flatten the data leveraging </a:t>
            </a:r>
          </a:p>
          <a:p>
            <a:pPr marL="685800" lvl="1" indent="-228600">
              <a:buFont typeface="Arial" panose="020B0604020202020204" pitchFamily="34" charset="0"/>
              <a:buChar char="•"/>
            </a:pPr>
            <a: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t>OWLAPL</a:t>
            </a:r>
            <a:r>
              <a:rPr lang="en-AU" sz="1000">
                <a:latin typeface="Aptos Display (Headings)"/>
                <a:sym typeface="Wingdings" panose="05000000000000000000" pitchFamily="2" charset="2"/>
              </a:rPr>
              <a:t>Y (PYTHON)</a:t>
            </a:r>
          </a:p>
          <a:p>
            <a:pPr marL="685800" lvl="1" indent="-228600">
              <a:buFont typeface="Arial" panose="020B0604020202020204" pitchFamily="34" charset="0"/>
              <a:buChar char="•"/>
            </a:pPr>
            <a:r>
              <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rPr>
              <a:t>OWLAP</a:t>
            </a:r>
            <a:r>
              <a:rPr lang="en-AU" sz="1000">
                <a:latin typeface="Aptos Display (Headings)"/>
                <a:sym typeface="Wingdings" panose="05000000000000000000" pitchFamily="2" charset="2"/>
              </a:rPr>
              <a:t>I (JAVA)</a:t>
            </a:r>
          </a:p>
          <a:p>
            <a:pPr marL="228600" indent="-228600">
              <a:buFont typeface="+mj-lt"/>
              <a:buAutoNum type="arabicPeriod"/>
            </a:pPr>
            <a:r>
              <a:rPr lang="en-AU" sz="1000">
                <a:latin typeface="Aptos Display (Headings)"/>
                <a:sym typeface="Wingdings" panose="05000000000000000000" pitchFamily="2" charset="2"/>
              </a:rPr>
              <a:t>Load data using GSQL</a:t>
            </a:r>
          </a:p>
          <a:p>
            <a:r>
              <a:rPr lang="en-AU" sz="1000">
                <a:latin typeface="Aptos Display (Headings)"/>
                <a:sym typeface="Wingdings" panose="05000000000000000000" pitchFamily="2" charset="2"/>
              </a:rPr>
              <a:t>CREATE GRAPH &lt;NAME&gt; (VERTEX, EDGE)</a:t>
            </a:r>
          </a:p>
          <a:p>
            <a:endPar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endParaRPr>
          </a:p>
          <a:p>
            <a:r>
              <a:rPr lang="en-AU" sz="1000" u="sng">
                <a:latin typeface="Aptos Display (Headings)"/>
                <a:sym typeface="Wingdings" panose="05000000000000000000" pitchFamily="2" charset="2"/>
              </a:rPr>
              <a:t>OWL Axioms to Property Graph Implementation</a:t>
            </a:r>
          </a:p>
          <a:p>
            <a:endParaRPr kumimoji="0" lang="en-AU" sz="1000" b="0" i="0" strike="noStrike" kern="1200" cap="none" spc="0" normalizeH="0" baseline="0" noProof="0">
              <a:ln>
                <a:noFill/>
              </a:ln>
              <a:effectLst/>
              <a:uLnTx/>
              <a:uFillTx/>
              <a:latin typeface="Aptos Display (Headings)"/>
              <a:ea typeface="+mn-ea"/>
              <a:cs typeface="+mn-cs"/>
              <a:sym typeface="Wingdings" panose="05000000000000000000" pitchFamily="2" charset="2"/>
            </a:endParaRPr>
          </a:p>
          <a:p>
            <a:pPr marL="171450" indent="-171450">
              <a:buFont typeface="Arial" panose="020B0604020202020204" pitchFamily="34" charset="0"/>
              <a:buChar char="•"/>
            </a:pPr>
            <a:r>
              <a:rPr lang="en-AU" sz="1000">
                <a:latin typeface="Aptos Display (Headings)"/>
                <a:sym typeface="Wingdings" panose="05000000000000000000" pitchFamily="2" charset="2"/>
              </a:rPr>
              <a:t>Must be written explicitly  </a:t>
            </a:r>
            <a:r>
              <a:rPr lang="en-AU" sz="1000" err="1">
                <a:latin typeface="Aptos Display (Headings)"/>
                <a:sym typeface="Wingdings" panose="05000000000000000000" pitchFamily="2" charset="2"/>
              </a:rPr>
              <a:t>hasValues</a:t>
            </a:r>
            <a:r>
              <a:rPr lang="en-AU" sz="1000">
                <a:latin typeface="Aptos Display (Headings)"/>
                <a:sym typeface="Wingdings" panose="05000000000000000000" pitchFamily="2" charset="2"/>
              </a:rPr>
              <a:t> ,  </a:t>
            </a:r>
            <a:r>
              <a:rPr lang="en-AU" sz="1000" err="1">
                <a:latin typeface="Aptos Display (Headings)"/>
                <a:sym typeface="Wingdings" panose="05000000000000000000" pitchFamily="2" charset="2"/>
              </a:rPr>
              <a:t>FunctionalProperty</a:t>
            </a:r>
            <a:endParaRPr kumimoji="0" lang="en-AU" sz="1000" b="0" i="0" strike="noStrike" kern="1200" cap="none" spc="0" normalizeH="0" baseline="0" noProof="0">
              <a:ln>
                <a:noFill/>
              </a:ln>
              <a:effectLst/>
              <a:uLnTx/>
              <a:uFillTx/>
              <a:latin typeface="Aptos Display (Headings)"/>
              <a:ea typeface="+mn-ea"/>
              <a:cs typeface="+mn-cs"/>
            </a:endParaRPr>
          </a:p>
        </p:txBody>
      </p:sp>
      <p:sp>
        <p:nvSpPr>
          <p:cNvPr id="7" name="TextBox 6">
            <a:extLst>
              <a:ext uri="{FF2B5EF4-FFF2-40B4-BE49-F238E27FC236}">
                <a16:creationId xmlns:a16="http://schemas.microsoft.com/office/drawing/2014/main" id="{DF9CDFCF-48F0-9421-630C-7F68228E6FC9}"/>
              </a:ext>
            </a:extLst>
          </p:cNvPr>
          <p:cNvSpPr txBox="1"/>
          <p:nvPr/>
        </p:nvSpPr>
        <p:spPr>
          <a:xfrm>
            <a:off x="245380" y="646430"/>
            <a:ext cx="11760201" cy="1785104"/>
          </a:xfrm>
          <a:prstGeom prst="rect">
            <a:avLst/>
          </a:prstGeom>
          <a:noFill/>
          <a:ln>
            <a:solidFill>
              <a:schemeClr val="tx1"/>
            </a:solidFill>
          </a:ln>
        </p:spPr>
        <p:txBody>
          <a:bodyPr wrap="square">
            <a:spAutoFit/>
          </a:bodyPr>
          <a:lstStyle/>
          <a:p>
            <a:pPr>
              <a:defRPr/>
            </a:pPr>
            <a:r>
              <a:rPr lang="en-AU" sz="1000">
                <a:latin typeface="Aptos Display (Headings)"/>
              </a:rPr>
              <a:t>Implementing OWL ontology  on </a:t>
            </a:r>
            <a:r>
              <a:rPr lang="en-AU" sz="1000" err="1">
                <a:latin typeface="Aptos Display (Headings)"/>
              </a:rPr>
              <a:t>GraphDB</a:t>
            </a:r>
            <a:r>
              <a:rPr lang="en-AU" sz="1000">
                <a:latin typeface="Aptos Display (Headings)"/>
              </a:rPr>
              <a:t> requires translating OWL’s logical construct to strict type property graph. </a:t>
            </a:r>
            <a:br>
              <a:rPr lang="en-AU" sz="1000">
                <a:latin typeface="Aptos Display (Headings)"/>
              </a:rPr>
            </a:br>
            <a:r>
              <a:rPr lang="en-AU" sz="1000">
                <a:latin typeface="Aptos Display (Headings)"/>
              </a:rPr>
              <a:t>Graph DBs CANNOT natively parse OWL files.</a:t>
            </a:r>
          </a:p>
          <a:p>
            <a:pPr>
              <a:defRPr/>
            </a:pPr>
            <a:endParaRPr lang="en-AU" sz="1000">
              <a:latin typeface="Aptos Display (Heading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AU" sz="1000">
                <a:latin typeface="Aptos Display (Headings)"/>
              </a:rPr>
              <a:t>How we can implement Ontology on Graph DB</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000" b="0" i="0" strike="noStrike" kern="1200" cap="none" spc="0" normalizeH="0" baseline="0" noProof="0">
                <a:ln>
                  <a:noFill/>
                </a:ln>
                <a:effectLst/>
                <a:uLnTx/>
                <a:uFillTx/>
                <a:latin typeface="Aptos Display (Headings)"/>
                <a:ea typeface="+mn-ea"/>
                <a:cs typeface="+mn-cs"/>
              </a:rPr>
              <a:t>RUNTIME QUERY</a:t>
            </a:r>
          </a:p>
          <a:p>
            <a:pPr marL="628650" lvl="1" indent="-171450">
              <a:buFont typeface="Arial" panose="020B0604020202020204" pitchFamily="34" charset="0"/>
              <a:buChar char="•"/>
              <a:defRPr/>
            </a:pPr>
            <a:r>
              <a:rPr kumimoji="0" lang="en-AU" sz="1000" b="0" i="0" strike="noStrike" kern="1200" cap="none" spc="0" normalizeH="0" baseline="0" noProof="0">
                <a:ln>
                  <a:noFill/>
                </a:ln>
                <a:effectLst/>
                <a:uLnTx/>
                <a:uFillTx/>
                <a:latin typeface="Aptos Display (Headings)"/>
                <a:ea typeface="+mn-ea"/>
                <a:cs typeface="+mn-cs"/>
              </a:rPr>
              <a:t>Cypher for Neo4j, GSQL for </a:t>
            </a:r>
            <a:r>
              <a:rPr kumimoji="0" lang="en-AU" sz="1000" b="0" i="0" strike="noStrike" kern="1200" cap="none" spc="0" normalizeH="0" baseline="0" noProof="0" err="1">
                <a:ln>
                  <a:noFill/>
                </a:ln>
                <a:effectLst/>
                <a:uLnTx/>
                <a:uFillTx/>
                <a:latin typeface="Aptos Display (Headings)"/>
                <a:ea typeface="+mn-ea"/>
                <a:cs typeface="+mn-cs"/>
              </a:rPr>
              <a:t>TigerGraph</a:t>
            </a:r>
            <a:r>
              <a:rPr kumimoji="0" lang="en-AU" sz="1000" b="0" i="0" strike="noStrike" kern="1200" cap="none" spc="0" normalizeH="0" baseline="0" noProof="0">
                <a:ln>
                  <a:noFill/>
                </a:ln>
                <a:effectLst/>
                <a:uLnTx/>
                <a:uFillTx/>
                <a:latin typeface="Aptos Display (Headings)"/>
                <a:ea typeface="+mn-ea"/>
                <a:cs typeface="+mn-cs"/>
              </a:rPr>
              <a:t> etc</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000">
                <a:latin typeface="Aptos Display (Headings)"/>
              </a:rPr>
              <a:t>SEPRATE STANDALONE PROCESS</a:t>
            </a:r>
          </a:p>
          <a:p>
            <a:pPr marL="628650" lvl="1" indent="-171450">
              <a:buFont typeface="Arial" panose="020B0604020202020204" pitchFamily="34" charset="0"/>
              <a:buChar char="•"/>
              <a:defRPr/>
            </a:pPr>
            <a:r>
              <a:rPr kumimoji="0" lang="en-AU" sz="1000" b="0" i="0" strike="noStrike" kern="1200" cap="none" spc="0" normalizeH="0" baseline="0" noProof="0">
                <a:ln>
                  <a:noFill/>
                </a:ln>
                <a:effectLst/>
                <a:uLnTx/>
                <a:uFillTx/>
                <a:latin typeface="Aptos Display (Headings)"/>
                <a:ea typeface="+mn-ea"/>
                <a:cs typeface="+mn-cs"/>
              </a:rPr>
              <a:t>GRPAH SCHEMA MA</a:t>
            </a:r>
            <a:r>
              <a:rPr lang="en-AU" sz="1000">
                <a:latin typeface="Aptos Display (Headings)"/>
              </a:rPr>
              <a:t>PPING</a:t>
            </a:r>
          </a:p>
          <a:p>
            <a:pPr marL="1085850" lvl="2" indent="-171450">
              <a:buFont typeface="Arial" panose="020B0604020202020204" pitchFamily="34" charset="0"/>
              <a:buChar char="•"/>
              <a:defRPr/>
            </a:pPr>
            <a:r>
              <a:rPr lang="en-AU" sz="1000">
                <a:latin typeface="Aptos Display (Headings)"/>
              </a:rPr>
              <a:t>OWL translation to Graph DB</a:t>
            </a:r>
          </a:p>
          <a:p>
            <a:pPr marL="628650" lvl="1" indent="-171450">
              <a:buFont typeface="Arial" panose="020B0604020202020204" pitchFamily="34" charset="0"/>
              <a:buChar char="•"/>
              <a:defRPr/>
            </a:pPr>
            <a:r>
              <a:rPr kumimoji="0" lang="en-AU" sz="1000" b="0" i="0" strike="noStrike" kern="1200" cap="none" spc="0" normalizeH="0" baseline="0" noProof="0">
                <a:ln>
                  <a:noFill/>
                </a:ln>
                <a:effectLst/>
                <a:uLnTx/>
                <a:uFillTx/>
                <a:latin typeface="Aptos Display (Headings)"/>
                <a:ea typeface="+mn-ea"/>
                <a:cs typeface="+mn-cs"/>
              </a:rPr>
              <a:t>P</a:t>
            </a:r>
            <a:r>
              <a:rPr lang="en-AU" sz="1000">
                <a:latin typeface="Aptos Display (Headings)"/>
              </a:rPr>
              <a:t>RE-COMPUTE</a:t>
            </a:r>
          </a:p>
          <a:p>
            <a:pPr marL="1085850" lvl="2" indent="-171450">
              <a:buFont typeface="Arial" panose="020B0604020202020204" pitchFamily="34" charset="0"/>
              <a:buChar char="•"/>
              <a:defRPr/>
            </a:pPr>
            <a:r>
              <a:rPr kumimoji="0" lang="en-AU" sz="1000" b="0" i="0" strike="noStrike" kern="1200" cap="none" spc="0" normalizeH="0" baseline="0" noProof="0">
                <a:ln>
                  <a:noFill/>
                </a:ln>
                <a:effectLst/>
                <a:uLnTx/>
                <a:uFillTx/>
                <a:latin typeface="Aptos Display (Headings)"/>
                <a:ea typeface="+mn-ea"/>
                <a:cs typeface="+mn-cs"/>
              </a:rPr>
              <a:t>Restrictions / Inference Rules</a:t>
            </a:r>
          </a:p>
        </p:txBody>
      </p:sp>
      <p:sp>
        <p:nvSpPr>
          <p:cNvPr id="6" name="TextBox 5">
            <a:extLst>
              <a:ext uri="{FF2B5EF4-FFF2-40B4-BE49-F238E27FC236}">
                <a16:creationId xmlns:a16="http://schemas.microsoft.com/office/drawing/2014/main" id="{4E9F1330-53B7-9B43-C37B-F392D20340A1}"/>
              </a:ext>
            </a:extLst>
          </p:cNvPr>
          <p:cNvSpPr txBox="1"/>
          <p:nvPr/>
        </p:nvSpPr>
        <p:spPr>
          <a:xfrm>
            <a:off x="7086601" y="3001647"/>
            <a:ext cx="4742080" cy="923330"/>
          </a:xfrm>
          <a:prstGeom prst="rect">
            <a:avLst/>
          </a:prstGeom>
          <a:noFill/>
          <a:ln>
            <a:solidFill>
              <a:schemeClr val="tx1"/>
            </a:solidFill>
          </a:ln>
        </p:spPr>
        <p:txBody>
          <a:bodyPr wrap="square">
            <a:spAutoFit/>
          </a:bodyPr>
          <a:lstStyle/>
          <a:p>
            <a:r>
              <a:rPr lang="en-AU" sz="900" b="1" i="0" err="1">
                <a:effectLst/>
                <a:latin typeface="Roboto" panose="02000000000000000000" pitchFamily="2" charset="0"/>
              </a:rPr>
              <a:t>Neosemantics</a:t>
            </a:r>
            <a:r>
              <a:rPr lang="en-AU" sz="900" b="1" i="0">
                <a:effectLst/>
                <a:latin typeface="Roboto" panose="02000000000000000000" pitchFamily="2" charset="0"/>
              </a:rPr>
              <a:t> -I</a:t>
            </a:r>
            <a:r>
              <a:rPr lang="en-AU" sz="900"/>
              <a:t>mporting RDF/OWL data into Neo4j, automatically converting classes, individuals, and properties into nodes and relationships, while retaining semantic meaning.</a:t>
            </a:r>
            <a:br>
              <a:rPr lang="en-AU" sz="900"/>
            </a:br>
            <a:br>
              <a:rPr lang="en-AU" sz="900" b="1" i="0">
                <a:effectLst/>
                <a:latin typeface="Roboto" panose="02000000000000000000" pitchFamily="2" charset="0"/>
              </a:rPr>
            </a:br>
            <a:r>
              <a:rPr lang="en-AU" sz="900" b="1" i="0">
                <a:effectLst/>
                <a:latin typeface="Roboto" panose="02000000000000000000" pitchFamily="2" charset="0"/>
              </a:rPr>
              <a:t>E</a:t>
            </a:r>
            <a:r>
              <a:rPr lang="en-AU" sz="900" b="1"/>
              <a:t>xternal Reasoner (like </a:t>
            </a:r>
            <a:r>
              <a:rPr lang="en-AU" sz="900" b="1" err="1"/>
              <a:t>HermiT</a:t>
            </a:r>
            <a:r>
              <a:rPr lang="en-AU" sz="900" b="1"/>
              <a:t> or Pellet) -  </a:t>
            </a:r>
            <a:br>
              <a:rPr lang="en-AU" sz="900" b="1"/>
            </a:br>
            <a:r>
              <a:rPr lang="en-AU" sz="900"/>
              <a:t>Materialize inferred edges before storing them in Neo4j.</a:t>
            </a:r>
          </a:p>
        </p:txBody>
      </p:sp>
      <p:sp>
        <p:nvSpPr>
          <p:cNvPr id="10" name="TextBox 9">
            <a:extLst>
              <a:ext uri="{FF2B5EF4-FFF2-40B4-BE49-F238E27FC236}">
                <a16:creationId xmlns:a16="http://schemas.microsoft.com/office/drawing/2014/main" id="{11105253-A59A-5B26-1640-F610F6DE0E37}"/>
              </a:ext>
            </a:extLst>
          </p:cNvPr>
          <p:cNvSpPr txBox="1"/>
          <p:nvPr/>
        </p:nvSpPr>
        <p:spPr>
          <a:xfrm>
            <a:off x="177952" y="2525620"/>
            <a:ext cx="10972800" cy="40011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2000" b="1">
                <a:latin typeface="Calibri"/>
              </a:rPr>
              <a:t>Tiger Graph													Neo4j</a:t>
            </a:r>
            <a:endParaRPr kumimoji="0" sz="2000" b="1" i="0" u="none" strike="noStrike" kern="1200" cap="none" spc="0" normalizeH="0" baseline="0" noProof="0">
              <a:ln>
                <a:noFill/>
              </a:ln>
              <a:effectLst/>
              <a:uLnTx/>
              <a:uFillTx/>
              <a:latin typeface="Calibri"/>
              <a:ea typeface="+mn-ea"/>
              <a:cs typeface="+mn-cs"/>
            </a:endParaRPr>
          </a:p>
        </p:txBody>
      </p:sp>
    </p:spTree>
    <p:extLst>
      <p:ext uri="{BB962C8B-B14F-4D97-AF65-F5344CB8AC3E}">
        <p14:creationId xmlns:p14="http://schemas.microsoft.com/office/powerpoint/2010/main" val="3704887707"/>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E117B30C-F119-D1A9-1D15-65E89EAE42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45239C-99A4-FBDD-8289-75D1FF5E4A85}"/>
              </a:ext>
            </a:extLst>
          </p:cNvPr>
          <p:cNvSpPr txBox="1"/>
          <p:nvPr/>
        </p:nvSpPr>
        <p:spPr>
          <a:xfrm>
            <a:off x="914400" y="2011680"/>
            <a:ext cx="1005840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a:ln>
                  <a:noFill/>
                </a:ln>
                <a:effectLst/>
                <a:uLnTx/>
                <a:uFillTx/>
                <a:latin typeface="Aptos" panose="02110004020202020204"/>
                <a:ea typeface="+mn-ea"/>
                <a:cs typeface="+mn-cs"/>
              </a:rPr>
              <a:t>Solution</a:t>
            </a:r>
            <a:endParaRPr kumimoji="0" sz="4000" b="1" i="0" u="none" strike="noStrike" kern="1200" cap="none" spc="0" normalizeH="0" baseline="0" noProof="0">
              <a:ln>
                <a:noFill/>
              </a:ln>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1AEE02BD-1B71-4835-FD1D-25B0CFD2C0CA}"/>
              </a:ext>
            </a:extLst>
          </p:cNvPr>
          <p:cNvSpPr/>
          <p:nvPr/>
        </p:nvSpPr>
        <p:spPr>
          <a:xfrm>
            <a:off x="4419752" y="2821094"/>
            <a:ext cx="3047695" cy="365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EB0BAF37-0FAE-A6CE-E2EC-B249D2883923}"/>
              </a:ext>
            </a:extLst>
          </p:cNvPr>
          <p:cNvSpPr txBox="1"/>
          <p:nvPr/>
        </p:nvSpPr>
        <p:spPr>
          <a:xfrm>
            <a:off x="4043441" y="2959198"/>
            <a:ext cx="6096000" cy="3231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500" b="1" i="0" u="none" strike="noStrike" kern="1200" cap="none" spc="0" normalizeH="0" baseline="0" noProof="0">
                <a:ln>
                  <a:noFill/>
                </a:ln>
                <a:effectLst/>
                <a:uLnTx/>
                <a:uFillTx/>
                <a:latin typeface="Calibri"/>
                <a:ea typeface="+mn-ea"/>
                <a:cs typeface="+mn-cs"/>
              </a:rPr>
              <a:t>SNOWFLAKE - GRAPH, GRAPHRAG, ONTOLOGY</a:t>
            </a:r>
          </a:p>
        </p:txBody>
      </p:sp>
    </p:spTree>
    <p:extLst>
      <p:ext uri="{BB962C8B-B14F-4D97-AF65-F5344CB8AC3E}">
        <p14:creationId xmlns:p14="http://schemas.microsoft.com/office/powerpoint/2010/main" val="1338782695"/>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1B8D04FE-BFF8-BC95-8312-B9045DC1925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BE7DC90-7CE0-8BBC-2F26-9227F9F460F1}"/>
              </a:ext>
            </a:extLst>
          </p:cNvPr>
          <p:cNvSpPr txBox="1"/>
          <p:nvPr/>
        </p:nvSpPr>
        <p:spPr>
          <a:xfrm>
            <a:off x="135468" y="86474"/>
            <a:ext cx="10972800" cy="553998"/>
          </a:xfrm>
          <a:prstGeom prst="rect">
            <a:avLst/>
          </a:prstGeom>
          <a:noFill/>
        </p:spPr>
        <p:txBody>
          <a:bodyPr wrap="square">
            <a:spAutoFit/>
          </a:bodyPr>
          <a:lstStyle/>
          <a:p>
            <a:pPr lvl="0">
              <a:defRPr/>
            </a:pPr>
            <a:r>
              <a:rPr lang="en-AU" sz="3000" b="1">
                <a:latin typeface="Calibri"/>
              </a:rPr>
              <a:t>SNOWFLAKE</a:t>
            </a:r>
          </a:p>
        </p:txBody>
      </p:sp>
      <p:sp>
        <p:nvSpPr>
          <p:cNvPr id="8" name="TextBox 7">
            <a:extLst>
              <a:ext uri="{FF2B5EF4-FFF2-40B4-BE49-F238E27FC236}">
                <a16:creationId xmlns:a16="http://schemas.microsoft.com/office/drawing/2014/main" id="{3FD0CF90-0AA8-DB21-2FAB-3A16E64FA454}"/>
              </a:ext>
            </a:extLst>
          </p:cNvPr>
          <p:cNvSpPr txBox="1"/>
          <p:nvPr/>
        </p:nvSpPr>
        <p:spPr>
          <a:xfrm>
            <a:off x="211667" y="708208"/>
            <a:ext cx="11650133" cy="3693319"/>
          </a:xfrm>
          <a:prstGeom prst="rect">
            <a:avLst/>
          </a:prstGeom>
          <a:noFill/>
          <a:ln>
            <a:solidFill>
              <a:schemeClr val="tx1"/>
            </a:solidFill>
          </a:ln>
        </p:spPr>
        <p:txBody>
          <a:bodyPr wrap="square">
            <a:spAutoFit/>
          </a:bodyPr>
          <a:lstStyle/>
          <a:p>
            <a:pPr lvl="0">
              <a:defRPr/>
            </a:pPr>
            <a:r>
              <a:rPr lang="en-AU" sz="900" b="1">
                <a:latin typeface="Calibri"/>
              </a:rPr>
              <a:t>Snowflake has a structured layered approach for solving for Graph &amp; Ontology features.</a:t>
            </a:r>
          </a:p>
          <a:p>
            <a:pPr lvl="0">
              <a:defRPr/>
            </a:pPr>
            <a:r>
              <a:rPr lang="en-AU" sz="900" b="1">
                <a:latin typeface="Calibri"/>
              </a:rPr>
              <a:t>Physical Storage – Raw data into KG_NODE &amp; KG_EDGE tables</a:t>
            </a:r>
            <a:br>
              <a:rPr lang="en-AU" sz="900" b="1">
                <a:latin typeface="Calibri"/>
              </a:rPr>
            </a:br>
            <a:r>
              <a:rPr lang="en-AU" sz="900" b="1">
                <a:latin typeface="Calibri"/>
              </a:rPr>
              <a:t>Ontology Metadata – Define YAMLs with class hierarchy, synonyms and business definition on data</a:t>
            </a:r>
          </a:p>
          <a:p>
            <a:pPr lvl="0">
              <a:defRPr/>
            </a:pPr>
            <a:r>
              <a:rPr lang="en-AU" sz="900" b="1">
                <a:latin typeface="Calibri"/>
              </a:rPr>
              <a:t>Views – Auto generated dynamic semantic views for Cortex Agents to query</a:t>
            </a:r>
          </a:p>
          <a:p>
            <a:pPr lvl="0">
              <a:defRPr/>
            </a:pPr>
            <a:endParaRPr lang="en-AU" sz="900" b="1">
              <a:latin typeface="Calibri"/>
            </a:endParaRPr>
          </a:p>
          <a:p>
            <a:pPr lvl="0">
              <a:defRPr/>
            </a:pPr>
            <a:r>
              <a:rPr lang="en-AU" sz="900" b="1" u="sng">
                <a:latin typeface="Calibri"/>
              </a:rPr>
              <a:t>Note</a:t>
            </a:r>
          </a:p>
          <a:p>
            <a:pPr marL="171450" lvl="0" indent="-171450">
              <a:buSzPts val="1000"/>
              <a:buFont typeface="Arial" panose="020B0604020202020204" pitchFamily="34" charset="0"/>
              <a:buChar char="•"/>
              <a:tabLst>
                <a:tab pos="457200" algn="l"/>
              </a:tabLst>
            </a:pPr>
            <a:r>
              <a:rPr lang="en-AU" sz="900" b="1">
                <a:latin typeface="Calibri"/>
              </a:rPr>
              <a:t>Snowflake’s implementation </a:t>
            </a:r>
            <a:r>
              <a:rPr lang="en-AU" sz="900" b="1" u="sng">
                <a:latin typeface="Calibri"/>
              </a:rPr>
              <a:t>DOES NOT USE</a:t>
            </a:r>
            <a:r>
              <a:rPr lang="en-AU" sz="900" b="1">
                <a:latin typeface="Calibri"/>
              </a:rPr>
              <a:t> traditional semantic web framework like RDF (</a:t>
            </a:r>
            <a:r>
              <a:rPr lang="en-AU" sz="900" b="1">
                <a:latin typeface="Aptos Display (Headings)"/>
                <a:ea typeface="Times New Roman" panose="02020603050405020304" pitchFamily="18" charset="0"/>
                <a:cs typeface="Aptos" panose="020B0004020202020204" pitchFamily="34" charset="0"/>
              </a:rPr>
              <a:t>Resource Description Framework)</a:t>
            </a:r>
            <a:r>
              <a:rPr lang="en-AU" sz="900" b="1">
                <a:latin typeface="Calibri"/>
              </a:rPr>
              <a:t>, OWL </a:t>
            </a:r>
            <a:r>
              <a:rPr lang="en-AU" sz="900" b="1">
                <a:latin typeface="Aptos Display (Headings)"/>
                <a:ea typeface="Times New Roman" panose="02020603050405020304" pitchFamily="18" charset="0"/>
                <a:cs typeface="Aptos" panose="020B0004020202020204" pitchFamily="34" charset="0"/>
              </a:rPr>
              <a:t>(Web Ontology Language)</a:t>
            </a:r>
            <a:r>
              <a:rPr lang="en-AU" sz="900" b="1">
                <a:latin typeface="Calibri"/>
              </a:rPr>
              <a:t>, TURTLE OR N-TRIPLES</a:t>
            </a:r>
          </a:p>
          <a:p>
            <a:pPr marL="171450" lvl="0" indent="-171450">
              <a:buSzPts val="1000"/>
              <a:buFont typeface="Arial" panose="020B0604020202020204" pitchFamily="34" charset="0"/>
              <a:buChar char="•"/>
              <a:tabLst>
                <a:tab pos="457200" algn="l"/>
              </a:tabLst>
            </a:pPr>
            <a:endParaRPr lang="en-AU" sz="900" b="1">
              <a:latin typeface="Calibri"/>
            </a:endParaRPr>
          </a:p>
          <a:p>
            <a:pPr marL="171450" indent="-171450">
              <a:buFont typeface="Arial" panose="020B0604020202020204" pitchFamily="34" charset="0"/>
              <a:buChar char="•"/>
            </a:pPr>
            <a:r>
              <a:rPr lang="en-AU" sz="900"/>
              <a:t>Snowflake has </a:t>
            </a:r>
            <a:r>
              <a:rPr lang="en-AU" sz="900" b="1" u="sng"/>
              <a:t>NO NATIVE</a:t>
            </a:r>
            <a:r>
              <a:rPr lang="en-AU" sz="900"/>
              <a:t> graph database or graph algorithms at all; we rely on Neo4j's native app (65+ algorithms) or </a:t>
            </a:r>
            <a:r>
              <a:rPr lang="en-AU" sz="900" err="1"/>
              <a:t>RelationalAI</a:t>
            </a:r>
            <a:r>
              <a:rPr lang="en-AU" sz="900"/>
              <a:t> for graph analytics.</a:t>
            </a:r>
            <a:br>
              <a:rPr lang="en-AU" sz="900"/>
            </a:br>
            <a:r>
              <a:rPr lang="en-AU" sz="900"/>
              <a:t>All the neo4j ones and </a:t>
            </a:r>
            <a:r>
              <a:rPr lang="en-AU" sz="900" err="1"/>
              <a:t>RelationalAI</a:t>
            </a:r>
            <a:r>
              <a:rPr lang="en-AU" sz="900"/>
              <a:t> ones are available to use within Snowflake context  ****</a:t>
            </a:r>
          </a:p>
          <a:p>
            <a:pPr lvl="0">
              <a:buSzPts val="1000"/>
              <a:tabLst>
                <a:tab pos="457200" algn="l"/>
              </a:tabLst>
            </a:pPr>
            <a:endParaRPr lang="en-AU" sz="900" b="1">
              <a:latin typeface="Calibri"/>
            </a:endParaRPr>
          </a:p>
          <a:p>
            <a:pPr lvl="0">
              <a:defRPr/>
            </a:pPr>
            <a:endParaRPr lang="en-AU" sz="900" b="1">
              <a:latin typeface="Calibri"/>
            </a:endParaRPr>
          </a:p>
          <a:p>
            <a:pPr marL="171450" lvl="0" indent="-171450">
              <a:buFont typeface="Arial" panose="020B0604020202020204" pitchFamily="34" charset="0"/>
              <a:buChar char="•"/>
              <a:defRPr/>
            </a:pPr>
            <a:r>
              <a:rPr lang="en-AU" sz="900" b="1">
                <a:highlight>
                  <a:srgbClr val="C0C0C0"/>
                </a:highlight>
                <a:latin typeface="Calibri"/>
              </a:rPr>
              <a:t>If we still want to use the standard frameworks</a:t>
            </a:r>
            <a:br>
              <a:rPr lang="en-AU" sz="900" b="1">
                <a:highlight>
                  <a:srgbClr val="C0C0C0"/>
                </a:highlight>
                <a:latin typeface="Calibri"/>
              </a:rPr>
            </a:br>
            <a:r>
              <a:rPr lang="en-AU" sz="900" b="1">
                <a:highlight>
                  <a:srgbClr val="C0C0C0"/>
                </a:highlight>
                <a:latin typeface="Calibri"/>
              </a:rPr>
              <a:t>WE MUST CREATE A PYTHON STORED PROCEDURE USING (RDFLIB) + (.OWL, .RDF, .TTL / .NT)  WHICH FLATENS THE COMPLEX SCHEMAS AND DOES THE EXTRACTION OF CLASS HIERARCHY AND LOADS KG_NODE AND KG_EDGE TABLES.</a:t>
            </a:r>
          </a:p>
          <a:p>
            <a:pPr marL="628650" lvl="1" indent="-171450">
              <a:buFont typeface="Arial" panose="020B0604020202020204" pitchFamily="34" charset="0"/>
              <a:buChar char="•"/>
              <a:defRPr/>
            </a:pPr>
            <a:r>
              <a:rPr lang="en-AU" sz="900" b="1" u="sng">
                <a:highlight>
                  <a:srgbClr val="C0C0C0"/>
                </a:highlight>
                <a:latin typeface="Calibri"/>
              </a:rPr>
              <a:t>Steps for Implementation</a:t>
            </a:r>
          </a:p>
          <a:p>
            <a:pPr marL="1085850" lvl="2" indent="-171450">
              <a:buFont typeface="Arial" panose="020B0604020202020204" pitchFamily="34" charset="0"/>
              <a:buChar char="•"/>
              <a:defRPr/>
            </a:pPr>
            <a:r>
              <a:rPr lang="en-AU" sz="900" b="1">
                <a:highlight>
                  <a:srgbClr val="C0C0C0"/>
                </a:highlight>
                <a:latin typeface="Calibri"/>
              </a:rPr>
              <a:t>Create internal stage to host the ontology files (.OWL, .RDF, .TTL / .NT) </a:t>
            </a:r>
          </a:p>
          <a:p>
            <a:pPr marL="1085850" lvl="2" indent="-171450">
              <a:buFont typeface="Arial" panose="020B0604020202020204" pitchFamily="34" charset="0"/>
              <a:buChar char="•"/>
              <a:defRPr/>
            </a:pPr>
            <a:r>
              <a:rPr lang="en-AU" sz="900" b="1">
                <a:highlight>
                  <a:srgbClr val="C0C0C0"/>
                </a:highlight>
                <a:latin typeface="Calibri"/>
              </a:rPr>
              <a:t>Use the ontology-stack-builder skill and this ends up doing all the heavy lifting for ingestion and processing.</a:t>
            </a:r>
          </a:p>
          <a:p>
            <a:pPr marL="1543050" lvl="3" indent="-171450">
              <a:buFont typeface="Arial" panose="020B0604020202020204" pitchFamily="34" charset="0"/>
              <a:buChar char="•"/>
              <a:defRPr/>
            </a:pPr>
            <a:r>
              <a:rPr lang="en-AU" sz="900" b="1">
                <a:highlight>
                  <a:srgbClr val="C0C0C0"/>
                </a:highlight>
                <a:latin typeface="Calibri"/>
              </a:rPr>
              <a:t>It will end up writing a Python code for us which refers to the ontology file saved on internal stage and uses RDFLIB to automatically read / update graph structure and generates / extracts </a:t>
            </a:r>
          </a:p>
          <a:p>
            <a:pPr marL="2000250" lvl="4" indent="-171450">
              <a:buFont typeface="Arial" panose="020B0604020202020204" pitchFamily="34" charset="0"/>
              <a:buChar char="•"/>
              <a:defRPr/>
            </a:pPr>
            <a:r>
              <a:rPr lang="en-AU" sz="900" b="1">
                <a:highlight>
                  <a:srgbClr val="C0C0C0"/>
                </a:highlight>
                <a:latin typeface="Calibri"/>
              </a:rPr>
              <a:t>Class hierarchies (subclass, ancestor-descendant rules etc)</a:t>
            </a:r>
          </a:p>
          <a:p>
            <a:pPr marL="2000250" lvl="4" indent="-171450">
              <a:buFont typeface="Arial" panose="020B0604020202020204" pitchFamily="34" charset="0"/>
              <a:buChar char="•"/>
              <a:defRPr/>
            </a:pPr>
            <a:r>
              <a:rPr lang="en-AU" sz="900" b="1">
                <a:highlight>
                  <a:srgbClr val="C0C0C0"/>
                </a:highlight>
                <a:latin typeface="Calibri"/>
              </a:rPr>
              <a:t>Object Properties (domain, range, inverse relationship etc)</a:t>
            </a:r>
          </a:p>
          <a:p>
            <a:pPr marL="2000250" lvl="4" indent="-171450">
              <a:buFont typeface="Arial" panose="020B0604020202020204" pitchFamily="34" charset="0"/>
              <a:buChar char="•"/>
              <a:defRPr/>
            </a:pPr>
            <a:r>
              <a:rPr lang="en-AU" sz="900" b="1">
                <a:highlight>
                  <a:srgbClr val="C0C0C0"/>
                </a:highlight>
                <a:latin typeface="Calibri"/>
              </a:rPr>
              <a:t>Individual entities (concrete data entities)</a:t>
            </a:r>
          </a:p>
          <a:p>
            <a:pPr marL="1085850" lvl="2" indent="-171450">
              <a:buFont typeface="Arial" panose="020B0604020202020204" pitchFamily="34" charset="0"/>
              <a:buChar char="•"/>
              <a:defRPr/>
            </a:pPr>
            <a:r>
              <a:rPr lang="en-AU" sz="900" b="1">
                <a:highlight>
                  <a:srgbClr val="C0C0C0"/>
                </a:highlight>
                <a:latin typeface="Calibri"/>
              </a:rPr>
              <a:t>The above process does the parsing of incoming data and normalises graph facts and loads them to KG_NODE and KG_EDGE tables</a:t>
            </a:r>
          </a:p>
          <a:p>
            <a:pPr marL="1085850" lvl="2" indent="-171450">
              <a:buFont typeface="Arial" panose="020B0604020202020204" pitchFamily="34" charset="0"/>
              <a:buChar char="•"/>
              <a:defRPr/>
            </a:pPr>
            <a:endParaRPr lang="en-AU" sz="900" b="1">
              <a:latin typeface="Calibri"/>
            </a:endParaRPr>
          </a:p>
          <a:p>
            <a:pPr marL="1085850" lvl="2" indent="-171450">
              <a:buFont typeface="Arial" panose="020B0604020202020204" pitchFamily="34" charset="0"/>
              <a:buChar char="•"/>
              <a:defRPr/>
            </a:pPr>
            <a:endParaRPr lang="en-AU" sz="900" b="1">
              <a:latin typeface="Calibri"/>
            </a:endParaRPr>
          </a:p>
          <a:p>
            <a:pPr>
              <a:defRPr/>
            </a:pPr>
            <a:r>
              <a:rPr lang="en-AU" sz="900" b="1">
                <a:latin typeface="Calibri"/>
              </a:rPr>
              <a:t>ONCE THE DATA IS IN  KG_NODE &amp; KG_EDGE TABLES (either via Custom Ingestion Procedure OR standard industry frameworks), THE ONTOLOGY EXECUTION, FEATURE GENERATION, CORTEX AGENT FOR QUERYING THE DATA – THIS PART OF THE IMPLEMENTATION IS THE SAME.</a:t>
            </a:r>
          </a:p>
        </p:txBody>
      </p:sp>
      <p:sp>
        <p:nvSpPr>
          <p:cNvPr id="73" name="TextBox 72">
            <a:extLst>
              <a:ext uri="{FF2B5EF4-FFF2-40B4-BE49-F238E27FC236}">
                <a16:creationId xmlns:a16="http://schemas.microsoft.com/office/drawing/2014/main" id="{D8BAF568-DBDB-48EA-D8E6-A41D57CF2CEE}"/>
              </a:ext>
            </a:extLst>
          </p:cNvPr>
          <p:cNvSpPr txBox="1"/>
          <p:nvPr/>
        </p:nvSpPr>
        <p:spPr>
          <a:xfrm>
            <a:off x="298449" y="6192139"/>
            <a:ext cx="11377083" cy="338554"/>
          </a:xfrm>
          <a:prstGeom prst="rect">
            <a:avLst/>
          </a:prstGeom>
          <a:noFill/>
        </p:spPr>
        <p:txBody>
          <a:bodyPr wrap="square">
            <a:spAutoFit/>
          </a:bodyPr>
          <a:lstStyle/>
          <a:p>
            <a:r>
              <a:rPr lang="en-AU" sz="800"/>
              <a:t>****</a:t>
            </a:r>
            <a:br>
              <a:rPr lang="en-AU" sz="800"/>
            </a:br>
            <a:r>
              <a:rPr lang="en-AU" sz="800" b="1"/>
              <a:t>For enablement and implementation of Graph (Neo4j) and </a:t>
            </a:r>
            <a:r>
              <a:rPr lang="en-AU" sz="800" b="1" err="1"/>
              <a:t>GraphRAG</a:t>
            </a:r>
            <a:r>
              <a:rPr lang="en-AU" sz="800" b="1"/>
              <a:t> (</a:t>
            </a:r>
            <a:r>
              <a:rPr lang="en-AU" sz="800" b="1" err="1"/>
              <a:t>RelationalAI</a:t>
            </a:r>
            <a:r>
              <a:rPr lang="en-AU" sz="800" b="1"/>
              <a:t>) capabilities within Snowflake, kindly refer </a:t>
            </a:r>
            <a:r>
              <a:rPr lang="en-AU" sz="800" b="1">
                <a:sym typeface="Wingdings" panose="05000000000000000000" pitchFamily="2" charset="2"/>
              </a:rPr>
              <a:t> </a:t>
            </a:r>
            <a:r>
              <a:rPr lang="en-AU" sz="800">
                <a:hlinkClick r:id="rId4">
                  <a:extLst>
                    <a:ext uri="{A12FA001-AC4F-418D-AE19-62706E023703}">
                      <ahyp:hlinkClr xmlns:ahyp="http://schemas.microsoft.com/office/drawing/2018/hyperlinkcolor" val="tx"/>
                    </a:ext>
                  </a:extLst>
                </a:hlinkClick>
              </a:rPr>
              <a:t>Snowflake ML, Agentic Framework - CTO Strategy and Architecture - Westpac Enterprise Confluence</a:t>
            </a:r>
            <a:endParaRPr lang="en-AU" sz="800"/>
          </a:p>
        </p:txBody>
      </p:sp>
      <p:sp>
        <p:nvSpPr>
          <p:cNvPr id="5" name="TextBox 4">
            <a:extLst>
              <a:ext uri="{FF2B5EF4-FFF2-40B4-BE49-F238E27FC236}">
                <a16:creationId xmlns:a16="http://schemas.microsoft.com/office/drawing/2014/main" id="{48369389-1A34-B3A3-D451-0497E2BB68C1}"/>
              </a:ext>
            </a:extLst>
          </p:cNvPr>
          <p:cNvSpPr txBox="1"/>
          <p:nvPr/>
        </p:nvSpPr>
        <p:spPr>
          <a:xfrm>
            <a:off x="143935" y="4627730"/>
            <a:ext cx="11827932" cy="923330"/>
          </a:xfrm>
          <a:prstGeom prst="rect">
            <a:avLst/>
          </a:prstGeom>
          <a:noFill/>
          <a:ln>
            <a:solidFill>
              <a:schemeClr val="tx1"/>
            </a:solidFill>
          </a:ln>
        </p:spPr>
        <p:txBody>
          <a:bodyPr wrap="square">
            <a:spAutoFit/>
          </a:bodyPr>
          <a:lstStyle/>
          <a:p>
            <a:pPr>
              <a:buNone/>
            </a:pPr>
            <a:r>
              <a:rPr lang="en-AU" sz="900">
                <a:highlight>
                  <a:srgbClr val="C0C0C0"/>
                </a:highlight>
                <a:latin typeface="Aptos" panose="020B0004020202020204" pitchFamily="34" charset="0"/>
                <a:ea typeface="Times New Roman" panose="02020603050405020304" pitchFamily="18" charset="0"/>
                <a:cs typeface="Aptos" panose="020B0004020202020204" pitchFamily="34" charset="0"/>
              </a:rPr>
              <a:t>I</a:t>
            </a:r>
            <a:r>
              <a:rPr lang="en-AU" sz="900">
                <a:effectLst/>
                <a:highlight>
                  <a:srgbClr val="C0C0C0"/>
                </a:highlight>
                <a:latin typeface="Aptos" panose="020B0004020202020204" pitchFamily="34" charset="0"/>
                <a:ea typeface="Times New Roman" panose="02020603050405020304" pitchFamily="18" charset="0"/>
                <a:cs typeface="Aptos" panose="020B0004020202020204" pitchFamily="34" charset="0"/>
              </a:rPr>
              <a:t>t is </a:t>
            </a:r>
            <a:r>
              <a:rPr lang="en-AU" sz="900" b="1">
                <a:effectLst/>
                <a:highlight>
                  <a:srgbClr val="C0C0C0"/>
                </a:highlight>
                <a:latin typeface="Arial" panose="020B0604020202020204" pitchFamily="34" charset="0"/>
                <a:ea typeface="Times New Roman" panose="02020603050405020304" pitchFamily="18" charset="0"/>
                <a:cs typeface="Aptos" panose="020B0004020202020204" pitchFamily="34" charset="0"/>
              </a:rPr>
              <a:t>NOT MANDATORY </a:t>
            </a:r>
            <a:r>
              <a:rPr lang="en-AU" sz="900">
                <a:effectLst/>
                <a:highlight>
                  <a:srgbClr val="C0C0C0"/>
                </a:highlight>
                <a:latin typeface="Aptos" panose="020B0004020202020204" pitchFamily="34" charset="0"/>
                <a:ea typeface="Times New Roman" panose="02020603050405020304" pitchFamily="18" charset="0"/>
                <a:cs typeface="Aptos" panose="020B0004020202020204" pitchFamily="34" charset="0"/>
              </a:rPr>
              <a:t>to use an OWL (Web Ontology Language) framework in Snowflake. </a:t>
            </a:r>
            <a:br>
              <a:rPr lang="en-AU" sz="900">
                <a:effectLst/>
                <a:highlight>
                  <a:srgbClr val="C0C0C0"/>
                </a:highlight>
                <a:latin typeface="Aptos" panose="020B0004020202020204" pitchFamily="34" charset="0"/>
                <a:ea typeface="Times New Roman" panose="02020603050405020304" pitchFamily="18" charset="0"/>
                <a:cs typeface="Aptos" panose="020B0004020202020204" pitchFamily="34" charset="0"/>
              </a:rPr>
            </a:br>
            <a:r>
              <a:rPr lang="en-AU" sz="900">
                <a:effectLst/>
                <a:highlight>
                  <a:srgbClr val="C0C0C0"/>
                </a:highlight>
                <a:latin typeface="Aptos" panose="020B0004020202020204" pitchFamily="34" charset="0"/>
                <a:ea typeface="Times New Roman" panose="02020603050405020304" pitchFamily="18" charset="0"/>
                <a:cs typeface="Aptos" panose="020B0004020202020204" pitchFamily="34" charset="0"/>
              </a:rPr>
              <a:t>While </a:t>
            </a:r>
            <a:r>
              <a:rPr lang="en-AU" sz="900">
                <a:highlight>
                  <a:srgbClr val="C0C0C0"/>
                </a:highlight>
                <a:latin typeface="Aptos" panose="020B0004020202020204" pitchFamily="34" charset="0"/>
                <a:ea typeface="Times New Roman" panose="02020603050405020304" pitchFamily="18" charset="0"/>
                <a:cs typeface="Aptos" panose="020B0004020202020204" pitchFamily="34" charset="0"/>
              </a:rPr>
              <a:t>we</a:t>
            </a:r>
            <a:r>
              <a:rPr lang="en-AU" sz="900">
                <a:effectLst/>
                <a:highlight>
                  <a:srgbClr val="C0C0C0"/>
                </a:highlight>
                <a:latin typeface="Aptos" panose="020B0004020202020204" pitchFamily="34" charset="0"/>
                <a:ea typeface="Times New Roman" panose="02020603050405020304" pitchFamily="18" charset="0"/>
                <a:cs typeface="Aptos" panose="020B0004020202020204" pitchFamily="34" charset="0"/>
              </a:rPr>
              <a:t> can import and parse OWL files into Snowflake, the modern standard for implementing enterprise ontologies natively in the platform relies on </a:t>
            </a:r>
            <a:r>
              <a:rPr lang="en-AU" sz="900" b="1">
                <a:effectLst/>
                <a:highlight>
                  <a:srgbClr val="C0C0C0"/>
                </a:highlight>
                <a:latin typeface="Arial" panose="020B0604020202020204" pitchFamily="34" charset="0"/>
                <a:ea typeface="Times New Roman" panose="02020603050405020304" pitchFamily="18" charset="0"/>
                <a:cs typeface="Aptos" panose="020B0004020202020204" pitchFamily="34" charset="0"/>
              </a:rPr>
              <a:t>relational tables and semantic views</a:t>
            </a:r>
            <a:r>
              <a:rPr lang="en-AU" sz="900">
                <a:effectLst/>
                <a:highlight>
                  <a:srgbClr val="C0C0C0"/>
                </a:highlight>
                <a:latin typeface="Aptos" panose="020B0004020202020204" pitchFamily="34" charset="0"/>
                <a:ea typeface="Times New Roman" panose="02020603050405020304" pitchFamily="18" charset="0"/>
                <a:cs typeface="Aptos" panose="020B0004020202020204" pitchFamily="34" charset="0"/>
              </a:rPr>
              <a:t> rather than traditional semantic web frameworks.</a:t>
            </a:r>
            <a:br>
              <a:rPr lang="en-AU" sz="900">
                <a:effectLst/>
                <a:highlight>
                  <a:srgbClr val="C0C0C0"/>
                </a:highlight>
                <a:latin typeface="Aptos" panose="020B0004020202020204" pitchFamily="34" charset="0"/>
                <a:ea typeface="Times New Roman" panose="02020603050405020304" pitchFamily="18" charset="0"/>
                <a:cs typeface="Aptos" panose="020B0004020202020204" pitchFamily="34" charset="0"/>
              </a:rPr>
            </a:br>
            <a:r>
              <a:rPr lang="en-AU" sz="900">
                <a:effectLst/>
                <a:highlight>
                  <a:srgbClr val="C0C0C0"/>
                </a:highlight>
                <a:latin typeface="Aptos" panose="020B0004020202020204" pitchFamily="34" charset="0"/>
                <a:ea typeface="Times New Roman" panose="02020603050405020304" pitchFamily="18" charset="0"/>
                <a:cs typeface="Aptos" panose="020B0004020202020204" pitchFamily="34" charset="0"/>
              </a:rPr>
              <a:t>Snowflake allows to operationalize existing OWL definitions by parsing </a:t>
            </a:r>
            <a:r>
              <a:rPr lang="en-AU" sz="900">
                <a:highlight>
                  <a:srgbClr val="C0C0C0"/>
                </a:highlight>
                <a:latin typeface="+mj-lt"/>
                <a:ea typeface="Times New Roman" panose="02020603050405020304" pitchFamily="18" charset="0"/>
                <a:cs typeface="Aptos" panose="020B0004020202020204" pitchFamily="34" charset="0"/>
              </a:rPr>
              <a:t>them </a:t>
            </a:r>
            <a:r>
              <a:rPr lang="en-AU" sz="900">
                <a:effectLst/>
                <a:highlight>
                  <a:srgbClr val="C0C0C0"/>
                </a:highlight>
                <a:latin typeface="+mj-lt"/>
                <a:ea typeface="Times New Roman" panose="02020603050405020304" pitchFamily="18" charset="0"/>
                <a:cs typeface="Aptos" panose="020B0004020202020204" pitchFamily="34" charset="0"/>
              </a:rPr>
              <a:t>(e.g., via Python libraries like </a:t>
            </a:r>
            <a:r>
              <a:rPr lang="en-AU" sz="900" b="1" err="1">
                <a:effectLst/>
                <a:highlight>
                  <a:srgbClr val="C0C0C0"/>
                </a:highlight>
                <a:latin typeface="+mj-lt"/>
                <a:ea typeface="Aptos" panose="020B0004020202020204" pitchFamily="34" charset="0"/>
                <a:cs typeface="Aptos" panose="020B0004020202020204" pitchFamily="34" charset="0"/>
              </a:rPr>
              <a:t>rdflib</a:t>
            </a:r>
            <a:r>
              <a:rPr lang="en-AU" sz="900">
                <a:effectLst/>
                <a:highlight>
                  <a:srgbClr val="C0C0C0"/>
                </a:highlight>
                <a:latin typeface="+mj-lt"/>
                <a:ea typeface="Times New Roman" panose="02020603050405020304" pitchFamily="18" charset="0"/>
                <a:cs typeface="Aptos" panose="020B0004020202020204" pitchFamily="34" charset="0"/>
              </a:rPr>
              <a:t>) and simply loading the extracted classifications and properties into Snowflake's native node-edge structures.</a:t>
            </a:r>
          </a:p>
          <a:p>
            <a:pPr>
              <a:buNone/>
            </a:pPr>
            <a:endParaRPr lang="en-AU" sz="900">
              <a:latin typeface="+mj-lt"/>
              <a:ea typeface="Aptos" panose="020B0004020202020204" pitchFamily="34" charset="0"/>
              <a:cs typeface="Aptos" panose="020B0004020202020204" pitchFamily="34" charset="0"/>
            </a:endParaRPr>
          </a:p>
          <a:p>
            <a:r>
              <a:rPr lang="en-AU" sz="900"/>
              <a:t>Separate Slide shows how “</a:t>
            </a:r>
            <a:r>
              <a:rPr lang="en-AU" sz="900">
                <a:highlight>
                  <a:srgbClr val="C0C0C0"/>
                </a:highlight>
              </a:rPr>
              <a:t>THIS</a:t>
            </a:r>
            <a:r>
              <a:rPr lang="en-AU" sz="900"/>
              <a:t>” can be implemented.</a:t>
            </a:r>
          </a:p>
        </p:txBody>
      </p:sp>
    </p:spTree>
    <p:extLst>
      <p:ext uri="{BB962C8B-B14F-4D97-AF65-F5344CB8AC3E}">
        <p14:creationId xmlns:p14="http://schemas.microsoft.com/office/powerpoint/2010/main" val="1989790082"/>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CA7C6630-75A6-7D78-3988-66DC9CED29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D394B61-86FE-0894-B075-ECD64F4F1DAE}"/>
              </a:ext>
            </a:extLst>
          </p:cNvPr>
          <p:cNvSpPr txBox="1"/>
          <p:nvPr/>
        </p:nvSpPr>
        <p:spPr>
          <a:xfrm>
            <a:off x="135468" y="86474"/>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SNOWFLAKE – Data Flow</a:t>
            </a:r>
          </a:p>
        </p:txBody>
      </p:sp>
      <p:sp>
        <p:nvSpPr>
          <p:cNvPr id="9" name="Rounded Rectangle 9">
            <a:extLst>
              <a:ext uri="{FF2B5EF4-FFF2-40B4-BE49-F238E27FC236}">
                <a16:creationId xmlns:a16="http://schemas.microsoft.com/office/drawing/2014/main" id="{810E732F-2C6C-A5AA-D3F0-B0B7FAA71AF6}"/>
              </a:ext>
            </a:extLst>
          </p:cNvPr>
          <p:cNvSpPr/>
          <p:nvPr/>
        </p:nvSpPr>
        <p:spPr>
          <a:xfrm>
            <a:off x="247650" y="824047"/>
            <a:ext cx="11236913" cy="2173597"/>
          </a:xfrm>
          <a:prstGeom prst="roundRect">
            <a:avLst/>
          </a:prstGeom>
          <a:solidFill>
            <a:schemeClr val="accent1">
              <a:lumMod val="60000"/>
              <a:lumOff val="40000"/>
            </a:schemeClr>
          </a:solid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t"/>
          <a:lstStyle/>
          <a:p>
            <a:r>
              <a:rPr lang="en-AU">
                <a:solidFill>
                  <a:schemeClr val="tx1"/>
                </a:solidFill>
                <a:latin typeface="Aptos" panose="02110004020202020204"/>
              </a:rPr>
              <a:t>DATA  FLOW</a:t>
            </a:r>
            <a:endParaRPr>
              <a:solidFill>
                <a:schemeClr val="tx1"/>
              </a:solidFill>
              <a:latin typeface="Aptos" panose="02110004020202020204"/>
            </a:endParaRPr>
          </a:p>
        </p:txBody>
      </p:sp>
      <p:sp>
        <p:nvSpPr>
          <p:cNvPr id="12" name="Rounded Rectangle 31">
            <a:extLst>
              <a:ext uri="{FF2B5EF4-FFF2-40B4-BE49-F238E27FC236}">
                <a16:creationId xmlns:a16="http://schemas.microsoft.com/office/drawing/2014/main" id="{2FB2CF39-C099-888A-4EFC-51CD05909B9C}"/>
              </a:ext>
            </a:extLst>
          </p:cNvPr>
          <p:cNvSpPr/>
          <p:nvPr/>
        </p:nvSpPr>
        <p:spPr>
          <a:xfrm>
            <a:off x="463243" y="1540760"/>
            <a:ext cx="835792" cy="1185846"/>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Source of Truth</a:t>
            </a:r>
            <a:br>
              <a:rPr lang="en-AU" sz="900" b="1">
                <a:solidFill>
                  <a:schemeClr val="tx1"/>
                </a:solidFill>
                <a:latin typeface="Aptos" panose="02110004020202020204"/>
              </a:rPr>
            </a:br>
            <a:r>
              <a:rPr lang="en-AU" sz="900" b="1">
                <a:solidFill>
                  <a:schemeClr val="tx1"/>
                </a:solidFill>
                <a:latin typeface="Aptos" panose="02110004020202020204"/>
              </a:rPr>
              <a:t>OR</a:t>
            </a:r>
            <a:br>
              <a:rPr lang="en-AU" sz="900" b="1">
                <a:solidFill>
                  <a:schemeClr val="tx1"/>
                </a:solidFill>
                <a:latin typeface="Aptos" panose="02110004020202020204"/>
              </a:rPr>
            </a:br>
            <a:r>
              <a:rPr lang="en-AU" sz="900" b="1">
                <a:solidFill>
                  <a:schemeClr val="tx1"/>
                </a:solidFill>
                <a:latin typeface="Aptos" panose="02110004020202020204"/>
              </a:rPr>
              <a:t>System of </a:t>
            </a:r>
            <a:br>
              <a:rPr lang="en-AU" sz="900" b="1">
                <a:solidFill>
                  <a:schemeClr val="tx1"/>
                </a:solidFill>
                <a:latin typeface="Aptos" panose="02110004020202020204"/>
              </a:rPr>
            </a:br>
            <a:r>
              <a:rPr lang="en-AU" sz="900" b="1">
                <a:solidFill>
                  <a:schemeClr val="tx1"/>
                </a:solidFill>
                <a:latin typeface="Aptos" panose="02110004020202020204"/>
              </a:rPr>
              <a:t>Record</a:t>
            </a:r>
          </a:p>
        </p:txBody>
      </p:sp>
      <p:cxnSp>
        <p:nvCxnSpPr>
          <p:cNvPr id="24" name="Straight Arrow Connector 73">
            <a:extLst>
              <a:ext uri="{FF2B5EF4-FFF2-40B4-BE49-F238E27FC236}">
                <a16:creationId xmlns:a16="http://schemas.microsoft.com/office/drawing/2014/main" id="{A0F408E4-FEEE-93DB-D6DF-035F24C105BD}"/>
              </a:ext>
            </a:extLst>
          </p:cNvPr>
          <p:cNvCxnSpPr>
            <a:cxnSpLocks/>
            <a:endCxn id="49" idx="1"/>
          </p:cNvCxnSpPr>
          <p:nvPr/>
        </p:nvCxnSpPr>
        <p:spPr>
          <a:xfrm flipV="1">
            <a:off x="1354071" y="1735753"/>
            <a:ext cx="2679926" cy="3907"/>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31">
            <a:extLst>
              <a:ext uri="{FF2B5EF4-FFF2-40B4-BE49-F238E27FC236}">
                <a16:creationId xmlns:a16="http://schemas.microsoft.com/office/drawing/2014/main" id="{56189E4A-4875-7EB0-D434-C0398D27006E}"/>
              </a:ext>
            </a:extLst>
          </p:cNvPr>
          <p:cNvSpPr/>
          <p:nvPr/>
        </p:nvSpPr>
        <p:spPr>
          <a:xfrm>
            <a:off x="4033997" y="2328676"/>
            <a:ext cx="7235136" cy="40249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STORAGE</a:t>
            </a:r>
          </a:p>
          <a:p>
            <a:pPr algn="ctr"/>
            <a:r>
              <a:rPr lang="en-AU" sz="900" b="1">
                <a:solidFill>
                  <a:schemeClr val="tx1"/>
                </a:solidFill>
                <a:latin typeface="Aptos" panose="02110004020202020204"/>
              </a:rPr>
              <a:t>FINCRIME SYNAPSE ADLS </a:t>
            </a:r>
          </a:p>
        </p:txBody>
      </p:sp>
      <p:sp>
        <p:nvSpPr>
          <p:cNvPr id="49" name="Rounded Rectangle 31">
            <a:extLst>
              <a:ext uri="{FF2B5EF4-FFF2-40B4-BE49-F238E27FC236}">
                <a16:creationId xmlns:a16="http://schemas.microsoft.com/office/drawing/2014/main" id="{D4941082-5118-29F2-28B2-E81A7C110705}"/>
              </a:ext>
            </a:extLst>
          </p:cNvPr>
          <p:cNvSpPr/>
          <p:nvPr/>
        </p:nvSpPr>
        <p:spPr>
          <a:xfrm>
            <a:off x="4033997" y="1534508"/>
            <a:ext cx="7235136" cy="40249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FINANCIAL CRIME </a:t>
            </a:r>
          </a:p>
          <a:p>
            <a:pPr algn="ctr"/>
            <a:r>
              <a:rPr lang="en-AU" sz="900" b="1">
                <a:solidFill>
                  <a:schemeClr val="tx1"/>
                </a:solidFill>
                <a:latin typeface="Aptos" panose="02110004020202020204"/>
              </a:rPr>
              <a:t>SNOWFLAKE</a:t>
            </a:r>
          </a:p>
        </p:txBody>
      </p:sp>
      <p:sp>
        <p:nvSpPr>
          <p:cNvPr id="50" name="Arrow: Up-Down 49">
            <a:extLst>
              <a:ext uri="{FF2B5EF4-FFF2-40B4-BE49-F238E27FC236}">
                <a16:creationId xmlns:a16="http://schemas.microsoft.com/office/drawing/2014/main" id="{D1B5BD3B-DCC8-D783-5531-8953C6AD2BD3}"/>
              </a:ext>
            </a:extLst>
          </p:cNvPr>
          <p:cNvSpPr/>
          <p:nvPr/>
        </p:nvSpPr>
        <p:spPr>
          <a:xfrm>
            <a:off x="7448900" y="1936998"/>
            <a:ext cx="248364" cy="391678"/>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54" name="Flowchart: Multidocument 53">
            <a:extLst>
              <a:ext uri="{FF2B5EF4-FFF2-40B4-BE49-F238E27FC236}">
                <a16:creationId xmlns:a16="http://schemas.microsoft.com/office/drawing/2014/main" id="{6C9FE1DD-ED47-47A8-74EA-4977E59965AF}"/>
              </a:ext>
            </a:extLst>
          </p:cNvPr>
          <p:cNvSpPr/>
          <p:nvPr/>
        </p:nvSpPr>
        <p:spPr>
          <a:xfrm>
            <a:off x="4157224" y="2429116"/>
            <a:ext cx="804333" cy="235914"/>
          </a:xfrm>
          <a:prstGeom prst="flowChartMultidocumen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solidFill>
                  <a:schemeClr val="tx1"/>
                </a:solidFill>
                <a:effectLst/>
                <a:uLnTx/>
                <a:uFillTx/>
                <a:latin typeface="Aptos" panose="02110004020202020204"/>
                <a:ea typeface="+mn-ea"/>
                <a:cs typeface="+mn-cs"/>
              </a:rPr>
              <a:t>PARQUET</a:t>
            </a:r>
          </a:p>
        </p:txBody>
      </p:sp>
      <p:sp>
        <p:nvSpPr>
          <p:cNvPr id="57" name="Cylinder 56">
            <a:extLst>
              <a:ext uri="{FF2B5EF4-FFF2-40B4-BE49-F238E27FC236}">
                <a16:creationId xmlns:a16="http://schemas.microsoft.com/office/drawing/2014/main" id="{538A1652-A7EB-D95B-6ADF-A5267C9B9FCB}"/>
              </a:ext>
            </a:extLst>
          </p:cNvPr>
          <p:cNvSpPr/>
          <p:nvPr/>
        </p:nvSpPr>
        <p:spPr>
          <a:xfrm>
            <a:off x="4157224" y="1400505"/>
            <a:ext cx="465666" cy="23706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59" name="Cylinder 58">
            <a:extLst>
              <a:ext uri="{FF2B5EF4-FFF2-40B4-BE49-F238E27FC236}">
                <a16:creationId xmlns:a16="http://schemas.microsoft.com/office/drawing/2014/main" id="{82C989A8-2D5F-F6D7-893A-1D1F557D3631}"/>
              </a:ext>
            </a:extLst>
          </p:cNvPr>
          <p:cNvSpPr/>
          <p:nvPr/>
        </p:nvSpPr>
        <p:spPr>
          <a:xfrm>
            <a:off x="4233426" y="1476705"/>
            <a:ext cx="465666" cy="23706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61" name="Cylinder 60">
            <a:extLst>
              <a:ext uri="{FF2B5EF4-FFF2-40B4-BE49-F238E27FC236}">
                <a16:creationId xmlns:a16="http://schemas.microsoft.com/office/drawing/2014/main" id="{BA9FD831-6417-ADFA-9849-B963EA3AB5D3}"/>
              </a:ext>
            </a:extLst>
          </p:cNvPr>
          <p:cNvSpPr/>
          <p:nvPr/>
        </p:nvSpPr>
        <p:spPr>
          <a:xfrm>
            <a:off x="4326557" y="1578306"/>
            <a:ext cx="465666" cy="23706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63" name="TextBox 62">
            <a:extLst>
              <a:ext uri="{FF2B5EF4-FFF2-40B4-BE49-F238E27FC236}">
                <a16:creationId xmlns:a16="http://schemas.microsoft.com/office/drawing/2014/main" id="{E0844E3B-7E78-D458-5B40-B67FF1657D31}"/>
              </a:ext>
            </a:extLst>
          </p:cNvPr>
          <p:cNvSpPr txBox="1"/>
          <p:nvPr/>
        </p:nvSpPr>
        <p:spPr>
          <a:xfrm>
            <a:off x="3937090" y="997341"/>
            <a:ext cx="1210733"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Calibri"/>
                <a:ea typeface="+mn-ea"/>
                <a:cs typeface="+mn-cs"/>
              </a:rPr>
              <a:t>Snowflake managed iceberg tables</a:t>
            </a:r>
          </a:p>
        </p:txBody>
      </p:sp>
      <p:sp>
        <p:nvSpPr>
          <p:cNvPr id="65" name="TextBox 64">
            <a:extLst>
              <a:ext uri="{FF2B5EF4-FFF2-40B4-BE49-F238E27FC236}">
                <a16:creationId xmlns:a16="http://schemas.microsoft.com/office/drawing/2014/main" id="{A91054A9-E29B-E31D-663E-85C57F36C914}"/>
              </a:ext>
            </a:extLst>
          </p:cNvPr>
          <p:cNvSpPr txBox="1"/>
          <p:nvPr/>
        </p:nvSpPr>
        <p:spPr>
          <a:xfrm>
            <a:off x="1361476" y="1426783"/>
            <a:ext cx="2612562" cy="2308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Calibri"/>
                <a:ea typeface="+mn-ea"/>
                <a:cs typeface="+mn-cs"/>
              </a:rPr>
              <a:t>BATCH – SP BASED FRAMEWORK (LIVE IN PROD)</a:t>
            </a:r>
          </a:p>
        </p:txBody>
      </p:sp>
      <p:sp>
        <p:nvSpPr>
          <p:cNvPr id="68" name="TextBox 67">
            <a:extLst>
              <a:ext uri="{FF2B5EF4-FFF2-40B4-BE49-F238E27FC236}">
                <a16:creationId xmlns:a16="http://schemas.microsoft.com/office/drawing/2014/main" id="{747957FC-22AD-376B-5D4C-94590325BD6D}"/>
              </a:ext>
            </a:extLst>
          </p:cNvPr>
          <p:cNvSpPr txBox="1"/>
          <p:nvPr/>
        </p:nvSpPr>
        <p:spPr>
          <a:xfrm>
            <a:off x="1361476" y="1821582"/>
            <a:ext cx="2612562" cy="78483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Calibri"/>
                <a:ea typeface="+mn-ea"/>
                <a:cs typeface="+mn-cs"/>
              </a:rPr>
              <a:t>RT  – KAFKA SINK CONNECTOR</a:t>
            </a:r>
            <a:br>
              <a:rPr kumimoji="0" lang="en-AU" sz="900" b="1" i="0" u="none" strike="noStrike" kern="1200" cap="none" spc="0" normalizeH="0" baseline="0" noProof="0">
                <a:ln>
                  <a:noFill/>
                </a:ln>
                <a:effectLst/>
                <a:uLnTx/>
                <a:uFillTx/>
                <a:latin typeface="Calibri"/>
                <a:ea typeface="+mn-ea"/>
                <a:cs typeface="+mn-cs"/>
              </a:rPr>
            </a:br>
            <a:r>
              <a:rPr kumimoji="0" lang="en-AU" sz="900" b="1" i="0" u="none" strike="noStrike" kern="1200" cap="none" spc="0" normalizeH="0" baseline="0" noProof="0">
                <a:ln>
                  <a:noFill/>
                </a:ln>
                <a:effectLst/>
                <a:uLnTx/>
                <a:uFillTx/>
                <a:latin typeface="Calibri"/>
                <a:ea typeface="+mn-ea"/>
                <a:cs typeface="+mn-cs"/>
              </a:rPr>
              <a:t>FUTURE (</a:t>
            </a:r>
            <a:r>
              <a:rPr kumimoji="0" lang="en-AU" sz="900" b="0" i="0" u="none" strike="noStrike" kern="1200" cap="none" spc="0" normalizeH="0" baseline="0" noProof="0">
                <a:ln>
                  <a:noFill/>
                </a:ln>
                <a:effectLst/>
                <a:uLnTx/>
                <a:uFillTx/>
                <a:latin typeface="Aptos" panose="02110004020202020204"/>
                <a:ea typeface="+mn-ea"/>
                <a:cs typeface="+mn-cs"/>
              </a:rPr>
              <a:t>Snowflake DataStream. This is a native Snowflake offering and does away with Kafka sink connector and auth stuffs. It is currently in Private Preview </a:t>
            </a:r>
            <a:r>
              <a:rPr kumimoji="0" lang="en-AU" sz="900" b="1" i="0" u="none" strike="noStrike" kern="1200" cap="none" spc="0" normalizeH="0" baseline="0" noProof="0">
                <a:ln>
                  <a:noFill/>
                </a:ln>
                <a:effectLst/>
                <a:uLnTx/>
                <a:uFillTx/>
                <a:latin typeface="Calibri"/>
                <a:ea typeface="+mn-ea"/>
                <a:cs typeface="+mn-cs"/>
              </a:rPr>
              <a:t>)</a:t>
            </a:r>
            <a:endParaRPr kumimoji="0" lang="en-AU" sz="900" b="0" i="0" u="none" strike="noStrike" kern="1200" cap="none" spc="0" normalizeH="0" baseline="0" noProof="0">
              <a:ln>
                <a:noFill/>
              </a:ln>
              <a:effectLst/>
              <a:uLnTx/>
              <a:uFillTx/>
              <a:latin typeface="Aptos" panose="02110004020202020204"/>
              <a:ea typeface="+mn-ea"/>
              <a:cs typeface="+mn-cs"/>
            </a:endParaRPr>
          </a:p>
        </p:txBody>
      </p:sp>
      <p:sp>
        <p:nvSpPr>
          <p:cNvPr id="5" name="Arrow: Left-Right 4">
            <a:extLst>
              <a:ext uri="{FF2B5EF4-FFF2-40B4-BE49-F238E27FC236}">
                <a16:creationId xmlns:a16="http://schemas.microsoft.com/office/drawing/2014/main" id="{3358D737-BFD0-3F0A-243E-F5B2E77750A4}"/>
              </a:ext>
            </a:extLst>
          </p:cNvPr>
          <p:cNvSpPr/>
          <p:nvPr/>
        </p:nvSpPr>
        <p:spPr>
          <a:xfrm>
            <a:off x="463243" y="3208867"/>
            <a:ext cx="4328980" cy="33955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800">
                <a:solidFill>
                  <a:schemeClr val="bg1"/>
                </a:solidFill>
              </a:rPr>
              <a:t>Data Ingestion</a:t>
            </a:r>
          </a:p>
        </p:txBody>
      </p:sp>
      <p:sp>
        <p:nvSpPr>
          <p:cNvPr id="7" name="Cylinder 6">
            <a:extLst>
              <a:ext uri="{FF2B5EF4-FFF2-40B4-BE49-F238E27FC236}">
                <a16:creationId xmlns:a16="http://schemas.microsoft.com/office/drawing/2014/main" id="{2D13416C-B55E-9900-54A2-2CB09115AF57}"/>
              </a:ext>
            </a:extLst>
          </p:cNvPr>
          <p:cNvSpPr/>
          <p:nvPr/>
        </p:nvSpPr>
        <p:spPr>
          <a:xfrm>
            <a:off x="5887733" y="1367321"/>
            <a:ext cx="465666" cy="23706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10" name="Cylinder 9">
            <a:extLst>
              <a:ext uri="{FF2B5EF4-FFF2-40B4-BE49-F238E27FC236}">
                <a16:creationId xmlns:a16="http://schemas.microsoft.com/office/drawing/2014/main" id="{33761BF4-9036-1350-4053-E0679CE9D487}"/>
              </a:ext>
            </a:extLst>
          </p:cNvPr>
          <p:cNvSpPr/>
          <p:nvPr/>
        </p:nvSpPr>
        <p:spPr>
          <a:xfrm>
            <a:off x="5963935" y="1443521"/>
            <a:ext cx="465666" cy="23706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11" name="Cylinder 10">
            <a:extLst>
              <a:ext uri="{FF2B5EF4-FFF2-40B4-BE49-F238E27FC236}">
                <a16:creationId xmlns:a16="http://schemas.microsoft.com/office/drawing/2014/main" id="{CF8D7FFC-8714-A56E-B647-A6D64C449C37}"/>
              </a:ext>
            </a:extLst>
          </p:cNvPr>
          <p:cNvSpPr/>
          <p:nvPr/>
        </p:nvSpPr>
        <p:spPr>
          <a:xfrm>
            <a:off x="6057066" y="1545122"/>
            <a:ext cx="465666" cy="23706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B1DE901C-29D3-6CA1-302E-1D1B30867E6A}"/>
              </a:ext>
            </a:extLst>
          </p:cNvPr>
          <p:cNvSpPr txBox="1"/>
          <p:nvPr/>
        </p:nvSpPr>
        <p:spPr>
          <a:xfrm>
            <a:off x="5554998" y="972992"/>
            <a:ext cx="1596802"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Calibri"/>
                <a:ea typeface="+mn-ea"/>
                <a:cs typeface="+mn-cs"/>
              </a:rPr>
              <a:t>Snowflake Stored Procedure + Table</a:t>
            </a:r>
            <a:r>
              <a:rPr lang="en-AU" sz="900" b="1">
                <a:latin typeface="Calibri"/>
              </a:rPr>
              <a:t>s + Views </a:t>
            </a:r>
            <a:endParaRPr kumimoji="0" lang="en-AU" sz="900" b="1" i="0" u="none" strike="noStrike" kern="1200" cap="none" spc="0" normalizeH="0" baseline="0" noProof="0">
              <a:ln>
                <a:noFill/>
              </a:ln>
              <a:effectLst/>
              <a:uLnTx/>
              <a:uFillTx/>
              <a:latin typeface="Calibri"/>
              <a:ea typeface="+mn-ea"/>
              <a:cs typeface="+mn-cs"/>
            </a:endParaRPr>
          </a:p>
        </p:txBody>
      </p:sp>
      <p:sp>
        <p:nvSpPr>
          <p:cNvPr id="15" name="Arrow: Left-Right 14">
            <a:extLst>
              <a:ext uri="{FF2B5EF4-FFF2-40B4-BE49-F238E27FC236}">
                <a16:creationId xmlns:a16="http://schemas.microsoft.com/office/drawing/2014/main" id="{54E86D26-B185-5401-DF6E-B3251EEB65AE}"/>
              </a:ext>
            </a:extLst>
          </p:cNvPr>
          <p:cNvSpPr/>
          <p:nvPr/>
        </p:nvSpPr>
        <p:spPr>
          <a:xfrm>
            <a:off x="4813103" y="3184868"/>
            <a:ext cx="2451298" cy="33955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800">
                <a:solidFill>
                  <a:schemeClr val="bg1"/>
                </a:solidFill>
              </a:rPr>
              <a:t>ONTOLOGY PROCEDURES</a:t>
            </a:r>
          </a:p>
        </p:txBody>
      </p:sp>
      <p:sp>
        <p:nvSpPr>
          <p:cNvPr id="17" name="Arrow: Left-Right 16">
            <a:extLst>
              <a:ext uri="{FF2B5EF4-FFF2-40B4-BE49-F238E27FC236}">
                <a16:creationId xmlns:a16="http://schemas.microsoft.com/office/drawing/2014/main" id="{4DE8804A-A2FB-0037-838C-040FE81CF0BB}"/>
              </a:ext>
            </a:extLst>
          </p:cNvPr>
          <p:cNvSpPr/>
          <p:nvPr/>
        </p:nvSpPr>
        <p:spPr>
          <a:xfrm>
            <a:off x="7285281" y="3167491"/>
            <a:ext cx="2179396" cy="33955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800">
                <a:solidFill>
                  <a:schemeClr val="bg1"/>
                </a:solidFill>
              </a:rPr>
              <a:t>FEATURE GENERATION PROCEDURES</a:t>
            </a:r>
          </a:p>
        </p:txBody>
      </p:sp>
      <p:sp>
        <p:nvSpPr>
          <p:cNvPr id="19" name="Arrow: Left-Right 18">
            <a:extLst>
              <a:ext uri="{FF2B5EF4-FFF2-40B4-BE49-F238E27FC236}">
                <a16:creationId xmlns:a16="http://schemas.microsoft.com/office/drawing/2014/main" id="{9952F9DA-866D-5791-7F85-7690BB6D73C4}"/>
              </a:ext>
            </a:extLst>
          </p:cNvPr>
          <p:cNvSpPr/>
          <p:nvPr/>
        </p:nvSpPr>
        <p:spPr>
          <a:xfrm>
            <a:off x="9485557" y="3151888"/>
            <a:ext cx="2179396" cy="33955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800">
                <a:solidFill>
                  <a:schemeClr val="bg1"/>
                </a:solidFill>
              </a:rPr>
              <a:t>CORTEX AGENTS</a:t>
            </a:r>
          </a:p>
        </p:txBody>
      </p:sp>
      <p:cxnSp>
        <p:nvCxnSpPr>
          <p:cNvPr id="22" name="Straight Arrow Connector 21">
            <a:extLst>
              <a:ext uri="{FF2B5EF4-FFF2-40B4-BE49-F238E27FC236}">
                <a16:creationId xmlns:a16="http://schemas.microsoft.com/office/drawing/2014/main" id="{E81A2E5C-3DA9-BD57-361B-705B59B70BED}"/>
              </a:ext>
            </a:extLst>
          </p:cNvPr>
          <p:cNvCxnSpPr/>
          <p:nvPr/>
        </p:nvCxnSpPr>
        <p:spPr>
          <a:xfrm>
            <a:off x="4559390" y="1821582"/>
            <a:ext cx="0" cy="607534"/>
          </a:xfrm>
          <a:prstGeom prst="straightConnector1">
            <a:avLst/>
          </a:prstGeom>
          <a:ln>
            <a:solidFill>
              <a:schemeClr val="bg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5" name="Cylinder 24">
            <a:extLst>
              <a:ext uri="{FF2B5EF4-FFF2-40B4-BE49-F238E27FC236}">
                <a16:creationId xmlns:a16="http://schemas.microsoft.com/office/drawing/2014/main" id="{2844B558-6A69-4125-6ABD-1C65D23A2A65}"/>
              </a:ext>
            </a:extLst>
          </p:cNvPr>
          <p:cNvSpPr/>
          <p:nvPr/>
        </p:nvSpPr>
        <p:spPr>
          <a:xfrm>
            <a:off x="8237530" y="1344348"/>
            <a:ext cx="465666" cy="23706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27" name="Cylinder 26">
            <a:extLst>
              <a:ext uri="{FF2B5EF4-FFF2-40B4-BE49-F238E27FC236}">
                <a16:creationId xmlns:a16="http://schemas.microsoft.com/office/drawing/2014/main" id="{8A718F56-BB2F-4647-C6D8-121438385C81}"/>
              </a:ext>
            </a:extLst>
          </p:cNvPr>
          <p:cNvSpPr/>
          <p:nvPr/>
        </p:nvSpPr>
        <p:spPr>
          <a:xfrm>
            <a:off x="8313732" y="1420548"/>
            <a:ext cx="465666" cy="23706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29" name="Cylinder 28">
            <a:extLst>
              <a:ext uri="{FF2B5EF4-FFF2-40B4-BE49-F238E27FC236}">
                <a16:creationId xmlns:a16="http://schemas.microsoft.com/office/drawing/2014/main" id="{F95C6297-FE3F-2FF7-C72F-B0AA43C664BB}"/>
              </a:ext>
            </a:extLst>
          </p:cNvPr>
          <p:cNvSpPr/>
          <p:nvPr/>
        </p:nvSpPr>
        <p:spPr>
          <a:xfrm>
            <a:off x="8406863" y="1522149"/>
            <a:ext cx="465666" cy="23706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bg1"/>
              </a:solidFill>
              <a:effectLst/>
              <a:uLnTx/>
              <a:uFillTx/>
              <a:latin typeface="Aptos" panose="02110004020202020204"/>
              <a:ea typeface="+mn-ea"/>
              <a:cs typeface="+mn-cs"/>
            </a:endParaRPr>
          </a:p>
        </p:txBody>
      </p:sp>
      <p:sp>
        <p:nvSpPr>
          <p:cNvPr id="31" name="TextBox 30">
            <a:extLst>
              <a:ext uri="{FF2B5EF4-FFF2-40B4-BE49-F238E27FC236}">
                <a16:creationId xmlns:a16="http://schemas.microsoft.com/office/drawing/2014/main" id="{CC2C182A-82EF-837A-83C9-917BFC93407D}"/>
              </a:ext>
            </a:extLst>
          </p:cNvPr>
          <p:cNvSpPr txBox="1"/>
          <p:nvPr/>
        </p:nvSpPr>
        <p:spPr>
          <a:xfrm>
            <a:off x="7843200" y="950271"/>
            <a:ext cx="1719991" cy="369332"/>
          </a:xfrm>
          <a:prstGeom prst="rect">
            <a:avLst/>
          </a:prstGeom>
          <a:noFill/>
        </p:spPr>
        <p:txBody>
          <a:bodyPr wrap="square">
            <a:spAutoFit/>
          </a:bodyPr>
          <a:lstStyle/>
          <a:p>
            <a:pPr lvl="0">
              <a:defRPr/>
            </a:pPr>
            <a:r>
              <a:rPr lang="en-AU" sz="900" b="1">
                <a:latin typeface="Calibri"/>
              </a:rPr>
              <a:t>Snowflake Stored Procedure + Tables + Views</a:t>
            </a:r>
          </a:p>
        </p:txBody>
      </p:sp>
      <p:sp>
        <p:nvSpPr>
          <p:cNvPr id="32" name="Smiley Face 31">
            <a:extLst>
              <a:ext uri="{FF2B5EF4-FFF2-40B4-BE49-F238E27FC236}">
                <a16:creationId xmlns:a16="http://schemas.microsoft.com/office/drawing/2014/main" id="{8F1385AF-1064-828C-F835-42E2008F7D87}"/>
              </a:ext>
            </a:extLst>
          </p:cNvPr>
          <p:cNvSpPr/>
          <p:nvPr/>
        </p:nvSpPr>
        <p:spPr>
          <a:xfrm>
            <a:off x="10126494" y="1420548"/>
            <a:ext cx="291500" cy="26004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sp>
        <p:nvSpPr>
          <p:cNvPr id="34" name="Smiley Face 33">
            <a:extLst>
              <a:ext uri="{FF2B5EF4-FFF2-40B4-BE49-F238E27FC236}">
                <a16:creationId xmlns:a16="http://schemas.microsoft.com/office/drawing/2014/main" id="{51D75C38-298A-A923-A26A-85E5234B3385}"/>
              </a:ext>
            </a:extLst>
          </p:cNvPr>
          <p:cNvSpPr/>
          <p:nvPr/>
        </p:nvSpPr>
        <p:spPr>
          <a:xfrm>
            <a:off x="10278894" y="1572948"/>
            <a:ext cx="291500" cy="26004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sp>
        <p:nvSpPr>
          <p:cNvPr id="36" name="Smiley Face 35">
            <a:extLst>
              <a:ext uri="{FF2B5EF4-FFF2-40B4-BE49-F238E27FC236}">
                <a16:creationId xmlns:a16="http://schemas.microsoft.com/office/drawing/2014/main" id="{32F0A65D-C7A8-E97D-DBAE-2F88824BF08A}"/>
              </a:ext>
            </a:extLst>
          </p:cNvPr>
          <p:cNvSpPr/>
          <p:nvPr/>
        </p:nvSpPr>
        <p:spPr>
          <a:xfrm>
            <a:off x="10416015" y="1394538"/>
            <a:ext cx="291500" cy="26004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sp>
        <p:nvSpPr>
          <p:cNvPr id="38" name="TextBox 37">
            <a:extLst>
              <a:ext uri="{FF2B5EF4-FFF2-40B4-BE49-F238E27FC236}">
                <a16:creationId xmlns:a16="http://schemas.microsoft.com/office/drawing/2014/main" id="{FFB37045-4BC8-28BD-5A5B-24F30A50C4BE}"/>
              </a:ext>
            </a:extLst>
          </p:cNvPr>
          <p:cNvSpPr txBox="1"/>
          <p:nvPr/>
        </p:nvSpPr>
        <p:spPr>
          <a:xfrm>
            <a:off x="9802673" y="976383"/>
            <a:ext cx="1719991" cy="230832"/>
          </a:xfrm>
          <a:prstGeom prst="rect">
            <a:avLst/>
          </a:prstGeom>
          <a:noFill/>
        </p:spPr>
        <p:txBody>
          <a:bodyPr wrap="square">
            <a:spAutoFit/>
          </a:bodyPr>
          <a:lstStyle/>
          <a:p>
            <a:pPr lvl="0">
              <a:defRPr/>
            </a:pPr>
            <a:r>
              <a:rPr lang="en-AU" sz="900" b="1">
                <a:latin typeface="Calibri"/>
              </a:rPr>
              <a:t>Cortex Agent &amp; Analyst</a:t>
            </a:r>
          </a:p>
        </p:txBody>
      </p:sp>
      <p:sp>
        <p:nvSpPr>
          <p:cNvPr id="41" name="Oval 40">
            <a:extLst>
              <a:ext uri="{FF2B5EF4-FFF2-40B4-BE49-F238E27FC236}">
                <a16:creationId xmlns:a16="http://schemas.microsoft.com/office/drawing/2014/main" id="{74A80B20-175F-4E00-02BE-B2C4372C3482}"/>
              </a:ext>
            </a:extLst>
          </p:cNvPr>
          <p:cNvSpPr/>
          <p:nvPr/>
        </p:nvSpPr>
        <p:spPr>
          <a:xfrm>
            <a:off x="327211" y="3942726"/>
            <a:ext cx="370734" cy="3395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1000" b="1">
                <a:solidFill>
                  <a:schemeClr val="tx1"/>
                </a:solidFill>
                <a:latin typeface="Aptos" panose="02110004020202020204"/>
              </a:rPr>
              <a:t>1</a:t>
            </a:r>
            <a:endParaRPr kumimoji="0" lang="en-AU" sz="1000" b="1" i="0" u="none" strike="noStrike" kern="1200" cap="none" spc="0" normalizeH="0" baseline="0" noProof="0">
              <a:ln>
                <a:noFill/>
              </a:ln>
              <a:solidFill>
                <a:schemeClr val="tx1"/>
              </a:solidFill>
              <a:effectLst/>
              <a:uLnTx/>
              <a:uFillTx/>
              <a:latin typeface="Aptos" panose="02110004020202020204"/>
              <a:ea typeface="+mn-ea"/>
              <a:cs typeface="+mn-cs"/>
            </a:endParaRPr>
          </a:p>
        </p:txBody>
      </p:sp>
      <p:sp>
        <p:nvSpPr>
          <p:cNvPr id="44" name="Oval 43">
            <a:extLst>
              <a:ext uri="{FF2B5EF4-FFF2-40B4-BE49-F238E27FC236}">
                <a16:creationId xmlns:a16="http://schemas.microsoft.com/office/drawing/2014/main" id="{D144C13B-4023-6F69-9735-D09533B62B55}"/>
              </a:ext>
            </a:extLst>
          </p:cNvPr>
          <p:cNvSpPr/>
          <p:nvPr/>
        </p:nvSpPr>
        <p:spPr>
          <a:xfrm>
            <a:off x="6065490" y="1874443"/>
            <a:ext cx="370734" cy="339554"/>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latin typeface="Aptos" panose="02110004020202020204"/>
              </a:rPr>
              <a:t>2</a:t>
            </a:r>
          </a:p>
        </p:txBody>
      </p:sp>
      <p:sp>
        <p:nvSpPr>
          <p:cNvPr id="46" name="Oval 45">
            <a:extLst>
              <a:ext uri="{FF2B5EF4-FFF2-40B4-BE49-F238E27FC236}">
                <a16:creationId xmlns:a16="http://schemas.microsoft.com/office/drawing/2014/main" id="{3D734393-C0B8-3F27-F4AC-E54868F6BEFE}"/>
              </a:ext>
            </a:extLst>
          </p:cNvPr>
          <p:cNvSpPr/>
          <p:nvPr/>
        </p:nvSpPr>
        <p:spPr>
          <a:xfrm>
            <a:off x="8470363" y="1847775"/>
            <a:ext cx="370734" cy="339554"/>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latin typeface="Aptos" panose="02110004020202020204"/>
              </a:rPr>
              <a:t>3</a:t>
            </a:r>
          </a:p>
        </p:txBody>
      </p:sp>
      <p:sp>
        <p:nvSpPr>
          <p:cNvPr id="48" name="Oval 47">
            <a:extLst>
              <a:ext uri="{FF2B5EF4-FFF2-40B4-BE49-F238E27FC236}">
                <a16:creationId xmlns:a16="http://schemas.microsoft.com/office/drawing/2014/main" id="{B256CC6D-AF98-6B11-A3C6-6267A286E1D3}"/>
              </a:ext>
            </a:extLst>
          </p:cNvPr>
          <p:cNvSpPr/>
          <p:nvPr/>
        </p:nvSpPr>
        <p:spPr>
          <a:xfrm>
            <a:off x="10246859" y="1860833"/>
            <a:ext cx="370734" cy="339554"/>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latin typeface="Aptos" panose="02110004020202020204"/>
              </a:rPr>
              <a:t>4</a:t>
            </a:r>
          </a:p>
        </p:txBody>
      </p:sp>
      <p:sp>
        <p:nvSpPr>
          <p:cNvPr id="52" name="TextBox 51">
            <a:extLst>
              <a:ext uri="{FF2B5EF4-FFF2-40B4-BE49-F238E27FC236}">
                <a16:creationId xmlns:a16="http://schemas.microsoft.com/office/drawing/2014/main" id="{2533A919-0324-3559-DEFE-506CB69D81DC}"/>
              </a:ext>
            </a:extLst>
          </p:cNvPr>
          <p:cNvSpPr txBox="1"/>
          <p:nvPr/>
        </p:nvSpPr>
        <p:spPr>
          <a:xfrm>
            <a:off x="759903" y="3881671"/>
            <a:ext cx="10972800" cy="507831"/>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kumimoji="0" lang="en-AU" sz="900" b="1" i="0" u="none" strike="noStrike" kern="1200" cap="none" spc="0" normalizeH="0" baseline="0" noProof="0">
                <a:ln>
                  <a:noFill/>
                </a:ln>
                <a:effectLst/>
                <a:uLnTx/>
                <a:uFillTx/>
                <a:latin typeface="Calibri"/>
                <a:ea typeface="+mn-ea"/>
                <a:cs typeface="+mn-cs"/>
              </a:rPr>
              <a:t>Data Ingestion – BATCH / REAL-TIME</a:t>
            </a:r>
            <a:br>
              <a:rPr kumimoji="0" lang="en-AU" sz="900" b="1" i="0" u="none" strike="noStrike" kern="1200" cap="none" spc="0" normalizeH="0" baseline="0" noProof="0">
                <a:ln>
                  <a:noFill/>
                </a:ln>
                <a:effectLst/>
                <a:uLnTx/>
                <a:uFillTx/>
                <a:latin typeface="Calibri"/>
                <a:ea typeface="+mn-ea"/>
                <a:cs typeface="+mn-cs"/>
              </a:rPr>
            </a:br>
            <a:r>
              <a:rPr kumimoji="0" lang="en-AU" sz="900" b="1" i="0" u="sng" strike="noStrike" kern="1200" cap="none" spc="0" normalizeH="0" baseline="0" noProof="0">
                <a:ln>
                  <a:noFill/>
                </a:ln>
                <a:effectLst/>
                <a:uLnTx/>
                <a:uFillTx/>
                <a:latin typeface="Calibri"/>
                <a:ea typeface="+mn-ea"/>
                <a:cs typeface="+mn-cs"/>
              </a:rPr>
              <a:t>Output</a:t>
            </a:r>
          </a:p>
          <a:p>
            <a:pPr marR="0" lvl="0" algn="l" defTabSz="457200" rtl="0" eaLnBrk="1" fontAlgn="auto" latinLnBrk="0" hangingPunct="1">
              <a:lnSpc>
                <a:spcPct val="100000"/>
              </a:lnSpc>
              <a:spcBef>
                <a:spcPts val="0"/>
              </a:spcBef>
              <a:spcAft>
                <a:spcPts val="0"/>
              </a:spcAft>
              <a:buClrTx/>
              <a:buSzTx/>
              <a:tabLst/>
              <a:defRPr/>
            </a:pPr>
            <a:r>
              <a:rPr kumimoji="0" lang="en-AU" sz="900" b="1" i="0" strike="noStrike" kern="1200" cap="none" spc="0" normalizeH="0" baseline="0" noProof="0">
                <a:ln>
                  <a:noFill/>
                </a:ln>
                <a:effectLst/>
                <a:uLnTx/>
                <a:uFillTx/>
                <a:latin typeface="Calibri"/>
                <a:ea typeface="+mn-ea"/>
                <a:cs typeface="+mn-cs"/>
              </a:rPr>
              <a:t>Data is written to a Snowflake Managed Iceberg table backed by data stored in ADLS G2 (WBC AZURE ELZ) </a:t>
            </a:r>
            <a:r>
              <a:rPr kumimoji="0" lang="en-AU" sz="900" b="1" i="0" strike="noStrike" kern="1200" cap="none" spc="0" normalizeH="0" baseline="0" noProof="0">
                <a:ln>
                  <a:noFill/>
                </a:ln>
                <a:effectLst/>
                <a:uLnTx/>
                <a:uFillTx/>
                <a:latin typeface="Calibri"/>
                <a:ea typeface="+mn-ea"/>
                <a:cs typeface="+mn-cs"/>
                <a:sym typeface="Wingdings" panose="05000000000000000000" pitchFamily="2" charset="2"/>
              </a:rPr>
              <a:t> KG_NODE AND KG_EDGE AND OTHER BASE TABLES ARE POPULATED WITH DATA.</a:t>
            </a:r>
            <a:endParaRPr kumimoji="0" lang="en-AU" sz="900" b="1" i="0" strike="noStrike" kern="1200" cap="none" spc="0" normalizeH="0" baseline="0" noProof="0">
              <a:ln>
                <a:noFill/>
              </a:ln>
              <a:effectLst/>
              <a:uLnTx/>
              <a:uFillTx/>
              <a:latin typeface="Calibri"/>
              <a:ea typeface="+mn-ea"/>
              <a:cs typeface="+mn-cs"/>
            </a:endParaRPr>
          </a:p>
        </p:txBody>
      </p:sp>
      <p:sp>
        <p:nvSpPr>
          <p:cNvPr id="55" name="Oval 54">
            <a:extLst>
              <a:ext uri="{FF2B5EF4-FFF2-40B4-BE49-F238E27FC236}">
                <a16:creationId xmlns:a16="http://schemas.microsoft.com/office/drawing/2014/main" id="{018E5C17-FF77-D631-9C7A-9113794BCA17}"/>
              </a:ext>
            </a:extLst>
          </p:cNvPr>
          <p:cNvSpPr/>
          <p:nvPr/>
        </p:nvSpPr>
        <p:spPr>
          <a:xfrm>
            <a:off x="333156" y="4434680"/>
            <a:ext cx="370734" cy="3395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solidFill>
                  <a:schemeClr val="tx1"/>
                </a:solidFill>
                <a:effectLst/>
                <a:uLnTx/>
                <a:uFillTx/>
                <a:latin typeface="Aptos" panose="02110004020202020204"/>
                <a:ea typeface="+mn-ea"/>
                <a:cs typeface="+mn-cs"/>
              </a:rPr>
              <a:t>2</a:t>
            </a:r>
          </a:p>
        </p:txBody>
      </p:sp>
      <p:sp>
        <p:nvSpPr>
          <p:cNvPr id="58" name="TextBox 57">
            <a:extLst>
              <a:ext uri="{FF2B5EF4-FFF2-40B4-BE49-F238E27FC236}">
                <a16:creationId xmlns:a16="http://schemas.microsoft.com/office/drawing/2014/main" id="{52CC628D-5E41-80CB-C24B-1AE9C02B59B9}"/>
              </a:ext>
            </a:extLst>
          </p:cNvPr>
          <p:cNvSpPr txBox="1"/>
          <p:nvPr/>
        </p:nvSpPr>
        <p:spPr>
          <a:xfrm>
            <a:off x="736857" y="4393348"/>
            <a:ext cx="10972800" cy="507831"/>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AU" sz="900" b="1">
                <a:latin typeface="Calibri"/>
              </a:rPr>
              <a:t>Ontology updates via Inference Procedures</a:t>
            </a:r>
            <a:br>
              <a:rPr kumimoji="0" lang="en-AU" sz="900" b="1" i="0" u="none" strike="noStrike" kern="1200" cap="none" spc="0" normalizeH="0" baseline="0" noProof="0">
                <a:ln>
                  <a:noFill/>
                </a:ln>
                <a:effectLst/>
                <a:uLnTx/>
                <a:uFillTx/>
                <a:latin typeface="Calibri"/>
                <a:ea typeface="+mn-ea"/>
                <a:cs typeface="+mn-cs"/>
              </a:rPr>
            </a:br>
            <a:r>
              <a:rPr kumimoji="0" lang="en-AU" sz="900" b="1" i="0" u="sng" strike="noStrike" kern="1200" cap="none" spc="0" normalizeH="0" baseline="0" noProof="0">
                <a:ln>
                  <a:noFill/>
                </a:ln>
                <a:effectLst/>
                <a:uLnTx/>
                <a:uFillTx/>
                <a:latin typeface="Calibri"/>
                <a:ea typeface="+mn-ea"/>
                <a:cs typeface="+mn-cs"/>
              </a:rPr>
              <a:t>Output</a:t>
            </a:r>
          </a:p>
          <a:p>
            <a:pPr marR="0" lvl="0" algn="l" defTabSz="457200" rtl="0" eaLnBrk="1" fontAlgn="auto" latinLnBrk="0" hangingPunct="1">
              <a:lnSpc>
                <a:spcPct val="100000"/>
              </a:lnSpc>
              <a:spcBef>
                <a:spcPts val="0"/>
              </a:spcBef>
              <a:spcAft>
                <a:spcPts val="0"/>
              </a:spcAft>
              <a:buClrTx/>
              <a:buSzTx/>
              <a:tabLst/>
              <a:defRPr/>
            </a:pPr>
            <a:r>
              <a:rPr kumimoji="0" lang="en-AU" sz="900" b="1" i="0" strike="noStrike" kern="1200" cap="none" spc="0" normalizeH="0" baseline="0" noProof="0">
                <a:ln>
                  <a:noFill/>
                </a:ln>
                <a:effectLst/>
                <a:uLnTx/>
                <a:uFillTx/>
                <a:latin typeface="Calibri"/>
                <a:ea typeface="+mn-ea"/>
                <a:cs typeface="+mn-cs"/>
              </a:rPr>
              <a:t>ONT_* TABLES ARE POPULATED</a:t>
            </a:r>
          </a:p>
        </p:txBody>
      </p:sp>
      <p:sp>
        <p:nvSpPr>
          <p:cNvPr id="62" name="Oval 61">
            <a:extLst>
              <a:ext uri="{FF2B5EF4-FFF2-40B4-BE49-F238E27FC236}">
                <a16:creationId xmlns:a16="http://schemas.microsoft.com/office/drawing/2014/main" id="{F379E2DD-42F5-7E9F-9F75-3D98DBBF0620}"/>
              </a:ext>
            </a:extLst>
          </p:cNvPr>
          <p:cNvSpPr/>
          <p:nvPr/>
        </p:nvSpPr>
        <p:spPr>
          <a:xfrm>
            <a:off x="309917" y="4926634"/>
            <a:ext cx="370734" cy="3395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1000" b="1">
                <a:solidFill>
                  <a:schemeClr val="tx1"/>
                </a:solidFill>
                <a:latin typeface="Aptos" panose="02110004020202020204"/>
              </a:rPr>
              <a:t>3</a:t>
            </a:r>
            <a:endParaRPr kumimoji="0" lang="en-AU" sz="1000" b="1" i="0" u="none" strike="noStrike" kern="1200" cap="none" spc="0" normalizeH="0" baseline="0" noProof="0">
              <a:ln>
                <a:noFill/>
              </a:ln>
              <a:solidFill>
                <a:schemeClr val="tx1"/>
              </a:solidFill>
              <a:effectLst/>
              <a:uLnTx/>
              <a:uFillTx/>
              <a:latin typeface="Aptos" panose="02110004020202020204"/>
              <a:ea typeface="+mn-ea"/>
              <a:cs typeface="+mn-cs"/>
            </a:endParaRPr>
          </a:p>
        </p:txBody>
      </p:sp>
      <p:sp>
        <p:nvSpPr>
          <p:cNvPr id="66" name="TextBox 65">
            <a:extLst>
              <a:ext uri="{FF2B5EF4-FFF2-40B4-BE49-F238E27FC236}">
                <a16:creationId xmlns:a16="http://schemas.microsoft.com/office/drawing/2014/main" id="{6DC8F3A5-DADE-8315-3E74-C45BFD710EA7}"/>
              </a:ext>
            </a:extLst>
          </p:cNvPr>
          <p:cNvSpPr txBox="1"/>
          <p:nvPr/>
        </p:nvSpPr>
        <p:spPr>
          <a:xfrm>
            <a:off x="703890" y="4905025"/>
            <a:ext cx="10972800" cy="507831"/>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AU" sz="900" b="1">
                <a:latin typeface="Calibri"/>
              </a:rPr>
              <a:t>Feature Generation based on #1 and #2</a:t>
            </a:r>
            <a:br>
              <a:rPr kumimoji="0" lang="en-AU" sz="900" b="1" i="0" u="none" strike="noStrike" kern="1200" cap="none" spc="0" normalizeH="0" baseline="0" noProof="0">
                <a:ln>
                  <a:noFill/>
                </a:ln>
                <a:effectLst/>
                <a:uLnTx/>
                <a:uFillTx/>
                <a:latin typeface="Calibri"/>
                <a:ea typeface="+mn-ea"/>
                <a:cs typeface="+mn-cs"/>
              </a:rPr>
            </a:br>
            <a:r>
              <a:rPr kumimoji="0" lang="en-AU" sz="900" b="1" i="0" u="sng" strike="noStrike" kern="1200" cap="none" spc="0" normalizeH="0" baseline="0" noProof="0">
                <a:ln>
                  <a:noFill/>
                </a:ln>
                <a:effectLst/>
                <a:uLnTx/>
                <a:uFillTx/>
                <a:latin typeface="Calibri"/>
                <a:ea typeface="+mn-ea"/>
                <a:cs typeface="+mn-cs"/>
              </a:rPr>
              <a:t>Output</a:t>
            </a:r>
          </a:p>
          <a:p>
            <a:pPr marR="0" lvl="0" algn="l" defTabSz="457200" rtl="0" eaLnBrk="1" fontAlgn="auto" latinLnBrk="0" hangingPunct="1">
              <a:lnSpc>
                <a:spcPct val="100000"/>
              </a:lnSpc>
              <a:spcBef>
                <a:spcPts val="0"/>
              </a:spcBef>
              <a:spcAft>
                <a:spcPts val="0"/>
              </a:spcAft>
              <a:buClrTx/>
              <a:buSzTx/>
              <a:tabLst/>
              <a:defRPr/>
            </a:pPr>
            <a:r>
              <a:rPr kumimoji="0" lang="en-AU" sz="900" b="1" i="0" strike="noStrike" kern="1200" cap="none" spc="0" normalizeH="0" baseline="0" noProof="0">
                <a:ln>
                  <a:noFill/>
                </a:ln>
                <a:effectLst/>
                <a:uLnTx/>
                <a:uFillTx/>
                <a:latin typeface="Calibri"/>
                <a:ea typeface="+mn-ea"/>
                <a:cs typeface="+mn-cs"/>
              </a:rPr>
              <a:t>FEATURE TABLES ARE POPULATED (FAN_IN, FAN_OUT, CLUSTER_ANALYSIS, PONZI_DETECTION, CYCLE_DETECTION, SHARED_DEVICE_NETWORK etc)</a:t>
            </a:r>
          </a:p>
        </p:txBody>
      </p:sp>
      <p:sp>
        <p:nvSpPr>
          <p:cNvPr id="69" name="Oval 68">
            <a:extLst>
              <a:ext uri="{FF2B5EF4-FFF2-40B4-BE49-F238E27FC236}">
                <a16:creationId xmlns:a16="http://schemas.microsoft.com/office/drawing/2014/main" id="{C772D54C-6445-D457-FCF0-0D242B1B95D2}"/>
              </a:ext>
            </a:extLst>
          </p:cNvPr>
          <p:cNvSpPr/>
          <p:nvPr/>
        </p:nvSpPr>
        <p:spPr>
          <a:xfrm>
            <a:off x="325187" y="5477410"/>
            <a:ext cx="370734" cy="3395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solidFill>
                  <a:schemeClr val="tx1"/>
                </a:solidFill>
                <a:effectLst/>
                <a:uLnTx/>
                <a:uFillTx/>
                <a:latin typeface="Aptos" panose="02110004020202020204"/>
                <a:ea typeface="+mn-ea"/>
                <a:cs typeface="+mn-cs"/>
              </a:rPr>
              <a:t>4</a:t>
            </a:r>
          </a:p>
        </p:txBody>
      </p:sp>
      <p:sp>
        <p:nvSpPr>
          <p:cNvPr id="71" name="TextBox 70">
            <a:extLst>
              <a:ext uri="{FF2B5EF4-FFF2-40B4-BE49-F238E27FC236}">
                <a16:creationId xmlns:a16="http://schemas.microsoft.com/office/drawing/2014/main" id="{0BE1CD99-F8BC-5A81-A565-5E7609A9F0B4}"/>
              </a:ext>
            </a:extLst>
          </p:cNvPr>
          <p:cNvSpPr txBox="1"/>
          <p:nvPr/>
        </p:nvSpPr>
        <p:spPr>
          <a:xfrm>
            <a:off x="718354" y="5446064"/>
            <a:ext cx="10972800" cy="507831"/>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AU" sz="900" b="1">
                <a:latin typeface="Calibri"/>
              </a:rPr>
              <a:t>Cortex Agents &amp; Analyst</a:t>
            </a:r>
            <a:br>
              <a:rPr kumimoji="0" lang="en-AU" sz="900" b="1" i="0" u="none" strike="noStrike" kern="1200" cap="none" spc="0" normalizeH="0" baseline="0" noProof="0">
                <a:ln>
                  <a:noFill/>
                </a:ln>
                <a:effectLst/>
                <a:uLnTx/>
                <a:uFillTx/>
                <a:latin typeface="Calibri"/>
                <a:ea typeface="+mn-ea"/>
                <a:cs typeface="+mn-cs"/>
              </a:rPr>
            </a:br>
            <a:r>
              <a:rPr kumimoji="0" lang="en-AU" sz="900" b="1" i="0" u="sng" strike="noStrike" kern="1200" cap="none" spc="0" normalizeH="0" baseline="0" noProof="0">
                <a:ln>
                  <a:noFill/>
                </a:ln>
                <a:effectLst/>
                <a:uLnTx/>
                <a:uFillTx/>
                <a:latin typeface="Calibri"/>
                <a:ea typeface="+mn-ea"/>
                <a:cs typeface="+mn-cs"/>
              </a:rPr>
              <a:t>Output</a:t>
            </a:r>
          </a:p>
          <a:p>
            <a:pPr marR="0" lvl="0" algn="l" defTabSz="457200" rtl="0" eaLnBrk="1" fontAlgn="auto" latinLnBrk="0" hangingPunct="1">
              <a:lnSpc>
                <a:spcPct val="100000"/>
              </a:lnSpc>
              <a:spcBef>
                <a:spcPts val="0"/>
              </a:spcBef>
              <a:spcAft>
                <a:spcPts val="0"/>
              </a:spcAft>
              <a:buClrTx/>
              <a:buSzTx/>
              <a:tabLst/>
              <a:defRPr/>
            </a:pPr>
            <a:r>
              <a:rPr kumimoji="0" lang="en-AU" sz="900" b="1" i="0" strike="noStrike" kern="1200" cap="none" spc="0" normalizeH="0" baseline="0" noProof="0">
                <a:ln>
                  <a:noFill/>
                </a:ln>
                <a:effectLst/>
                <a:uLnTx/>
                <a:uFillTx/>
                <a:latin typeface="Calibri"/>
                <a:ea typeface="+mn-ea"/>
                <a:cs typeface="+mn-cs"/>
              </a:rPr>
              <a:t>NLP based querying to the data (We can have the agent query data created under 1,2,3)</a:t>
            </a:r>
          </a:p>
        </p:txBody>
      </p:sp>
      <p:sp>
        <p:nvSpPr>
          <p:cNvPr id="75" name="TextBox 74">
            <a:extLst>
              <a:ext uri="{FF2B5EF4-FFF2-40B4-BE49-F238E27FC236}">
                <a16:creationId xmlns:a16="http://schemas.microsoft.com/office/drawing/2014/main" id="{81DC823E-2249-1574-E563-A7B4CB2B8CBD}"/>
              </a:ext>
            </a:extLst>
          </p:cNvPr>
          <p:cNvSpPr txBox="1"/>
          <p:nvPr/>
        </p:nvSpPr>
        <p:spPr>
          <a:xfrm>
            <a:off x="7285281" y="6187806"/>
            <a:ext cx="4462289" cy="338554"/>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800" b="1">
                <a:latin typeface="Calibri"/>
              </a:rPr>
              <a:t>ALL THE FLOWS CAN BE CHAINED TOGETHER LEVERAGING SNOWFLAKE TASKS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800" b="1">
                <a:latin typeface="Calibri"/>
              </a:rPr>
              <a:t>ALL DETAILS AROUND EACH STEP AND HOW IT EXECUTES IS CAPTURED IN THE NEXT SLIDES</a:t>
            </a:r>
            <a:endParaRPr kumimoji="0" lang="en-AU" sz="800" b="1" i="0" strike="noStrike" kern="1200" cap="none" spc="0" normalizeH="0" baseline="0" noProof="0">
              <a:ln>
                <a:noFill/>
              </a:ln>
              <a:effectLst/>
              <a:uLnTx/>
              <a:uFillTx/>
              <a:latin typeface="Calibri"/>
              <a:ea typeface="+mn-ea"/>
              <a:cs typeface="+mn-cs"/>
            </a:endParaRPr>
          </a:p>
        </p:txBody>
      </p:sp>
    </p:spTree>
    <p:extLst>
      <p:ext uri="{BB962C8B-B14F-4D97-AF65-F5344CB8AC3E}">
        <p14:creationId xmlns:p14="http://schemas.microsoft.com/office/powerpoint/2010/main" val="2683831831"/>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422052B7-B3FF-1F53-8D3C-0A16A53F1E71}"/>
            </a:ext>
          </a:extLst>
        </p:cNvPr>
        <p:cNvGrpSpPr/>
        <p:nvPr/>
      </p:nvGrpSpPr>
      <p:grpSpPr>
        <a:xfrm>
          <a:off x="0" y="0"/>
          <a:ext cx="0" cy="0"/>
          <a:chOff x="0" y="0"/>
          <a:chExt cx="0" cy="0"/>
        </a:xfrm>
      </p:grpSpPr>
      <p:sp>
        <p:nvSpPr>
          <p:cNvPr id="4" name="Rounded Rectangle 9">
            <a:extLst>
              <a:ext uri="{FF2B5EF4-FFF2-40B4-BE49-F238E27FC236}">
                <a16:creationId xmlns:a16="http://schemas.microsoft.com/office/drawing/2014/main" id="{CB55D691-6AFA-C7CA-7EEA-E2BD9A2ABCBD}"/>
              </a:ext>
            </a:extLst>
          </p:cNvPr>
          <p:cNvSpPr/>
          <p:nvPr/>
        </p:nvSpPr>
        <p:spPr>
          <a:xfrm>
            <a:off x="264990" y="611779"/>
            <a:ext cx="8227257" cy="3079687"/>
          </a:xfrm>
          <a:prstGeom prst="roundRect">
            <a:avLst/>
          </a:prstGeom>
          <a:solidFill>
            <a:schemeClr val="accent1">
              <a:lumMod val="60000"/>
              <a:lumOff val="40000"/>
            </a:schemeClr>
          </a:solid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t"/>
          <a:lstStyle/>
          <a:p>
            <a:endParaRPr>
              <a:solidFill>
                <a:schemeClr val="tx1"/>
              </a:solidFill>
              <a:latin typeface="Aptos" panose="02110004020202020204"/>
            </a:endParaRPr>
          </a:p>
        </p:txBody>
      </p:sp>
      <p:sp>
        <p:nvSpPr>
          <p:cNvPr id="3" name="TextBox 2">
            <a:extLst>
              <a:ext uri="{FF2B5EF4-FFF2-40B4-BE49-F238E27FC236}">
                <a16:creationId xmlns:a16="http://schemas.microsoft.com/office/drawing/2014/main" id="{8165A3D1-70E6-3527-A7DC-2BE5866C583D}"/>
              </a:ext>
            </a:extLst>
          </p:cNvPr>
          <p:cNvSpPr txBox="1"/>
          <p:nvPr/>
        </p:nvSpPr>
        <p:spPr>
          <a:xfrm>
            <a:off x="135468" y="86474"/>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SNOWFLAKE - Solution</a:t>
            </a:r>
          </a:p>
        </p:txBody>
      </p:sp>
      <p:sp>
        <p:nvSpPr>
          <p:cNvPr id="38" name="TextBox 37">
            <a:extLst>
              <a:ext uri="{FF2B5EF4-FFF2-40B4-BE49-F238E27FC236}">
                <a16:creationId xmlns:a16="http://schemas.microsoft.com/office/drawing/2014/main" id="{D981A55A-3DA7-9EDA-A94F-4B8F67028CEA}"/>
              </a:ext>
            </a:extLst>
          </p:cNvPr>
          <p:cNvSpPr txBox="1"/>
          <p:nvPr/>
        </p:nvSpPr>
        <p:spPr>
          <a:xfrm>
            <a:off x="5419932" y="247089"/>
            <a:ext cx="6096000" cy="2462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a:ln>
                  <a:noFill/>
                </a:ln>
                <a:effectLst/>
                <a:uLnTx/>
                <a:uFillTx/>
                <a:latin typeface="Aptos" panose="02110004020202020204"/>
                <a:ea typeface="+mn-ea"/>
                <a:cs typeface="+mn-cs"/>
                <a:hlinkClick r:id="rId4">
                  <a:extLst>
                    <a:ext uri="{A12FA001-AC4F-418D-AE19-62706E023703}">
                      <ahyp:hlinkClr xmlns:ahyp="http://schemas.microsoft.com/office/drawing/2018/hyperlinkcolor" val="tx"/>
                    </a:ext>
                  </a:extLst>
                </a:hlinkClick>
              </a:rPr>
              <a:t>Snowflake ML, Agentic Framework - CTO Strategy and Architecture - Westpac Enterprise Confluence</a:t>
            </a:r>
            <a:endParaRPr kumimoji="0" lang="en-AU" sz="1000" b="0" i="0" u="none" strike="noStrike" kern="1200" cap="none" spc="0" normalizeH="0" baseline="0" noProof="0">
              <a:ln>
                <a:noFill/>
              </a:ln>
              <a:effectLst/>
              <a:uLnTx/>
              <a:uFillTx/>
              <a:latin typeface="Aptos" panose="02110004020202020204"/>
              <a:ea typeface="+mn-ea"/>
              <a:cs typeface="+mn-cs"/>
            </a:endParaRPr>
          </a:p>
        </p:txBody>
      </p:sp>
      <p:sp>
        <p:nvSpPr>
          <p:cNvPr id="2" name="Rectangle: Rounded Corners 1">
            <a:extLst>
              <a:ext uri="{FF2B5EF4-FFF2-40B4-BE49-F238E27FC236}">
                <a16:creationId xmlns:a16="http://schemas.microsoft.com/office/drawing/2014/main" id="{1D1DAC4D-8D5C-8316-6122-DCA5DE9B3395}"/>
              </a:ext>
            </a:extLst>
          </p:cNvPr>
          <p:cNvSpPr/>
          <p:nvPr/>
        </p:nvSpPr>
        <p:spPr>
          <a:xfrm>
            <a:off x="948267" y="1363133"/>
            <a:ext cx="914400" cy="91440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DATA</a:t>
            </a:r>
          </a:p>
        </p:txBody>
      </p:sp>
      <p:sp>
        <p:nvSpPr>
          <p:cNvPr id="7" name="Rectangle: Rounded Corners 6">
            <a:extLst>
              <a:ext uri="{FF2B5EF4-FFF2-40B4-BE49-F238E27FC236}">
                <a16:creationId xmlns:a16="http://schemas.microsoft.com/office/drawing/2014/main" id="{B5D9A8F4-3FEB-9721-1342-EDEEC6F5F6E9}"/>
              </a:ext>
            </a:extLst>
          </p:cNvPr>
          <p:cNvSpPr/>
          <p:nvPr/>
        </p:nvSpPr>
        <p:spPr>
          <a:xfrm>
            <a:off x="3539066" y="1363132"/>
            <a:ext cx="1100667" cy="91440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NODE,</a:t>
            </a:r>
          </a:p>
          <a:p>
            <a:pPr algn="ctr"/>
            <a:r>
              <a:rPr lang="en-AU" sz="900" b="1">
                <a:solidFill>
                  <a:schemeClr val="tx1"/>
                </a:solidFill>
                <a:latin typeface="Aptos" panose="02110004020202020204"/>
              </a:rPr>
              <a:t>EDGE,</a:t>
            </a:r>
            <a:br>
              <a:rPr lang="en-AU" sz="900" b="1">
                <a:solidFill>
                  <a:schemeClr val="tx1"/>
                </a:solidFill>
                <a:latin typeface="Aptos" panose="02110004020202020204"/>
              </a:rPr>
            </a:br>
            <a:r>
              <a:rPr lang="en-AU" sz="900" b="1">
                <a:solidFill>
                  <a:schemeClr val="tx1"/>
                </a:solidFill>
                <a:latin typeface="Aptos" panose="02110004020202020204"/>
              </a:rPr>
              <a:t>VIEWS</a:t>
            </a:r>
          </a:p>
        </p:txBody>
      </p:sp>
      <p:sp>
        <p:nvSpPr>
          <p:cNvPr id="8" name="Rectangle: Folded Corner 7">
            <a:extLst>
              <a:ext uri="{FF2B5EF4-FFF2-40B4-BE49-F238E27FC236}">
                <a16:creationId xmlns:a16="http://schemas.microsoft.com/office/drawing/2014/main" id="{50675001-864D-E4DE-B7E4-6FD5AB7B4496}"/>
              </a:ext>
            </a:extLst>
          </p:cNvPr>
          <p:cNvSpPr/>
          <p:nvPr/>
        </p:nvSpPr>
        <p:spPr>
          <a:xfrm>
            <a:off x="2277533" y="1079499"/>
            <a:ext cx="928312" cy="567267"/>
          </a:xfrm>
          <a:prstGeom prst="foldedCorner">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STORED</a:t>
            </a:r>
          </a:p>
          <a:p>
            <a:pPr algn="ctr"/>
            <a:r>
              <a:rPr lang="en-AU" sz="900" b="1">
                <a:solidFill>
                  <a:schemeClr val="tx1"/>
                </a:solidFill>
                <a:latin typeface="Aptos" panose="02110004020202020204"/>
              </a:rPr>
              <a:t>PROCEDUREs</a:t>
            </a:r>
          </a:p>
        </p:txBody>
      </p:sp>
      <p:cxnSp>
        <p:nvCxnSpPr>
          <p:cNvPr id="10" name="Straight Arrow Connector 9">
            <a:extLst>
              <a:ext uri="{FF2B5EF4-FFF2-40B4-BE49-F238E27FC236}">
                <a16:creationId xmlns:a16="http://schemas.microsoft.com/office/drawing/2014/main" id="{12A014A3-354D-1622-9EAF-9D21C0440032}"/>
              </a:ext>
            </a:extLst>
          </p:cNvPr>
          <p:cNvCxnSpPr>
            <a:stCxn id="2" idx="3"/>
            <a:endCxn id="7" idx="1"/>
          </p:cNvCxnSpPr>
          <p:nvPr/>
        </p:nvCxnSpPr>
        <p:spPr>
          <a:xfrm flipV="1">
            <a:off x="1862667" y="1820332"/>
            <a:ext cx="1676399"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6A59A926-FBB1-D376-8067-C62CFE01C90C}"/>
              </a:ext>
            </a:extLst>
          </p:cNvPr>
          <p:cNvSpPr/>
          <p:nvPr/>
        </p:nvSpPr>
        <p:spPr>
          <a:xfrm>
            <a:off x="6841069" y="1363132"/>
            <a:ext cx="1100667" cy="91440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ONTOLOGY</a:t>
            </a:r>
          </a:p>
          <a:p>
            <a:pPr algn="ctr"/>
            <a:r>
              <a:rPr lang="en-AU" sz="900" b="1">
                <a:solidFill>
                  <a:schemeClr val="tx1"/>
                </a:solidFill>
                <a:latin typeface="Aptos" panose="02110004020202020204"/>
              </a:rPr>
              <a:t>UPDATES</a:t>
            </a:r>
          </a:p>
          <a:p>
            <a:pPr algn="ctr"/>
            <a:r>
              <a:rPr lang="en-AU" sz="900" b="1">
                <a:solidFill>
                  <a:schemeClr val="tx1"/>
                </a:solidFill>
                <a:latin typeface="Aptos" panose="02110004020202020204"/>
              </a:rPr>
              <a:t>TABLEs / VIEWs</a:t>
            </a:r>
          </a:p>
        </p:txBody>
      </p:sp>
      <p:cxnSp>
        <p:nvCxnSpPr>
          <p:cNvPr id="13" name="Straight Arrow Connector 12">
            <a:extLst>
              <a:ext uri="{FF2B5EF4-FFF2-40B4-BE49-F238E27FC236}">
                <a16:creationId xmlns:a16="http://schemas.microsoft.com/office/drawing/2014/main" id="{22197F37-994B-D552-3000-4856C97C87BB}"/>
              </a:ext>
            </a:extLst>
          </p:cNvPr>
          <p:cNvCxnSpPr>
            <a:cxnSpLocks/>
            <a:stCxn id="7" idx="3"/>
            <a:endCxn id="12" idx="1"/>
          </p:cNvCxnSpPr>
          <p:nvPr/>
        </p:nvCxnSpPr>
        <p:spPr>
          <a:xfrm>
            <a:off x="4639733" y="1820332"/>
            <a:ext cx="220133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Folded Corner 16">
            <a:extLst>
              <a:ext uri="{FF2B5EF4-FFF2-40B4-BE49-F238E27FC236}">
                <a16:creationId xmlns:a16="http://schemas.microsoft.com/office/drawing/2014/main" id="{8BC7A8BB-EDEC-BDA7-3F3D-DB59BA1A281A}"/>
              </a:ext>
            </a:extLst>
          </p:cNvPr>
          <p:cNvSpPr/>
          <p:nvPr/>
        </p:nvSpPr>
        <p:spPr>
          <a:xfrm>
            <a:off x="4827647" y="1151465"/>
            <a:ext cx="855133" cy="304800"/>
          </a:xfrm>
          <a:prstGeom prst="foldedCorner">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STREAMS</a:t>
            </a:r>
          </a:p>
        </p:txBody>
      </p:sp>
      <p:sp>
        <p:nvSpPr>
          <p:cNvPr id="19" name="Rectangle: Folded Corner 18">
            <a:extLst>
              <a:ext uri="{FF2B5EF4-FFF2-40B4-BE49-F238E27FC236}">
                <a16:creationId xmlns:a16="http://schemas.microsoft.com/office/drawing/2014/main" id="{72B52975-7D60-44FC-81EB-685C8B17EA7A}"/>
              </a:ext>
            </a:extLst>
          </p:cNvPr>
          <p:cNvSpPr/>
          <p:nvPr/>
        </p:nvSpPr>
        <p:spPr>
          <a:xfrm>
            <a:off x="5407539" y="1388532"/>
            <a:ext cx="855133" cy="287503"/>
          </a:xfrm>
          <a:prstGeom prst="foldedCorner">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TASKS</a:t>
            </a:r>
          </a:p>
        </p:txBody>
      </p:sp>
      <p:sp>
        <p:nvSpPr>
          <p:cNvPr id="21" name="Rectangle: Folded Corner 20">
            <a:extLst>
              <a:ext uri="{FF2B5EF4-FFF2-40B4-BE49-F238E27FC236}">
                <a16:creationId xmlns:a16="http://schemas.microsoft.com/office/drawing/2014/main" id="{DCF7F33C-EA03-4ED4-B0F6-60AAD8A0DCB3}"/>
              </a:ext>
            </a:extLst>
          </p:cNvPr>
          <p:cNvSpPr/>
          <p:nvPr/>
        </p:nvSpPr>
        <p:spPr>
          <a:xfrm>
            <a:off x="5163021" y="1947271"/>
            <a:ext cx="1100667" cy="414925"/>
          </a:xfrm>
          <a:prstGeom prst="foldedCorner">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STORED PRODCEDUREs</a:t>
            </a:r>
          </a:p>
        </p:txBody>
      </p:sp>
      <p:sp>
        <p:nvSpPr>
          <p:cNvPr id="22" name="Oval 21">
            <a:extLst>
              <a:ext uri="{FF2B5EF4-FFF2-40B4-BE49-F238E27FC236}">
                <a16:creationId xmlns:a16="http://schemas.microsoft.com/office/drawing/2014/main" id="{48174C87-0CE2-2774-F891-A30082498B3B}"/>
              </a:ext>
            </a:extLst>
          </p:cNvPr>
          <p:cNvSpPr/>
          <p:nvPr/>
        </p:nvSpPr>
        <p:spPr>
          <a:xfrm>
            <a:off x="2082800" y="982133"/>
            <a:ext cx="355600" cy="313265"/>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latin typeface="Aptos" panose="02110004020202020204"/>
              </a:rPr>
              <a:t>1</a:t>
            </a:r>
          </a:p>
        </p:txBody>
      </p:sp>
      <p:sp>
        <p:nvSpPr>
          <p:cNvPr id="24" name="Oval 23">
            <a:extLst>
              <a:ext uri="{FF2B5EF4-FFF2-40B4-BE49-F238E27FC236}">
                <a16:creationId xmlns:a16="http://schemas.microsoft.com/office/drawing/2014/main" id="{279D903C-DB6B-D101-E726-DD6EC86611D2}"/>
              </a:ext>
            </a:extLst>
          </p:cNvPr>
          <p:cNvSpPr/>
          <p:nvPr/>
        </p:nvSpPr>
        <p:spPr>
          <a:xfrm>
            <a:off x="4651608" y="977900"/>
            <a:ext cx="355600" cy="313265"/>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latin typeface="Aptos" panose="02110004020202020204"/>
              </a:rPr>
              <a:t>2</a:t>
            </a:r>
          </a:p>
        </p:txBody>
      </p:sp>
      <p:sp>
        <p:nvSpPr>
          <p:cNvPr id="26" name="Oval 25">
            <a:extLst>
              <a:ext uri="{FF2B5EF4-FFF2-40B4-BE49-F238E27FC236}">
                <a16:creationId xmlns:a16="http://schemas.microsoft.com/office/drawing/2014/main" id="{6811D9B8-5F11-0929-3FD8-131778CCD9AB}"/>
              </a:ext>
            </a:extLst>
          </p:cNvPr>
          <p:cNvSpPr/>
          <p:nvPr/>
        </p:nvSpPr>
        <p:spPr>
          <a:xfrm>
            <a:off x="6051015" y="1250479"/>
            <a:ext cx="355600" cy="313265"/>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latin typeface="Aptos" panose="02110004020202020204"/>
              </a:rPr>
              <a:t>3</a:t>
            </a:r>
          </a:p>
        </p:txBody>
      </p:sp>
      <p:sp>
        <p:nvSpPr>
          <p:cNvPr id="28" name="Oval 27">
            <a:extLst>
              <a:ext uri="{FF2B5EF4-FFF2-40B4-BE49-F238E27FC236}">
                <a16:creationId xmlns:a16="http://schemas.microsoft.com/office/drawing/2014/main" id="{E6498FB8-E4C0-E892-099D-94650D95854B}"/>
              </a:ext>
            </a:extLst>
          </p:cNvPr>
          <p:cNvSpPr/>
          <p:nvPr/>
        </p:nvSpPr>
        <p:spPr>
          <a:xfrm>
            <a:off x="6196778" y="1936278"/>
            <a:ext cx="355600" cy="313265"/>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latin typeface="Aptos" panose="02110004020202020204"/>
              </a:rPr>
              <a:t>4</a:t>
            </a:r>
          </a:p>
        </p:txBody>
      </p:sp>
      <p:sp>
        <p:nvSpPr>
          <p:cNvPr id="30" name="Rounded Rectangle 31">
            <a:extLst>
              <a:ext uri="{FF2B5EF4-FFF2-40B4-BE49-F238E27FC236}">
                <a16:creationId xmlns:a16="http://schemas.microsoft.com/office/drawing/2014/main" id="{8ACF753C-42CD-FFBB-C3DD-3764508F7956}"/>
              </a:ext>
            </a:extLst>
          </p:cNvPr>
          <p:cNvSpPr/>
          <p:nvPr/>
        </p:nvSpPr>
        <p:spPr>
          <a:xfrm>
            <a:off x="987570" y="3223620"/>
            <a:ext cx="6954165" cy="247714"/>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CORTEX AGENT &amp; ANALYST</a:t>
            </a:r>
          </a:p>
        </p:txBody>
      </p:sp>
      <p:sp>
        <p:nvSpPr>
          <p:cNvPr id="32" name="Arrow: Up-Down 31">
            <a:extLst>
              <a:ext uri="{FF2B5EF4-FFF2-40B4-BE49-F238E27FC236}">
                <a16:creationId xmlns:a16="http://schemas.microsoft.com/office/drawing/2014/main" id="{D04AAB45-C256-D2FE-6CA2-F06FB53AC03B}"/>
              </a:ext>
            </a:extLst>
          </p:cNvPr>
          <p:cNvSpPr/>
          <p:nvPr/>
        </p:nvSpPr>
        <p:spPr>
          <a:xfrm>
            <a:off x="4378198" y="2660565"/>
            <a:ext cx="143933" cy="500646"/>
          </a:xfrm>
          <a:prstGeom prst="up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cxnSp>
        <p:nvCxnSpPr>
          <p:cNvPr id="34" name="Straight Connector 33">
            <a:extLst>
              <a:ext uri="{FF2B5EF4-FFF2-40B4-BE49-F238E27FC236}">
                <a16:creationId xmlns:a16="http://schemas.microsoft.com/office/drawing/2014/main" id="{04A16925-4B1B-A718-47F0-79281EEAB9D9}"/>
              </a:ext>
            </a:extLst>
          </p:cNvPr>
          <p:cNvCxnSpPr/>
          <p:nvPr/>
        </p:nvCxnSpPr>
        <p:spPr>
          <a:xfrm>
            <a:off x="584200" y="2539999"/>
            <a:ext cx="7696200"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237E7F2F-12AF-C862-B8BE-38B6860B7F12}"/>
              </a:ext>
            </a:extLst>
          </p:cNvPr>
          <p:cNvSpPr txBox="1"/>
          <p:nvPr/>
        </p:nvSpPr>
        <p:spPr>
          <a:xfrm>
            <a:off x="245534" y="4535956"/>
            <a:ext cx="4582113" cy="2246769"/>
          </a:xfrm>
          <a:prstGeom prst="rect">
            <a:avLst/>
          </a:prstGeom>
          <a:noFill/>
          <a:ln>
            <a:solidFill>
              <a:schemeClr val="tx1"/>
            </a:solidFill>
          </a:ln>
        </p:spPr>
        <p:txBody>
          <a:bodyPr wrap="square">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en-AU" sz="1000" b="0" i="0" u="none" strike="noStrike" kern="1200" cap="none" spc="0" normalizeH="0" baseline="0" noProof="0">
                <a:ln>
                  <a:noFill/>
                </a:ln>
                <a:effectLst/>
                <a:uLnTx/>
                <a:uFillTx/>
                <a:latin typeface="Aptos" panose="02110004020202020204"/>
                <a:ea typeface="+mn-ea"/>
                <a:cs typeface="+mn-cs"/>
              </a:rPr>
              <a:t>Python based procedure to ingest data into KG_NODE &amp; KG_EDGE tables </a:t>
            </a:r>
          </a:p>
          <a:p>
            <a:pPr marL="228600" lvl="0" indent="-228600">
              <a:buFontTx/>
              <a:buAutoNum type="arabicParenR"/>
              <a:defRPr/>
            </a:pPr>
            <a:r>
              <a:rPr kumimoji="0" lang="en-AU" sz="1000" b="0" i="0" u="none" strike="noStrike" kern="1200" cap="none" spc="0" normalizeH="0" baseline="0" noProof="0">
                <a:ln>
                  <a:noFill/>
                </a:ln>
                <a:effectLst/>
                <a:uLnTx/>
                <a:uFillTx/>
                <a:latin typeface="Aptos" panose="02110004020202020204"/>
                <a:ea typeface="+mn-ea"/>
                <a:cs typeface="+mn-cs"/>
              </a:rPr>
              <a:t>Snowflake Stream for CDC on #1</a:t>
            </a:r>
            <a:br>
              <a:rPr kumimoji="0" lang="en-AU" sz="1000" b="0" i="0" u="none" strike="noStrike" kern="1200" cap="none" spc="0" normalizeH="0" baseline="0" noProof="0">
                <a:ln>
                  <a:noFill/>
                </a:ln>
                <a:effectLst/>
                <a:uLnTx/>
                <a:uFillTx/>
                <a:latin typeface="Aptos" panose="02110004020202020204"/>
                <a:ea typeface="+mn-ea"/>
                <a:cs typeface="+mn-cs"/>
              </a:rPr>
            </a:br>
            <a:r>
              <a:rPr kumimoji="0" lang="en-AU" sz="1000" b="0" i="0" u="none" strike="noStrike" kern="1200" cap="none" spc="0" normalizeH="0" baseline="0" noProof="0">
                <a:ln>
                  <a:noFill/>
                </a:ln>
                <a:effectLst/>
                <a:uLnTx/>
                <a:uFillTx/>
                <a:latin typeface="Aptos" panose="02110004020202020204"/>
                <a:ea typeface="+mn-ea"/>
                <a:cs typeface="+mn-cs"/>
              </a:rPr>
              <a:t>CREATE OR REPLACE STREAM </a:t>
            </a:r>
            <a:r>
              <a:rPr kumimoji="0" lang="en-AU" sz="1000" b="0" i="0" u="none" strike="noStrike" kern="1200" cap="none" spc="0" normalizeH="0" baseline="0" noProof="0" err="1">
                <a:ln>
                  <a:noFill/>
                </a:ln>
                <a:effectLst/>
                <a:uLnTx/>
                <a:uFillTx/>
                <a:latin typeface="Aptos" panose="02110004020202020204"/>
                <a:ea typeface="+mn-ea"/>
                <a:cs typeface="+mn-cs"/>
              </a:rPr>
              <a:t>node_changes_stream</a:t>
            </a:r>
            <a:r>
              <a:rPr kumimoji="0" lang="en-AU" sz="1000" b="0" i="0" u="none" strike="noStrike" kern="1200" cap="none" spc="0" normalizeH="0" baseline="0" noProof="0">
                <a:ln>
                  <a:noFill/>
                </a:ln>
                <a:effectLst/>
                <a:uLnTx/>
                <a:uFillTx/>
                <a:latin typeface="Aptos" panose="02110004020202020204"/>
                <a:ea typeface="+mn-ea"/>
                <a:cs typeface="+mn-cs"/>
              </a:rPr>
              <a:t> ON TABLE KG</a:t>
            </a:r>
            <a:r>
              <a:rPr lang="en-AU" sz="1000"/>
              <a:t>_NODE</a:t>
            </a:r>
            <a:br>
              <a:rPr lang="en-AU" sz="1000"/>
            </a:br>
            <a:r>
              <a:rPr lang="en-AU" sz="1000"/>
              <a:t>CREATE OR REPLACE STREAM </a:t>
            </a:r>
            <a:r>
              <a:rPr lang="en-AU" sz="1000" err="1"/>
              <a:t>edge_changes_stream</a:t>
            </a:r>
            <a:r>
              <a:rPr lang="en-AU" sz="1000"/>
              <a:t> ON TABLE KG_EDGE</a:t>
            </a:r>
            <a:endParaRPr kumimoji="0" lang="en-AU" sz="1000" b="0" i="0" u="none" strike="noStrike" kern="1200" cap="none" spc="0" normalizeH="0" baseline="0" noProof="0">
              <a:ln>
                <a:noFill/>
              </a:ln>
              <a:effectLst/>
              <a:uLnTx/>
              <a:uFillTx/>
              <a:latin typeface="Aptos" panose="02110004020202020204"/>
              <a:ea typeface="+mn-ea"/>
              <a:cs typeface="+mn-cs"/>
            </a:endParaRPr>
          </a:p>
          <a:p>
            <a:pPr marL="228600" indent="-228600">
              <a:buFontTx/>
              <a:buAutoNum type="arabicParenR"/>
              <a:defRPr/>
            </a:pPr>
            <a:r>
              <a:rPr lang="en-AU" sz="1000">
                <a:latin typeface="Aptos" panose="02110004020202020204"/>
              </a:rPr>
              <a:t>Tasks</a:t>
            </a:r>
            <a:br>
              <a:rPr lang="en-AU" sz="1000">
                <a:latin typeface="Aptos" panose="02110004020202020204"/>
              </a:rPr>
            </a:br>
            <a:r>
              <a:rPr lang="en-AU" sz="1000">
                <a:latin typeface="Aptos" panose="02110004020202020204"/>
              </a:rPr>
              <a:t>CREATE OR REPLACE TASK </a:t>
            </a:r>
            <a:r>
              <a:rPr lang="en-AU" sz="1000" err="1">
                <a:latin typeface="Aptos" panose="02110004020202020204"/>
              </a:rPr>
              <a:t>tsk_automate_ontology</a:t>
            </a:r>
            <a:br>
              <a:rPr lang="en-AU" sz="1000">
                <a:latin typeface="Aptos" panose="02110004020202020204"/>
              </a:rPr>
            </a:br>
            <a:r>
              <a:rPr lang="en-AU" sz="1000">
                <a:latin typeface="Aptos" panose="02110004020202020204"/>
              </a:rPr>
              <a:t>WAREHOUSE = “”</a:t>
            </a:r>
            <a:br>
              <a:rPr lang="en-AU" sz="1000">
                <a:latin typeface="Aptos" panose="02110004020202020204"/>
              </a:rPr>
            </a:br>
            <a:r>
              <a:rPr lang="en-AU" sz="1000">
                <a:latin typeface="Aptos" panose="02110004020202020204"/>
              </a:rPr>
              <a:t>SCHEDULE = ‘’</a:t>
            </a:r>
            <a:br>
              <a:rPr lang="en-AU" sz="1000">
                <a:latin typeface="Aptos" panose="02110004020202020204"/>
              </a:rPr>
            </a:br>
            <a:r>
              <a:rPr lang="en-AU" sz="1000">
                <a:latin typeface="Aptos" panose="02110004020202020204"/>
              </a:rPr>
              <a:t>WHEN SYSTEM$STREAM_HAS_DATE(‘</a:t>
            </a:r>
            <a:r>
              <a:rPr lang="en-AU" sz="1000" err="1"/>
              <a:t>node_changes_stream</a:t>
            </a:r>
            <a:r>
              <a:rPr lang="en-AU" sz="1000"/>
              <a:t>’) OR SYSTEM$STREAM_HAS_DATE(‘</a:t>
            </a:r>
            <a:r>
              <a:rPr lang="en-AU" sz="1000" err="1"/>
              <a:t>edge_changes_stream</a:t>
            </a:r>
            <a:r>
              <a:rPr lang="en-AU" sz="1000"/>
              <a:t>’) </a:t>
            </a:r>
            <a:br>
              <a:rPr lang="en-AU" sz="1000"/>
            </a:br>
            <a:r>
              <a:rPr lang="en-AU" sz="1000"/>
              <a:t>AS </a:t>
            </a:r>
            <a:br>
              <a:rPr lang="en-AU" sz="1000"/>
            </a:br>
            <a:r>
              <a:rPr lang="en-AU" sz="1000"/>
              <a:t>CALL (SP_&lt;ONTOLOGY_PROCEDURES&gt;)</a:t>
            </a:r>
            <a:br>
              <a:rPr lang="en-AU" sz="1000"/>
            </a:br>
            <a:r>
              <a:rPr lang="en-AU" sz="1000"/>
              <a:t>--tasks are created in suspended state and need activation</a:t>
            </a:r>
            <a:br>
              <a:rPr lang="en-AU" sz="1000"/>
            </a:br>
            <a:r>
              <a:rPr lang="en-AU" sz="1000"/>
              <a:t>ALTER TASK </a:t>
            </a:r>
            <a:r>
              <a:rPr lang="en-AU" sz="1000" err="1"/>
              <a:t>tsk_automate_ontology</a:t>
            </a:r>
            <a:r>
              <a:rPr lang="en-AU" sz="1000"/>
              <a:t> RESUME</a:t>
            </a:r>
          </a:p>
        </p:txBody>
      </p:sp>
      <p:sp>
        <p:nvSpPr>
          <p:cNvPr id="41" name="TextBox 40">
            <a:extLst>
              <a:ext uri="{FF2B5EF4-FFF2-40B4-BE49-F238E27FC236}">
                <a16:creationId xmlns:a16="http://schemas.microsoft.com/office/drawing/2014/main" id="{1980B5B3-F1CD-932A-491D-9840C04F6C35}"/>
              </a:ext>
            </a:extLst>
          </p:cNvPr>
          <p:cNvSpPr txBox="1"/>
          <p:nvPr/>
        </p:nvSpPr>
        <p:spPr>
          <a:xfrm>
            <a:off x="5007208" y="4148666"/>
            <a:ext cx="3302962" cy="1015663"/>
          </a:xfrm>
          <a:prstGeom prst="rect">
            <a:avLst/>
          </a:prstGeom>
          <a:noFill/>
          <a:ln>
            <a:solidFill>
              <a:schemeClr val="tx1"/>
            </a:solidFill>
          </a:ln>
        </p:spPr>
        <p:txBody>
          <a:bodyPr wrap="square">
            <a:spAutoFit/>
          </a:bodyPr>
          <a:lstStyle/>
          <a:p>
            <a:pPr>
              <a:defRPr/>
            </a:pPr>
            <a:r>
              <a:rPr lang="en-AU" sz="1000">
                <a:latin typeface="Aptos" panose="02110004020202020204"/>
              </a:rPr>
              <a:t>4</a:t>
            </a:r>
            <a:r>
              <a:rPr lang="en-AU" sz="1000"/>
              <a:t>) Schema Validation</a:t>
            </a:r>
            <a:br>
              <a:rPr lang="en-AU" sz="1000"/>
            </a:br>
            <a:r>
              <a:rPr lang="en-AU" sz="1000"/>
              <a:t>LEVERAGING SEMATIC MODEL “.YML” FILES FOR IT</a:t>
            </a:r>
            <a:endParaRPr lang="en-AU" sz="1000">
              <a:latin typeface="Aptos" panose="02110004020202020204"/>
            </a:endParaRPr>
          </a:p>
          <a:p>
            <a:pPr marR="0" lvl="0" algn="l" defTabSz="457200" rtl="0" eaLnBrk="1" fontAlgn="auto" latinLnBrk="0" hangingPunct="1">
              <a:lnSpc>
                <a:spcPct val="100000"/>
              </a:lnSpc>
              <a:spcBef>
                <a:spcPts val="0"/>
              </a:spcBef>
              <a:spcAft>
                <a:spcPts val="0"/>
              </a:spcAft>
              <a:buClrTx/>
              <a:buSzTx/>
              <a:tabLst/>
              <a:defRPr/>
            </a:pPr>
            <a:r>
              <a:rPr lang="en-AU" sz="1000">
                <a:latin typeface="Aptos" panose="02110004020202020204"/>
              </a:rPr>
              <a:t>+</a:t>
            </a:r>
          </a:p>
          <a:p>
            <a:pPr marR="0" lvl="0" algn="l" defTabSz="457200" rtl="0" eaLnBrk="1" fontAlgn="auto" latinLnBrk="0" hangingPunct="1">
              <a:lnSpc>
                <a:spcPct val="100000"/>
              </a:lnSpc>
              <a:spcBef>
                <a:spcPts val="0"/>
              </a:spcBef>
              <a:spcAft>
                <a:spcPts val="0"/>
              </a:spcAft>
              <a:buClrTx/>
              <a:buSzTx/>
              <a:tabLst/>
              <a:defRPr/>
            </a:pPr>
            <a:r>
              <a:rPr lang="en-AU" sz="1000">
                <a:latin typeface="Aptos" panose="02110004020202020204"/>
              </a:rPr>
              <a:t>Run Governance and Exception Handling</a:t>
            </a:r>
          </a:p>
          <a:p>
            <a:pPr lvl="0">
              <a:defRPr/>
            </a:pPr>
            <a:r>
              <a:rPr lang="en-AU" sz="1000"/>
              <a:t>LEVERAGING SEMATIC MODEL “.YML” FILES FOR IT &amp; SP CORRESPONDING TO EACH</a:t>
            </a:r>
            <a:endParaRPr lang="en-AU" sz="1000">
              <a:latin typeface="Aptos" panose="02110004020202020204"/>
            </a:endParaRPr>
          </a:p>
        </p:txBody>
      </p:sp>
      <p:sp>
        <p:nvSpPr>
          <p:cNvPr id="43" name="TextBox 42">
            <a:extLst>
              <a:ext uri="{FF2B5EF4-FFF2-40B4-BE49-F238E27FC236}">
                <a16:creationId xmlns:a16="http://schemas.microsoft.com/office/drawing/2014/main" id="{5DBEE7DA-9CC0-8DEC-084A-45AD9360268E}"/>
              </a:ext>
            </a:extLst>
          </p:cNvPr>
          <p:cNvSpPr txBox="1"/>
          <p:nvPr/>
        </p:nvSpPr>
        <p:spPr>
          <a:xfrm>
            <a:off x="8825468" y="2470762"/>
            <a:ext cx="3050116" cy="1831271"/>
          </a:xfrm>
          <a:prstGeom prst="rect">
            <a:avLst/>
          </a:prstGeom>
          <a:noFill/>
          <a:ln>
            <a:solidFill>
              <a:schemeClr val="tx1"/>
            </a:solidFill>
          </a:ln>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AU" sz="1000">
                <a:latin typeface="Aptos" panose="02110004020202020204"/>
              </a:rPr>
              <a:t>THESE STEPS ARE THE SAME IRRESPECTIVE OF HOW THE DATA IS LOADED INTO NODE &amp; EDGE TABLES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000">
                <a:latin typeface="Aptos" panose="02110004020202020204"/>
              </a:rPr>
              <a:t>STREAM </a:t>
            </a:r>
          </a:p>
          <a:p>
            <a:pPr marL="628650" lvl="1" indent="-171450">
              <a:buFont typeface="Arial" panose="020B0604020202020204" pitchFamily="34" charset="0"/>
              <a:buChar char="•"/>
              <a:defRPr/>
            </a:pPr>
            <a:r>
              <a:rPr lang="en-AU" sz="900">
                <a:latin typeface="Aptos" panose="02110004020202020204"/>
              </a:rPr>
              <a:t>Kafka Sink Connector</a:t>
            </a:r>
          </a:p>
          <a:p>
            <a:pPr lvl="1">
              <a:defRPr/>
            </a:pPr>
            <a:r>
              <a:rPr lang="en-AU" sz="900">
                <a:latin typeface="Aptos" panose="02110004020202020204"/>
              </a:rPr>
              <a:t>OR</a:t>
            </a:r>
          </a:p>
          <a:p>
            <a:pPr marL="628650" lvl="1" indent="-171450">
              <a:buFont typeface="Arial" panose="020B0604020202020204" pitchFamily="34" charset="0"/>
              <a:buChar char="•"/>
              <a:defRPr/>
            </a:pPr>
            <a:r>
              <a:rPr lang="en-AU" sz="900"/>
              <a:t>Snowflake DataStream. This is a native Snowflake offering and does away with Kafka sink connector and auth stuffs. It is currently in Private Preview </a:t>
            </a:r>
            <a:endParaRPr lang="en-AU" sz="900">
              <a:latin typeface="Aptos" panose="02110004020202020204"/>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000">
                <a:latin typeface="Aptos" panose="02110004020202020204"/>
              </a:rPr>
              <a:t>BATCH</a:t>
            </a:r>
          </a:p>
          <a:p>
            <a:pPr marL="628650" lvl="1" indent="-171450">
              <a:buFont typeface="Arial" panose="020B0604020202020204" pitchFamily="34" charset="0"/>
              <a:buChar char="•"/>
              <a:defRPr/>
            </a:pPr>
            <a:r>
              <a:rPr lang="en-AU" sz="900">
                <a:latin typeface="Aptos" panose="02110004020202020204"/>
              </a:rPr>
              <a:t>Stored Procedure based ingestion</a:t>
            </a:r>
          </a:p>
        </p:txBody>
      </p:sp>
      <p:sp>
        <p:nvSpPr>
          <p:cNvPr id="45" name="TextBox 44">
            <a:extLst>
              <a:ext uri="{FF2B5EF4-FFF2-40B4-BE49-F238E27FC236}">
                <a16:creationId xmlns:a16="http://schemas.microsoft.com/office/drawing/2014/main" id="{9C91C909-2B2C-0E43-73C1-3B019ABC4C36}"/>
              </a:ext>
            </a:extLst>
          </p:cNvPr>
          <p:cNvSpPr txBox="1"/>
          <p:nvPr/>
        </p:nvSpPr>
        <p:spPr>
          <a:xfrm>
            <a:off x="8825468" y="4395447"/>
            <a:ext cx="3050116" cy="2308324"/>
          </a:xfrm>
          <a:prstGeom prst="rect">
            <a:avLst/>
          </a:prstGeom>
          <a:noFill/>
          <a:ln>
            <a:solidFill>
              <a:schemeClr val="tx1"/>
            </a:solidFill>
          </a:ln>
        </p:spPr>
        <p:txBody>
          <a:bodyPr wrap="square">
            <a:spAutoFit/>
          </a:bodyPr>
          <a:lstStyle/>
          <a:p>
            <a:pPr>
              <a:buNone/>
            </a:pPr>
            <a:r>
              <a:rPr lang="en-AU" sz="900" b="1" u="sng"/>
              <a:t>One-Off data load  - Time taken – 9 hrs</a:t>
            </a:r>
            <a:endParaRPr lang="en-AU" sz="900"/>
          </a:p>
          <a:p>
            <a:pPr>
              <a:buNone/>
            </a:pPr>
            <a:r>
              <a:rPr lang="en-AU" sz="900"/>
              <a:t>31 mil customers</a:t>
            </a:r>
          </a:p>
          <a:p>
            <a:pPr>
              <a:buNone/>
            </a:pPr>
            <a:r>
              <a:rPr lang="en-AU" sz="900"/>
              <a:t>42mil accounts </a:t>
            </a:r>
          </a:p>
          <a:p>
            <a:pPr>
              <a:buNone/>
            </a:pPr>
            <a:r>
              <a:rPr lang="en-AU" sz="900"/>
              <a:t>Other data = 500GB</a:t>
            </a:r>
          </a:p>
          <a:p>
            <a:pPr>
              <a:buNone/>
            </a:pPr>
            <a:r>
              <a:rPr lang="en-AU" sz="900"/>
              <a:t>Transactions (13 months of </a:t>
            </a:r>
            <a:r>
              <a:rPr lang="en-AU" sz="900" err="1"/>
              <a:t>txn</a:t>
            </a:r>
            <a:r>
              <a:rPr lang="en-AU" sz="900"/>
              <a:t>) = ~30TB &lt;~ 38M / day&gt;</a:t>
            </a:r>
          </a:p>
          <a:p>
            <a:pPr>
              <a:buNone/>
            </a:pPr>
            <a:r>
              <a:rPr lang="en-AU" sz="900" u="sng"/>
              <a:t>Cost</a:t>
            </a:r>
            <a:r>
              <a:rPr lang="en-AU" sz="900" b="1"/>
              <a:t> = $5K USD (one-off)</a:t>
            </a:r>
            <a:br>
              <a:rPr lang="en-AU" sz="900"/>
            </a:br>
            <a:r>
              <a:rPr lang="en-AU" sz="900"/>
              <a:t>based on 1*4XL </a:t>
            </a:r>
          </a:p>
          <a:p>
            <a:pPr>
              <a:buNone/>
            </a:pPr>
            <a:r>
              <a:rPr lang="en-AU" sz="900"/>
              <a:t> </a:t>
            </a:r>
          </a:p>
          <a:p>
            <a:pPr>
              <a:buNone/>
            </a:pPr>
            <a:r>
              <a:rPr lang="en-AU" sz="900" b="1" u="sng"/>
              <a:t>Daily workload – 3 hr</a:t>
            </a:r>
            <a:endParaRPr lang="en-AU" sz="900"/>
          </a:p>
          <a:p>
            <a:pPr>
              <a:buNone/>
            </a:pPr>
            <a:r>
              <a:rPr lang="en-AU" sz="900"/>
              <a:t>31 mil customers</a:t>
            </a:r>
            <a:br>
              <a:rPr lang="en-AU" sz="900"/>
            </a:br>
            <a:r>
              <a:rPr lang="en-AU" sz="900"/>
              <a:t>42mil accounts </a:t>
            </a:r>
            <a:br>
              <a:rPr lang="en-AU" sz="900"/>
            </a:br>
            <a:r>
              <a:rPr lang="en-AU" sz="900"/>
              <a:t>Other data = 500GB </a:t>
            </a:r>
            <a:br>
              <a:rPr lang="en-AU" sz="900"/>
            </a:br>
            <a:r>
              <a:rPr lang="en-AU" sz="900"/>
              <a:t>&lt;daily full load of </a:t>
            </a:r>
            <a:r>
              <a:rPr lang="en-AU" sz="900" err="1"/>
              <a:t>cust</a:t>
            </a:r>
            <a:r>
              <a:rPr lang="en-AU" sz="900"/>
              <a:t> and account&gt;</a:t>
            </a:r>
          </a:p>
          <a:p>
            <a:r>
              <a:rPr lang="en-AU" sz="900"/>
              <a:t>Transactions (~38mil </a:t>
            </a:r>
            <a:r>
              <a:rPr lang="en-AU" sz="900" err="1"/>
              <a:t>txn</a:t>
            </a:r>
            <a:r>
              <a:rPr lang="en-AU" sz="900"/>
              <a:t>) </a:t>
            </a:r>
            <a:br>
              <a:rPr lang="en-AU" sz="900"/>
            </a:br>
            <a:r>
              <a:rPr lang="en-AU" sz="900" u="sng"/>
              <a:t>Cost</a:t>
            </a:r>
            <a:r>
              <a:rPr lang="en-AU" sz="900" b="1"/>
              <a:t> = $20 K / Yr USD</a:t>
            </a:r>
            <a:br>
              <a:rPr lang="en-AU" sz="900"/>
            </a:br>
            <a:r>
              <a:rPr lang="en-AU" sz="900"/>
              <a:t>based on 1*M </a:t>
            </a:r>
          </a:p>
        </p:txBody>
      </p:sp>
      <p:sp>
        <p:nvSpPr>
          <p:cNvPr id="9" name="TextBox 8">
            <a:extLst>
              <a:ext uri="{FF2B5EF4-FFF2-40B4-BE49-F238E27FC236}">
                <a16:creationId xmlns:a16="http://schemas.microsoft.com/office/drawing/2014/main" id="{574D5513-66AC-7099-E705-A5E24416F3C8}"/>
              </a:ext>
            </a:extLst>
          </p:cNvPr>
          <p:cNvSpPr txBox="1"/>
          <p:nvPr/>
        </p:nvSpPr>
        <p:spPr>
          <a:xfrm>
            <a:off x="248683" y="3768604"/>
            <a:ext cx="4578964" cy="707886"/>
          </a:xfrm>
          <a:prstGeom prst="rect">
            <a:avLst/>
          </a:prstGeom>
          <a:noFill/>
          <a:ln>
            <a:solidFill>
              <a:schemeClr val="tx1"/>
            </a:solidFill>
          </a:ln>
        </p:spPr>
        <p:txBody>
          <a:bodyPr wrap="square">
            <a:spAutoFit/>
          </a:bodyPr>
          <a:lstStyle/>
          <a:p>
            <a:r>
              <a:rPr lang="en-AU" sz="800"/>
              <a:t>USE ROLE ACCOUNTADMIN;</a:t>
            </a:r>
          </a:p>
          <a:p>
            <a:r>
              <a:rPr lang="en-AU" sz="800"/>
              <a:t>GRANT EXECUTE TASK ON ACCOUNT TO ROLE SFLK_GBU_A01A0E_DEVELOPER_DEV;</a:t>
            </a:r>
          </a:p>
          <a:p>
            <a:endParaRPr lang="en-AU" sz="800"/>
          </a:p>
          <a:p>
            <a:r>
              <a:rPr lang="en-AU" sz="800"/>
              <a:t>-- Grant EXECUTE MANAGED TASK as well (required for serverless tasks)</a:t>
            </a:r>
          </a:p>
          <a:p>
            <a:r>
              <a:rPr lang="en-AU" sz="800"/>
              <a:t>GRANT EXECUTE MANAGED TASK ON ACCOUNT TO ROLE SFLK_GBU_A01A0E_DEVELOPER_DEV;</a:t>
            </a:r>
          </a:p>
        </p:txBody>
      </p:sp>
    </p:spTree>
    <p:extLst>
      <p:ext uri="{BB962C8B-B14F-4D97-AF65-F5344CB8AC3E}">
        <p14:creationId xmlns:p14="http://schemas.microsoft.com/office/powerpoint/2010/main" val="266836532"/>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FB0C99B9-25E7-D9BB-5525-5EE268296473}"/>
            </a:ext>
          </a:extLst>
        </p:cNvPr>
        <p:cNvGrpSpPr/>
        <p:nvPr/>
      </p:nvGrpSpPr>
      <p:grpSpPr>
        <a:xfrm>
          <a:off x="0" y="0"/>
          <a:ext cx="0" cy="0"/>
          <a:chOff x="0" y="0"/>
          <a:chExt cx="0" cy="0"/>
        </a:xfrm>
      </p:grpSpPr>
      <p:sp>
        <p:nvSpPr>
          <p:cNvPr id="4" name="Rounded Rectangle 9">
            <a:extLst>
              <a:ext uri="{FF2B5EF4-FFF2-40B4-BE49-F238E27FC236}">
                <a16:creationId xmlns:a16="http://schemas.microsoft.com/office/drawing/2014/main" id="{C35171BC-F51B-8159-0A68-547290FE8C4D}"/>
              </a:ext>
            </a:extLst>
          </p:cNvPr>
          <p:cNvSpPr/>
          <p:nvPr/>
        </p:nvSpPr>
        <p:spPr>
          <a:xfrm>
            <a:off x="245534" y="704913"/>
            <a:ext cx="11236913" cy="3454720"/>
          </a:xfrm>
          <a:prstGeom prst="roundRect">
            <a:avLst/>
          </a:prstGeom>
          <a:solidFill>
            <a:schemeClr val="accent1">
              <a:lumMod val="60000"/>
              <a:lumOff val="40000"/>
            </a:schemeClr>
          </a:solidFill>
          <a:ln w="25400">
            <a:solidFill>
              <a:schemeClr val="bg2"/>
            </a:solidFill>
          </a:ln>
        </p:spPr>
        <p:style>
          <a:lnRef idx="1">
            <a:schemeClr val="accent1"/>
          </a:lnRef>
          <a:fillRef idx="3">
            <a:schemeClr val="accent1"/>
          </a:fillRef>
          <a:effectRef idx="2">
            <a:schemeClr val="accent1"/>
          </a:effectRef>
          <a:fontRef idx="minor">
            <a:schemeClr val="lt1"/>
          </a:fontRef>
        </p:style>
        <p:txBody>
          <a:bodyPr rtlCol="0" anchor="t"/>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a:ln>
                  <a:noFill/>
                </a:ln>
                <a:solidFill>
                  <a:schemeClr val="tx1"/>
                </a:solidFill>
                <a:effectLst/>
                <a:uLnTx/>
                <a:uFillTx/>
                <a:latin typeface="Aptos" panose="02110004020202020204"/>
                <a:ea typeface="+mn-ea"/>
                <a:cs typeface="+mn-cs"/>
              </a:rPr>
              <a:t>SOLUTION FLOW</a:t>
            </a:r>
            <a:endParaRPr kumimoji="0" sz="1800" b="0" i="0" u="none" strike="noStrike" kern="1200" cap="none" spc="0" normalizeH="0" baseline="0" noProof="0">
              <a:ln>
                <a:noFill/>
              </a:ln>
              <a:solidFill>
                <a:schemeClr val="tx1"/>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DD0EAED6-91E5-49E7-F374-980DB0C8CC95}"/>
              </a:ext>
            </a:extLst>
          </p:cNvPr>
          <p:cNvSpPr txBox="1"/>
          <p:nvPr/>
        </p:nvSpPr>
        <p:spPr>
          <a:xfrm>
            <a:off x="135468" y="86474"/>
            <a:ext cx="10972800" cy="553998"/>
          </a:xfrm>
          <a:prstGeom prst="rect">
            <a:avLst/>
          </a:prstGeom>
          <a:noFill/>
        </p:spPr>
        <p:txBody>
          <a:bodyPr wrap="square">
            <a:spAutoFit/>
          </a:bodyPr>
          <a:lstStyle/>
          <a:p>
            <a:pPr lvl="0">
              <a:defRPr/>
            </a:pPr>
            <a:r>
              <a:rPr lang="en-AU" sz="3000" b="1">
                <a:latin typeface="Calibri"/>
              </a:rPr>
              <a:t>SNOWFLAKE - Solution Details</a:t>
            </a:r>
          </a:p>
        </p:txBody>
      </p:sp>
      <p:pic>
        <p:nvPicPr>
          <p:cNvPr id="57" name="Graphic 56" descr="Users outline">
            <a:extLst>
              <a:ext uri="{FF2B5EF4-FFF2-40B4-BE49-F238E27FC236}">
                <a16:creationId xmlns:a16="http://schemas.microsoft.com/office/drawing/2014/main" id="{44AE9548-CADB-F825-4070-B14EAAD54E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4505" y="1996629"/>
            <a:ext cx="906151" cy="880176"/>
          </a:xfrm>
          <a:prstGeom prst="rect">
            <a:avLst/>
          </a:prstGeom>
        </p:spPr>
      </p:pic>
      <p:sp>
        <p:nvSpPr>
          <p:cNvPr id="61" name="TextBox 60">
            <a:extLst>
              <a:ext uri="{FF2B5EF4-FFF2-40B4-BE49-F238E27FC236}">
                <a16:creationId xmlns:a16="http://schemas.microsoft.com/office/drawing/2014/main" id="{1CCE3681-69D6-E920-260F-DDF3F4EC6AD0}"/>
              </a:ext>
            </a:extLst>
          </p:cNvPr>
          <p:cNvSpPr txBox="1"/>
          <p:nvPr/>
        </p:nvSpPr>
        <p:spPr>
          <a:xfrm>
            <a:off x="229595" y="2853656"/>
            <a:ext cx="835792"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effectLst/>
                <a:uLnTx/>
                <a:uFillTx/>
                <a:latin typeface="Calibri"/>
                <a:ea typeface="+mn-ea"/>
                <a:cs typeface="+mn-cs"/>
              </a:rPr>
              <a:t>USERS</a:t>
            </a:r>
          </a:p>
        </p:txBody>
      </p:sp>
      <p:sp>
        <p:nvSpPr>
          <p:cNvPr id="62" name="Rounded Rectangle 31">
            <a:extLst>
              <a:ext uri="{FF2B5EF4-FFF2-40B4-BE49-F238E27FC236}">
                <a16:creationId xmlns:a16="http://schemas.microsoft.com/office/drawing/2014/main" id="{AB5092E9-E9DC-3BF8-3DD0-C873B688B83D}"/>
              </a:ext>
            </a:extLst>
          </p:cNvPr>
          <p:cNvSpPr/>
          <p:nvPr/>
        </p:nvSpPr>
        <p:spPr>
          <a:xfrm>
            <a:off x="1767114" y="1440173"/>
            <a:ext cx="835792" cy="1990162"/>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CORTEX AGENT</a:t>
            </a:r>
            <a:br>
              <a:rPr lang="en-AU" sz="900" b="1">
                <a:solidFill>
                  <a:schemeClr val="tx1"/>
                </a:solidFill>
                <a:latin typeface="Aptos" panose="02110004020202020204"/>
              </a:rPr>
            </a:br>
            <a:r>
              <a:rPr lang="en-AU" sz="900" b="1">
                <a:solidFill>
                  <a:schemeClr val="tx1"/>
                </a:solidFill>
                <a:latin typeface="Aptos" panose="02110004020202020204"/>
              </a:rPr>
              <a:t>&amp;</a:t>
            </a:r>
          </a:p>
          <a:p>
            <a:pPr algn="ctr"/>
            <a:r>
              <a:rPr lang="en-AU" sz="900" b="1">
                <a:solidFill>
                  <a:schemeClr val="tx1"/>
                </a:solidFill>
                <a:latin typeface="Aptos" panose="02110004020202020204"/>
              </a:rPr>
              <a:t>ANALYST</a:t>
            </a:r>
          </a:p>
        </p:txBody>
      </p:sp>
      <p:sp>
        <p:nvSpPr>
          <p:cNvPr id="63" name="Rounded Rectangle 31">
            <a:extLst>
              <a:ext uri="{FF2B5EF4-FFF2-40B4-BE49-F238E27FC236}">
                <a16:creationId xmlns:a16="http://schemas.microsoft.com/office/drawing/2014/main" id="{EA6EC80F-9A39-5921-5CBC-14DC9BE5E511}"/>
              </a:ext>
            </a:extLst>
          </p:cNvPr>
          <p:cNvSpPr/>
          <p:nvPr/>
        </p:nvSpPr>
        <p:spPr>
          <a:xfrm>
            <a:off x="3631838" y="1135566"/>
            <a:ext cx="1184587" cy="542952"/>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KNOWLEDGE GRAPH</a:t>
            </a:r>
            <a:br>
              <a:rPr lang="en-AU" sz="900" b="1">
                <a:solidFill>
                  <a:schemeClr val="tx1"/>
                </a:solidFill>
                <a:latin typeface="Aptos" panose="02110004020202020204"/>
              </a:rPr>
            </a:br>
            <a:r>
              <a:rPr lang="en-AU" sz="900" b="1">
                <a:solidFill>
                  <a:schemeClr val="tx1"/>
                </a:solidFill>
                <a:latin typeface="Aptos" panose="02110004020202020204"/>
              </a:rPr>
              <a:t>(Concrete)</a:t>
            </a:r>
          </a:p>
        </p:txBody>
      </p:sp>
      <p:sp>
        <p:nvSpPr>
          <p:cNvPr id="64" name="Rounded Rectangle 31">
            <a:extLst>
              <a:ext uri="{FF2B5EF4-FFF2-40B4-BE49-F238E27FC236}">
                <a16:creationId xmlns:a16="http://schemas.microsoft.com/office/drawing/2014/main" id="{9CA16345-AF8B-7395-0B83-0C3230020EFE}"/>
              </a:ext>
            </a:extLst>
          </p:cNvPr>
          <p:cNvSpPr/>
          <p:nvPr/>
        </p:nvSpPr>
        <p:spPr>
          <a:xfrm>
            <a:off x="3603973" y="1891500"/>
            <a:ext cx="1184587" cy="542952"/>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ONTOLOGY</a:t>
            </a:r>
          </a:p>
          <a:p>
            <a:pPr algn="ctr"/>
            <a:r>
              <a:rPr lang="en-AU" sz="900" b="1">
                <a:solidFill>
                  <a:schemeClr val="tx1"/>
                </a:solidFill>
                <a:latin typeface="Aptos" panose="02110004020202020204"/>
              </a:rPr>
              <a:t>SEMANTIC</a:t>
            </a:r>
            <a:br>
              <a:rPr lang="en-AU" sz="900" b="1">
                <a:solidFill>
                  <a:schemeClr val="tx1"/>
                </a:solidFill>
                <a:latin typeface="Aptos" panose="02110004020202020204"/>
              </a:rPr>
            </a:br>
            <a:r>
              <a:rPr lang="en-AU" sz="900" b="1">
                <a:solidFill>
                  <a:schemeClr val="tx1"/>
                </a:solidFill>
                <a:latin typeface="Aptos" panose="02110004020202020204"/>
              </a:rPr>
              <a:t>(Abstract)</a:t>
            </a:r>
          </a:p>
        </p:txBody>
      </p:sp>
      <p:sp>
        <p:nvSpPr>
          <p:cNvPr id="65" name="Rounded Rectangle 31">
            <a:extLst>
              <a:ext uri="{FF2B5EF4-FFF2-40B4-BE49-F238E27FC236}">
                <a16:creationId xmlns:a16="http://schemas.microsoft.com/office/drawing/2014/main" id="{5D3B7977-C85E-CA78-0C7A-0ECAC76ED8A8}"/>
              </a:ext>
            </a:extLst>
          </p:cNvPr>
          <p:cNvSpPr/>
          <p:nvPr/>
        </p:nvSpPr>
        <p:spPr>
          <a:xfrm>
            <a:off x="3603973" y="2642768"/>
            <a:ext cx="1184587" cy="542952"/>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METADATA</a:t>
            </a:r>
          </a:p>
          <a:p>
            <a:pPr algn="ctr"/>
            <a:r>
              <a:rPr lang="en-AU" sz="900" b="1">
                <a:solidFill>
                  <a:schemeClr val="tx1"/>
                </a:solidFill>
                <a:latin typeface="Aptos" panose="02110004020202020204"/>
              </a:rPr>
              <a:t>SEMANTIC</a:t>
            </a:r>
          </a:p>
        </p:txBody>
      </p:sp>
      <p:sp>
        <p:nvSpPr>
          <p:cNvPr id="66" name="Rounded Rectangle 31">
            <a:extLst>
              <a:ext uri="{FF2B5EF4-FFF2-40B4-BE49-F238E27FC236}">
                <a16:creationId xmlns:a16="http://schemas.microsoft.com/office/drawing/2014/main" id="{BA322B97-A4EF-E04E-10AB-963A9A8CC250}"/>
              </a:ext>
            </a:extLst>
          </p:cNvPr>
          <p:cNvSpPr/>
          <p:nvPr/>
        </p:nvSpPr>
        <p:spPr>
          <a:xfrm>
            <a:off x="3603973" y="3430333"/>
            <a:ext cx="1184587" cy="542952"/>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GRAPH</a:t>
            </a:r>
          </a:p>
          <a:p>
            <a:pPr algn="ctr"/>
            <a:r>
              <a:rPr lang="en-AU" sz="900" b="1">
                <a:solidFill>
                  <a:schemeClr val="tx1"/>
                </a:solidFill>
                <a:latin typeface="Aptos" panose="02110004020202020204"/>
              </a:rPr>
              <a:t>ANALYSTICS</a:t>
            </a:r>
            <a:br>
              <a:rPr lang="en-AU" sz="900" b="1">
                <a:solidFill>
                  <a:schemeClr val="tx1"/>
                </a:solidFill>
                <a:latin typeface="Aptos" panose="02110004020202020204"/>
              </a:rPr>
            </a:br>
            <a:r>
              <a:rPr lang="en-AU" sz="900" b="1">
                <a:solidFill>
                  <a:schemeClr val="tx1"/>
                </a:solidFill>
                <a:latin typeface="Aptos" panose="02110004020202020204"/>
              </a:rPr>
              <a:t>(Algorithms)</a:t>
            </a:r>
          </a:p>
        </p:txBody>
      </p:sp>
      <p:sp>
        <p:nvSpPr>
          <p:cNvPr id="67" name="Rounded Rectangle 31">
            <a:extLst>
              <a:ext uri="{FF2B5EF4-FFF2-40B4-BE49-F238E27FC236}">
                <a16:creationId xmlns:a16="http://schemas.microsoft.com/office/drawing/2014/main" id="{47CD6660-6B45-EFDC-642F-55FE00490BB5}"/>
              </a:ext>
            </a:extLst>
          </p:cNvPr>
          <p:cNvSpPr/>
          <p:nvPr/>
        </p:nvSpPr>
        <p:spPr>
          <a:xfrm>
            <a:off x="5337422" y="2172072"/>
            <a:ext cx="1184587" cy="808376"/>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GENERATED </a:t>
            </a:r>
          </a:p>
          <a:p>
            <a:pPr algn="ctr"/>
            <a:r>
              <a:rPr lang="en-AU" sz="900" b="1">
                <a:solidFill>
                  <a:schemeClr val="tx1"/>
                </a:solidFill>
                <a:latin typeface="Aptos" panose="02110004020202020204"/>
              </a:rPr>
              <a:t>ONTOLOGY</a:t>
            </a:r>
          </a:p>
          <a:p>
            <a:pPr algn="ctr"/>
            <a:r>
              <a:rPr lang="en-AU" sz="900" b="1">
                <a:solidFill>
                  <a:schemeClr val="tx1"/>
                </a:solidFill>
                <a:latin typeface="Aptos" panose="02110004020202020204"/>
              </a:rPr>
              <a:t>VIEWS</a:t>
            </a:r>
            <a:br>
              <a:rPr lang="en-AU" sz="900" b="1">
                <a:solidFill>
                  <a:schemeClr val="tx1"/>
                </a:solidFill>
                <a:latin typeface="Aptos" panose="02110004020202020204"/>
              </a:rPr>
            </a:br>
            <a:r>
              <a:rPr lang="en-AU" sz="900" b="1">
                <a:solidFill>
                  <a:schemeClr val="tx1"/>
                </a:solidFill>
                <a:latin typeface="Aptos" panose="02110004020202020204"/>
              </a:rPr>
              <a:t>(Dynamic)</a:t>
            </a:r>
          </a:p>
        </p:txBody>
      </p:sp>
      <p:sp>
        <p:nvSpPr>
          <p:cNvPr id="68" name="Rounded Rectangle 31">
            <a:extLst>
              <a:ext uri="{FF2B5EF4-FFF2-40B4-BE49-F238E27FC236}">
                <a16:creationId xmlns:a16="http://schemas.microsoft.com/office/drawing/2014/main" id="{5B349C52-916B-50D9-9874-94208C0E32FC}"/>
              </a:ext>
            </a:extLst>
          </p:cNvPr>
          <p:cNvSpPr/>
          <p:nvPr/>
        </p:nvSpPr>
        <p:spPr>
          <a:xfrm>
            <a:off x="6995843" y="2172072"/>
            <a:ext cx="1184587" cy="802888"/>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ONTOLOGY</a:t>
            </a:r>
          </a:p>
          <a:p>
            <a:pPr algn="ctr"/>
            <a:r>
              <a:rPr lang="en-AU" sz="900" b="1">
                <a:solidFill>
                  <a:schemeClr val="tx1"/>
                </a:solidFill>
                <a:latin typeface="Aptos" panose="02110004020202020204"/>
              </a:rPr>
              <a:t>METADATA</a:t>
            </a:r>
            <a:br>
              <a:rPr lang="en-AU" sz="900" b="1">
                <a:solidFill>
                  <a:schemeClr val="tx1"/>
                </a:solidFill>
                <a:latin typeface="Aptos" panose="02110004020202020204"/>
              </a:rPr>
            </a:br>
            <a:r>
              <a:rPr lang="en-AU" sz="900" b="1">
                <a:solidFill>
                  <a:schemeClr val="tx1"/>
                </a:solidFill>
                <a:latin typeface="Aptos" panose="02110004020202020204"/>
              </a:rPr>
              <a:t>(Config)</a:t>
            </a:r>
          </a:p>
        </p:txBody>
      </p:sp>
      <p:sp>
        <p:nvSpPr>
          <p:cNvPr id="69" name="Rounded Rectangle 29">
            <a:extLst>
              <a:ext uri="{FF2B5EF4-FFF2-40B4-BE49-F238E27FC236}">
                <a16:creationId xmlns:a16="http://schemas.microsoft.com/office/drawing/2014/main" id="{5E351C0B-6472-BE15-FB80-B78270F19C83}"/>
              </a:ext>
            </a:extLst>
          </p:cNvPr>
          <p:cNvSpPr/>
          <p:nvPr/>
        </p:nvSpPr>
        <p:spPr>
          <a:xfrm>
            <a:off x="8582970" y="1962448"/>
            <a:ext cx="2525298" cy="1223272"/>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b="1">
              <a:solidFill>
                <a:schemeClr val="tx1"/>
              </a:solidFill>
              <a:latin typeface="Aptos" panose="02110004020202020204"/>
            </a:endParaRPr>
          </a:p>
        </p:txBody>
      </p:sp>
      <p:sp>
        <p:nvSpPr>
          <p:cNvPr id="70" name="TextBox 69">
            <a:extLst>
              <a:ext uri="{FF2B5EF4-FFF2-40B4-BE49-F238E27FC236}">
                <a16:creationId xmlns:a16="http://schemas.microsoft.com/office/drawing/2014/main" id="{BBB869F3-8C76-A3D4-876E-B47A13C70C36}"/>
              </a:ext>
            </a:extLst>
          </p:cNvPr>
          <p:cNvSpPr txBox="1"/>
          <p:nvPr/>
        </p:nvSpPr>
        <p:spPr>
          <a:xfrm>
            <a:off x="8535383" y="1962448"/>
            <a:ext cx="2494824" cy="27699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effectLst/>
                <a:uLnTx/>
                <a:uFillTx/>
                <a:latin typeface="Calibri"/>
                <a:ea typeface="+mn-ea"/>
                <a:cs typeface="+mn-cs"/>
              </a:rPr>
              <a:t>❄️ SNOWFLAKE</a:t>
            </a:r>
          </a:p>
        </p:txBody>
      </p:sp>
      <p:sp>
        <p:nvSpPr>
          <p:cNvPr id="71" name="TextBox 70">
            <a:extLst>
              <a:ext uri="{FF2B5EF4-FFF2-40B4-BE49-F238E27FC236}">
                <a16:creationId xmlns:a16="http://schemas.microsoft.com/office/drawing/2014/main" id="{28DD05CE-3072-9807-42C1-CA9EDAB8132A}"/>
              </a:ext>
            </a:extLst>
          </p:cNvPr>
          <p:cNvSpPr txBox="1"/>
          <p:nvPr/>
        </p:nvSpPr>
        <p:spPr>
          <a:xfrm>
            <a:off x="8758247" y="2274725"/>
            <a:ext cx="3206281"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effectLst/>
                <a:uLnTx/>
                <a:uFillTx/>
                <a:latin typeface="Calibri"/>
                <a:ea typeface="+mn-ea"/>
                <a:cs typeface="+mn-cs"/>
              </a:rPr>
              <a:t>NODE TABLES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effectLst/>
                <a:uLnTx/>
                <a:uFillTx/>
                <a:latin typeface="Calibri"/>
                <a:ea typeface="+mn-ea"/>
                <a:cs typeface="+mn-cs"/>
              </a:rPr>
              <a:t>EDGE TABLES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effectLst/>
                <a:uLnTx/>
                <a:uFillTx/>
                <a:latin typeface="Calibri"/>
                <a:ea typeface="+mn-ea"/>
                <a:cs typeface="+mn-cs"/>
              </a:rPr>
              <a:t>VIEWS</a:t>
            </a:r>
          </a:p>
        </p:txBody>
      </p:sp>
      <p:cxnSp>
        <p:nvCxnSpPr>
          <p:cNvPr id="73" name="Straight Arrow Connector 72">
            <a:extLst>
              <a:ext uri="{FF2B5EF4-FFF2-40B4-BE49-F238E27FC236}">
                <a16:creationId xmlns:a16="http://schemas.microsoft.com/office/drawing/2014/main" id="{5BC214EB-6E93-F13A-F699-70BACD7A69D5}"/>
              </a:ext>
            </a:extLst>
          </p:cNvPr>
          <p:cNvCxnSpPr>
            <a:cxnSpLocks/>
            <a:stCxn id="57" idx="3"/>
            <a:endCxn id="62" idx="1"/>
          </p:cNvCxnSpPr>
          <p:nvPr/>
        </p:nvCxnSpPr>
        <p:spPr>
          <a:xfrm flipV="1">
            <a:off x="1380656" y="2435254"/>
            <a:ext cx="386458" cy="146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3E9BB450-C5AF-9DE7-4673-840DE88E627A}"/>
              </a:ext>
            </a:extLst>
          </p:cNvPr>
          <p:cNvCxnSpPr>
            <a:cxnSpLocks/>
            <a:stCxn id="62" idx="3"/>
            <a:endCxn id="63" idx="1"/>
          </p:cNvCxnSpPr>
          <p:nvPr/>
        </p:nvCxnSpPr>
        <p:spPr>
          <a:xfrm flipV="1">
            <a:off x="2602906" y="1407042"/>
            <a:ext cx="1028932" cy="1028212"/>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3">
            <a:extLst>
              <a:ext uri="{FF2B5EF4-FFF2-40B4-BE49-F238E27FC236}">
                <a16:creationId xmlns:a16="http://schemas.microsoft.com/office/drawing/2014/main" id="{5090F5A5-2EDB-F898-8694-D2286DFCDC45}"/>
              </a:ext>
            </a:extLst>
          </p:cNvPr>
          <p:cNvCxnSpPr>
            <a:cxnSpLocks/>
            <a:stCxn id="62" idx="3"/>
            <a:endCxn id="64" idx="1"/>
          </p:cNvCxnSpPr>
          <p:nvPr/>
        </p:nvCxnSpPr>
        <p:spPr>
          <a:xfrm flipV="1">
            <a:off x="2602906" y="2162976"/>
            <a:ext cx="1001067" cy="272278"/>
          </a:xfrm>
          <a:prstGeom prst="bentConnector3">
            <a:avLst>
              <a:gd name="adj1" fmla="val 52537"/>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3">
            <a:extLst>
              <a:ext uri="{FF2B5EF4-FFF2-40B4-BE49-F238E27FC236}">
                <a16:creationId xmlns:a16="http://schemas.microsoft.com/office/drawing/2014/main" id="{A4CE621B-76B1-D797-24AC-33718969708B}"/>
              </a:ext>
            </a:extLst>
          </p:cNvPr>
          <p:cNvCxnSpPr>
            <a:cxnSpLocks/>
            <a:stCxn id="62" idx="3"/>
            <a:endCxn id="65" idx="1"/>
          </p:cNvCxnSpPr>
          <p:nvPr/>
        </p:nvCxnSpPr>
        <p:spPr>
          <a:xfrm>
            <a:off x="2602906" y="2435254"/>
            <a:ext cx="1001067" cy="478990"/>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73">
            <a:extLst>
              <a:ext uri="{FF2B5EF4-FFF2-40B4-BE49-F238E27FC236}">
                <a16:creationId xmlns:a16="http://schemas.microsoft.com/office/drawing/2014/main" id="{7B8AFC78-D59B-19B4-3A2B-536454A2FC6E}"/>
              </a:ext>
            </a:extLst>
          </p:cNvPr>
          <p:cNvCxnSpPr>
            <a:cxnSpLocks/>
            <a:stCxn id="62" idx="3"/>
            <a:endCxn id="66" idx="1"/>
          </p:cNvCxnSpPr>
          <p:nvPr/>
        </p:nvCxnSpPr>
        <p:spPr>
          <a:xfrm>
            <a:off x="2602906" y="2435254"/>
            <a:ext cx="1001067" cy="1266555"/>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6" name="Straight Arrow Connector 73">
            <a:extLst>
              <a:ext uri="{FF2B5EF4-FFF2-40B4-BE49-F238E27FC236}">
                <a16:creationId xmlns:a16="http://schemas.microsoft.com/office/drawing/2014/main" id="{6BB622BA-BEEA-2860-AE44-C358C6E4D20D}"/>
              </a:ext>
            </a:extLst>
          </p:cNvPr>
          <p:cNvCxnSpPr>
            <a:cxnSpLocks/>
            <a:stCxn id="64" idx="3"/>
            <a:endCxn id="67" idx="1"/>
          </p:cNvCxnSpPr>
          <p:nvPr/>
        </p:nvCxnSpPr>
        <p:spPr>
          <a:xfrm>
            <a:off x="4788560" y="2162977"/>
            <a:ext cx="548862" cy="413283"/>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73">
            <a:extLst>
              <a:ext uri="{FF2B5EF4-FFF2-40B4-BE49-F238E27FC236}">
                <a16:creationId xmlns:a16="http://schemas.microsoft.com/office/drawing/2014/main" id="{2C6841D7-7368-2840-A833-B2E03BF914F2}"/>
              </a:ext>
            </a:extLst>
          </p:cNvPr>
          <p:cNvCxnSpPr>
            <a:cxnSpLocks/>
            <a:stCxn id="65" idx="3"/>
            <a:endCxn id="67" idx="1"/>
          </p:cNvCxnSpPr>
          <p:nvPr/>
        </p:nvCxnSpPr>
        <p:spPr>
          <a:xfrm flipV="1">
            <a:off x="4788560" y="2576260"/>
            <a:ext cx="548862" cy="337985"/>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73">
            <a:extLst>
              <a:ext uri="{FF2B5EF4-FFF2-40B4-BE49-F238E27FC236}">
                <a16:creationId xmlns:a16="http://schemas.microsoft.com/office/drawing/2014/main" id="{CE26AFCD-4EED-1304-6359-DEE49B8FE787}"/>
              </a:ext>
            </a:extLst>
          </p:cNvPr>
          <p:cNvCxnSpPr>
            <a:cxnSpLocks/>
            <a:stCxn id="67" idx="3"/>
            <a:endCxn id="68" idx="1"/>
          </p:cNvCxnSpPr>
          <p:nvPr/>
        </p:nvCxnSpPr>
        <p:spPr>
          <a:xfrm flipV="1">
            <a:off x="6522009" y="2573516"/>
            <a:ext cx="473834" cy="2744"/>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73">
            <a:extLst>
              <a:ext uri="{FF2B5EF4-FFF2-40B4-BE49-F238E27FC236}">
                <a16:creationId xmlns:a16="http://schemas.microsoft.com/office/drawing/2014/main" id="{1B69456C-787B-6709-1E83-54D4C53958F3}"/>
              </a:ext>
            </a:extLst>
          </p:cNvPr>
          <p:cNvCxnSpPr>
            <a:cxnSpLocks/>
            <a:stCxn id="68" idx="3"/>
            <a:endCxn id="69" idx="1"/>
          </p:cNvCxnSpPr>
          <p:nvPr/>
        </p:nvCxnSpPr>
        <p:spPr>
          <a:xfrm>
            <a:off x="8180430" y="2573516"/>
            <a:ext cx="402540" cy="56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73">
            <a:extLst>
              <a:ext uri="{FF2B5EF4-FFF2-40B4-BE49-F238E27FC236}">
                <a16:creationId xmlns:a16="http://schemas.microsoft.com/office/drawing/2014/main" id="{21CFDBE7-B01C-0649-9791-0FD0AE0F0E9B}"/>
              </a:ext>
            </a:extLst>
          </p:cNvPr>
          <p:cNvCxnSpPr>
            <a:cxnSpLocks/>
            <a:stCxn id="63" idx="3"/>
            <a:endCxn id="69" idx="0"/>
          </p:cNvCxnSpPr>
          <p:nvPr/>
        </p:nvCxnSpPr>
        <p:spPr>
          <a:xfrm>
            <a:off x="4816425" y="1407042"/>
            <a:ext cx="5029194" cy="555406"/>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1" name="Straight Arrow Connector 73">
            <a:extLst>
              <a:ext uri="{FF2B5EF4-FFF2-40B4-BE49-F238E27FC236}">
                <a16:creationId xmlns:a16="http://schemas.microsoft.com/office/drawing/2014/main" id="{3D9D7570-7A8E-6366-683F-883CBC6B103E}"/>
              </a:ext>
            </a:extLst>
          </p:cNvPr>
          <p:cNvCxnSpPr>
            <a:cxnSpLocks/>
            <a:stCxn id="66" idx="3"/>
            <a:endCxn id="69" idx="2"/>
          </p:cNvCxnSpPr>
          <p:nvPr/>
        </p:nvCxnSpPr>
        <p:spPr>
          <a:xfrm flipV="1">
            <a:off x="4788560" y="3185720"/>
            <a:ext cx="5057059" cy="516089"/>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9" name="Freeform: Shape 118">
            <a:extLst>
              <a:ext uri="{FF2B5EF4-FFF2-40B4-BE49-F238E27FC236}">
                <a16:creationId xmlns:a16="http://schemas.microsoft.com/office/drawing/2014/main" id="{BFF06D87-D4C1-1BE2-5328-6A3EA32EF023}"/>
              </a:ext>
            </a:extLst>
          </p:cNvPr>
          <p:cNvSpPr/>
          <p:nvPr/>
        </p:nvSpPr>
        <p:spPr>
          <a:xfrm>
            <a:off x="229595" y="4404246"/>
            <a:ext cx="6399805" cy="614722"/>
          </a:xfrm>
          <a:custGeom>
            <a:avLst/>
            <a:gdLst>
              <a:gd name="csX0" fmla="*/ 0 w 5246913"/>
              <a:gd name="csY0" fmla="*/ 121682 h 730080"/>
              <a:gd name="csX1" fmla="*/ 121682 w 5246913"/>
              <a:gd name="csY1" fmla="*/ 0 h 730080"/>
              <a:gd name="csX2" fmla="*/ 5125231 w 5246913"/>
              <a:gd name="csY2" fmla="*/ 0 h 730080"/>
              <a:gd name="csX3" fmla="*/ 5246913 w 5246913"/>
              <a:gd name="csY3" fmla="*/ 121682 h 730080"/>
              <a:gd name="csX4" fmla="*/ 5246913 w 5246913"/>
              <a:gd name="csY4" fmla="*/ 608398 h 730080"/>
              <a:gd name="csX5" fmla="*/ 5125231 w 5246913"/>
              <a:gd name="csY5" fmla="*/ 730080 h 730080"/>
              <a:gd name="csX6" fmla="*/ 121682 w 5246913"/>
              <a:gd name="csY6" fmla="*/ 730080 h 730080"/>
              <a:gd name="csX7" fmla="*/ 0 w 5246913"/>
              <a:gd name="csY7" fmla="*/ 608398 h 730080"/>
              <a:gd name="csX8" fmla="*/ 0 w 5246913"/>
              <a:gd name="csY8" fmla="*/ 121682 h 730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46913" h="730080">
                <a:moveTo>
                  <a:pt x="0" y="121682"/>
                </a:moveTo>
                <a:cubicBezTo>
                  <a:pt x="0" y="54479"/>
                  <a:pt x="54479" y="0"/>
                  <a:pt x="121682" y="0"/>
                </a:cubicBezTo>
                <a:lnTo>
                  <a:pt x="5125231" y="0"/>
                </a:lnTo>
                <a:cubicBezTo>
                  <a:pt x="5192434" y="0"/>
                  <a:pt x="5246913" y="54479"/>
                  <a:pt x="5246913" y="121682"/>
                </a:cubicBezTo>
                <a:lnTo>
                  <a:pt x="5246913" y="608398"/>
                </a:lnTo>
                <a:cubicBezTo>
                  <a:pt x="5246913" y="675601"/>
                  <a:pt x="5192434" y="730080"/>
                  <a:pt x="5125231" y="730080"/>
                </a:cubicBezTo>
                <a:lnTo>
                  <a:pt x="121682" y="730080"/>
                </a:lnTo>
                <a:cubicBezTo>
                  <a:pt x="54479" y="730080"/>
                  <a:pt x="0" y="675601"/>
                  <a:pt x="0" y="608398"/>
                </a:cubicBezTo>
                <a:lnTo>
                  <a:pt x="0" y="121682"/>
                </a:lnTo>
                <a:close/>
              </a:path>
            </a:pathLst>
          </a:custGeom>
          <a:solidFill>
            <a:schemeClr val="tx2">
              <a:lumMod val="25000"/>
              <a:lumOff val="7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solidFill>
                  <a:schemeClr val="tx1"/>
                </a:solidFill>
                <a:effectLst/>
                <a:uLnTx/>
                <a:uFillTx/>
                <a:latin typeface="Aptos" panose="02110004020202020204"/>
                <a:ea typeface="+mn-ea"/>
                <a:cs typeface="+mn-cs"/>
              </a:rPr>
              <a:t>Layer 1 — Physical Storage</a:t>
            </a:r>
            <a:br>
              <a:rPr kumimoji="0" lang="en-AU" sz="900" b="0" i="0" u="none" strike="noStrike" kern="1200" cap="none" spc="0" normalizeH="0" baseline="0" noProof="0">
                <a:ln>
                  <a:noFill/>
                </a:ln>
                <a:solidFill>
                  <a:schemeClr val="tx1"/>
                </a:solidFill>
                <a:effectLst/>
                <a:uLnTx/>
                <a:uFillTx/>
                <a:latin typeface="Aptos" panose="02110004020202020204"/>
                <a:ea typeface="+mn-ea"/>
                <a:cs typeface="+mn-cs"/>
              </a:rPr>
            </a:br>
            <a:r>
              <a:rPr kumimoji="0" lang="en-AU" sz="900" b="0" i="0" u="none" strike="noStrike" kern="1200" cap="none" spc="0" normalizeH="0" baseline="0" noProof="0">
                <a:ln>
                  <a:noFill/>
                </a:ln>
                <a:solidFill>
                  <a:schemeClr val="tx1"/>
                </a:solidFill>
                <a:effectLst/>
                <a:uLnTx/>
                <a:uFillTx/>
                <a:latin typeface="Aptos" panose="02110004020202020204"/>
                <a:ea typeface="+mn-ea"/>
                <a:cs typeface="+mn-cs"/>
              </a:rPr>
              <a:t>Tables </a:t>
            </a:r>
            <a:r>
              <a:rPr kumimoji="0" lang="en-AU" sz="900" b="0" i="0" u="none" strike="noStrike" kern="1200" cap="none" spc="0" normalizeH="0" baseline="0" noProof="0">
                <a:ln>
                  <a:noFill/>
                </a:ln>
                <a:solidFill>
                  <a:schemeClr val="tx1"/>
                </a:solidFill>
                <a:effectLst/>
                <a:uLnTx/>
                <a:uFillTx/>
                <a:latin typeface="Aptos" panose="02110004020202020204"/>
                <a:ea typeface="+mn-ea"/>
                <a:cs typeface="+mn-cs"/>
                <a:sym typeface="Wingdings" panose="05000000000000000000" pitchFamily="2" charset="2"/>
              </a:rPr>
              <a:t></a:t>
            </a:r>
            <a:r>
              <a:rPr kumimoji="0" lang="en-AU" sz="900" b="0" i="0" u="none" strike="noStrike" kern="1200" cap="none" spc="0" normalizeH="0" baseline="0" noProof="0">
                <a:ln>
                  <a:noFill/>
                </a:ln>
                <a:solidFill>
                  <a:schemeClr val="tx1"/>
                </a:solidFill>
                <a:effectLst/>
                <a:uLnTx/>
                <a:uFillTx/>
                <a:latin typeface="Aptos" panose="02110004020202020204"/>
                <a:ea typeface="+mn-ea"/>
                <a:cs typeface="+mn-cs"/>
              </a:rPr>
              <a:t> KG_NODE &lt;ENTITIES&gt; &amp; KG_EDGE &lt;RELATIONSHIPS&gt;</a:t>
            </a:r>
            <a:br>
              <a:rPr kumimoji="0" lang="en-AU" sz="900" b="0" i="0" u="none" strike="noStrike" kern="1200" cap="none" spc="0" normalizeH="0" baseline="0" noProof="0">
                <a:ln>
                  <a:noFill/>
                </a:ln>
                <a:solidFill>
                  <a:schemeClr val="tx1"/>
                </a:solidFill>
                <a:effectLst/>
                <a:uLnTx/>
                <a:uFillTx/>
                <a:latin typeface="Aptos" panose="02110004020202020204"/>
                <a:ea typeface="+mn-ea"/>
                <a:cs typeface="+mn-cs"/>
              </a:rPr>
            </a:br>
            <a:r>
              <a:rPr kumimoji="0" lang="en-AU" sz="900" b="0" i="0" u="none" strike="noStrike" kern="1200" cap="none" spc="0" normalizeH="0" baseline="0" noProof="0">
                <a:ln>
                  <a:noFill/>
                </a:ln>
                <a:solidFill>
                  <a:schemeClr val="tx1"/>
                </a:solidFill>
                <a:effectLst/>
                <a:uLnTx/>
                <a:uFillTx/>
                <a:latin typeface="Aptos" panose="02110004020202020204"/>
                <a:ea typeface="+mn-ea"/>
                <a:cs typeface="+mn-cs"/>
              </a:rPr>
              <a:t>At this layer, Snowflake stores facts only — object instances and relationship instances. There is no abstraction, inheritance, or business meaning encoded here. </a:t>
            </a:r>
          </a:p>
        </p:txBody>
      </p:sp>
      <p:sp>
        <p:nvSpPr>
          <p:cNvPr id="120" name="Freeform: Shape 119">
            <a:extLst>
              <a:ext uri="{FF2B5EF4-FFF2-40B4-BE49-F238E27FC236}">
                <a16:creationId xmlns:a16="http://schemas.microsoft.com/office/drawing/2014/main" id="{936ED402-6EAC-1744-0097-6E8C735A6CD9}"/>
              </a:ext>
            </a:extLst>
          </p:cNvPr>
          <p:cNvSpPr/>
          <p:nvPr/>
        </p:nvSpPr>
        <p:spPr>
          <a:xfrm>
            <a:off x="229595" y="5246646"/>
            <a:ext cx="6399805" cy="614722"/>
          </a:xfrm>
          <a:custGeom>
            <a:avLst/>
            <a:gdLst>
              <a:gd name="csX0" fmla="*/ 0 w 5246913"/>
              <a:gd name="csY0" fmla="*/ 121682 h 730080"/>
              <a:gd name="csX1" fmla="*/ 121682 w 5246913"/>
              <a:gd name="csY1" fmla="*/ 0 h 730080"/>
              <a:gd name="csX2" fmla="*/ 5125231 w 5246913"/>
              <a:gd name="csY2" fmla="*/ 0 h 730080"/>
              <a:gd name="csX3" fmla="*/ 5246913 w 5246913"/>
              <a:gd name="csY3" fmla="*/ 121682 h 730080"/>
              <a:gd name="csX4" fmla="*/ 5246913 w 5246913"/>
              <a:gd name="csY4" fmla="*/ 608398 h 730080"/>
              <a:gd name="csX5" fmla="*/ 5125231 w 5246913"/>
              <a:gd name="csY5" fmla="*/ 730080 h 730080"/>
              <a:gd name="csX6" fmla="*/ 121682 w 5246913"/>
              <a:gd name="csY6" fmla="*/ 730080 h 730080"/>
              <a:gd name="csX7" fmla="*/ 0 w 5246913"/>
              <a:gd name="csY7" fmla="*/ 608398 h 730080"/>
              <a:gd name="csX8" fmla="*/ 0 w 5246913"/>
              <a:gd name="csY8" fmla="*/ 121682 h 730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46913" h="730080">
                <a:moveTo>
                  <a:pt x="0" y="121682"/>
                </a:moveTo>
                <a:cubicBezTo>
                  <a:pt x="0" y="54479"/>
                  <a:pt x="54479" y="0"/>
                  <a:pt x="121682" y="0"/>
                </a:cubicBezTo>
                <a:lnTo>
                  <a:pt x="5125231" y="0"/>
                </a:lnTo>
                <a:cubicBezTo>
                  <a:pt x="5192434" y="0"/>
                  <a:pt x="5246913" y="54479"/>
                  <a:pt x="5246913" y="121682"/>
                </a:cubicBezTo>
                <a:lnTo>
                  <a:pt x="5246913" y="608398"/>
                </a:lnTo>
                <a:cubicBezTo>
                  <a:pt x="5246913" y="675601"/>
                  <a:pt x="5192434" y="730080"/>
                  <a:pt x="5125231" y="730080"/>
                </a:cubicBezTo>
                <a:lnTo>
                  <a:pt x="121682" y="730080"/>
                </a:lnTo>
                <a:cubicBezTo>
                  <a:pt x="54479" y="730080"/>
                  <a:pt x="0" y="675601"/>
                  <a:pt x="0" y="608398"/>
                </a:cubicBezTo>
                <a:lnTo>
                  <a:pt x="0" y="121682"/>
                </a:lnTo>
                <a:close/>
              </a:path>
            </a:pathLst>
          </a:custGeom>
          <a:solidFill>
            <a:schemeClr val="tx2">
              <a:lumMod val="25000"/>
              <a:lumOff val="7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AU" sz="900">
                <a:solidFill>
                  <a:schemeClr val="tx1"/>
                </a:solidFill>
                <a:latin typeface="Aptos" panose="02110004020202020204"/>
              </a:rPr>
              <a:t>Layer 2 — Ontology Metadata: Declarative definitions of business meaning</a:t>
            </a:r>
            <a:br>
              <a:rPr lang="en-AU" sz="900">
                <a:solidFill>
                  <a:schemeClr val="tx1"/>
                </a:solidFill>
                <a:latin typeface="Aptos" panose="02110004020202020204"/>
              </a:rPr>
            </a:br>
            <a:r>
              <a:rPr lang="en-AU" sz="900">
                <a:solidFill>
                  <a:schemeClr val="tx1"/>
                </a:solidFill>
                <a:latin typeface="Aptos" panose="02110004020202020204"/>
              </a:rPr>
              <a:t>Tables </a:t>
            </a:r>
            <a:r>
              <a:rPr lang="en-AU" sz="900">
                <a:solidFill>
                  <a:schemeClr val="tx1"/>
                </a:solidFill>
                <a:latin typeface="Aptos" panose="02110004020202020204"/>
                <a:sym typeface="Wingdings" panose="05000000000000000000" pitchFamily="2" charset="2"/>
              </a:rPr>
              <a:t> </a:t>
            </a:r>
            <a:r>
              <a:rPr lang="en-AU" sz="900">
                <a:solidFill>
                  <a:schemeClr val="tx1"/>
                </a:solidFill>
                <a:latin typeface="Aptos" panose="02110004020202020204"/>
              </a:rPr>
              <a:t>ONT_CLASS, ONT_RELATIONSHIP_DEF, ONT_OBJECT_SOURCE</a:t>
            </a:r>
            <a:br>
              <a:rPr lang="en-AU" sz="900">
                <a:solidFill>
                  <a:schemeClr val="tx1"/>
                </a:solidFill>
                <a:latin typeface="Aptos" panose="02110004020202020204"/>
              </a:rPr>
            </a:br>
            <a:r>
              <a:rPr lang="en-AU" sz="900">
                <a:solidFill>
                  <a:schemeClr val="tx1"/>
                </a:solidFill>
                <a:latin typeface="Aptos" panose="02110004020202020204"/>
              </a:rPr>
              <a:t>The ontology metadata layer defines what the data means, not how it is stored. Classes, hierarchies, and relationships are declared independently of physical tables. </a:t>
            </a:r>
          </a:p>
        </p:txBody>
      </p:sp>
      <p:sp>
        <p:nvSpPr>
          <p:cNvPr id="121" name="Freeform: Shape 120">
            <a:extLst>
              <a:ext uri="{FF2B5EF4-FFF2-40B4-BE49-F238E27FC236}">
                <a16:creationId xmlns:a16="http://schemas.microsoft.com/office/drawing/2014/main" id="{C88037EF-BE67-1D67-8EAF-01310CDA4333}"/>
              </a:ext>
            </a:extLst>
          </p:cNvPr>
          <p:cNvSpPr/>
          <p:nvPr/>
        </p:nvSpPr>
        <p:spPr>
          <a:xfrm>
            <a:off x="229595" y="6089047"/>
            <a:ext cx="6399805" cy="614722"/>
          </a:xfrm>
          <a:custGeom>
            <a:avLst/>
            <a:gdLst>
              <a:gd name="csX0" fmla="*/ 0 w 5246913"/>
              <a:gd name="csY0" fmla="*/ 121682 h 730080"/>
              <a:gd name="csX1" fmla="*/ 121682 w 5246913"/>
              <a:gd name="csY1" fmla="*/ 0 h 730080"/>
              <a:gd name="csX2" fmla="*/ 5125231 w 5246913"/>
              <a:gd name="csY2" fmla="*/ 0 h 730080"/>
              <a:gd name="csX3" fmla="*/ 5246913 w 5246913"/>
              <a:gd name="csY3" fmla="*/ 121682 h 730080"/>
              <a:gd name="csX4" fmla="*/ 5246913 w 5246913"/>
              <a:gd name="csY4" fmla="*/ 608398 h 730080"/>
              <a:gd name="csX5" fmla="*/ 5125231 w 5246913"/>
              <a:gd name="csY5" fmla="*/ 730080 h 730080"/>
              <a:gd name="csX6" fmla="*/ 121682 w 5246913"/>
              <a:gd name="csY6" fmla="*/ 730080 h 730080"/>
              <a:gd name="csX7" fmla="*/ 0 w 5246913"/>
              <a:gd name="csY7" fmla="*/ 608398 h 730080"/>
              <a:gd name="csX8" fmla="*/ 0 w 5246913"/>
              <a:gd name="csY8" fmla="*/ 121682 h 730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46913" h="730080">
                <a:moveTo>
                  <a:pt x="0" y="121682"/>
                </a:moveTo>
                <a:cubicBezTo>
                  <a:pt x="0" y="54479"/>
                  <a:pt x="54479" y="0"/>
                  <a:pt x="121682" y="0"/>
                </a:cubicBezTo>
                <a:lnTo>
                  <a:pt x="5125231" y="0"/>
                </a:lnTo>
                <a:cubicBezTo>
                  <a:pt x="5192434" y="0"/>
                  <a:pt x="5246913" y="54479"/>
                  <a:pt x="5246913" y="121682"/>
                </a:cubicBezTo>
                <a:lnTo>
                  <a:pt x="5246913" y="608398"/>
                </a:lnTo>
                <a:cubicBezTo>
                  <a:pt x="5246913" y="675601"/>
                  <a:pt x="5192434" y="730080"/>
                  <a:pt x="5125231" y="730080"/>
                </a:cubicBezTo>
                <a:lnTo>
                  <a:pt x="121682" y="730080"/>
                </a:lnTo>
                <a:cubicBezTo>
                  <a:pt x="54479" y="730080"/>
                  <a:pt x="0" y="675601"/>
                  <a:pt x="0" y="608398"/>
                </a:cubicBezTo>
                <a:lnTo>
                  <a:pt x="0" y="121682"/>
                </a:lnTo>
                <a:close/>
              </a:path>
            </a:pathLst>
          </a:custGeom>
          <a:solidFill>
            <a:schemeClr val="tx2">
              <a:lumMod val="25000"/>
              <a:lumOff val="7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AU" sz="900">
                <a:solidFill>
                  <a:schemeClr val="tx1"/>
                </a:solidFill>
                <a:latin typeface="Aptos" panose="02110004020202020204"/>
              </a:rPr>
              <a:t>Layer 3 — Generated Ontology Views: Dynamic abstraction and unification</a:t>
            </a:r>
            <a:br>
              <a:rPr lang="en-AU" sz="900">
                <a:solidFill>
                  <a:schemeClr val="tx1"/>
                </a:solidFill>
                <a:latin typeface="Aptos" panose="02110004020202020204"/>
              </a:rPr>
            </a:br>
            <a:r>
              <a:rPr lang="en-AU" sz="900">
                <a:solidFill>
                  <a:schemeClr val="tx1"/>
                </a:solidFill>
                <a:latin typeface="Aptos" panose="02110004020202020204"/>
              </a:rPr>
              <a:t>Views </a:t>
            </a:r>
            <a:r>
              <a:rPr lang="en-AU" sz="900">
                <a:solidFill>
                  <a:schemeClr val="tx1"/>
                </a:solidFill>
                <a:latin typeface="Aptos" panose="02110004020202020204"/>
                <a:sym typeface="Wingdings" panose="05000000000000000000" pitchFamily="2" charset="2"/>
              </a:rPr>
              <a:t> VW_ONT_REPRESENTATION</a:t>
            </a:r>
            <a:br>
              <a:rPr lang="en-AU" sz="900">
                <a:solidFill>
                  <a:schemeClr val="tx1"/>
                </a:solidFill>
                <a:latin typeface="Aptos" panose="02110004020202020204"/>
                <a:sym typeface="Wingdings" panose="05000000000000000000" pitchFamily="2" charset="2"/>
              </a:rPr>
            </a:br>
            <a:r>
              <a:rPr lang="en-AU" sz="900">
                <a:solidFill>
                  <a:schemeClr val="tx1"/>
                </a:solidFill>
                <a:latin typeface="Aptos" panose="02110004020202020204"/>
              </a:rPr>
              <a:t>Ontology views are not hand-written SQL. They are compiled representations of the ontology, generated automatically from metadata and regenerated whenever the model changes.</a:t>
            </a:r>
          </a:p>
        </p:txBody>
      </p:sp>
      <p:sp>
        <p:nvSpPr>
          <p:cNvPr id="123" name="Freeform: Shape 122">
            <a:extLst>
              <a:ext uri="{FF2B5EF4-FFF2-40B4-BE49-F238E27FC236}">
                <a16:creationId xmlns:a16="http://schemas.microsoft.com/office/drawing/2014/main" id="{AD1BF331-9ECB-C61C-352B-CF4D7A957103}"/>
              </a:ext>
            </a:extLst>
          </p:cNvPr>
          <p:cNvSpPr/>
          <p:nvPr/>
        </p:nvSpPr>
        <p:spPr>
          <a:xfrm>
            <a:off x="6995844" y="4715038"/>
            <a:ext cx="4366424" cy="560261"/>
          </a:xfrm>
          <a:custGeom>
            <a:avLst/>
            <a:gdLst>
              <a:gd name="csX0" fmla="*/ 0 w 5246913"/>
              <a:gd name="csY0" fmla="*/ 121682 h 730080"/>
              <a:gd name="csX1" fmla="*/ 121682 w 5246913"/>
              <a:gd name="csY1" fmla="*/ 0 h 730080"/>
              <a:gd name="csX2" fmla="*/ 5125231 w 5246913"/>
              <a:gd name="csY2" fmla="*/ 0 h 730080"/>
              <a:gd name="csX3" fmla="*/ 5246913 w 5246913"/>
              <a:gd name="csY3" fmla="*/ 121682 h 730080"/>
              <a:gd name="csX4" fmla="*/ 5246913 w 5246913"/>
              <a:gd name="csY4" fmla="*/ 608398 h 730080"/>
              <a:gd name="csX5" fmla="*/ 5125231 w 5246913"/>
              <a:gd name="csY5" fmla="*/ 730080 h 730080"/>
              <a:gd name="csX6" fmla="*/ 121682 w 5246913"/>
              <a:gd name="csY6" fmla="*/ 730080 h 730080"/>
              <a:gd name="csX7" fmla="*/ 0 w 5246913"/>
              <a:gd name="csY7" fmla="*/ 608398 h 730080"/>
              <a:gd name="csX8" fmla="*/ 0 w 5246913"/>
              <a:gd name="csY8" fmla="*/ 121682 h 730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46913" h="730080">
                <a:moveTo>
                  <a:pt x="0" y="121682"/>
                </a:moveTo>
                <a:cubicBezTo>
                  <a:pt x="0" y="54479"/>
                  <a:pt x="54479" y="0"/>
                  <a:pt x="121682" y="0"/>
                </a:cubicBezTo>
                <a:lnTo>
                  <a:pt x="5125231" y="0"/>
                </a:lnTo>
                <a:cubicBezTo>
                  <a:pt x="5192434" y="0"/>
                  <a:pt x="5246913" y="54479"/>
                  <a:pt x="5246913" y="121682"/>
                </a:cubicBezTo>
                <a:lnTo>
                  <a:pt x="5246913" y="608398"/>
                </a:lnTo>
                <a:cubicBezTo>
                  <a:pt x="5246913" y="675601"/>
                  <a:pt x="5192434" y="730080"/>
                  <a:pt x="5125231" y="730080"/>
                </a:cubicBezTo>
                <a:lnTo>
                  <a:pt x="121682" y="730080"/>
                </a:lnTo>
                <a:cubicBezTo>
                  <a:pt x="54479" y="730080"/>
                  <a:pt x="0" y="675601"/>
                  <a:pt x="0" y="608398"/>
                </a:cubicBezTo>
                <a:lnTo>
                  <a:pt x="0" y="121682"/>
                </a:lnTo>
                <a:close/>
              </a:path>
            </a:pathLst>
          </a:custGeom>
          <a:solidFill>
            <a:schemeClr val="tx2">
              <a:lumMod val="25000"/>
              <a:lumOff val="7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AU" sz="900">
                <a:solidFill>
                  <a:schemeClr val="tx1"/>
                </a:solidFill>
                <a:latin typeface="Aptos" panose="02110004020202020204"/>
              </a:rPr>
              <a:t>Layer 4 — Semantic Models</a:t>
            </a:r>
            <a:br>
              <a:rPr lang="en-AU" sz="900">
                <a:solidFill>
                  <a:schemeClr val="tx1"/>
                </a:solidFill>
                <a:latin typeface="Aptos" panose="02110004020202020204"/>
              </a:rPr>
            </a:br>
            <a:r>
              <a:rPr lang="en-AU" sz="900">
                <a:solidFill>
                  <a:schemeClr val="tx1"/>
                </a:solidFill>
                <a:latin typeface="Aptos" panose="02110004020202020204"/>
              </a:rPr>
              <a:t>Tables </a:t>
            </a:r>
            <a:r>
              <a:rPr lang="en-AU" sz="900">
                <a:solidFill>
                  <a:schemeClr val="tx1"/>
                </a:solidFill>
                <a:latin typeface="Aptos" panose="02110004020202020204"/>
                <a:sym typeface="Wingdings" panose="05000000000000000000" pitchFamily="2" charset="2"/>
              </a:rPr>
              <a:t></a:t>
            </a:r>
            <a:r>
              <a:rPr lang="en-AU" sz="900">
                <a:solidFill>
                  <a:schemeClr val="tx1"/>
                </a:solidFill>
                <a:latin typeface="Aptos" panose="02110004020202020204"/>
              </a:rPr>
              <a:t> KG_NODE &lt;ENTITIES&gt; &amp; KG_EDGE &lt;RELATIONSHIPS&gt;</a:t>
            </a:r>
            <a:br>
              <a:rPr lang="en-AU" sz="900">
                <a:solidFill>
                  <a:schemeClr val="tx1"/>
                </a:solidFill>
                <a:latin typeface="Aptos" panose="02110004020202020204"/>
              </a:rPr>
            </a:br>
            <a:r>
              <a:rPr lang="en-AU" sz="900">
                <a:solidFill>
                  <a:schemeClr val="tx1"/>
                </a:solidFill>
                <a:latin typeface="Aptos" panose="02110004020202020204"/>
              </a:rPr>
              <a:t>Knowledge Graph, Ontology, Metadata, Graph Analytics</a:t>
            </a:r>
          </a:p>
        </p:txBody>
      </p:sp>
      <p:sp>
        <p:nvSpPr>
          <p:cNvPr id="124" name="Freeform: Shape 123">
            <a:extLst>
              <a:ext uri="{FF2B5EF4-FFF2-40B4-BE49-F238E27FC236}">
                <a16:creationId xmlns:a16="http://schemas.microsoft.com/office/drawing/2014/main" id="{59DDF44B-6611-E714-D31D-824A8478742C}"/>
              </a:ext>
            </a:extLst>
          </p:cNvPr>
          <p:cNvSpPr/>
          <p:nvPr/>
        </p:nvSpPr>
        <p:spPr>
          <a:xfrm>
            <a:off x="6995844" y="5557438"/>
            <a:ext cx="4366424" cy="560261"/>
          </a:xfrm>
          <a:custGeom>
            <a:avLst/>
            <a:gdLst>
              <a:gd name="csX0" fmla="*/ 0 w 5246913"/>
              <a:gd name="csY0" fmla="*/ 121682 h 730080"/>
              <a:gd name="csX1" fmla="*/ 121682 w 5246913"/>
              <a:gd name="csY1" fmla="*/ 0 h 730080"/>
              <a:gd name="csX2" fmla="*/ 5125231 w 5246913"/>
              <a:gd name="csY2" fmla="*/ 0 h 730080"/>
              <a:gd name="csX3" fmla="*/ 5246913 w 5246913"/>
              <a:gd name="csY3" fmla="*/ 121682 h 730080"/>
              <a:gd name="csX4" fmla="*/ 5246913 w 5246913"/>
              <a:gd name="csY4" fmla="*/ 608398 h 730080"/>
              <a:gd name="csX5" fmla="*/ 5125231 w 5246913"/>
              <a:gd name="csY5" fmla="*/ 730080 h 730080"/>
              <a:gd name="csX6" fmla="*/ 121682 w 5246913"/>
              <a:gd name="csY6" fmla="*/ 730080 h 730080"/>
              <a:gd name="csX7" fmla="*/ 0 w 5246913"/>
              <a:gd name="csY7" fmla="*/ 608398 h 730080"/>
              <a:gd name="csX8" fmla="*/ 0 w 5246913"/>
              <a:gd name="csY8" fmla="*/ 121682 h 730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246913" h="730080">
                <a:moveTo>
                  <a:pt x="0" y="121682"/>
                </a:moveTo>
                <a:cubicBezTo>
                  <a:pt x="0" y="54479"/>
                  <a:pt x="54479" y="0"/>
                  <a:pt x="121682" y="0"/>
                </a:cubicBezTo>
                <a:lnTo>
                  <a:pt x="5125231" y="0"/>
                </a:lnTo>
                <a:cubicBezTo>
                  <a:pt x="5192434" y="0"/>
                  <a:pt x="5246913" y="54479"/>
                  <a:pt x="5246913" y="121682"/>
                </a:cubicBezTo>
                <a:lnTo>
                  <a:pt x="5246913" y="608398"/>
                </a:lnTo>
                <a:cubicBezTo>
                  <a:pt x="5246913" y="675601"/>
                  <a:pt x="5192434" y="730080"/>
                  <a:pt x="5125231" y="730080"/>
                </a:cubicBezTo>
                <a:lnTo>
                  <a:pt x="121682" y="730080"/>
                </a:lnTo>
                <a:cubicBezTo>
                  <a:pt x="54479" y="730080"/>
                  <a:pt x="0" y="675601"/>
                  <a:pt x="0" y="608398"/>
                </a:cubicBezTo>
                <a:lnTo>
                  <a:pt x="0" y="121682"/>
                </a:lnTo>
                <a:close/>
              </a:path>
            </a:pathLst>
          </a:custGeom>
          <a:solidFill>
            <a:schemeClr val="tx2">
              <a:lumMod val="25000"/>
              <a:lumOff val="7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AU" sz="900">
                <a:solidFill>
                  <a:schemeClr val="tx1"/>
                </a:solidFill>
                <a:latin typeface="Aptos" panose="02110004020202020204"/>
              </a:rPr>
              <a:t>Layer 5 — Cortex Agent</a:t>
            </a:r>
            <a:br>
              <a:rPr lang="en-AU" sz="900">
                <a:solidFill>
                  <a:schemeClr val="tx1"/>
                </a:solidFill>
                <a:latin typeface="Aptos" panose="02110004020202020204"/>
              </a:rPr>
            </a:br>
            <a:r>
              <a:rPr lang="en-AU" sz="900">
                <a:solidFill>
                  <a:schemeClr val="tx1"/>
                </a:solidFill>
                <a:latin typeface="Aptos" panose="02110004020202020204"/>
              </a:rPr>
              <a:t>Orchestrates semantic models and graph analytics</a:t>
            </a:r>
          </a:p>
        </p:txBody>
      </p:sp>
      <p:sp>
        <p:nvSpPr>
          <p:cNvPr id="127" name="Oval 126">
            <a:extLst>
              <a:ext uri="{FF2B5EF4-FFF2-40B4-BE49-F238E27FC236}">
                <a16:creationId xmlns:a16="http://schemas.microsoft.com/office/drawing/2014/main" id="{82E682AE-BE4D-72FC-CEA0-54AA2FA05619}"/>
              </a:ext>
            </a:extLst>
          </p:cNvPr>
          <p:cNvSpPr/>
          <p:nvPr/>
        </p:nvSpPr>
        <p:spPr>
          <a:xfrm>
            <a:off x="10037794" y="1565583"/>
            <a:ext cx="304800" cy="264402"/>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latin typeface="Aptos" panose="02110004020202020204"/>
              </a:rPr>
              <a:t>1</a:t>
            </a:r>
          </a:p>
        </p:txBody>
      </p:sp>
      <p:sp>
        <p:nvSpPr>
          <p:cNvPr id="128" name="Oval 127">
            <a:extLst>
              <a:ext uri="{FF2B5EF4-FFF2-40B4-BE49-F238E27FC236}">
                <a16:creationId xmlns:a16="http://schemas.microsoft.com/office/drawing/2014/main" id="{3539E7E0-E061-C045-CF0A-757F6E6186D0}"/>
              </a:ext>
            </a:extLst>
          </p:cNvPr>
          <p:cNvSpPr/>
          <p:nvPr/>
        </p:nvSpPr>
        <p:spPr>
          <a:xfrm>
            <a:off x="7454137" y="1822024"/>
            <a:ext cx="304800" cy="264402"/>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latin typeface="Aptos" panose="02110004020202020204"/>
              </a:rPr>
              <a:t>2</a:t>
            </a:r>
          </a:p>
        </p:txBody>
      </p:sp>
      <p:sp>
        <p:nvSpPr>
          <p:cNvPr id="129" name="Oval 128">
            <a:extLst>
              <a:ext uri="{FF2B5EF4-FFF2-40B4-BE49-F238E27FC236}">
                <a16:creationId xmlns:a16="http://schemas.microsoft.com/office/drawing/2014/main" id="{35A6AF96-DD26-221F-026D-9812C05BEB33}"/>
              </a:ext>
            </a:extLst>
          </p:cNvPr>
          <p:cNvSpPr/>
          <p:nvPr/>
        </p:nvSpPr>
        <p:spPr>
          <a:xfrm>
            <a:off x="5806315" y="1822024"/>
            <a:ext cx="304800" cy="264402"/>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latin typeface="Aptos" panose="02110004020202020204"/>
              </a:rPr>
              <a:t>3</a:t>
            </a:r>
          </a:p>
        </p:txBody>
      </p:sp>
      <p:sp>
        <p:nvSpPr>
          <p:cNvPr id="130" name="Oval 129">
            <a:extLst>
              <a:ext uri="{FF2B5EF4-FFF2-40B4-BE49-F238E27FC236}">
                <a16:creationId xmlns:a16="http://schemas.microsoft.com/office/drawing/2014/main" id="{2F5E1322-D103-2BAE-A044-2DC3E8920991}"/>
              </a:ext>
            </a:extLst>
          </p:cNvPr>
          <p:cNvSpPr/>
          <p:nvPr/>
        </p:nvSpPr>
        <p:spPr>
          <a:xfrm>
            <a:off x="4043866" y="803561"/>
            <a:ext cx="304800" cy="264402"/>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solidFill>
                  <a:schemeClr val="tx1"/>
                </a:solidFill>
                <a:latin typeface="Aptos" panose="02110004020202020204"/>
              </a:rPr>
              <a:t>4</a:t>
            </a:r>
          </a:p>
        </p:txBody>
      </p:sp>
      <p:sp>
        <p:nvSpPr>
          <p:cNvPr id="131" name="Oval 130">
            <a:extLst>
              <a:ext uri="{FF2B5EF4-FFF2-40B4-BE49-F238E27FC236}">
                <a16:creationId xmlns:a16="http://schemas.microsoft.com/office/drawing/2014/main" id="{A3C7B3C5-3E27-DE86-25F8-0D49AADFEBE7}"/>
              </a:ext>
            </a:extLst>
          </p:cNvPr>
          <p:cNvSpPr/>
          <p:nvPr/>
        </p:nvSpPr>
        <p:spPr>
          <a:xfrm>
            <a:off x="2054044" y="1627098"/>
            <a:ext cx="304800" cy="264402"/>
          </a:xfrm>
          <a:prstGeom prst="ellipse">
            <a:avLst/>
          </a:prstGeom>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a:ln>
                  <a:noFill/>
                </a:ln>
                <a:solidFill>
                  <a:schemeClr val="tx1"/>
                </a:solidFill>
                <a:effectLst/>
                <a:uLnTx/>
                <a:uFillTx/>
                <a:latin typeface="Aptos" panose="02110004020202020204"/>
                <a:ea typeface="+mn-ea"/>
                <a:cs typeface="+mn-cs"/>
              </a:rPr>
              <a:t>5</a:t>
            </a:r>
          </a:p>
        </p:txBody>
      </p:sp>
      <p:sp>
        <p:nvSpPr>
          <p:cNvPr id="38" name="TextBox 37">
            <a:extLst>
              <a:ext uri="{FF2B5EF4-FFF2-40B4-BE49-F238E27FC236}">
                <a16:creationId xmlns:a16="http://schemas.microsoft.com/office/drawing/2014/main" id="{142255BE-2A90-687C-8A29-A262BA2D4283}"/>
              </a:ext>
            </a:extLst>
          </p:cNvPr>
          <p:cNvSpPr txBox="1"/>
          <p:nvPr/>
        </p:nvSpPr>
        <p:spPr>
          <a:xfrm>
            <a:off x="5419932" y="247089"/>
            <a:ext cx="6096000" cy="2462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a:ln>
                  <a:noFill/>
                </a:ln>
                <a:effectLst/>
                <a:uLnTx/>
                <a:uFillTx/>
                <a:latin typeface="Aptos" panose="02110004020202020204"/>
                <a:ea typeface="+mn-ea"/>
                <a:cs typeface="+mn-cs"/>
                <a:hlinkClick r:id="rId5">
                  <a:extLst>
                    <a:ext uri="{A12FA001-AC4F-418D-AE19-62706E023703}">
                      <ahyp:hlinkClr xmlns:ahyp="http://schemas.microsoft.com/office/drawing/2018/hyperlinkcolor" val="tx"/>
                    </a:ext>
                  </a:extLst>
                </a:hlinkClick>
              </a:rPr>
              <a:t>Snowflake ML, Agentic Framework - CTO Strategy and Architecture - Westpac Enterprise Confluence</a:t>
            </a:r>
            <a:endParaRPr kumimoji="0" lang="en-AU" sz="1000" b="0" i="0" u="none" strike="noStrike" kern="1200" cap="none" spc="0" normalizeH="0" baseline="0" noProof="0">
              <a:ln>
                <a:noFill/>
              </a:ln>
              <a:effectLst/>
              <a:uLnTx/>
              <a:uFillTx/>
              <a:latin typeface="Aptos" panose="02110004020202020204"/>
              <a:ea typeface="+mn-ea"/>
              <a:cs typeface="+mn-cs"/>
            </a:endParaRPr>
          </a:p>
        </p:txBody>
      </p:sp>
    </p:spTree>
    <p:extLst>
      <p:ext uri="{BB962C8B-B14F-4D97-AF65-F5344CB8AC3E}">
        <p14:creationId xmlns:p14="http://schemas.microsoft.com/office/powerpoint/2010/main" val="3756374049"/>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86626A64-C9A7-D7D4-CB29-8052B672693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D9646E-7BA9-72C5-B02F-A1BF66A0F0FB}"/>
              </a:ext>
            </a:extLst>
          </p:cNvPr>
          <p:cNvSpPr txBox="1"/>
          <p:nvPr/>
        </p:nvSpPr>
        <p:spPr>
          <a:xfrm>
            <a:off x="96384" y="90142"/>
            <a:ext cx="10972800" cy="553998"/>
          </a:xfrm>
          <a:prstGeom prst="rect">
            <a:avLst/>
          </a:prstGeom>
          <a:noFill/>
        </p:spPr>
        <p:txBody>
          <a:bodyPr wrap="square">
            <a:spAutoFit/>
          </a:bodyPr>
          <a:lstStyle/>
          <a:p>
            <a:pPr lvl="0">
              <a:defRPr/>
            </a:pPr>
            <a:r>
              <a:rPr kumimoji="0" lang="en-AU" sz="3000" b="1" i="0" u="none" strike="noStrike" kern="1200" cap="none" spc="0" normalizeH="0" baseline="0" noProof="0">
                <a:ln>
                  <a:noFill/>
                </a:ln>
                <a:effectLst/>
                <a:uLnTx/>
                <a:uFillTx/>
                <a:latin typeface="Calibri"/>
                <a:ea typeface="+mn-ea"/>
                <a:cs typeface="+mn-cs"/>
              </a:rPr>
              <a:t>Snowflake – Solution Layers</a:t>
            </a:r>
            <a:endParaRPr kumimoji="0" sz="3000" b="1" i="0" u="none" strike="noStrike" kern="1200" cap="none" spc="0" normalizeH="0" baseline="0" noProof="0">
              <a:ln>
                <a:noFill/>
              </a:ln>
              <a:effectLst/>
              <a:uLnTx/>
              <a:uFillTx/>
              <a:latin typeface="Calibri"/>
              <a:ea typeface="+mn-ea"/>
              <a:cs typeface="+mn-cs"/>
            </a:endParaRPr>
          </a:p>
        </p:txBody>
      </p:sp>
      <p:sp>
        <p:nvSpPr>
          <p:cNvPr id="10" name="TextBox 9">
            <a:extLst>
              <a:ext uri="{FF2B5EF4-FFF2-40B4-BE49-F238E27FC236}">
                <a16:creationId xmlns:a16="http://schemas.microsoft.com/office/drawing/2014/main" id="{6055F084-DEEC-9D53-7399-AA87B89741BD}"/>
              </a:ext>
            </a:extLst>
          </p:cNvPr>
          <p:cNvSpPr txBox="1"/>
          <p:nvPr/>
        </p:nvSpPr>
        <p:spPr>
          <a:xfrm>
            <a:off x="96384" y="776870"/>
            <a:ext cx="11900884" cy="4960332"/>
          </a:xfrm>
          <a:prstGeom prst="rect">
            <a:avLst/>
          </a:prstGeom>
          <a:noFill/>
        </p:spPr>
        <p:txBody>
          <a:bodyPr wrap="square">
            <a:spAutoFit/>
          </a:bodyPr>
          <a:lstStyle/>
          <a:p>
            <a:pPr algn="l">
              <a:spcBef>
                <a:spcPts val="750"/>
              </a:spcBef>
              <a:buNone/>
            </a:pPr>
            <a:r>
              <a:rPr lang="en-AU" sz="900" b="1" i="0" u="sng">
                <a:effectLst/>
                <a:latin typeface="-apple-system"/>
              </a:rPr>
              <a:t>Ontology</a:t>
            </a:r>
            <a:r>
              <a:rPr lang="en-AU" sz="900" b="0" i="0">
                <a:effectLst/>
                <a:latin typeface="-apple-system"/>
              </a:rPr>
              <a:t> on Snowflake is delivered as an integrated, end-to-end capability across three parts</a:t>
            </a:r>
          </a:p>
          <a:p>
            <a:pPr algn="l">
              <a:spcBef>
                <a:spcPts val="750"/>
              </a:spcBef>
              <a:buNone/>
            </a:pPr>
            <a:endParaRPr lang="en-AU" sz="900" b="0" i="0">
              <a:effectLst/>
              <a:latin typeface="-apple-system"/>
            </a:endParaRPr>
          </a:p>
          <a:p>
            <a:pPr algn="l">
              <a:spcBef>
                <a:spcPts val="750"/>
              </a:spcBef>
              <a:buNone/>
            </a:pPr>
            <a:endParaRPr lang="en-AU" sz="900">
              <a:latin typeface="-apple-system"/>
            </a:endParaRPr>
          </a:p>
          <a:p>
            <a:pPr algn="l">
              <a:spcBef>
                <a:spcPts val="750"/>
              </a:spcBef>
              <a:buNone/>
            </a:pPr>
            <a:endParaRPr lang="en-AU" sz="900">
              <a:latin typeface="-apple-system"/>
            </a:endParaRPr>
          </a:p>
          <a:p>
            <a:pPr algn="l">
              <a:spcBef>
                <a:spcPts val="750"/>
              </a:spcBef>
              <a:buNone/>
            </a:pPr>
            <a:endParaRPr lang="en-AU" sz="900">
              <a:latin typeface="-apple-system"/>
            </a:endParaRPr>
          </a:p>
          <a:p>
            <a:pPr algn="l">
              <a:spcBef>
                <a:spcPts val="750"/>
              </a:spcBef>
              <a:buNone/>
            </a:pPr>
            <a:endParaRPr lang="en-AU" sz="900" b="0" i="0">
              <a:effectLst/>
              <a:latin typeface="-apple-system"/>
            </a:endParaRPr>
          </a:p>
          <a:p>
            <a:pPr algn="l">
              <a:spcBef>
                <a:spcPts val="750"/>
              </a:spcBef>
              <a:buNone/>
            </a:pPr>
            <a:endParaRPr lang="en-AU" sz="900">
              <a:latin typeface="-apple-system"/>
            </a:endParaRPr>
          </a:p>
          <a:p>
            <a:pPr algn="l">
              <a:spcBef>
                <a:spcPts val="750"/>
              </a:spcBef>
              <a:buNone/>
            </a:pPr>
            <a:endParaRPr lang="en-AU" sz="900" b="0" i="0">
              <a:effectLst/>
              <a:latin typeface="-apple-system"/>
            </a:endParaRPr>
          </a:p>
          <a:p>
            <a:pPr algn="l">
              <a:spcBef>
                <a:spcPts val="750"/>
              </a:spcBef>
              <a:buNone/>
            </a:pPr>
            <a:endParaRPr lang="en-AU" sz="900">
              <a:latin typeface="-apple-system"/>
            </a:endParaRPr>
          </a:p>
          <a:p>
            <a:pPr algn="l">
              <a:spcBef>
                <a:spcPts val="750"/>
              </a:spcBef>
              <a:buNone/>
            </a:pPr>
            <a:endParaRPr lang="en-AU" sz="900" b="0" i="0">
              <a:effectLst/>
              <a:latin typeface="-apple-system"/>
            </a:endParaRPr>
          </a:p>
          <a:p>
            <a:r>
              <a:rPr lang="en-AU" sz="900" b="1"/>
              <a:t>Layer 5</a:t>
            </a:r>
            <a:r>
              <a:rPr lang="en-AU" sz="900"/>
              <a:t> - Cortex Agent: Orchestrates semantic models and graph analytics tools</a:t>
            </a:r>
          </a:p>
          <a:p>
            <a:r>
              <a:rPr lang="en-AU" sz="900" b="1"/>
              <a:t>Layer 4</a:t>
            </a:r>
            <a:r>
              <a:rPr lang="en-AU" sz="900"/>
              <a:t> - Semantic Models: Knowledge Graph (concrete), Ontology (abstract), Metadata (introspection), Graph Analytics (algorithms)</a:t>
            </a:r>
          </a:p>
          <a:p>
            <a:r>
              <a:rPr lang="en-AU" sz="900" b="1"/>
              <a:t>Layer 3</a:t>
            </a:r>
            <a:r>
              <a:rPr lang="en-AU" sz="900"/>
              <a:t> - Generated Views: Auto-generated abstract views (VW_ONT_CUSTOMERS, VW_ONT_OWNS_PRODUCT)</a:t>
            </a:r>
          </a:p>
          <a:p>
            <a:r>
              <a:rPr lang="en-AU" sz="900" b="1"/>
              <a:t>Layer 2</a:t>
            </a:r>
            <a:r>
              <a:rPr lang="en-AU" sz="900"/>
              <a:t> - Ontology Metadata: Classes, relationships, properties, permissions, inference rules</a:t>
            </a:r>
          </a:p>
          <a:p>
            <a:r>
              <a:rPr lang="en-AU" sz="900" b="1"/>
              <a:t>Layer 1</a:t>
            </a:r>
            <a:r>
              <a:rPr lang="en-AU" sz="900"/>
              <a:t> - Physical Storage: KG_NODE (entities) + KG_EDGE (relationships)</a:t>
            </a:r>
          </a:p>
          <a:p>
            <a:endParaRPr lang="en-AU" sz="900"/>
          </a:p>
          <a:p>
            <a:r>
              <a:rPr lang="en-AU" sz="900" b="1" u="sng"/>
              <a:t>Graph Features</a:t>
            </a:r>
            <a:endParaRPr lang="en-AU" sz="900" b="1"/>
          </a:p>
          <a:p>
            <a:r>
              <a:rPr lang="en-AU" sz="900"/>
              <a:t>Graph analytics are provided via </a:t>
            </a:r>
            <a:r>
              <a:rPr lang="en-AU" sz="900" b="1"/>
              <a:t>Snowflake Container Services (SPCS)</a:t>
            </a:r>
            <a:r>
              <a:rPr lang="en-AU" sz="900"/>
              <a:t> running with 5 tools:</a:t>
            </a:r>
          </a:p>
          <a:p>
            <a:endParaRPr lang="en-AU" sz="900"/>
          </a:p>
          <a:p>
            <a:endParaRPr lang="en-AU" sz="900"/>
          </a:p>
          <a:p>
            <a:endParaRPr lang="en-AU" sz="900"/>
          </a:p>
          <a:p>
            <a:endParaRPr lang="en-AU" sz="900"/>
          </a:p>
          <a:p>
            <a:pPr algn="l">
              <a:spcBef>
                <a:spcPts val="750"/>
              </a:spcBef>
              <a:buNone/>
            </a:pPr>
            <a:endParaRPr lang="en-AU" sz="900" b="0" i="0">
              <a:effectLst/>
              <a:latin typeface="-apple-system"/>
            </a:endParaRPr>
          </a:p>
          <a:p>
            <a:pPr algn="l">
              <a:spcBef>
                <a:spcPts val="750"/>
              </a:spcBef>
              <a:buNone/>
            </a:pPr>
            <a:br>
              <a:rPr lang="en-AU" sz="900" b="0" i="0">
                <a:effectLst/>
                <a:latin typeface="-apple-system"/>
              </a:rPr>
            </a:br>
            <a:endParaRPr lang="en-AU" sz="900" b="0" i="0">
              <a:effectLst/>
              <a:latin typeface="-apple-system"/>
            </a:endParaRPr>
          </a:p>
          <a:p>
            <a:pPr>
              <a:buNone/>
            </a:pPr>
            <a:br>
              <a:rPr lang="en-AU" sz="900"/>
            </a:br>
            <a:endParaRPr lang="en-AU" sz="900"/>
          </a:p>
        </p:txBody>
      </p:sp>
      <p:graphicFrame>
        <p:nvGraphicFramePr>
          <p:cNvPr id="11" name="Table 10">
            <a:extLst>
              <a:ext uri="{FF2B5EF4-FFF2-40B4-BE49-F238E27FC236}">
                <a16:creationId xmlns:a16="http://schemas.microsoft.com/office/drawing/2014/main" id="{4CF4CEEB-AF00-5661-88A8-89A479A86FAF}"/>
              </a:ext>
            </a:extLst>
          </p:cNvPr>
          <p:cNvGraphicFramePr>
            <a:graphicFrameLocks noGrp="1"/>
          </p:cNvGraphicFramePr>
          <p:nvPr>
            <p:extLst>
              <p:ext uri="{D42A27DB-BD31-4B8C-83A1-F6EECF244321}">
                <p14:modId xmlns:p14="http://schemas.microsoft.com/office/powerpoint/2010/main" val="3556209280"/>
              </p:ext>
            </p:extLst>
          </p:nvPr>
        </p:nvGraphicFramePr>
        <p:xfrm>
          <a:off x="194732" y="1159932"/>
          <a:ext cx="11717867" cy="1645920"/>
        </p:xfrm>
        <a:graphic>
          <a:graphicData uri="http://schemas.openxmlformats.org/drawingml/2006/table">
            <a:tbl>
              <a:tblPr firstRow="1" bandRow="1">
                <a:tableStyleId>{5C22544A-7EE6-4342-B048-85BDC9FD1C3A}</a:tableStyleId>
              </a:tblPr>
              <a:tblGrid>
                <a:gridCol w="702735">
                  <a:extLst>
                    <a:ext uri="{9D8B030D-6E8A-4147-A177-3AD203B41FA5}">
                      <a16:colId xmlns:a16="http://schemas.microsoft.com/office/drawing/2014/main" val="1230087565"/>
                    </a:ext>
                  </a:extLst>
                </a:gridCol>
                <a:gridCol w="3505200">
                  <a:extLst>
                    <a:ext uri="{9D8B030D-6E8A-4147-A177-3AD203B41FA5}">
                      <a16:colId xmlns:a16="http://schemas.microsoft.com/office/drawing/2014/main" val="3267209558"/>
                    </a:ext>
                  </a:extLst>
                </a:gridCol>
                <a:gridCol w="7509932">
                  <a:extLst>
                    <a:ext uri="{9D8B030D-6E8A-4147-A177-3AD203B41FA5}">
                      <a16:colId xmlns:a16="http://schemas.microsoft.com/office/drawing/2014/main" val="1520709845"/>
                    </a:ext>
                  </a:extLst>
                </a:gridCol>
              </a:tblGrid>
              <a:tr h="0">
                <a:tc>
                  <a:txBody>
                    <a:bodyPr/>
                    <a:lstStyle/>
                    <a:p>
                      <a:r>
                        <a:rPr lang="en-AU" sz="900">
                          <a:solidFill>
                            <a:schemeClr val="tx1"/>
                          </a:solidFill>
                        </a:rPr>
                        <a:t>LAYERS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r>
                        <a:rPr lang="en-AU" sz="900">
                          <a:solidFill>
                            <a:schemeClr val="tx1"/>
                          </a:solidFill>
                        </a:rPr>
                        <a:t>CONCEPT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r>
                        <a:rPr lang="en-AU" sz="900">
                          <a:solidFill>
                            <a:schemeClr val="tx1"/>
                          </a:solidFill>
                        </a:rPr>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1474091221"/>
                  </a:ext>
                </a:extLst>
              </a:tr>
              <a:tr h="212266">
                <a:tc>
                  <a:txBody>
                    <a:bodyPr/>
                    <a:lstStyle/>
                    <a:p>
                      <a:pPr algn="l" fontAlgn="t">
                        <a:buNone/>
                      </a:pPr>
                      <a:r>
                        <a:rPr lang="en-AU" sz="900">
                          <a:solidFill>
                            <a:schemeClr val="tx1"/>
                          </a:solidFill>
                          <a:effectLst/>
                        </a:rPr>
                        <a:t>1–3</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KG_NODE, KG_EDGE tables + ontology metadata + abstract views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An object–relationship foundation with ontology metadata that captures business meaning natively in Snowflake.</a:t>
                      </a:r>
                      <a:br>
                        <a:rPr lang="en-AU" sz="900">
                          <a:solidFill>
                            <a:schemeClr val="tx1"/>
                          </a:solidFill>
                          <a:effectLst/>
                        </a:rPr>
                      </a:br>
                      <a:r>
                        <a:rPr lang="en-AU" sz="900">
                          <a:solidFill>
                            <a:schemeClr val="tx1"/>
                          </a:solidFill>
                          <a:effectLst/>
                        </a:rPr>
                        <a:t>Create KG_NODE and KG_EDGE tables, ontology metadata tables (ONT_CLASS, ONT_RELATION_DEF, etc.), and generated abstract views (VW_ONT_CUSTOMERS, VW_ONT_OWNS_PRODUCT).</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773726937"/>
                  </a:ext>
                </a:extLst>
              </a:tr>
              <a:tr h="156078">
                <a:tc>
                  <a:txBody>
                    <a:bodyPr/>
                    <a:lstStyle/>
                    <a:p>
                      <a:pPr algn="l" fontAlgn="t">
                        <a:buNone/>
                      </a:pPr>
                      <a:r>
                        <a:rPr lang="en-AU" sz="900">
                          <a:solidFill>
                            <a:schemeClr val="tx1"/>
                          </a:solidFill>
                          <a:effectLst/>
                        </a:rPr>
                        <a:t>4</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Specialized Cortex Analyst semantic models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Purpose-built semantic models optimized for concrete queries (Knowledge Graph Model), abstract reasoning (Ontology Model), and governance (Metadata &amp; Governance Model).</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2597987"/>
                  </a:ext>
                </a:extLst>
              </a:tr>
              <a:tr h="156078">
                <a:tc>
                  <a:txBody>
                    <a:bodyPr/>
                    <a:lstStyle/>
                    <a:p>
                      <a:pPr algn="l" fontAlgn="t">
                        <a:buNone/>
                      </a:pPr>
                      <a:r>
                        <a:rPr lang="en-AU" sz="900">
                          <a:solidFill>
                            <a:schemeClr val="tx1"/>
                          </a:solidFill>
                          <a:effectLst/>
                        </a:rPr>
                        <a:t>5</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Cortex Agent + graph analytics tools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Intelligent agent orchestration with Cortex Agent, graph-powered reasoning via </a:t>
                      </a:r>
                      <a:r>
                        <a:rPr lang="en-AU" sz="900" err="1">
                          <a:solidFill>
                            <a:schemeClr val="tx1"/>
                          </a:solidFill>
                          <a:effectLst/>
                        </a:rPr>
                        <a:t>NetworkX</a:t>
                      </a:r>
                      <a:r>
                        <a:rPr lang="en-AU" sz="900">
                          <a:solidFill>
                            <a:schemeClr val="tx1"/>
                          </a:solidFill>
                          <a:effectLst/>
                        </a:rPr>
                        <a:t>, and natural-language interaction across all semantic models. </a:t>
                      </a:r>
                      <a:r>
                        <a:rPr lang="en-AU" sz="900">
                          <a:solidFill>
                            <a:schemeClr val="tx1"/>
                          </a:solidFill>
                        </a:rPr>
                        <a:t>Snowflake has </a:t>
                      </a:r>
                      <a:r>
                        <a:rPr lang="en-AU" sz="900" b="1" u="sng">
                          <a:solidFill>
                            <a:schemeClr val="tx1"/>
                          </a:solidFill>
                        </a:rPr>
                        <a:t>NO NATIVE</a:t>
                      </a:r>
                      <a:r>
                        <a:rPr lang="en-AU" sz="900">
                          <a:solidFill>
                            <a:schemeClr val="tx1"/>
                          </a:solidFill>
                        </a:rPr>
                        <a:t> graph database or graph algorithms at all; we rely on Neo4j's native app (65+ algorithms) or </a:t>
                      </a:r>
                      <a:r>
                        <a:rPr lang="en-AU" sz="900" err="1">
                          <a:solidFill>
                            <a:schemeClr val="tx1"/>
                          </a:solidFill>
                        </a:rPr>
                        <a:t>RelationalAI</a:t>
                      </a:r>
                      <a:r>
                        <a:rPr lang="en-AU" sz="900">
                          <a:solidFill>
                            <a:schemeClr val="tx1"/>
                          </a:solidFill>
                        </a:rPr>
                        <a:t> for graph analytics. All the neo4j ones and </a:t>
                      </a:r>
                      <a:r>
                        <a:rPr lang="en-AU" sz="900" err="1">
                          <a:solidFill>
                            <a:schemeClr val="tx1"/>
                          </a:solidFill>
                        </a:rPr>
                        <a:t>RelationalAI</a:t>
                      </a:r>
                      <a:r>
                        <a:rPr lang="en-AU" sz="900">
                          <a:solidFill>
                            <a:schemeClr val="tx1"/>
                          </a:solidFill>
                        </a:rPr>
                        <a:t> ones are available to use within Snowflake context </a:t>
                      </a:r>
                      <a:endParaRPr lang="en-AU" sz="900">
                        <a:solidFill>
                          <a:schemeClr val="tx1"/>
                        </a:solidFill>
                        <a:effectLst/>
                      </a:endParaRP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277167744"/>
                  </a:ext>
                </a:extLst>
              </a:tr>
            </a:tbl>
          </a:graphicData>
        </a:graphic>
      </p:graphicFrame>
      <p:graphicFrame>
        <p:nvGraphicFramePr>
          <p:cNvPr id="16" name="Table 15">
            <a:extLst>
              <a:ext uri="{FF2B5EF4-FFF2-40B4-BE49-F238E27FC236}">
                <a16:creationId xmlns:a16="http://schemas.microsoft.com/office/drawing/2014/main" id="{C545D69D-9C5C-CDAC-E34A-AB17591679AF}"/>
              </a:ext>
            </a:extLst>
          </p:cNvPr>
          <p:cNvGraphicFramePr>
            <a:graphicFrameLocks noGrp="1"/>
          </p:cNvGraphicFramePr>
          <p:nvPr>
            <p:extLst>
              <p:ext uri="{D42A27DB-BD31-4B8C-83A1-F6EECF244321}">
                <p14:modId xmlns:p14="http://schemas.microsoft.com/office/powerpoint/2010/main" val="3754543353"/>
              </p:ext>
            </p:extLst>
          </p:nvPr>
        </p:nvGraphicFramePr>
        <p:xfrm>
          <a:off x="187892" y="4422132"/>
          <a:ext cx="11717867" cy="1447800"/>
        </p:xfrm>
        <a:graphic>
          <a:graphicData uri="http://schemas.openxmlformats.org/drawingml/2006/table">
            <a:tbl>
              <a:tblPr firstRow="1" bandRow="1">
                <a:tableStyleId>{5C22544A-7EE6-4342-B048-85BDC9FD1C3A}</a:tableStyleId>
              </a:tblPr>
              <a:tblGrid>
                <a:gridCol w="1877975">
                  <a:extLst>
                    <a:ext uri="{9D8B030D-6E8A-4147-A177-3AD203B41FA5}">
                      <a16:colId xmlns:a16="http://schemas.microsoft.com/office/drawing/2014/main" val="1230087565"/>
                    </a:ext>
                  </a:extLst>
                </a:gridCol>
                <a:gridCol w="2329960">
                  <a:extLst>
                    <a:ext uri="{9D8B030D-6E8A-4147-A177-3AD203B41FA5}">
                      <a16:colId xmlns:a16="http://schemas.microsoft.com/office/drawing/2014/main" val="3267209558"/>
                    </a:ext>
                  </a:extLst>
                </a:gridCol>
                <a:gridCol w="7509932">
                  <a:extLst>
                    <a:ext uri="{9D8B030D-6E8A-4147-A177-3AD203B41FA5}">
                      <a16:colId xmlns:a16="http://schemas.microsoft.com/office/drawing/2014/main" val="1520709845"/>
                    </a:ext>
                  </a:extLst>
                </a:gridCol>
              </a:tblGrid>
              <a:tr h="0">
                <a:tc>
                  <a:txBody>
                    <a:bodyPr/>
                    <a:lstStyle/>
                    <a:p>
                      <a:r>
                        <a:rPr lang="en-AU" sz="900">
                          <a:solidFill>
                            <a:schemeClr val="tx1"/>
                          </a:solidFill>
                        </a:rPr>
                        <a:t>TOOL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r>
                        <a:rPr lang="en-AU" sz="90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r>
                        <a:rPr lang="en-AU" sz="900">
                          <a:solidFill>
                            <a:schemeClr val="tx1"/>
                          </a:solidFill>
                        </a:rPr>
                        <a:t>ALGORITHM (not limited to the below – these ones have been tested by Architecture 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1474091221"/>
                  </a:ext>
                </a:extLst>
              </a:tr>
              <a:tr h="0">
                <a:tc>
                  <a:txBody>
                    <a:bodyPr/>
                    <a:lstStyle/>
                    <a:p>
                      <a:pPr algn="l" fontAlgn="t">
                        <a:buNone/>
                      </a:pPr>
                      <a:r>
                        <a:rPr lang="en-AU" sz="900">
                          <a:solidFill>
                            <a:schemeClr val="tx1"/>
                          </a:solidFill>
                          <a:effectLst/>
                        </a:rPr>
                        <a:t>graph_shortest_path</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Find connection paths between entities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Dijkstra's algorithm</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845111964"/>
                  </a:ext>
                </a:extLst>
              </a:tr>
              <a:tr h="0">
                <a:tc>
                  <a:txBody>
                    <a:bodyPr/>
                    <a:lstStyle/>
                    <a:p>
                      <a:pPr algn="l" fontAlgn="t">
                        <a:buNone/>
                      </a:pPr>
                      <a:r>
                        <a:rPr lang="en-AU" sz="900">
                          <a:solidFill>
                            <a:schemeClr val="tx1"/>
                          </a:solidFill>
                          <a:effectLst/>
                        </a:rPr>
                        <a:t>graph_centrality_analysis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Entity importance metrics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Betweenness, closeness, degree, eigenvector</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640574464"/>
                  </a:ext>
                </a:extLst>
              </a:tr>
              <a:tr h="0">
                <a:tc>
                  <a:txBody>
                    <a:bodyPr/>
                    <a:lstStyle/>
                    <a:p>
                      <a:pPr algn="l" fontAlgn="t">
                        <a:buNone/>
                      </a:pPr>
                      <a:r>
                        <a:rPr lang="en-AU" sz="900">
                          <a:solidFill>
                            <a:schemeClr val="tx1"/>
                          </a:solidFill>
                          <a:effectLst/>
                        </a:rPr>
                        <a:t>graph_community_detection</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Group identification</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Louvain algorithm</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161493974"/>
                  </a:ext>
                </a:extLst>
              </a:tr>
              <a:tr h="0">
                <a:tc>
                  <a:txBody>
                    <a:bodyPr/>
                    <a:lstStyle/>
                    <a:p>
                      <a:pPr algn="l" fontAlgn="t">
                        <a:buNone/>
                      </a:pPr>
                      <a:r>
                        <a:rPr lang="en-AU" sz="900">
                          <a:solidFill>
                            <a:schemeClr val="tx1"/>
                          </a:solidFill>
                          <a:effectLst/>
                        </a:rPr>
                        <a:t>graph_transfer_network_analysis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Player transfer patterns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Custom transfer analysis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92597987"/>
                  </a:ext>
                </a:extLst>
              </a:tr>
              <a:tr h="0">
                <a:tc>
                  <a:txBody>
                    <a:bodyPr/>
                    <a:lstStyle/>
                    <a:p>
                      <a:pPr algn="l" fontAlgn="t">
                        <a:buNone/>
                      </a:pPr>
                      <a:r>
                        <a:rPr lang="en-AU" sz="900">
                          <a:solidFill>
                            <a:schemeClr val="tx1"/>
                          </a:solidFill>
                          <a:effectLst/>
                        </a:rPr>
                        <a:t>graph_temporal_analysis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Network evolution over time</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l" fontAlgn="t">
                        <a:buNone/>
                      </a:pPr>
                      <a:r>
                        <a:rPr lang="en-AU" sz="900">
                          <a:solidFill>
                            <a:schemeClr val="tx1"/>
                          </a:solidFill>
                          <a:effectLst/>
                        </a:rPr>
                        <a:t>Time-series network metrics</a:t>
                      </a:r>
                    </a:p>
                  </a:txBody>
                  <a:tcPr marL="76200" marR="76200" marT="53340" marB="533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277167744"/>
                  </a:ext>
                </a:extLst>
              </a:tr>
            </a:tbl>
          </a:graphicData>
        </a:graphic>
      </p:graphicFrame>
    </p:spTree>
    <p:extLst>
      <p:ext uri="{BB962C8B-B14F-4D97-AF65-F5344CB8AC3E}">
        <p14:creationId xmlns:p14="http://schemas.microsoft.com/office/powerpoint/2010/main" val="998053434"/>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E6B635DF-0C73-E720-004A-FD29830799B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496A8E-CC65-96B1-1B39-79BD018C407F}"/>
              </a:ext>
            </a:extLst>
          </p:cNvPr>
          <p:cNvSpPr txBox="1"/>
          <p:nvPr/>
        </p:nvSpPr>
        <p:spPr>
          <a:xfrm>
            <a:off x="96384" y="90142"/>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Snowflake</a:t>
            </a:r>
            <a:r>
              <a:rPr kumimoji="0" sz="3000" b="1" i="0" u="none" strike="noStrike" kern="1200" cap="none" spc="0" normalizeH="0" baseline="0" noProof="0">
                <a:ln>
                  <a:noFill/>
                </a:ln>
                <a:effectLst/>
                <a:uLnTx/>
                <a:uFillTx/>
                <a:latin typeface="Calibri"/>
                <a:ea typeface="+mn-ea"/>
                <a:cs typeface="+mn-cs"/>
              </a:rPr>
              <a:t> </a:t>
            </a:r>
            <a:r>
              <a:rPr kumimoji="0" lang="en-AU" sz="3000" b="1" i="0" u="none" strike="noStrike" kern="1200" cap="none" spc="0" normalizeH="0" baseline="0" noProof="0">
                <a:ln>
                  <a:noFill/>
                </a:ln>
                <a:effectLst/>
                <a:uLnTx/>
                <a:uFillTx/>
                <a:latin typeface="Calibri"/>
                <a:ea typeface="+mn-ea"/>
                <a:cs typeface="+mn-cs"/>
              </a:rPr>
              <a:t>- Solution Objects</a:t>
            </a:r>
            <a:endParaRPr kumimoji="0" sz="3000" b="1" i="0" u="none" strike="noStrike" kern="1200" cap="none" spc="0" normalizeH="0" baseline="0" noProof="0">
              <a:ln>
                <a:noFill/>
              </a:ln>
              <a:effectLst/>
              <a:uLnTx/>
              <a:uFillTx/>
              <a:latin typeface="Calibri"/>
              <a:ea typeface="+mn-ea"/>
              <a:cs typeface="+mn-cs"/>
            </a:endParaRPr>
          </a:p>
        </p:txBody>
      </p:sp>
      <p:sp>
        <p:nvSpPr>
          <p:cNvPr id="5" name="TextBox 4">
            <a:extLst>
              <a:ext uri="{FF2B5EF4-FFF2-40B4-BE49-F238E27FC236}">
                <a16:creationId xmlns:a16="http://schemas.microsoft.com/office/drawing/2014/main" id="{71CD90C7-C580-9C3A-A930-E65816C5B0F6}"/>
              </a:ext>
            </a:extLst>
          </p:cNvPr>
          <p:cNvSpPr txBox="1"/>
          <p:nvPr/>
        </p:nvSpPr>
        <p:spPr>
          <a:xfrm>
            <a:off x="96383" y="705494"/>
            <a:ext cx="8488817" cy="6001643"/>
          </a:xfrm>
          <a:prstGeom prst="rect">
            <a:avLst/>
          </a:prstGeom>
          <a:noFill/>
          <a:ln>
            <a:solidFill>
              <a:schemeClr val="tx1"/>
            </a:solidFill>
          </a:ln>
        </p:spPr>
        <p:txBody>
          <a:bodyPr wrap="square">
            <a:spAutoFit/>
          </a:bodyPr>
          <a:lstStyle/>
          <a:p>
            <a:pPr lvl="0">
              <a:defRPr/>
            </a:pPr>
            <a:r>
              <a:rPr lang="en-US" sz="800" b="1">
                <a:solidFill>
                  <a:srgbClr val="00B050"/>
                </a:solidFill>
                <a:latin typeface="Calibri"/>
              </a:rPr>
              <a:t>LAYER 1: PHYSICAL STORAGE LAYER</a:t>
            </a:r>
            <a:endParaRPr lang="en-AU" sz="800" b="1">
              <a:solidFill>
                <a:srgbClr val="00B050"/>
              </a:solidFill>
              <a:latin typeface="Calibri"/>
            </a:endParaRPr>
          </a:p>
          <a:p>
            <a:pPr marL="171450" lvl="0" indent="-171450">
              <a:buFont typeface="Arial" panose="020B0604020202020204" pitchFamily="34" charset="0"/>
              <a:buChar char="•"/>
              <a:defRPr/>
            </a:pPr>
            <a:r>
              <a:rPr lang="en-US" sz="800" b="1">
                <a:latin typeface="Calibri"/>
              </a:rPr>
              <a:t>KG_NODE: Entity storage table </a:t>
            </a:r>
            <a:r>
              <a:rPr lang="en-US" sz="800" b="1">
                <a:latin typeface="Calibri"/>
                <a:sym typeface="Wingdings" panose="05000000000000000000" pitchFamily="2" charset="2"/>
              </a:rPr>
              <a:t> </a:t>
            </a:r>
            <a:r>
              <a:rPr lang="en-US" sz="800" b="1">
                <a:latin typeface="Calibri"/>
              </a:rPr>
              <a:t>Stores all entities (customers, products, transactions, device </a:t>
            </a:r>
            <a:r>
              <a:rPr lang="en-US" sz="800" b="1" err="1">
                <a:latin typeface="Calibri"/>
              </a:rPr>
              <a:t>etc</a:t>
            </a:r>
            <a:r>
              <a:rPr lang="en-US" sz="800" b="1">
                <a:latin typeface="Calibri"/>
              </a:rPr>
              <a:t>) with flexible VARIANT properties</a:t>
            </a:r>
          </a:p>
          <a:p>
            <a:pPr marL="171450" lvl="0" indent="-171450">
              <a:buFont typeface="Arial" panose="020B0604020202020204" pitchFamily="34" charset="0"/>
              <a:buChar char="•"/>
              <a:defRPr/>
            </a:pPr>
            <a:r>
              <a:rPr lang="en-US" sz="800" b="1">
                <a:latin typeface="Calibri"/>
              </a:rPr>
              <a:t> KG_EDGE: Relationship storage table </a:t>
            </a:r>
            <a:r>
              <a:rPr lang="en-US" sz="800" b="1">
                <a:latin typeface="Calibri"/>
                <a:sym typeface="Wingdings" panose="05000000000000000000" pitchFamily="2" charset="2"/>
              </a:rPr>
              <a:t> </a:t>
            </a:r>
            <a:r>
              <a:rPr lang="en-US" sz="800" b="1">
                <a:latin typeface="Calibri"/>
              </a:rPr>
              <a:t>Stores all relationships between entities with temporal validity (effective start/end dates/relationship type </a:t>
            </a:r>
            <a:r>
              <a:rPr lang="en-US" sz="800" b="1" err="1">
                <a:latin typeface="Calibri"/>
              </a:rPr>
              <a:t>etc</a:t>
            </a:r>
            <a:r>
              <a:rPr lang="en-US" sz="800" b="1">
                <a:latin typeface="Calibri"/>
              </a:rPr>
              <a:t>)</a:t>
            </a:r>
          </a:p>
          <a:p>
            <a:pPr marL="171450" lvl="0" indent="-171450">
              <a:buFont typeface="Arial" panose="020B0604020202020204" pitchFamily="34" charset="0"/>
              <a:buChar char="•"/>
              <a:defRPr/>
            </a:pPr>
            <a:endParaRPr kumimoji="0" lang="en-US" sz="800" b="1" i="0" u="none" strike="noStrike" kern="1200" cap="none" spc="0" normalizeH="0" baseline="0" noProof="0">
              <a:ln>
                <a:noFill/>
              </a:ln>
              <a:effectLst/>
              <a:uLnTx/>
              <a:uFillTx/>
              <a:latin typeface="Calibri"/>
              <a:ea typeface="+mn-ea"/>
              <a:cs typeface="+mn-cs"/>
            </a:endParaRPr>
          </a:p>
          <a:p>
            <a:pPr>
              <a:defRPr/>
            </a:pPr>
            <a:r>
              <a:rPr lang="en-US" sz="800" b="1">
                <a:solidFill>
                  <a:srgbClr val="00B050"/>
                </a:solidFill>
                <a:latin typeface="Calibri"/>
              </a:rPr>
              <a:t>LAYER 3: ENTITY VIEWS (Convenience Views) </a:t>
            </a:r>
            <a:r>
              <a:rPr lang="en-US" sz="800" b="1">
                <a:solidFill>
                  <a:srgbClr val="00B050"/>
                </a:solidFill>
                <a:latin typeface="Calibri"/>
                <a:sym typeface="Wingdings" panose="05000000000000000000" pitchFamily="2" charset="2"/>
              </a:rPr>
              <a:t> </a:t>
            </a:r>
            <a:r>
              <a:rPr lang="en-US" sz="800" b="1">
                <a:solidFill>
                  <a:srgbClr val="00B050"/>
                </a:solidFill>
                <a:latin typeface="Calibri"/>
              </a:rPr>
              <a:t> Type-specific views over KG_NODE for easier querying</a:t>
            </a:r>
          </a:p>
          <a:p>
            <a:pPr marL="171450" lvl="0" indent="-171450">
              <a:buFont typeface="Arial" panose="020B0604020202020204" pitchFamily="34" charset="0"/>
              <a:buChar char="•"/>
              <a:defRPr/>
            </a:pPr>
            <a:r>
              <a:rPr lang="en-US" sz="800" b="1">
                <a:latin typeface="Calibri"/>
              </a:rPr>
              <a:t>V_CUSTOMERS, V_PRODUCTS, V_TRANSACTIONS, V_DEVICE </a:t>
            </a:r>
            <a:r>
              <a:rPr lang="en-US" sz="800" b="1" err="1">
                <a:latin typeface="Calibri"/>
              </a:rPr>
              <a:t>etc</a:t>
            </a:r>
            <a:endParaRPr lang="en-US" sz="800" b="1">
              <a:latin typeface="Calibri"/>
            </a:endParaRPr>
          </a:p>
          <a:p>
            <a:pPr marL="171450" lvl="0" indent="-171450">
              <a:buFont typeface="Arial" panose="020B0604020202020204" pitchFamily="34" charset="0"/>
              <a:buChar char="•"/>
              <a:defRPr/>
            </a:pPr>
            <a:endParaRPr lang="en-US" sz="800" b="1">
              <a:latin typeface="Calibri"/>
            </a:endParaRPr>
          </a:p>
          <a:p>
            <a:pPr lvl="0">
              <a:defRPr/>
            </a:pPr>
            <a:r>
              <a:rPr lang="en-US" sz="800" b="1">
                <a:solidFill>
                  <a:srgbClr val="00B050"/>
                </a:solidFill>
                <a:latin typeface="Calibri"/>
              </a:rPr>
              <a:t>LAYER 3: RELATIONSHIP VIEWS (Convenience Views) </a:t>
            </a:r>
            <a:r>
              <a:rPr lang="en-US" sz="800" b="1">
                <a:solidFill>
                  <a:srgbClr val="00B050"/>
                </a:solidFill>
                <a:latin typeface="Calibri"/>
                <a:sym typeface="Wingdings" panose="05000000000000000000" pitchFamily="2" charset="2"/>
              </a:rPr>
              <a:t> </a:t>
            </a:r>
            <a:r>
              <a:rPr lang="en-US" sz="800" b="1">
                <a:solidFill>
                  <a:srgbClr val="00B050"/>
                </a:solidFill>
                <a:latin typeface="Calibri"/>
              </a:rPr>
              <a:t>Type-specific views over KG_EDGE for easier querying</a:t>
            </a:r>
          </a:p>
          <a:p>
            <a:pPr marL="171450" lvl="0" indent="-171450">
              <a:buFont typeface="Arial" panose="020B0604020202020204" pitchFamily="34" charset="0"/>
              <a:buChar char="•"/>
              <a:defRPr/>
            </a:pPr>
            <a:r>
              <a:rPr lang="en-US" sz="800" b="1">
                <a:latin typeface="Calibri"/>
              </a:rPr>
              <a:t>V_CUSTPRODUCT_OWNED, V_CUSTTRANSACTIONS_DONE, V_CUSTDEVICE_OWNED, V_PRDCTTRANSACTIONS_DONE </a:t>
            </a:r>
            <a:r>
              <a:rPr lang="en-US" sz="800" b="1" err="1">
                <a:latin typeface="Calibri"/>
              </a:rPr>
              <a:t>etc</a:t>
            </a:r>
            <a:endParaRPr lang="en-US" sz="800" b="1">
              <a:latin typeface="Calibri"/>
            </a:endParaRPr>
          </a:p>
          <a:p>
            <a:pPr marL="171450" lvl="0" indent="-171450">
              <a:buFont typeface="Arial" panose="020B0604020202020204" pitchFamily="34" charset="0"/>
              <a:buChar char="•"/>
              <a:defRPr/>
            </a:pPr>
            <a:endParaRPr kumimoji="0" lang="en-US" sz="800" b="1" i="0" u="none" strike="noStrike" kern="1200" cap="none" spc="0" normalizeH="0" baseline="0" noProof="0">
              <a:ln>
                <a:noFill/>
              </a:ln>
              <a:effectLst/>
              <a:uLnTx/>
              <a:uFillTx/>
              <a:latin typeface="Calibri"/>
              <a:ea typeface="+mn-ea"/>
              <a:cs typeface="+mn-cs"/>
            </a:endParaRPr>
          </a:p>
          <a:p>
            <a:pPr lvl="0">
              <a:defRPr/>
            </a:pPr>
            <a:r>
              <a:rPr lang="en-US" sz="800" b="1">
                <a:solidFill>
                  <a:srgbClr val="00B050"/>
                </a:solidFill>
                <a:latin typeface="Calibri"/>
              </a:rPr>
              <a:t>LAYER 2: ONTOLOGY METADATA LAYER </a:t>
            </a:r>
            <a:r>
              <a:rPr lang="en-US" sz="800" b="1">
                <a:solidFill>
                  <a:srgbClr val="00B050"/>
                </a:solidFill>
                <a:latin typeface="Calibri"/>
                <a:sym typeface="Wingdings" panose="05000000000000000000" pitchFamily="2" charset="2"/>
              </a:rPr>
              <a:t> </a:t>
            </a:r>
            <a:r>
              <a:rPr lang="en-US" sz="800" b="1">
                <a:solidFill>
                  <a:srgbClr val="00B050"/>
                </a:solidFill>
                <a:latin typeface="Calibri"/>
              </a:rPr>
              <a:t> Metadata tables that define the ontology structure</a:t>
            </a:r>
          </a:p>
          <a:p>
            <a:pPr marL="171450" lvl="0" indent="-171450">
              <a:buFont typeface="Arial" panose="020B0604020202020204" pitchFamily="34" charset="0"/>
              <a:buChar char="•"/>
              <a:defRPr/>
            </a:pPr>
            <a:r>
              <a:rPr lang="en-AU" sz="800" b="1">
                <a:latin typeface="Calibri"/>
              </a:rPr>
              <a:t>ONTOLOGY REGISTRY, OBJECT TYPE SOURCE MAPPINGS, CLASS DEFINITIONS (Object Types), RELATIONSHIP DEFINITIONS (Link Types), PROPERTY DEFINITIONS, INFERENCE RULES, DATA QUALITY CONSTRAINTS, ACTIONS (Operations), CLASS AND RELATIONSHIP MAPPINGS, INTERFACES (Polymorphism), FUNCTION CATALOG, OBJECT VIEWS (UI Configuration / Governance), PERMISSIONS AND ROLES, INFERRED EDGES</a:t>
            </a:r>
          </a:p>
          <a:p>
            <a:pPr marL="171450" lvl="0" indent="-171450">
              <a:buFont typeface="Arial" panose="020B0604020202020204" pitchFamily="34" charset="0"/>
              <a:buChar char="•"/>
              <a:defRPr/>
            </a:pPr>
            <a:endParaRPr kumimoji="0" lang="en-US" sz="800" b="1" i="0" u="none" strike="noStrike" kern="1200" cap="none" spc="0" normalizeH="0" baseline="0" noProof="0">
              <a:ln>
                <a:noFill/>
              </a:ln>
              <a:effectLst/>
              <a:uLnTx/>
              <a:uFillTx/>
              <a:latin typeface="Calibri"/>
              <a:ea typeface="+mn-ea"/>
              <a:cs typeface="+mn-cs"/>
            </a:endParaRPr>
          </a:p>
          <a:p>
            <a:pPr lvl="0">
              <a:defRPr/>
            </a:pPr>
            <a:r>
              <a:rPr lang="en-US" sz="800" b="1">
                <a:solidFill>
                  <a:srgbClr val="00B050"/>
                </a:solidFill>
                <a:latin typeface="Calibri"/>
              </a:rPr>
              <a:t>LAYER 3: ONTOLOGY VIEWS GENERATOR </a:t>
            </a:r>
            <a:r>
              <a:rPr lang="en-US" sz="800" b="1">
                <a:solidFill>
                  <a:srgbClr val="00B050"/>
                </a:solidFill>
                <a:latin typeface="Calibri"/>
                <a:sym typeface="Wingdings" panose="05000000000000000000" pitchFamily="2" charset="2"/>
              </a:rPr>
              <a:t></a:t>
            </a:r>
            <a:r>
              <a:rPr lang="en-US" sz="800" b="1">
                <a:solidFill>
                  <a:srgbClr val="00B050"/>
                </a:solidFill>
                <a:latin typeface="Calibri"/>
              </a:rPr>
              <a:t> Stored procedure to auto-generate abstract views from metadata</a:t>
            </a:r>
          </a:p>
          <a:p>
            <a:pPr marL="171450" lvl="0" indent="-171450">
              <a:buFont typeface="Arial" panose="020B0604020202020204" pitchFamily="34" charset="0"/>
              <a:buChar char="•"/>
              <a:defRPr/>
            </a:pPr>
            <a:r>
              <a:rPr lang="en-US" sz="800" b="1">
                <a:latin typeface="Calibri"/>
              </a:rPr>
              <a:t>SP_GENERATE_ONTOLOGY_VIEWS </a:t>
            </a:r>
            <a:r>
              <a:rPr lang="en-US" sz="800" b="1">
                <a:latin typeface="Calibri"/>
                <a:sym typeface="Wingdings" panose="05000000000000000000" pitchFamily="2" charset="2"/>
              </a:rPr>
              <a:t> </a:t>
            </a:r>
            <a:r>
              <a:rPr lang="en-US" sz="800" b="1">
                <a:latin typeface="Calibri"/>
              </a:rPr>
              <a:t>Generates abstract views from ONT_CLASS_MAP metadata</a:t>
            </a:r>
            <a:br>
              <a:rPr lang="en-US" sz="800" b="1">
                <a:latin typeface="Calibri"/>
              </a:rPr>
            </a:br>
            <a:r>
              <a:rPr lang="en-US" sz="800" b="1">
                <a:latin typeface="Calibri"/>
              </a:rPr>
              <a:t>Generates abstract ontology views by reading metadata from ONT_CLASS and ONT_CLASS_MAP tables. For each abstract class, creates a UNION ALL view combining all concrete implementations.</a:t>
            </a:r>
          </a:p>
          <a:p>
            <a:pPr lvl="0">
              <a:defRPr/>
            </a:pPr>
            <a:endParaRPr lang="en-US" sz="800" b="1">
              <a:solidFill>
                <a:srgbClr val="00B050"/>
              </a:solidFill>
              <a:latin typeface="Calibri"/>
            </a:endParaRPr>
          </a:p>
          <a:p>
            <a:pPr lvl="0">
              <a:defRPr/>
            </a:pPr>
            <a:r>
              <a:rPr lang="en-US" sz="800" b="1">
                <a:solidFill>
                  <a:srgbClr val="00B050"/>
                </a:solidFill>
                <a:latin typeface="Calibri"/>
              </a:rPr>
              <a:t>INFERENCE AND CONSTRAINT PROCEDURES </a:t>
            </a:r>
            <a:r>
              <a:rPr lang="en-US" sz="800" b="1">
                <a:solidFill>
                  <a:srgbClr val="00B050"/>
                </a:solidFill>
                <a:latin typeface="Calibri"/>
                <a:sym typeface="Wingdings" panose="05000000000000000000" pitchFamily="2" charset="2"/>
              </a:rPr>
              <a:t></a:t>
            </a:r>
            <a:r>
              <a:rPr lang="en-US" sz="800" b="1">
                <a:solidFill>
                  <a:srgbClr val="00B050"/>
                </a:solidFill>
                <a:latin typeface="Calibri"/>
              </a:rPr>
              <a:t> Stored procedures for ontology inference and data quality</a:t>
            </a:r>
          </a:p>
          <a:p>
            <a:pPr marL="171450" lvl="0" indent="-171450">
              <a:buFont typeface="Arial" panose="020B0604020202020204" pitchFamily="34" charset="0"/>
              <a:buChar char="•"/>
              <a:defRPr/>
            </a:pPr>
            <a:r>
              <a:rPr lang="en-US" sz="800" b="1">
                <a:latin typeface="Calibri"/>
              </a:rPr>
              <a:t>SP_INFER_TRANSITIVE </a:t>
            </a:r>
            <a:r>
              <a:rPr lang="en-US" sz="800" b="1">
                <a:latin typeface="Calibri"/>
                <a:sym typeface="Wingdings" panose="05000000000000000000" pitchFamily="2" charset="2"/>
              </a:rPr>
              <a:t> </a:t>
            </a:r>
            <a:r>
              <a:rPr lang="en-US" sz="800" b="1">
                <a:latin typeface="Calibri"/>
              </a:rPr>
              <a:t>Computes transitive closure for a relationship</a:t>
            </a:r>
            <a:br>
              <a:rPr lang="en-US" sz="800" b="1">
                <a:latin typeface="Calibri"/>
              </a:rPr>
            </a:br>
            <a:r>
              <a:rPr lang="en-US" sz="800" b="1">
                <a:latin typeface="Calibri"/>
              </a:rPr>
              <a:t>Computes transitive closure for a relationship type. If A-&gt;B and B-&gt;C via the same relationship, infers A-&gt;C.</a:t>
            </a:r>
          </a:p>
          <a:p>
            <a:pPr marL="171450" lvl="0" indent="-171450">
              <a:buFont typeface="Arial" panose="020B0604020202020204" pitchFamily="34" charset="0"/>
              <a:buChar char="•"/>
              <a:defRPr/>
            </a:pPr>
            <a:r>
              <a:rPr lang="en-US" sz="800" b="1">
                <a:latin typeface="Calibri"/>
              </a:rPr>
              <a:t>SP_INFER_INVERSE </a:t>
            </a:r>
            <a:r>
              <a:rPr lang="en-US" sz="800" b="1">
                <a:latin typeface="Calibri"/>
                <a:sym typeface="Wingdings" panose="05000000000000000000" pitchFamily="2" charset="2"/>
              </a:rPr>
              <a:t></a:t>
            </a:r>
            <a:r>
              <a:rPr lang="en-US" sz="800" b="1">
                <a:latin typeface="Calibri"/>
              </a:rPr>
              <a:t> Creates inverse relationships </a:t>
            </a:r>
            <a:br>
              <a:rPr lang="en-US" sz="800" b="1">
                <a:latin typeface="Calibri"/>
              </a:rPr>
            </a:br>
            <a:r>
              <a:rPr lang="en-US" sz="800" b="1">
                <a:latin typeface="Calibri"/>
              </a:rPr>
              <a:t>Creates inverse relationships based on ONT_RELATION_DEF.INVERSE_REL_NAME. If PRODUCT_OWNED has inverse HAS_CUSTOMER, creates HAS_CUSTOMER edges.</a:t>
            </a:r>
          </a:p>
          <a:p>
            <a:pPr marL="171450" lvl="0" indent="-171450">
              <a:buFont typeface="Arial" panose="020B0604020202020204" pitchFamily="34" charset="0"/>
              <a:buChar char="•"/>
              <a:defRPr/>
            </a:pPr>
            <a:endParaRPr kumimoji="0" lang="en-US" sz="800" b="1" i="0" u="none" strike="noStrike" kern="1200" cap="none" spc="0" normalizeH="0" baseline="0" noProof="0">
              <a:ln>
                <a:noFill/>
              </a:ln>
              <a:effectLst/>
              <a:uLnTx/>
              <a:uFillTx/>
              <a:latin typeface="Calibri"/>
              <a:ea typeface="+mn-ea"/>
              <a:cs typeface="+mn-cs"/>
            </a:endParaRPr>
          </a:p>
          <a:p>
            <a:pPr lvl="0">
              <a:defRPr/>
            </a:pPr>
            <a:r>
              <a:rPr lang="en-US" sz="800" b="1">
                <a:solidFill>
                  <a:srgbClr val="00B050"/>
                </a:solidFill>
                <a:latin typeface="Calibri"/>
              </a:rPr>
              <a:t>SP_RUN_ONTOLOGY_INFERENCE </a:t>
            </a:r>
            <a:r>
              <a:rPr lang="en-US" sz="800" b="1">
                <a:solidFill>
                  <a:srgbClr val="00B050"/>
                </a:solidFill>
                <a:latin typeface="Calibri"/>
                <a:sym typeface="Wingdings" panose="05000000000000000000" pitchFamily="2" charset="2"/>
              </a:rPr>
              <a:t> </a:t>
            </a:r>
            <a:r>
              <a:rPr lang="en-US" sz="800" b="1">
                <a:solidFill>
                  <a:srgbClr val="00B050"/>
                </a:solidFill>
                <a:latin typeface="Calibri"/>
              </a:rPr>
              <a:t> Master procedure to run all enabled inference rules</a:t>
            </a:r>
          </a:p>
          <a:p>
            <a:pPr marL="171450" lvl="0" indent="-171450">
              <a:buFont typeface="Arial" panose="020B0604020202020204" pitchFamily="34" charset="0"/>
              <a:buChar char="•"/>
              <a:defRPr/>
            </a:pPr>
            <a:r>
              <a:rPr lang="en-US" sz="800" b="1">
                <a:latin typeface="Calibri"/>
              </a:rPr>
              <a:t>Runs all enabled inference rules in the correct order.</a:t>
            </a:r>
          </a:p>
          <a:p>
            <a:pPr lvl="0">
              <a:defRPr/>
            </a:pPr>
            <a:endParaRPr kumimoji="0" lang="en-US" sz="800" b="1" i="0" u="none" strike="noStrike" kern="1200" cap="none" spc="0" normalizeH="0" baseline="0" noProof="0">
              <a:ln>
                <a:noFill/>
              </a:ln>
              <a:effectLst/>
              <a:uLnTx/>
              <a:uFillTx/>
              <a:latin typeface="Calibri"/>
              <a:ea typeface="+mn-ea"/>
              <a:cs typeface="+mn-cs"/>
            </a:endParaRPr>
          </a:p>
          <a:p>
            <a:pPr lvl="0">
              <a:defRPr/>
            </a:pPr>
            <a:r>
              <a:rPr lang="en-US" sz="800" b="1">
                <a:solidFill>
                  <a:srgbClr val="00B050"/>
                </a:solidFill>
                <a:latin typeface="Calibri"/>
              </a:rPr>
              <a:t>SP_CHECK_CARDINALITY_SINGLE </a:t>
            </a:r>
            <a:r>
              <a:rPr lang="en-US" sz="800" b="1">
                <a:solidFill>
                  <a:srgbClr val="00B050"/>
                </a:solidFill>
                <a:latin typeface="Calibri"/>
                <a:sym typeface="Wingdings" panose="05000000000000000000" pitchFamily="2" charset="2"/>
              </a:rPr>
              <a:t></a:t>
            </a:r>
            <a:r>
              <a:rPr lang="en-US" sz="800" b="1">
                <a:solidFill>
                  <a:srgbClr val="00B050"/>
                </a:solidFill>
                <a:latin typeface="Calibri"/>
              </a:rPr>
              <a:t> Checks cardinality constraints (e.g., 1:1 relationships)</a:t>
            </a:r>
          </a:p>
          <a:p>
            <a:pPr marL="171450" lvl="0" indent="-171450">
              <a:buFont typeface="Arial" panose="020B0604020202020204" pitchFamily="34" charset="0"/>
              <a:buChar char="•"/>
              <a:defRPr/>
            </a:pPr>
            <a:r>
              <a:rPr lang="en-US" sz="800" b="1">
                <a:latin typeface="Calibri"/>
              </a:rPr>
              <a:t>Checks that a relationship has at most one edge per source node. Records violations in ONT_CONSTRAINT_VIOLATION.</a:t>
            </a:r>
          </a:p>
          <a:p>
            <a:pPr lvl="0">
              <a:defRPr/>
            </a:pPr>
            <a:endParaRPr kumimoji="0" lang="en-US" sz="800" b="1" i="0" u="none" strike="noStrike" kern="1200" cap="none" spc="0" normalizeH="0" baseline="0" noProof="0">
              <a:ln>
                <a:noFill/>
              </a:ln>
              <a:effectLst/>
              <a:uLnTx/>
              <a:uFillTx/>
              <a:latin typeface="Calibri"/>
              <a:ea typeface="+mn-ea"/>
              <a:cs typeface="+mn-cs"/>
            </a:endParaRPr>
          </a:p>
          <a:p>
            <a:pPr lvl="0">
              <a:defRPr/>
            </a:pPr>
            <a:r>
              <a:rPr lang="en-US" sz="800" b="1">
                <a:solidFill>
                  <a:srgbClr val="00B050"/>
                </a:solidFill>
                <a:latin typeface="Calibri"/>
              </a:rPr>
              <a:t>SP_CHECK_REFERENTIAL </a:t>
            </a:r>
            <a:r>
              <a:rPr lang="en-US" sz="800" b="1">
                <a:solidFill>
                  <a:srgbClr val="00B050"/>
                </a:solidFill>
                <a:latin typeface="Calibri"/>
                <a:sym typeface="Wingdings" panose="05000000000000000000" pitchFamily="2" charset="2"/>
              </a:rPr>
              <a:t></a:t>
            </a:r>
            <a:r>
              <a:rPr lang="en-US" sz="800" b="1">
                <a:solidFill>
                  <a:srgbClr val="00B050"/>
                </a:solidFill>
                <a:latin typeface="Calibri"/>
              </a:rPr>
              <a:t> Checks referential integrity (edges reference valid nodes)</a:t>
            </a:r>
          </a:p>
          <a:p>
            <a:pPr marL="171450" lvl="0" indent="-171450">
              <a:buFont typeface="Arial" panose="020B0604020202020204" pitchFamily="34" charset="0"/>
              <a:buChar char="•"/>
              <a:defRPr/>
            </a:pPr>
            <a:r>
              <a:rPr lang="en-US" sz="800" b="1">
                <a:latin typeface="Calibri"/>
              </a:rPr>
              <a:t>Checks that all edge endpoints reference existing nodes. Records violations in ONT_CONSTRAINT_VIOLATION</a:t>
            </a:r>
          </a:p>
          <a:p>
            <a:pPr lvl="0">
              <a:defRPr/>
            </a:pPr>
            <a:endParaRPr lang="en-US" sz="800" b="1">
              <a:latin typeface="Calibri"/>
            </a:endParaRPr>
          </a:p>
          <a:p>
            <a:pPr lvl="0">
              <a:defRPr/>
            </a:pPr>
            <a:r>
              <a:rPr lang="en-US" sz="800" b="1">
                <a:solidFill>
                  <a:srgbClr val="00B050"/>
                </a:solidFill>
                <a:latin typeface="Calibri"/>
              </a:rPr>
              <a:t>LAYER 3: ABSTRACT VIEWS </a:t>
            </a:r>
            <a:r>
              <a:rPr lang="en-US" sz="800" b="1">
                <a:solidFill>
                  <a:srgbClr val="00B050"/>
                </a:solidFill>
                <a:latin typeface="Calibri"/>
                <a:sym typeface="Wingdings" panose="05000000000000000000" pitchFamily="2" charset="2"/>
              </a:rPr>
              <a:t> </a:t>
            </a:r>
            <a:r>
              <a:rPr lang="en-US" sz="800" b="1">
                <a:solidFill>
                  <a:srgbClr val="00B050"/>
                </a:solidFill>
                <a:latin typeface="Calibri"/>
              </a:rPr>
              <a:t> Pre-built abstract views for the ontology layer</a:t>
            </a:r>
          </a:p>
          <a:p>
            <a:pPr marL="171450" lvl="0" indent="-171450">
              <a:buFont typeface="Arial" panose="020B0604020202020204" pitchFamily="34" charset="0"/>
              <a:buChar char="•"/>
              <a:defRPr/>
            </a:pPr>
            <a:r>
              <a:rPr lang="en-US" sz="800" b="1">
                <a:latin typeface="Calibri"/>
              </a:rPr>
              <a:t>VW_ONT_CUSTOMERS - Abstract CUSTOMER View -- Unifies all CUSTOMER types</a:t>
            </a:r>
          </a:p>
          <a:p>
            <a:pPr marL="171450" lvl="0" indent="-171450">
              <a:buFont typeface="Arial" panose="020B0604020202020204" pitchFamily="34" charset="0"/>
              <a:buChar char="•"/>
              <a:defRPr/>
            </a:pPr>
            <a:r>
              <a:rPr lang="en-US" sz="800" b="1">
                <a:latin typeface="Calibri"/>
              </a:rPr>
              <a:t>VW_ONT_PRODUCT - Abstract PRODUCT View -- Unifies all PRODUCT types</a:t>
            </a:r>
          </a:p>
          <a:p>
            <a:pPr marL="171450" lvl="0" indent="-171450">
              <a:buFont typeface="Arial" panose="020B0604020202020204" pitchFamily="34" charset="0"/>
              <a:buChar char="•"/>
              <a:defRPr/>
            </a:pPr>
            <a:r>
              <a:rPr lang="en-US" sz="800" b="1">
                <a:latin typeface="Calibri"/>
              </a:rPr>
              <a:t>VW_ONT_TRANSACTIONS - Abstract TRANSACTIONS View -- Unifies all TRANSACTIONS types</a:t>
            </a:r>
          </a:p>
          <a:p>
            <a:pPr marL="171450" lvl="0" indent="-171450">
              <a:buFont typeface="Arial" panose="020B0604020202020204" pitchFamily="34" charset="0"/>
              <a:buChar char="•"/>
              <a:defRPr/>
            </a:pPr>
            <a:r>
              <a:rPr lang="en-US" sz="800" b="1">
                <a:latin typeface="Calibri"/>
              </a:rPr>
              <a:t>REL_RESOLVED - Unified Relationship View -- Combines all concrete relationships with type resolution</a:t>
            </a:r>
          </a:p>
          <a:p>
            <a:pPr marL="171450" lvl="0" indent="-171450">
              <a:buFont typeface="Arial" panose="020B0604020202020204" pitchFamily="34" charset="0"/>
              <a:buChar char="•"/>
              <a:defRPr/>
            </a:pPr>
            <a:r>
              <a:rPr lang="en-US" sz="800" b="1">
                <a:latin typeface="Calibri"/>
              </a:rPr>
              <a:t>VW_ONT_OWNS -- Abstract “ONWER" relationship -- Unifies CUSTOMER, PRODUCT, TRANSACTION relationships</a:t>
            </a:r>
          </a:p>
          <a:p>
            <a:pPr marL="171450" lvl="0" indent="-171450">
              <a:buFont typeface="Arial" panose="020B0604020202020204" pitchFamily="34" charset="0"/>
              <a:buChar char="•"/>
              <a:defRPr/>
            </a:pPr>
            <a:r>
              <a:rPr lang="en-US" sz="800" b="1">
                <a:latin typeface="Calibri"/>
              </a:rPr>
              <a:t>VW_ONT_AFFILIATED_WITH - Abstract "affiliated with" relationship -- Unifies CUSTOMER AND PRODUCT relationships based on CUSTOMER RELATIONSHIP</a:t>
            </a:r>
          </a:p>
          <a:p>
            <a:pPr marL="171450" lvl="0" indent="-171450">
              <a:buFont typeface="Arial" panose="020B0604020202020204" pitchFamily="34" charset="0"/>
              <a:buChar char="•"/>
              <a:defRPr/>
            </a:pPr>
            <a:r>
              <a:rPr lang="en-US" sz="800" b="1">
                <a:latin typeface="Calibri"/>
              </a:rPr>
              <a:t>ONT_CLASS_CLOSURE - Recursive closure of class hierarchy -- For finding all subtypes of an abstract class</a:t>
            </a:r>
          </a:p>
          <a:p>
            <a:pPr lvl="0">
              <a:defRPr/>
            </a:pPr>
            <a:endParaRPr kumimoji="0" lang="en-US" sz="800" b="1" i="0" u="none" strike="noStrike" kern="1200" cap="none" spc="0" normalizeH="0" baseline="0" noProof="0">
              <a:ln>
                <a:noFill/>
              </a:ln>
              <a:effectLst/>
              <a:uLnTx/>
              <a:uFillTx/>
              <a:latin typeface="Calibri"/>
              <a:ea typeface="+mn-ea"/>
              <a:cs typeface="+mn-cs"/>
            </a:endParaRPr>
          </a:p>
          <a:p>
            <a:pPr lvl="0">
              <a:defRPr/>
            </a:pPr>
            <a:r>
              <a:rPr lang="en-US" sz="800" b="1">
                <a:solidFill>
                  <a:srgbClr val="00B050"/>
                </a:solidFill>
                <a:latin typeface="Calibri"/>
              </a:rPr>
              <a:t>SEED DATA: ONTOLOGY METADATA -- Populates the ontology metadata tables</a:t>
            </a:r>
          </a:p>
          <a:p>
            <a:pPr marL="171450" lvl="0" indent="-171450">
              <a:buFont typeface="Arial" panose="020B0604020202020204" pitchFamily="34" charset="0"/>
              <a:buChar char="•"/>
              <a:defRPr/>
            </a:pPr>
            <a:r>
              <a:rPr lang="en-US" sz="800" b="1">
                <a:latin typeface="Calibri"/>
              </a:rPr>
              <a:t>ONTOLOGY REGISTRY, SHARED PROPERTIES -- Reusable property definitions across classes, ABSTRACT CLASSES, CONCRETE CLASSES, CLASS PROPERTIES, RELATIONSHIP DEFINITIONS, CLASS MAPPINGS (Abstract -&gt; Concrete), RELATIONSHIP MAPPINGS (Abstract -&gt; Concrete), INTERFACES, INFERENCE RULES, ACTION TYPES, FUNCTIONS, ROLES AND PERMISSIONS, OBJECT VIEW DEFINITIONS (for governance), OBJECT SOURCE MAPPINGS, LINK SOURCE MAPPINGS</a:t>
            </a:r>
            <a:endParaRPr kumimoji="0" lang="en-US" sz="800" b="1" i="0" u="none" strike="noStrike" kern="1200" cap="none" spc="0" normalizeH="0" baseline="0" noProof="0">
              <a:ln>
                <a:noFill/>
              </a:ln>
              <a:effectLst/>
              <a:uLnTx/>
              <a:uFillTx/>
              <a:latin typeface="Calibri"/>
              <a:ea typeface="+mn-ea"/>
              <a:cs typeface="+mn-cs"/>
            </a:endParaRPr>
          </a:p>
        </p:txBody>
      </p:sp>
      <p:sp>
        <p:nvSpPr>
          <p:cNvPr id="6" name="TextBox 5">
            <a:extLst>
              <a:ext uri="{FF2B5EF4-FFF2-40B4-BE49-F238E27FC236}">
                <a16:creationId xmlns:a16="http://schemas.microsoft.com/office/drawing/2014/main" id="{A666738F-A68C-9FB4-08D9-E48F812CD8CC}"/>
              </a:ext>
            </a:extLst>
          </p:cNvPr>
          <p:cNvSpPr txBox="1"/>
          <p:nvPr/>
        </p:nvSpPr>
        <p:spPr>
          <a:xfrm>
            <a:off x="8679231" y="4609168"/>
            <a:ext cx="3267981" cy="2062103"/>
          </a:xfrm>
          <a:prstGeom prst="rect">
            <a:avLst/>
          </a:prstGeom>
          <a:noFill/>
          <a:ln>
            <a:solidFill>
              <a:schemeClr val="tx1"/>
            </a:solidFill>
          </a:ln>
        </p:spPr>
        <p:txBody>
          <a:bodyPr wrap="square">
            <a:spAutoFit/>
          </a:bodyPr>
          <a:lstStyle/>
          <a:p>
            <a:pPr lvl="0">
              <a:defRPr/>
            </a:pPr>
            <a:r>
              <a:rPr lang="en-US" sz="800" b="1">
                <a:latin typeface="Calibri"/>
              </a:rPr>
              <a:t>SEMANTIC MODELS</a:t>
            </a:r>
          </a:p>
          <a:p>
            <a:pPr lvl="0">
              <a:defRPr/>
            </a:pPr>
            <a:endParaRPr kumimoji="0" lang="en-US" sz="800" b="1" i="0" u="none" strike="noStrike" kern="1200" cap="none" spc="0" normalizeH="0" baseline="0" noProof="0">
              <a:ln>
                <a:noFill/>
              </a:ln>
              <a:effectLst/>
              <a:uLnTx/>
              <a:uFillTx/>
              <a:latin typeface="Calibri"/>
              <a:ea typeface="+mn-ea"/>
              <a:cs typeface="+mn-cs"/>
            </a:endParaRPr>
          </a:p>
          <a:p>
            <a:pPr lvl="0">
              <a:defRPr/>
            </a:pPr>
            <a:r>
              <a:rPr kumimoji="0" lang="en-US" sz="800" b="1" i="0" u="none" strike="noStrike" kern="1200" cap="none" spc="0" normalizeH="0" baseline="0" noProof="0">
                <a:ln>
                  <a:noFill/>
                </a:ln>
                <a:solidFill>
                  <a:srgbClr val="00B050"/>
                </a:solidFill>
                <a:effectLst/>
                <a:uLnTx/>
                <a:uFillTx/>
                <a:latin typeface="Calibri"/>
                <a:ea typeface="+mn-ea"/>
                <a:cs typeface="+mn-cs"/>
              </a:rPr>
              <a:t>SEMANTIC MODEL.YML</a:t>
            </a:r>
          </a:p>
          <a:p>
            <a:pPr marL="171450" lvl="0" indent="-171450">
              <a:buFont typeface="Arial" panose="020B0604020202020204" pitchFamily="34" charset="0"/>
              <a:buChar char="•"/>
              <a:defRPr/>
            </a:pPr>
            <a:r>
              <a:rPr lang="en-US" sz="800" b="1">
                <a:latin typeface="Calibri"/>
              </a:rPr>
              <a:t>graph model using node-edge architecture with convenience views for natural language querying</a:t>
            </a:r>
          </a:p>
          <a:p>
            <a:pPr lvl="0">
              <a:defRPr/>
            </a:pPr>
            <a:endParaRPr kumimoji="0" lang="en-US" sz="800" b="1" i="0" u="none" strike="noStrike" kern="1200" cap="none" spc="0" normalizeH="0" baseline="0" noProof="0">
              <a:ln>
                <a:noFill/>
              </a:ln>
              <a:effectLst/>
              <a:uLnTx/>
              <a:uFillTx/>
              <a:latin typeface="Calibri"/>
              <a:ea typeface="+mn-ea"/>
              <a:cs typeface="+mn-cs"/>
            </a:endParaRPr>
          </a:p>
          <a:p>
            <a:pPr lvl="0">
              <a:defRPr/>
            </a:pPr>
            <a:r>
              <a:rPr lang="en-US" sz="800" b="1">
                <a:solidFill>
                  <a:srgbClr val="00B050"/>
                </a:solidFill>
                <a:latin typeface="Calibri"/>
              </a:rPr>
              <a:t>SEMANTIC MODEL ONTOLOGY.YML</a:t>
            </a:r>
          </a:p>
          <a:p>
            <a:pPr marL="171450" lvl="0" indent="-171450">
              <a:buFont typeface="Arial" panose="020B0604020202020204" pitchFamily="34" charset="0"/>
              <a:buChar char="•"/>
              <a:defRPr/>
            </a:pPr>
            <a:r>
              <a:rPr lang="en-US" sz="800" b="1">
                <a:latin typeface="Calibri"/>
              </a:rPr>
              <a:t>semantic model providing abstract classes (Customers, Products, Transactions, Device) and relationships (Cust-Product, Cust-</a:t>
            </a:r>
            <a:r>
              <a:rPr lang="en-US" sz="800" b="1" err="1">
                <a:latin typeface="Calibri"/>
              </a:rPr>
              <a:t>Txn</a:t>
            </a:r>
            <a:r>
              <a:rPr lang="en-US" sz="800" b="1">
                <a:latin typeface="Calibri"/>
              </a:rPr>
              <a:t>, </a:t>
            </a:r>
            <a:r>
              <a:rPr lang="en-US" sz="800" b="1" err="1">
                <a:latin typeface="Calibri"/>
              </a:rPr>
              <a:t>Produc-Txn</a:t>
            </a:r>
            <a:r>
              <a:rPr lang="en-US" sz="800" b="1">
                <a:latin typeface="Calibri"/>
              </a:rPr>
              <a:t>, Cust-Device) that unify concrete entity views through metadata-driven dynamic view generation</a:t>
            </a:r>
          </a:p>
          <a:p>
            <a:pPr lvl="0">
              <a:defRPr/>
            </a:pPr>
            <a:endParaRPr kumimoji="0" lang="en-US" sz="800" b="1" i="0" u="none" strike="noStrike" kern="1200" cap="none" spc="0" normalizeH="0" baseline="0" noProof="0">
              <a:ln>
                <a:noFill/>
              </a:ln>
              <a:effectLst/>
              <a:uLnTx/>
              <a:uFillTx/>
              <a:latin typeface="Calibri"/>
              <a:ea typeface="+mn-ea"/>
              <a:cs typeface="+mn-cs"/>
            </a:endParaRPr>
          </a:p>
          <a:p>
            <a:pPr lvl="0">
              <a:defRPr/>
            </a:pPr>
            <a:r>
              <a:rPr kumimoji="0" lang="en-US" sz="800" b="1" i="0" u="none" strike="noStrike" kern="1200" cap="none" spc="0" normalizeH="0" baseline="0" noProof="0">
                <a:ln>
                  <a:noFill/>
                </a:ln>
                <a:solidFill>
                  <a:srgbClr val="00B050"/>
                </a:solidFill>
                <a:effectLst/>
                <a:uLnTx/>
                <a:uFillTx/>
                <a:latin typeface="Calibri"/>
                <a:ea typeface="+mn-ea"/>
                <a:cs typeface="+mn-cs"/>
              </a:rPr>
              <a:t>METADATA GOVERNANCE MODEL.YML</a:t>
            </a:r>
          </a:p>
          <a:p>
            <a:pPr marL="171450" lvl="0" indent="-171450">
              <a:buFont typeface="Arial" panose="020B0604020202020204" pitchFamily="34" charset="0"/>
              <a:buChar char="•"/>
              <a:defRPr/>
            </a:pPr>
            <a:r>
              <a:rPr lang="en-US" sz="800" b="1">
                <a:latin typeface="Calibri"/>
              </a:rPr>
              <a:t>metadata and data governance model - enables introspection of ontology structure, permissions, data quality, and available capabilities</a:t>
            </a:r>
            <a:endParaRPr kumimoji="0" lang="en-US" sz="800" b="1" i="0" u="none" strike="noStrike" kern="1200" cap="none" spc="0" normalizeH="0" baseline="0" noProof="0">
              <a:ln>
                <a:noFill/>
              </a:ln>
              <a:effectLst/>
              <a:uLnTx/>
              <a:uFillTx/>
              <a:latin typeface="Calibri"/>
              <a:ea typeface="+mn-ea"/>
              <a:cs typeface="+mn-cs"/>
            </a:endParaRPr>
          </a:p>
        </p:txBody>
      </p:sp>
    </p:spTree>
    <p:extLst>
      <p:ext uri="{BB962C8B-B14F-4D97-AF65-F5344CB8AC3E}">
        <p14:creationId xmlns:p14="http://schemas.microsoft.com/office/powerpoint/2010/main" val="2059441895"/>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FDCD8E0B-09CF-B6CB-1D63-65B58B9026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98E49E-8D4A-F2A1-77CB-5FF291D0EA31}"/>
              </a:ext>
            </a:extLst>
          </p:cNvPr>
          <p:cNvSpPr txBox="1"/>
          <p:nvPr/>
        </p:nvSpPr>
        <p:spPr>
          <a:xfrm>
            <a:off x="96384" y="90142"/>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Snowflake</a:t>
            </a:r>
            <a:r>
              <a:rPr kumimoji="0" sz="3000" b="1" i="0" u="none" strike="noStrike" kern="1200" cap="none" spc="0" normalizeH="0" baseline="0" noProof="0">
                <a:ln>
                  <a:noFill/>
                </a:ln>
                <a:effectLst/>
                <a:uLnTx/>
                <a:uFillTx/>
                <a:latin typeface="Calibri"/>
                <a:ea typeface="+mn-ea"/>
                <a:cs typeface="+mn-cs"/>
              </a:rPr>
              <a:t> </a:t>
            </a:r>
            <a:r>
              <a:rPr kumimoji="0" lang="en-AU" sz="3000" b="1" i="0" u="none" strike="noStrike" kern="1200" cap="none" spc="0" normalizeH="0" baseline="0" noProof="0">
                <a:ln>
                  <a:noFill/>
                </a:ln>
                <a:effectLst/>
                <a:uLnTx/>
                <a:uFillTx/>
                <a:latin typeface="Calibri"/>
                <a:ea typeface="+mn-ea"/>
                <a:cs typeface="+mn-cs"/>
              </a:rPr>
              <a:t>– E2E Code</a:t>
            </a:r>
            <a:endParaRPr kumimoji="0" sz="3000" b="1" i="0" u="none" strike="noStrike" kern="1200" cap="none" spc="0" normalizeH="0" baseline="0" noProof="0">
              <a:ln>
                <a:noFill/>
              </a:ln>
              <a:effectLst/>
              <a:uLnTx/>
              <a:uFillTx/>
              <a:latin typeface="Calibri"/>
              <a:ea typeface="+mn-ea"/>
              <a:cs typeface="+mn-cs"/>
            </a:endParaRPr>
          </a:p>
        </p:txBody>
      </p:sp>
      <p:pic>
        <p:nvPicPr>
          <p:cNvPr id="17" name="Picture 16">
            <a:extLst>
              <a:ext uri="{FF2B5EF4-FFF2-40B4-BE49-F238E27FC236}">
                <a16:creationId xmlns:a16="http://schemas.microsoft.com/office/drawing/2014/main" id="{894716C6-E085-268C-ECFD-05EFB206E8AB}"/>
              </a:ext>
            </a:extLst>
          </p:cNvPr>
          <p:cNvPicPr>
            <a:picLocks noChangeAspect="1"/>
          </p:cNvPicPr>
          <p:nvPr/>
        </p:nvPicPr>
        <p:blipFill>
          <a:blip r:embed="rId4"/>
          <a:stretch>
            <a:fillRect/>
          </a:stretch>
        </p:blipFill>
        <p:spPr>
          <a:xfrm>
            <a:off x="284743" y="804549"/>
            <a:ext cx="5415666" cy="5302337"/>
          </a:xfrm>
          <a:prstGeom prst="rect">
            <a:avLst/>
          </a:prstGeom>
          <a:solidFill>
            <a:schemeClr val="bg1"/>
          </a:solidFill>
          <a:ln>
            <a:solidFill>
              <a:schemeClr val="bg1"/>
            </a:solidFill>
          </a:ln>
        </p:spPr>
      </p:pic>
      <p:sp>
        <p:nvSpPr>
          <p:cNvPr id="18" name="Flowchart: Predefined Process 17">
            <a:extLst>
              <a:ext uri="{FF2B5EF4-FFF2-40B4-BE49-F238E27FC236}">
                <a16:creationId xmlns:a16="http://schemas.microsoft.com/office/drawing/2014/main" id="{8AB5CA71-16BE-F2D8-D052-0E46565556E3}"/>
              </a:ext>
            </a:extLst>
          </p:cNvPr>
          <p:cNvSpPr/>
          <p:nvPr/>
        </p:nvSpPr>
        <p:spPr>
          <a:xfrm>
            <a:off x="6738257" y="3294919"/>
            <a:ext cx="5267324" cy="2811967"/>
          </a:xfrm>
          <a:prstGeom prst="flowChartPredefinedProcess">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AU" sz="900" b="1" u="sng"/>
              <a:t>SET-UP</a:t>
            </a:r>
          </a:p>
          <a:p>
            <a:r>
              <a:rPr lang="en-AU" sz="900"/>
              <a:t>(Layers 1-3): A flexible object–relationship foundation with ontology metadata that captures business meaning natively in Snowflake.</a:t>
            </a:r>
            <a:br>
              <a:rPr lang="en-AU" sz="900"/>
            </a:br>
            <a:r>
              <a:rPr lang="en-AU" sz="900"/>
              <a:t>Create </a:t>
            </a:r>
          </a:p>
          <a:p>
            <a:pPr marL="171450" indent="-171450">
              <a:buFont typeface="Arial" panose="020B0604020202020204" pitchFamily="34" charset="0"/>
              <a:buChar char="•"/>
            </a:pPr>
            <a:r>
              <a:rPr lang="en-AU" sz="900"/>
              <a:t>KG_NODE and KG_EDGE tables</a:t>
            </a:r>
          </a:p>
          <a:p>
            <a:pPr marL="171450" indent="-171450">
              <a:buFont typeface="Arial" panose="020B0604020202020204" pitchFamily="34" charset="0"/>
              <a:buChar char="•"/>
            </a:pPr>
            <a:r>
              <a:rPr lang="en-AU" sz="900"/>
              <a:t>Ontology metadata tables (ONT_CLASS, ONT_RELATION_DEF, etc.)</a:t>
            </a:r>
          </a:p>
          <a:p>
            <a:pPr marL="171450" indent="-171450">
              <a:buFont typeface="Arial" panose="020B0604020202020204" pitchFamily="34" charset="0"/>
              <a:buChar char="•"/>
            </a:pPr>
            <a:r>
              <a:rPr lang="en-AU" sz="900"/>
              <a:t>Generated abstract views (VW_ONT_CUSTOMER, VW_ONT_PRODUCT, REL_RESOLVED etc).</a:t>
            </a:r>
          </a:p>
        </p:txBody>
      </p:sp>
      <p:sp>
        <p:nvSpPr>
          <p:cNvPr id="20" name="Flowchart: Predefined Process 19">
            <a:extLst>
              <a:ext uri="{FF2B5EF4-FFF2-40B4-BE49-F238E27FC236}">
                <a16:creationId xmlns:a16="http://schemas.microsoft.com/office/drawing/2014/main" id="{EBB3B58B-425B-5DD9-90AB-18C6ED1718D9}"/>
              </a:ext>
            </a:extLst>
          </p:cNvPr>
          <p:cNvSpPr/>
          <p:nvPr/>
        </p:nvSpPr>
        <p:spPr>
          <a:xfrm>
            <a:off x="6727371" y="2019299"/>
            <a:ext cx="5267324" cy="1025535"/>
          </a:xfrm>
          <a:prstGeom prst="flowChartPredefinedProcess">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r>
              <a:rPr lang="en-US" sz="900" b="1" u="sng">
                <a:solidFill>
                  <a:schemeClr val="dk1"/>
                </a:solidFill>
              </a:rPr>
              <a:t>SEMANTIC MODELS</a:t>
            </a:r>
            <a:endParaRPr lang="en-US" sz="900">
              <a:solidFill>
                <a:schemeClr val="dk1"/>
              </a:solidFill>
            </a:endParaRPr>
          </a:p>
          <a:p>
            <a:r>
              <a:rPr lang="en-US" sz="900">
                <a:solidFill>
                  <a:schemeClr val="dk1"/>
                </a:solidFill>
              </a:rPr>
              <a:t>(Layer 4): Purpose-built semantic models optimized for </a:t>
            </a:r>
          </a:p>
          <a:p>
            <a:pPr marL="171450" indent="-171450">
              <a:buFont typeface="Arial" panose="020B0604020202020204" pitchFamily="34" charset="0"/>
              <a:buChar char="•"/>
            </a:pPr>
            <a:r>
              <a:rPr lang="en-US" sz="900">
                <a:solidFill>
                  <a:schemeClr val="dk1"/>
                </a:solidFill>
              </a:rPr>
              <a:t>Concrete queries and statistics (Knowledge Graph Model), </a:t>
            </a:r>
          </a:p>
          <a:p>
            <a:pPr marL="171450" indent="-171450">
              <a:buFont typeface="Arial" panose="020B0604020202020204" pitchFamily="34" charset="0"/>
              <a:buChar char="•"/>
            </a:pPr>
            <a:r>
              <a:rPr lang="en-US" sz="900">
                <a:solidFill>
                  <a:schemeClr val="dk1"/>
                </a:solidFill>
              </a:rPr>
              <a:t>Abstract relationship patterns (Ontology Model) and </a:t>
            </a:r>
          </a:p>
          <a:p>
            <a:pPr marL="171450" indent="-171450">
              <a:buFont typeface="Arial" panose="020B0604020202020204" pitchFamily="34" charset="0"/>
              <a:buChar char="•"/>
            </a:pPr>
            <a:r>
              <a:rPr lang="en-US" sz="900">
                <a:solidFill>
                  <a:schemeClr val="dk1"/>
                </a:solidFill>
              </a:rPr>
              <a:t>Data model introspection (Metadata &amp; Governance Model)</a:t>
            </a:r>
            <a:endParaRPr lang="en-AU" sz="900">
              <a:solidFill>
                <a:schemeClr val="dk1"/>
              </a:solidFill>
            </a:endParaRPr>
          </a:p>
        </p:txBody>
      </p:sp>
      <p:sp>
        <p:nvSpPr>
          <p:cNvPr id="22" name="Flowchart: Predefined Process 21">
            <a:extLst>
              <a:ext uri="{FF2B5EF4-FFF2-40B4-BE49-F238E27FC236}">
                <a16:creationId xmlns:a16="http://schemas.microsoft.com/office/drawing/2014/main" id="{11C8B6CC-464A-D0B7-3AE3-3D6A0416A054}"/>
              </a:ext>
            </a:extLst>
          </p:cNvPr>
          <p:cNvSpPr/>
          <p:nvPr/>
        </p:nvSpPr>
        <p:spPr>
          <a:xfrm>
            <a:off x="6738257" y="1134433"/>
            <a:ext cx="5267324" cy="673128"/>
          </a:xfrm>
          <a:prstGeom prst="flowChartPredefinedProcess">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900" b="1" u="sng">
                <a:solidFill>
                  <a:schemeClr val="dk1"/>
                </a:solidFill>
              </a:rPr>
              <a:t>CORTEX AGENT</a:t>
            </a:r>
          </a:p>
          <a:p>
            <a:r>
              <a:rPr lang="en-US" sz="900">
                <a:solidFill>
                  <a:schemeClr val="dk1"/>
                </a:solidFill>
              </a:rPr>
              <a:t>Intelligent agent orchestration with Cortex Agent, graph-powered reasoning via </a:t>
            </a:r>
            <a:r>
              <a:rPr lang="en-US" sz="900" err="1">
                <a:solidFill>
                  <a:schemeClr val="dk1"/>
                </a:solidFill>
              </a:rPr>
              <a:t>NetworkX</a:t>
            </a:r>
            <a:r>
              <a:rPr lang="en-US" sz="900">
                <a:solidFill>
                  <a:schemeClr val="dk1"/>
                </a:solidFill>
              </a:rPr>
              <a:t>, and natural-language interaction across all semantic models.</a:t>
            </a:r>
            <a:endParaRPr lang="en-AU" sz="900">
              <a:solidFill>
                <a:schemeClr val="dk1"/>
              </a:solidFill>
            </a:endParaRPr>
          </a:p>
        </p:txBody>
      </p:sp>
      <p:sp>
        <p:nvSpPr>
          <p:cNvPr id="24" name="TextBox 23">
            <a:extLst>
              <a:ext uri="{FF2B5EF4-FFF2-40B4-BE49-F238E27FC236}">
                <a16:creationId xmlns:a16="http://schemas.microsoft.com/office/drawing/2014/main" id="{90FF37D0-17F9-EE90-21C2-421A898ED835}"/>
              </a:ext>
            </a:extLst>
          </p:cNvPr>
          <p:cNvSpPr txBox="1"/>
          <p:nvPr/>
        </p:nvSpPr>
        <p:spPr>
          <a:xfrm>
            <a:off x="186418" y="6168720"/>
            <a:ext cx="11477991" cy="507831"/>
          </a:xfrm>
          <a:prstGeom prst="rect">
            <a:avLst/>
          </a:prstGeom>
          <a:noFill/>
        </p:spPr>
        <p:txBody>
          <a:bodyPr wrap="square">
            <a:spAutoFit/>
          </a:bodyPr>
          <a:lstStyle/>
          <a:p>
            <a:pPr lvl="0">
              <a:defRPr/>
            </a:pPr>
            <a:r>
              <a:rPr lang="en-AU" sz="900">
                <a:hlinkClick r:id="rId5">
                  <a:extLst>
                    <a:ext uri="{A12FA001-AC4F-418D-AE19-62706E023703}">
                      <ahyp:hlinkClr xmlns:ahyp="http://schemas.microsoft.com/office/drawing/2018/hyperlinkcolor" val="tx"/>
                    </a:ext>
                  </a:extLst>
                </a:hlinkClick>
              </a:rPr>
              <a:t>References</a:t>
            </a:r>
          </a:p>
          <a:p>
            <a:pPr marL="171450" lvl="0" indent="-171450">
              <a:buFont typeface="Arial" panose="020B0604020202020204" pitchFamily="34" charset="0"/>
              <a:buChar char="•"/>
              <a:defRPr/>
            </a:pPr>
            <a:r>
              <a:rPr lang="en-AU" sz="900">
                <a:hlinkClick r:id="rId5">
                  <a:extLst>
                    <a:ext uri="{A12FA001-AC4F-418D-AE19-62706E023703}">
                      <ahyp:hlinkClr xmlns:ahyp="http://schemas.microsoft.com/office/drawing/2018/hyperlinkcolor" val="tx"/>
                    </a:ext>
                  </a:extLst>
                </a:hlinkClick>
              </a:rPr>
              <a:t>Ontology on Snowflake: Part 1 — Overview and Data Model | by Tianxia Jia | Snowflake Builders Blog:…</a:t>
            </a:r>
            <a:endParaRPr lang="en-AU" sz="900"/>
          </a:p>
          <a:p>
            <a:pPr marL="171450" lvl="0" indent="-171450">
              <a:buFont typeface="Arial" panose="020B0604020202020204" pitchFamily="34" charset="0"/>
              <a:buChar char="•"/>
              <a:defRPr/>
            </a:pPr>
            <a:r>
              <a:rPr lang="en-AU" sz="900">
                <a:hlinkClick r:id="rId6">
                  <a:extLst>
                    <a:ext uri="{A12FA001-AC4F-418D-AE19-62706E023703}">
                      <ahyp:hlinkClr xmlns:ahyp="http://schemas.microsoft.com/office/drawing/2018/hyperlinkcolor" val="tx"/>
                    </a:ext>
                  </a:extLst>
                </a:hlinkClick>
              </a:rPr>
              <a:t>Ontology in Snowflake: Building Cortex Agents</a:t>
            </a:r>
            <a:endParaRPr lang="en-AU" sz="900" b="1">
              <a:latin typeface="Aptos" panose="02110004020202020204"/>
            </a:endParaRPr>
          </a:p>
        </p:txBody>
      </p:sp>
      <p:sp>
        <p:nvSpPr>
          <p:cNvPr id="4" name="TextBox 3">
            <a:extLst>
              <a:ext uri="{FF2B5EF4-FFF2-40B4-BE49-F238E27FC236}">
                <a16:creationId xmlns:a16="http://schemas.microsoft.com/office/drawing/2014/main" id="{0D7471FA-CE29-BB4D-1F87-30714F92C59B}"/>
              </a:ext>
            </a:extLst>
          </p:cNvPr>
          <p:cNvSpPr txBox="1"/>
          <p:nvPr/>
        </p:nvSpPr>
        <p:spPr>
          <a:xfrm>
            <a:off x="6738256" y="6291943"/>
            <a:ext cx="5267325" cy="369332"/>
          </a:xfrm>
          <a:prstGeom prst="rect">
            <a:avLst/>
          </a:prstGeom>
          <a:noFill/>
        </p:spPr>
        <p:txBody>
          <a:bodyPr wrap="square">
            <a:spAutoFit/>
          </a:bodyPr>
          <a:lstStyle/>
          <a:p>
            <a:pPr lvl="0">
              <a:defRPr/>
            </a:pPr>
            <a:r>
              <a:rPr lang="en-AU" sz="900"/>
              <a:t>The code for the setup, semantic models and cortex agent is all available here </a:t>
            </a:r>
            <a:r>
              <a:rPr lang="en-AU" sz="900">
                <a:sym typeface="Wingdings" panose="05000000000000000000" pitchFamily="2" charset="2"/>
              </a:rPr>
              <a:t> </a:t>
            </a:r>
            <a:r>
              <a:rPr lang="en-AU" sz="900">
                <a:hlinkClick r:id="rId7">
                  <a:extLst>
                    <a:ext uri="{A12FA001-AC4F-418D-AE19-62706E023703}">
                      <ahyp:hlinkClr xmlns:ahyp="http://schemas.microsoft.com/office/drawing/2018/hyperlinkcolor" val="tx"/>
                    </a:ext>
                  </a:extLst>
                </a:hlinkClick>
              </a:rPr>
              <a:t>Snowflake ML, Agentic Framework - CTO Strategy and Architecture - Westpac Enterprise Confluence</a:t>
            </a:r>
            <a:endParaRPr lang="en-AU" sz="900" b="1">
              <a:latin typeface="Aptos" panose="02110004020202020204"/>
            </a:endParaRPr>
          </a:p>
        </p:txBody>
      </p:sp>
      <p:sp>
        <p:nvSpPr>
          <p:cNvPr id="2" name="Arrow: Right 1">
            <a:extLst>
              <a:ext uri="{FF2B5EF4-FFF2-40B4-BE49-F238E27FC236}">
                <a16:creationId xmlns:a16="http://schemas.microsoft.com/office/drawing/2014/main" id="{39023131-BC0F-B13D-281D-19FCB90E8EF3}"/>
              </a:ext>
            </a:extLst>
          </p:cNvPr>
          <p:cNvSpPr/>
          <p:nvPr/>
        </p:nvSpPr>
        <p:spPr>
          <a:xfrm>
            <a:off x="5826868" y="1420236"/>
            <a:ext cx="739302" cy="204281"/>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sp>
        <p:nvSpPr>
          <p:cNvPr id="6" name="Arrow: Right 5">
            <a:extLst>
              <a:ext uri="{FF2B5EF4-FFF2-40B4-BE49-F238E27FC236}">
                <a16:creationId xmlns:a16="http://schemas.microsoft.com/office/drawing/2014/main" id="{A4C87665-83E8-0E23-530E-CB50A7C18A45}"/>
              </a:ext>
            </a:extLst>
          </p:cNvPr>
          <p:cNvSpPr/>
          <p:nvPr/>
        </p:nvSpPr>
        <p:spPr>
          <a:xfrm>
            <a:off x="5823626" y="2341123"/>
            <a:ext cx="739302" cy="204281"/>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sp>
        <p:nvSpPr>
          <p:cNvPr id="9" name="Arrow: Right 8">
            <a:extLst>
              <a:ext uri="{FF2B5EF4-FFF2-40B4-BE49-F238E27FC236}">
                <a16:creationId xmlns:a16="http://schemas.microsoft.com/office/drawing/2014/main" id="{D71CDDA0-B191-8D9D-62B0-8C21D8D2AB16}"/>
              </a:ext>
            </a:extLst>
          </p:cNvPr>
          <p:cNvSpPr/>
          <p:nvPr/>
        </p:nvSpPr>
        <p:spPr>
          <a:xfrm>
            <a:off x="5823623" y="4588220"/>
            <a:ext cx="739302" cy="204281"/>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spTree>
    <p:extLst>
      <p:ext uri="{BB962C8B-B14F-4D97-AF65-F5344CB8AC3E}">
        <p14:creationId xmlns:p14="http://schemas.microsoft.com/office/powerpoint/2010/main" val="1758511745"/>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9C3251E9-DDE4-ECF1-2549-7D5216C3EF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5A001E3-BA1F-9F79-F4CF-09136A45B0D4}"/>
              </a:ext>
            </a:extLst>
          </p:cNvPr>
          <p:cNvSpPr txBox="1"/>
          <p:nvPr/>
        </p:nvSpPr>
        <p:spPr>
          <a:xfrm>
            <a:off x="96384" y="90142"/>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Snowflake</a:t>
            </a:r>
            <a:r>
              <a:rPr kumimoji="0" sz="3000" b="1" i="0" u="none" strike="noStrike" kern="1200" cap="none" spc="0" normalizeH="0" baseline="0" noProof="0">
                <a:ln>
                  <a:noFill/>
                </a:ln>
                <a:effectLst/>
                <a:uLnTx/>
                <a:uFillTx/>
                <a:latin typeface="Calibri"/>
                <a:ea typeface="+mn-ea"/>
                <a:cs typeface="+mn-cs"/>
              </a:rPr>
              <a:t> </a:t>
            </a:r>
            <a:r>
              <a:rPr kumimoji="0" lang="en-AU" sz="3000" b="1" i="0" u="none" strike="noStrike" kern="1200" cap="none" spc="0" normalizeH="0" baseline="0" noProof="0">
                <a:ln>
                  <a:noFill/>
                </a:ln>
                <a:effectLst/>
                <a:uLnTx/>
                <a:uFillTx/>
                <a:latin typeface="Calibri"/>
                <a:ea typeface="+mn-ea"/>
                <a:cs typeface="+mn-cs"/>
              </a:rPr>
              <a:t>– Scheduling &amp; Execution</a:t>
            </a:r>
            <a:endParaRPr kumimoji="0" sz="3000" b="1" i="0" u="none" strike="noStrike" kern="1200" cap="none" spc="0" normalizeH="0" baseline="0" noProof="0">
              <a:ln>
                <a:noFill/>
              </a:ln>
              <a:effectLst/>
              <a:uLnTx/>
              <a:uFillTx/>
              <a:latin typeface="Calibri"/>
              <a:ea typeface="+mn-ea"/>
              <a:cs typeface="+mn-cs"/>
            </a:endParaRPr>
          </a:p>
        </p:txBody>
      </p:sp>
      <p:sp>
        <p:nvSpPr>
          <p:cNvPr id="4" name="TextBox 3">
            <a:extLst>
              <a:ext uri="{FF2B5EF4-FFF2-40B4-BE49-F238E27FC236}">
                <a16:creationId xmlns:a16="http://schemas.microsoft.com/office/drawing/2014/main" id="{0C94984B-8263-F474-4333-DAC73DA836EC}"/>
              </a:ext>
            </a:extLst>
          </p:cNvPr>
          <p:cNvSpPr txBox="1"/>
          <p:nvPr/>
        </p:nvSpPr>
        <p:spPr>
          <a:xfrm>
            <a:off x="211821" y="761096"/>
            <a:ext cx="11607648" cy="5201424"/>
          </a:xfrm>
          <a:prstGeom prst="rect">
            <a:avLst/>
          </a:prstGeom>
          <a:noFill/>
          <a:ln>
            <a:solidFill>
              <a:schemeClr val="tx1"/>
            </a:solidFill>
          </a:ln>
        </p:spPr>
        <p:txBody>
          <a:bodyPr wrap="square">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1000" b="0" i="0" u="none" strike="noStrike" kern="1200" cap="none" spc="0" normalizeH="0" baseline="0" noProof="0">
                <a:ln>
                  <a:noFill/>
                </a:ln>
                <a:effectLst/>
                <a:uLnTx/>
                <a:uFillTx/>
                <a:latin typeface="+mj-lt"/>
                <a:ea typeface="+mn-ea"/>
                <a:cs typeface="+mn-cs"/>
              </a:rPr>
              <a:t>Execution can  of all these concepts and capabilities can be as</a:t>
            </a:r>
            <a:endParaRPr lang="en-AU" sz="1000">
              <a:latin typeface="+mj-lt"/>
            </a:endParaRPr>
          </a:p>
          <a:p>
            <a:pPr marL="628650" lvl="1" indent="-171450">
              <a:buFont typeface="Arial" panose="020B0604020202020204" pitchFamily="34" charset="0"/>
              <a:buChar char="•"/>
              <a:defRPr/>
            </a:pPr>
            <a:r>
              <a:rPr kumimoji="0" lang="en-AU" sz="1000" b="0" i="0" u="none" strike="noStrike" kern="1200" cap="none" spc="0" normalizeH="0" baseline="0" noProof="0">
                <a:ln>
                  <a:noFill/>
                </a:ln>
                <a:effectLst/>
                <a:uLnTx/>
                <a:uFillTx/>
                <a:latin typeface="+mj-lt"/>
                <a:ea typeface="+mn-ea"/>
                <a:cs typeface="+mn-cs"/>
              </a:rPr>
              <a:t>SQL Objects</a:t>
            </a:r>
          </a:p>
          <a:p>
            <a:pPr marL="628650" lvl="1" indent="-171450">
              <a:buFont typeface="Arial" panose="020B0604020202020204" pitchFamily="34" charset="0"/>
              <a:buChar char="•"/>
              <a:defRPr/>
            </a:pPr>
            <a:r>
              <a:rPr lang="en-AU" sz="1000">
                <a:latin typeface="+mj-lt"/>
              </a:rPr>
              <a:t>SQL Procedure – Wrapping a Python code in it</a:t>
            </a:r>
          </a:p>
          <a:p>
            <a:pPr marL="628650" lvl="1" indent="-171450">
              <a:buFont typeface="Arial" panose="020B0604020202020204" pitchFamily="34" charset="0"/>
              <a:buChar char="•"/>
              <a:defRPr/>
            </a:pPr>
            <a:r>
              <a:rPr lang="en-AU" sz="1000">
                <a:latin typeface="+mj-lt"/>
              </a:rPr>
              <a:t>Standalone Python code</a:t>
            </a:r>
          </a:p>
          <a:p>
            <a:pPr marL="628650" lvl="1" indent="-171450">
              <a:buFont typeface="Arial" panose="020B0604020202020204" pitchFamily="34" charset="0"/>
              <a:buChar char="•"/>
              <a:defRPr/>
            </a:pPr>
            <a:r>
              <a:rPr lang="en-AU" sz="1000">
                <a:latin typeface="+mj-lt"/>
              </a:rPr>
              <a:t>Python Models</a:t>
            </a:r>
          </a:p>
          <a:p>
            <a:pPr marL="628650" lvl="1" indent="-171450">
              <a:buFont typeface="Arial" panose="020B0604020202020204" pitchFamily="34" charset="0"/>
              <a:buChar char="•"/>
              <a:defRPr/>
            </a:pPr>
            <a:r>
              <a:rPr lang="en-AU" sz="1000">
                <a:latin typeface="+mj-lt"/>
              </a:rPr>
              <a:t>R Models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AU" sz="1000">
              <a:latin typeface="+mj-lt"/>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000">
                <a:latin typeface="+mj-lt"/>
              </a:rPr>
              <a:t>All components can be chained together using TASKS</a:t>
            </a:r>
            <a:br>
              <a:rPr lang="en-AU" sz="1000">
                <a:latin typeface="+mj-lt"/>
              </a:rPr>
            </a:br>
            <a:endParaRPr lang="en-AU" sz="1000">
              <a:latin typeface="+mj-lt"/>
            </a:endParaRPr>
          </a:p>
          <a:p>
            <a:r>
              <a:rPr lang="en-AU" sz="800" b="1" i="1">
                <a:solidFill>
                  <a:srgbClr val="00B050"/>
                </a:solidFill>
                <a:latin typeface="+mj-lt"/>
              </a:rPr>
              <a:t>CREATE OR REPLACE TASK </a:t>
            </a:r>
            <a:r>
              <a:rPr lang="en-AU" sz="800" b="1" i="1" err="1">
                <a:solidFill>
                  <a:srgbClr val="00B050"/>
                </a:solidFill>
                <a:latin typeface="+mj-lt"/>
              </a:rPr>
              <a:t>scheduled_task</a:t>
            </a:r>
            <a:endParaRPr lang="en-AU" sz="800" b="1" i="1">
              <a:solidFill>
                <a:srgbClr val="00B050"/>
              </a:solidFill>
              <a:latin typeface="+mj-lt"/>
            </a:endParaRPr>
          </a:p>
          <a:p>
            <a:r>
              <a:rPr lang="en-AU" sz="800" b="1" i="1">
                <a:solidFill>
                  <a:srgbClr val="00B050"/>
                </a:solidFill>
                <a:latin typeface="+mj-lt"/>
              </a:rPr>
              <a:t>  WAREHOUSE = GBU_A01A0E_FINCRIME_XS_WH</a:t>
            </a:r>
          </a:p>
          <a:p>
            <a:r>
              <a:rPr lang="en-AU" sz="800" b="1" i="1">
                <a:solidFill>
                  <a:srgbClr val="00B050"/>
                </a:solidFill>
                <a:latin typeface="+mj-lt"/>
              </a:rPr>
              <a:t>  SCHEDULE = 'USING CRON 0 9 * * * UTC' -- Runs every day at 9 AM UTC</a:t>
            </a:r>
          </a:p>
          <a:p>
            <a:r>
              <a:rPr lang="en-AU" sz="800" b="1" i="1">
                <a:solidFill>
                  <a:srgbClr val="00B050"/>
                </a:solidFill>
                <a:latin typeface="+mj-lt"/>
              </a:rPr>
              <a:t>AS</a:t>
            </a:r>
          </a:p>
          <a:p>
            <a:r>
              <a:rPr lang="en-AU" sz="800" b="1" i="1">
                <a:solidFill>
                  <a:srgbClr val="00B050"/>
                </a:solidFill>
                <a:latin typeface="+mj-lt"/>
              </a:rPr>
              <a:t>EXECUTE NOTEBOOK A01A0E_GBU_FINCRIME_POC.GRAPH_ONTOLOGY.</a:t>
            </a:r>
            <a:r>
              <a:rPr lang="pt-BR" sz="800" b="1" i="1">
                <a:solidFill>
                  <a:srgbClr val="00B050"/>
                </a:solidFill>
                <a:latin typeface="+mj-lt"/>
              </a:rPr>
              <a:t> SFLK_GBU_A01A0E_SER_READWRITE_DEV</a:t>
            </a:r>
            <a:r>
              <a:rPr lang="en-AU" sz="800" b="1" i="1">
                <a:solidFill>
                  <a:srgbClr val="00B050"/>
                </a:solidFill>
                <a:latin typeface="+mj-lt"/>
              </a:rPr>
              <a:t>.</a:t>
            </a:r>
            <a:r>
              <a:rPr lang="en-US" sz="800" b="1" i="1">
                <a:solidFill>
                  <a:srgbClr val="00B050"/>
                </a:solidFill>
                <a:latin typeface="+mj-lt"/>
              </a:rPr>
              <a:t> </a:t>
            </a:r>
            <a:r>
              <a:rPr lang="en-US" sz="800" b="1" i="1" err="1">
                <a:solidFill>
                  <a:srgbClr val="00B050"/>
                </a:solidFill>
                <a:latin typeface="+mj-lt"/>
              </a:rPr>
              <a:t>fraud_detection_xgboost_training</a:t>
            </a:r>
            <a:r>
              <a:rPr lang="en-AU" sz="800" b="1" i="1">
                <a:solidFill>
                  <a:srgbClr val="00B050"/>
                </a:solidFill>
                <a:latin typeface="+mj-lt"/>
              </a:rPr>
              <a:t>();</a:t>
            </a:r>
          </a:p>
          <a:p>
            <a:endParaRPr lang="en-US" sz="800" b="1" i="1">
              <a:solidFill>
                <a:srgbClr val="00B050"/>
              </a:solidFill>
              <a:latin typeface="+mj-lt"/>
            </a:endParaRPr>
          </a:p>
          <a:p>
            <a:r>
              <a:rPr lang="en-AU" sz="800" b="1" i="1">
                <a:solidFill>
                  <a:srgbClr val="00B050"/>
                </a:solidFill>
                <a:latin typeface="+mj-lt"/>
              </a:rPr>
              <a:t>AS</a:t>
            </a:r>
          </a:p>
          <a:p>
            <a:r>
              <a:rPr lang="en-AU" sz="800" b="1" i="1">
                <a:solidFill>
                  <a:srgbClr val="00B050"/>
                </a:solidFill>
                <a:latin typeface="+mj-lt"/>
              </a:rPr>
              <a:t>EXECUTE NOTEBOOK A01A0E_GBU_FINCRIME_POC.GRAPH_ONTOLOGY.</a:t>
            </a:r>
            <a:r>
              <a:rPr lang="pt-BR" sz="800" b="1" i="1">
                <a:solidFill>
                  <a:srgbClr val="00B050"/>
                </a:solidFill>
                <a:latin typeface="+mj-lt"/>
              </a:rPr>
              <a:t> SFLK_GBU_A01A0E_SER_READWRITE_DEV</a:t>
            </a:r>
            <a:r>
              <a:rPr lang="en-AU" sz="800" b="1" i="1">
                <a:solidFill>
                  <a:srgbClr val="00B050"/>
                </a:solidFill>
                <a:latin typeface="+mj-lt"/>
              </a:rPr>
              <a:t>.</a:t>
            </a:r>
            <a:r>
              <a:rPr lang="en-US" sz="800" b="1" i="1">
                <a:solidFill>
                  <a:srgbClr val="00B050"/>
                </a:solidFill>
                <a:latin typeface="+mj-lt"/>
              </a:rPr>
              <a:t> </a:t>
            </a:r>
            <a:r>
              <a:rPr lang="en-US" sz="800" b="1" i="1" err="1">
                <a:solidFill>
                  <a:srgbClr val="00B050"/>
                </a:solidFill>
                <a:latin typeface="+mj-lt"/>
              </a:rPr>
              <a:t>fraud_detection_xgboost_training</a:t>
            </a:r>
            <a:r>
              <a:rPr lang="en-AU" sz="800" b="1" i="1">
                <a:solidFill>
                  <a:srgbClr val="00B050"/>
                </a:solidFill>
                <a:latin typeface="+mj-lt"/>
              </a:rPr>
              <a:t>(‘&lt;ARGUMENTS&gt;’);</a:t>
            </a:r>
            <a:endParaRPr lang="en-US" sz="800" b="1" i="1">
              <a:solidFill>
                <a:srgbClr val="00B050"/>
              </a:solidFill>
              <a:latin typeface="+mj-lt"/>
            </a:endParaRPr>
          </a:p>
          <a:p>
            <a:endParaRPr lang="en-US" sz="800" b="1" i="1">
              <a:solidFill>
                <a:srgbClr val="00B050"/>
              </a:solidFill>
              <a:latin typeface="+mj-lt"/>
            </a:endParaRPr>
          </a:p>
          <a:p>
            <a:r>
              <a:rPr lang="en-US" sz="800" b="1" i="1">
                <a:solidFill>
                  <a:srgbClr val="00B050"/>
                </a:solidFill>
                <a:latin typeface="+mj-lt"/>
              </a:rPr>
              <a:t>AS</a:t>
            </a:r>
          </a:p>
          <a:p>
            <a:r>
              <a:rPr lang="en-US" sz="800" b="1" i="1">
                <a:solidFill>
                  <a:srgbClr val="00B050"/>
                </a:solidFill>
                <a:latin typeface="+mj-lt"/>
              </a:rPr>
              <a:t>BEGIN</a:t>
            </a:r>
          </a:p>
          <a:p>
            <a:r>
              <a:rPr lang="en-US" sz="800" b="1" i="1">
                <a:solidFill>
                  <a:srgbClr val="00B050"/>
                </a:solidFill>
                <a:latin typeface="+mj-lt"/>
              </a:rPr>
              <a:t>CALL A01A0E_GBU_FINCRIME_POC.GRAPH_ONTOLOGY.LOAD_ICEBERG_TM_TRANSACTIONS_PROC();  </a:t>
            </a:r>
          </a:p>
          <a:p>
            <a:r>
              <a:rPr lang="en-US" sz="800" b="1" i="1">
                <a:solidFill>
                  <a:srgbClr val="00B050"/>
                </a:solidFill>
                <a:latin typeface="+mj-lt"/>
              </a:rPr>
              <a:t>END;</a:t>
            </a:r>
          </a:p>
          <a:p>
            <a:endParaRPr lang="en-US" sz="1000">
              <a:latin typeface="+mj-lt"/>
            </a:endParaRPr>
          </a:p>
          <a:p>
            <a:pPr marL="171450" indent="-171450">
              <a:buFont typeface="Arial" panose="020B0604020202020204" pitchFamily="34" charset="0"/>
              <a:buChar char="•"/>
            </a:pPr>
            <a:r>
              <a:rPr lang="en-US" sz="1000">
                <a:latin typeface="+mj-lt"/>
              </a:rPr>
              <a:t>Arguments passed via a TASK onto a MODEL / NOTEBOOK &amp; Read / Consumed for usage</a:t>
            </a:r>
          </a:p>
          <a:p>
            <a:pPr marL="171450" indent="-171450">
              <a:buFont typeface="Arial" panose="020B0604020202020204" pitchFamily="34" charset="0"/>
              <a:buChar char="•"/>
            </a:pPr>
            <a:endParaRPr lang="en-US" sz="1000">
              <a:latin typeface="+mj-lt"/>
            </a:endParaRPr>
          </a:p>
          <a:p>
            <a:r>
              <a:rPr lang="en-AU" sz="900" b="1" i="1">
                <a:solidFill>
                  <a:srgbClr val="00B050"/>
                </a:solidFill>
                <a:latin typeface="+mj-lt"/>
              </a:rPr>
              <a:t>import sys</a:t>
            </a:r>
          </a:p>
          <a:p>
            <a:r>
              <a:rPr lang="en-AU" sz="900" b="1" i="1">
                <a:solidFill>
                  <a:srgbClr val="00B050"/>
                </a:solidFill>
                <a:latin typeface="+mj-lt"/>
              </a:rPr>
              <a:t># </a:t>
            </a:r>
            <a:r>
              <a:rPr lang="en-AU" sz="900" b="1" i="1" err="1">
                <a:solidFill>
                  <a:srgbClr val="00B050"/>
                </a:solidFill>
                <a:latin typeface="+mj-lt"/>
              </a:rPr>
              <a:t>sys.argv</a:t>
            </a:r>
            <a:r>
              <a:rPr lang="en-AU" sz="900" b="1" i="1">
                <a:solidFill>
                  <a:srgbClr val="00B050"/>
                </a:solidFill>
                <a:latin typeface="+mj-lt"/>
              </a:rPr>
              <a:t>[0] is the notebook name (e.g., '</a:t>
            </a:r>
            <a:r>
              <a:rPr lang="en-US" sz="900" b="1" i="1">
                <a:solidFill>
                  <a:srgbClr val="00B050"/>
                </a:solidFill>
                <a:latin typeface="+mj-lt"/>
              </a:rPr>
              <a:t> </a:t>
            </a:r>
            <a:r>
              <a:rPr lang="en-US" sz="900" b="1" i="1" err="1">
                <a:solidFill>
                  <a:srgbClr val="00B050"/>
                </a:solidFill>
                <a:latin typeface="+mj-lt"/>
              </a:rPr>
              <a:t>fraud_detection_xgboost_training.ipynb</a:t>
            </a:r>
            <a:r>
              <a:rPr lang="en-AU" sz="900" b="1" i="1">
                <a:solidFill>
                  <a:srgbClr val="00B050"/>
                </a:solidFill>
                <a:latin typeface="+mj-lt"/>
              </a:rPr>
              <a:t>')</a:t>
            </a:r>
          </a:p>
          <a:p>
            <a:r>
              <a:rPr lang="en-AU" sz="900" b="1" i="1">
                <a:solidFill>
                  <a:srgbClr val="00B050"/>
                </a:solidFill>
                <a:latin typeface="+mj-lt"/>
              </a:rPr>
              <a:t># </a:t>
            </a:r>
            <a:r>
              <a:rPr lang="en-AU" sz="900" b="1" i="1" err="1">
                <a:solidFill>
                  <a:srgbClr val="00B050"/>
                </a:solidFill>
                <a:latin typeface="+mj-lt"/>
              </a:rPr>
              <a:t>sys.argv</a:t>
            </a:r>
            <a:r>
              <a:rPr lang="en-AU" sz="900" b="1" i="1">
                <a:solidFill>
                  <a:srgbClr val="00B050"/>
                </a:solidFill>
                <a:latin typeface="+mj-lt"/>
              </a:rPr>
              <a:t>[1] is the first user argument (‘cis_1234567')</a:t>
            </a:r>
          </a:p>
          <a:p>
            <a:r>
              <a:rPr lang="en-AU" sz="900" b="1" i="1">
                <a:solidFill>
                  <a:srgbClr val="00B050"/>
                </a:solidFill>
                <a:latin typeface="+mj-lt"/>
              </a:rPr>
              <a:t># </a:t>
            </a:r>
            <a:r>
              <a:rPr lang="en-AU" sz="900" b="1" i="1" err="1">
                <a:solidFill>
                  <a:srgbClr val="00B050"/>
                </a:solidFill>
                <a:latin typeface="+mj-lt"/>
              </a:rPr>
              <a:t>sys.argv</a:t>
            </a:r>
            <a:r>
              <a:rPr lang="en-AU" sz="900" b="1" i="1">
                <a:solidFill>
                  <a:srgbClr val="00B050"/>
                </a:solidFill>
                <a:latin typeface="+mj-lt"/>
              </a:rPr>
              <a:t>[2] is the second user argument (‘acc_9876543')</a:t>
            </a:r>
          </a:p>
          <a:p>
            <a:r>
              <a:rPr lang="en-AU" sz="900" b="1" i="1">
                <a:solidFill>
                  <a:srgbClr val="00B050"/>
                </a:solidFill>
                <a:latin typeface="+mj-lt"/>
              </a:rPr>
              <a:t> </a:t>
            </a:r>
          </a:p>
          <a:p>
            <a:r>
              <a:rPr lang="en-AU" sz="900" b="1" i="1">
                <a:solidFill>
                  <a:srgbClr val="00B050"/>
                </a:solidFill>
                <a:latin typeface="+mj-lt"/>
              </a:rPr>
              <a:t># Set fallback defaults just in case you run the notebook manually </a:t>
            </a:r>
          </a:p>
          <a:p>
            <a:r>
              <a:rPr lang="en-AU" sz="900" b="1" i="1">
                <a:solidFill>
                  <a:srgbClr val="00B050"/>
                </a:solidFill>
                <a:latin typeface="+mj-lt"/>
              </a:rPr>
              <a:t>CUSTOMER_KEY = </a:t>
            </a:r>
            <a:r>
              <a:rPr lang="en-AU" sz="900" b="1" i="1" err="1">
                <a:solidFill>
                  <a:srgbClr val="00B050"/>
                </a:solidFill>
                <a:latin typeface="+mj-lt"/>
              </a:rPr>
              <a:t>sys.argv</a:t>
            </a:r>
            <a:r>
              <a:rPr lang="en-AU" sz="900" b="1" i="1">
                <a:solidFill>
                  <a:srgbClr val="00B050"/>
                </a:solidFill>
                <a:latin typeface="+mj-lt"/>
              </a:rPr>
              <a:t>[1] </a:t>
            </a:r>
          </a:p>
          <a:p>
            <a:r>
              <a:rPr lang="en-AU" sz="900" b="1" i="1">
                <a:solidFill>
                  <a:srgbClr val="00B050"/>
                </a:solidFill>
                <a:latin typeface="+mj-lt"/>
              </a:rPr>
              <a:t>ACCOUNT_KEY = </a:t>
            </a:r>
            <a:r>
              <a:rPr lang="en-AU" sz="900" b="1" i="1" err="1">
                <a:solidFill>
                  <a:srgbClr val="00B050"/>
                </a:solidFill>
                <a:latin typeface="+mj-lt"/>
              </a:rPr>
              <a:t>sys.argv</a:t>
            </a:r>
            <a:r>
              <a:rPr lang="en-AU" sz="900" b="1" i="1">
                <a:solidFill>
                  <a:srgbClr val="00B050"/>
                </a:solidFill>
                <a:latin typeface="+mj-lt"/>
              </a:rPr>
              <a:t>[2] </a:t>
            </a:r>
          </a:p>
          <a:p>
            <a:endParaRPr lang="en-AU" sz="900">
              <a:latin typeface="+mj-lt"/>
            </a:endParaRPr>
          </a:p>
          <a:p>
            <a:endParaRPr lang="en-AU" sz="900">
              <a:latin typeface="+mj-lt"/>
            </a:endParaRPr>
          </a:p>
          <a:p>
            <a:r>
              <a:rPr lang="en-AU" sz="900">
                <a:ea typeface="Times New Roman" panose="02020603050405020304" pitchFamily="18" charset="0"/>
                <a:cs typeface="Aptos" panose="020B0004020202020204" pitchFamily="34" charset="0"/>
              </a:rPr>
              <a:t>If we don't want to rely on the strict positional order of </a:t>
            </a:r>
            <a:r>
              <a:rPr lang="en-AU" sz="900" err="1">
                <a:ea typeface="Aptos" panose="020B0004020202020204" pitchFamily="34" charset="0"/>
                <a:cs typeface="Aptos" panose="020B0004020202020204" pitchFamily="34" charset="0"/>
              </a:rPr>
              <a:t>sys.argv</a:t>
            </a:r>
            <a:r>
              <a:rPr lang="en-AU" sz="900">
                <a:ea typeface="Times New Roman" panose="02020603050405020304" pitchFamily="18" charset="0"/>
                <a:cs typeface="Aptos" panose="020B0004020202020204" pitchFamily="34" charset="0"/>
              </a:rPr>
              <a:t>, we can pass the string as key-value pairs and split them inside Python</a:t>
            </a:r>
            <a:endParaRPr lang="en-AU" sz="900">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3955296635"/>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243A8D97-87D6-2B6F-6FBF-A0B008B7CA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A64B31-CA53-A7ED-ED76-F7B9A3474072}"/>
              </a:ext>
            </a:extLst>
          </p:cNvPr>
          <p:cNvSpPr txBox="1"/>
          <p:nvPr/>
        </p:nvSpPr>
        <p:spPr>
          <a:xfrm>
            <a:off x="164120" y="90142"/>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Snowflake</a:t>
            </a:r>
            <a:r>
              <a:rPr kumimoji="0" sz="3000" b="1" i="0" u="none" strike="noStrike" kern="1200" cap="none" spc="0" normalizeH="0" baseline="0" noProof="0">
                <a:ln>
                  <a:noFill/>
                </a:ln>
                <a:effectLst/>
                <a:uLnTx/>
                <a:uFillTx/>
                <a:latin typeface="Calibri"/>
                <a:ea typeface="+mn-ea"/>
                <a:cs typeface="+mn-cs"/>
              </a:rPr>
              <a:t> </a:t>
            </a:r>
            <a:r>
              <a:rPr kumimoji="0" lang="en-AU" sz="3000" b="1" i="0" u="none" strike="noStrike" kern="1200" cap="none" spc="0" normalizeH="0" baseline="0" noProof="0">
                <a:ln>
                  <a:noFill/>
                </a:ln>
                <a:effectLst/>
                <a:uLnTx/>
                <a:uFillTx/>
                <a:latin typeface="Calibri"/>
                <a:ea typeface="+mn-ea"/>
                <a:cs typeface="+mn-cs"/>
              </a:rPr>
              <a:t>– Error Handling</a:t>
            </a:r>
            <a:endParaRPr kumimoji="0" sz="3000" b="1" i="0" u="none" strike="noStrike" kern="1200" cap="none" spc="0" normalizeH="0" baseline="0" noProof="0">
              <a:ln>
                <a:noFill/>
              </a:ln>
              <a:effectLst/>
              <a:uLnTx/>
              <a:uFillTx/>
              <a:latin typeface="Calibri"/>
              <a:ea typeface="+mn-ea"/>
              <a:cs typeface="+mn-cs"/>
            </a:endParaRPr>
          </a:p>
        </p:txBody>
      </p:sp>
      <p:sp>
        <p:nvSpPr>
          <p:cNvPr id="13" name="TextBox 12">
            <a:extLst>
              <a:ext uri="{FF2B5EF4-FFF2-40B4-BE49-F238E27FC236}">
                <a16:creationId xmlns:a16="http://schemas.microsoft.com/office/drawing/2014/main" id="{4B63A9DD-41CF-67DF-813D-98D4BD08AFD2}"/>
              </a:ext>
            </a:extLst>
          </p:cNvPr>
          <p:cNvSpPr txBox="1"/>
          <p:nvPr/>
        </p:nvSpPr>
        <p:spPr>
          <a:xfrm>
            <a:off x="164120" y="644140"/>
            <a:ext cx="6096000" cy="246221"/>
          </a:xfrm>
          <a:prstGeom prst="rect">
            <a:avLst/>
          </a:prstGeom>
          <a:noFill/>
        </p:spPr>
        <p:txBody>
          <a:bodyPr wrap="square">
            <a:spAutoFit/>
          </a:bodyPr>
          <a:lstStyle/>
          <a:p>
            <a:r>
              <a:rPr lang="en-AU" sz="1000"/>
              <a:t>To route pipeline failure notifications directly out of data warehouse environment via email</a:t>
            </a:r>
          </a:p>
        </p:txBody>
      </p:sp>
      <p:sp>
        <p:nvSpPr>
          <p:cNvPr id="9" name="TextBox 8">
            <a:extLst>
              <a:ext uri="{FF2B5EF4-FFF2-40B4-BE49-F238E27FC236}">
                <a16:creationId xmlns:a16="http://schemas.microsoft.com/office/drawing/2014/main" id="{B6D91767-1839-4F48-106B-5DDA273A318B}"/>
              </a:ext>
            </a:extLst>
          </p:cNvPr>
          <p:cNvSpPr txBox="1"/>
          <p:nvPr/>
        </p:nvSpPr>
        <p:spPr>
          <a:xfrm>
            <a:off x="164120" y="980859"/>
            <a:ext cx="11587612" cy="707886"/>
          </a:xfrm>
          <a:prstGeom prst="rect">
            <a:avLst/>
          </a:prstGeom>
          <a:noFill/>
          <a:ln>
            <a:solidFill>
              <a:schemeClr val="tx1"/>
            </a:solidFill>
          </a:ln>
        </p:spPr>
        <p:txBody>
          <a:bodyPr wrap="square">
            <a:spAutoFit/>
          </a:bodyPr>
          <a:lstStyle/>
          <a:p>
            <a:pPr>
              <a:buNone/>
            </a:pPr>
            <a:r>
              <a:rPr lang="en-AU" sz="800">
                <a:effectLst/>
                <a:latin typeface="+mj-lt"/>
                <a:ea typeface="Aptos" panose="020B0004020202020204" pitchFamily="34" charset="0"/>
              </a:rPr>
              <a:t>-- 1. Create a Native Email Notification Router (Requires ACCOUNTADMIN role)</a:t>
            </a:r>
          </a:p>
          <a:p>
            <a:pPr>
              <a:buNone/>
            </a:pPr>
            <a:r>
              <a:rPr lang="en-AU" sz="800" b="1" i="1">
                <a:solidFill>
                  <a:srgbClr val="00B050"/>
                </a:solidFill>
                <a:effectLst/>
                <a:latin typeface="+mj-lt"/>
                <a:ea typeface="Aptos" panose="020B0004020202020204" pitchFamily="34" charset="0"/>
              </a:rPr>
              <a:t>CREATE OR REPLACE NOTIFICATION INTEGRATION </a:t>
            </a:r>
            <a:r>
              <a:rPr lang="en-AU" sz="800" b="1" i="1" err="1">
                <a:solidFill>
                  <a:srgbClr val="00B050"/>
                </a:solidFill>
                <a:effectLst/>
                <a:latin typeface="+mj-lt"/>
                <a:ea typeface="Aptos" panose="020B0004020202020204" pitchFamily="34" charset="0"/>
              </a:rPr>
              <a:t>owl_pipeline_email_int</a:t>
            </a:r>
            <a:endParaRPr lang="en-AU" sz="800" b="1" i="1">
              <a:solidFill>
                <a:srgbClr val="00B050"/>
              </a:solidFill>
              <a:effectLst/>
              <a:latin typeface="+mj-lt"/>
              <a:ea typeface="Aptos" panose="020B0004020202020204" pitchFamily="34" charset="0"/>
            </a:endParaRPr>
          </a:p>
          <a:p>
            <a:pPr>
              <a:buNone/>
            </a:pPr>
            <a:r>
              <a:rPr lang="en-AU" sz="800" b="1" i="1">
                <a:solidFill>
                  <a:srgbClr val="00B050"/>
                </a:solidFill>
                <a:effectLst/>
                <a:latin typeface="+mj-lt"/>
                <a:ea typeface="Aptos" panose="020B0004020202020204" pitchFamily="34" charset="0"/>
              </a:rPr>
              <a:t> TYPE = EMAIL</a:t>
            </a:r>
          </a:p>
          <a:p>
            <a:pPr>
              <a:buNone/>
            </a:pPr>
            <a:r>
              <a:rPr lang="en-AU" sz="800" b="1" i="1">
                <a:solidFill>
                  <a:srgbClr val="00B050"/>
                </a:solidFill>
                <a:effectLst/>
                <a:latin typeface="+mj-lt"/>
                <a:ea typeface="Aptos" panose="020B0004020202020204" pitchFamily="34" charset="0"/>
              </a:rPr>
              <a:t> ENABLED = TRUE</a:t>
            </a:r>
          </a:p>
          <a:p>
            <a:pPr>
              <a:buNone/>
            </a:pPr>
            <a:r>
              <a:rPr lang="en-AU" sz="800" b="1" i="1">
                <a:solidFill>
                  <a:srgbClr val="00B050"/>
                </a:solidFill>
                <a:effectLst/>
                <a:latin typeface="+mj-lt"/>
                <a:ea typeface="Aptos" panose="020B0004020202020204" pitchFamily="34" charset="0"/>
              </a:rPr>
              <a:t>ALLOWED_RECIPIENTS = (‘fcsai_support_groupL2@westpac.com.au'); -- Must be verified Snowflake users</a:t>
            </a:r>
          </a:p>
        </p:txBody>
      </p:sp>
      <p:sp>
        <p:nvSpPr>
          <p:cNvPr id="14" name="TextBox 13">
            <a:extLst>
              <a:ext uri="{FF2B5EF4-FFF2-40B4-BE49-F238E27FC236}">
                <a16:creationId xmlns:a16="http://schemas.microsoft.com/office/drawing/2014/main" id="{4DDF3F67-3499-DB3F-9124-EE573E9AD60C}"/>
              </a:ext>
            </a:extLst>
          </p:cNvPr>
          <p:cNvSpPr txBox="1"/>
          <p:nvPr/>
        </p:nvSpPr>
        <p:spPr>
          <a:xfrm>
            <a:off x="164119" y="1850130"/>
            <a:ext cx="11587613" cy="3170099"/>
          </a:xfrm>
          <a:prstGeom prst="rect">
            <a:avLst/>
          </a:prstGeom>
          <a:noFill/>
          <a:ln>
            <a:solidFill>
              <a:schemeClr val="tx1"/>
            </a:solidFill>
          </a:ln>
        </p:spPr>
        <p:txBody>
          <a:bodyPr wrap="square">
            <a:spAutoFit/>
          </a:bodyPr>
          <a:lstStyle/>
          <a:p>
            <a:pPr>
              <a:buNone/>
            </a:pPr>
            <a:r>
              <a:rPr lang="en-AU" sz="800">
                <a:effectLst/>
                <a:latin typeface="+mj-lt"/>
                <a:ea typeface="Aptos" panose="020B0004020202020204" pitchFamily="34" charset="0"/>
              </a:rPr>
              <a:t>-- 1. Alerts monitoring tables require Change Tracking turned on</a:t>
            </a:r>
          </a:p>
          <a:p>
            <a:pPr>
              <a:buNone/>
            </a:pPr>
            <a:r>
              <a:rPr lang="en-AU" sz="800" b="1" i="1">
                <a:solidFill>
                  <a:srgbClr val="00B050"/>
                </a:solidFill>
                <a:effectLst/>
                <a:latin typeface="+mj-lt"/>
                <a:ea typeface="Aptos" panose="020B0004020202020204" pitchFamily="34" charset="0"/>
              </a:rPr>
              <a:t>ALTER TABLE </a:t>
            </a:r>
            <a:r>
              <a:rPr lang="en-AU" sz="800" b="1" i="1" err="1">
                <a:solidFill>
                  <a:srgbClr val="00B050"/>
                </a:solidFill>
                <a:effectLst/>
                <a:latin typeface="+mj-lt"/>
                <a:ea typeface="Aptos" panose="020B0004020202020204" pitchFamily="34" charset="0"/>
              </a:rPr>
              <a:t>pipeline_audit_log</a:t>
            </a:r>
            <a:r>
              <a:rPr lang="en-AU" sz="800" b="1" i="1">
                <a:solidFill>
                  <a:srgbClr val="00B050"/>
                </a:solidFill>
                <a:effectLst/>
                <a:latin typeface="+mj-lt"/>
                <a:ea typeface="Aptos" panose="020B0004020202020204" pitchFamily="34" charset="0"/>
              </a:rPr>
              <a:t> SET CHANGE_TRACKING = TRUE;</a:t>
            </a:r>
          </a:p>
          <a:p>
            <a:pPr>
              <a:buNone/>
            </a:pPr>
            <a:r>
              <a:rPr lang="en-AU" sz="800">
                <a:effectLst/>
                <a:latin typeface="+mj-lt"/>
                <a:ea typeface="Aptos" panose="020B0004020202020204" pitchFamily="34" charset="0"/>
              </a:rPr>
              <a:t> </a:t>
            </a:r>
          </a:p>
          <a:p>
            <a:pPr>
              <a:buNone/>
            </a:pPr>
            <a:r>
              <a:rPr lang="en-AU" sz="800">
                <a:effectLst/>
                <a:latin typeface="+mj-lt"/>
                <a:ea typeface="Aptos" panose="020B0004020202020204" pitchFamily="34" charset="0"/>
              </a:rPr>
              <a:t>-- 2. Build the automated Alert Engine</a:t>
            </a:r>
          </a:p>
          <a:p>
            <a:pPr>
              <a:buNone/>
            </a:pPr>
            <a:r>
              <a:rPr lang="en-AU" sz="800" b="1" i="1">
                <a:solidFill>
                  <a:srgbClr val="00B050"/>
                </a:solidFill>
                <a:effectLst/>
                <a:latin typeface="+mj-lt"/>
                <a:ea typeface="Aptos" panose="020B0004020202020204" pitchFamily="34" charset="0"/>
              </a:rPr>
              <a:t>CREATE OR REPLACE ALERT </a:t>
            </a:r>
            <a:r>
              <a:rPr lang="en-AU" sz="800" b="1" i="1" err="1">
                <a:solidFill>
                  <a:srgbClr val="00B050"/>
                </a:solidFill>
                <a:effectLst/>
                <a:latin typeface="+mj-lt"/>
                <a:ea typeface="Aptos" panose="020B0004020202020204" pitchFamily="34" charset="0"/>
              </a:rPr>
              <a:t>alert_owl_ingestion_failures</a:t>
            </a:r>
            <a:endParaRPr lang="en-AU" sz="800" b="1" i="1">
              <a:solidFill>
                <a:srgbClr val="00B050"/>
              </a:solidFill>
              <a:effectLst/>
              <a:latin typeface="+mj-lt"/>
              <a:ea typeface="Aptos" panose="020B0004020202020204" pitchFamily="34" charset="0"/>
            </a:endParaRPr>
          </a:p>
          <a:p>
            <a:pPr>
              <a:buNone/>
            </a:pPr>
            <a:r>
              <a:rPr lang="en-AU" sz="800" b="1" i="1">
                <a:solidFill>
                  <a:srgbClr val="00B050"/>
                </a:solidFill>
                <a:effectLst/>
                <a:latin typeface="+mj-lt"/>
                <a:ea typeface="Aptos" panose="020B0004020202020204" pitchFamily="34" charset="0"/>
              </a:rPr>
              <a:t>  WAREHOUSE = </a:t>
            </a:r>
            <a:r>
              <a:rPr lang="en-AU" sz="800" b="1" i="1">
                <a:solidFill>
                  <a:srgbClr val="00B050"/>
                </a:solidFill>
              </a:rPr>
              <a:t>GBU_A01A0E_FINCRIME_XS_WH</a:t>
            </a:r>
            <a:endParaRPr lang="en-AU" sz="800" b="1" i="1">
              <a:solidFill>
                <a:srgbClr val="00B050"/>
              </a:solidFill>
              <a:effectLst/>
              <a:latin typeface="+mj-lt"/>
              <a:ea typeface="Aptos" panose="020B0004020202020204" pitchFamily="34" charset="0"/>
            </a:endParaRPr>
          </a:p>
          <a:p>
            <a:pPr>
              <a:buNone/>
            </a:pPr>
            <a:r>
              <a:rPr lang="en-AU" sz="800" b="1" i="1">
                <a:solidFill>
                  <a:srgbClr val="00B050"/>
                </a:solidFill>
                <a:effectLst/>
                <a:latin typeface="+mj-lt"/>
                <a:ea typeface="Aptos" panose="020B0004020202020204" pitchFamily="34" charset="0"/>
              </a:rPr>
              <a:t>  SCHEDULE = 'USING CRON 0 * * * * UTC' -- Evaluates hourly</a:t>
            </a:r>
          </a:p>
          <a:p>
            <a:pPr>
              <a:buNone/>
            </a:pPr>
            <a:r>
              <a:rPr lang="en-AU" sz="800" b="1" i="1">
                <a:solidFill>
                  <a:srgbClr val="00B050"/>
                </a:solidFill>
                <a:effectLst/>
                <a:latin typeface="+mj-lt"/>
                <a:ea typeface="Aptos" panose="020B0004020202020204" pitchFamily="34" charset="0"/>
              </a:rPr>
              <a:t>  IF (</a:t>
            </a:r>
          </a:p>
          <a:p>
            <a:pPr>
              <a:buNone/>
            </a:pPr>
            <a:r>
              <a:rPr lang="en-AU" sz="800" b="1" i="1">
                <a:solidFill>
                  <a:srgbClr val="00B050"/>
                </a:solidFill>
                <a:effectLst/>
                <a:latin typeface="+mj-lt"/>
                <a:ea typeface="Aptos" panose="020B0004020202020204" pitchFamily="34" charset="0"/>
              </a:rPr>
              <a:t>     EXISTS (</a:t>
            </a:r>
          </a:p>
          <a:p>
            <a:pPr>
              <a:buNone/>
            </a:pPr>
            <a:r>
              <a:rPr lang="en-AU" sz="800" b="1" i="1">
                <a:solidFill>
                  <a:srgbClr val="00B050"/>
                </a:solidFill>
                <a:effectLst/>
                <a:latin typeface="+mj-lt"/>
                <a:ea typeface="Aptos" panose="020B0004020202020204" pitchFamily="34" charset="0"/>
              </a:rPr>
              <a:t>         SELECT 1 </a:t>
            </a:r>
          </a:p>
          <a:p>
            <a:pPr>
              <a:buNone/>
            </a:pPr>
            <a:r>
              <a:rPr lang="en-AU" sz="800" b="1" i="1">
                <a:solidFill>
                  <a:srgbClr val="00B050"/>
                </a:solidFill>
                <a:effectLst/>
                <a:latin typeface="+mj-lt"/>
                <a:ea typeface="Aptos" panose="020B0004020202020204" pitchFamily="34" charset="0"/>
              </a:rPr>
              <a:t>         FROM </a:t>
            </a:r>
            <a:r>
              <a:rPr lang="en-AU" sz="800" b="1" i="1" err="1">
                <a:solidFill>
                  <a:srgbClr val="00B050"/>
                </a:solidFill>
                <a:effectLst/>
                <a:latin typeface="+mj-lt"/>
                <a:ea typeface="Aptos" panose="020B0004020202020204" pitchFamily="34" charset="0"/>
              </a:rPr>
              <a:t>pipeline_audit_log</a:t>
            </a:r>
            <a:r>
              <a:rPr lang="en-AU" sz="800" b="1" i="1">
                <a:solidFill>
                  <a:srgbClr val="00B050"/>
                </a:solidFill>
                <a:effectLst/>
                <a:latin typeface="+mj-lt"/>
                <a:ea typeface="Aptos" panose="020B0004020202020204" pitchFamily="34" charset="0"/>
              </a:rPr>
              <a:t> </a:t>
            </a:r>
          </a:p>
          <a:p>
            <a:pPr>
              <a:buNone/>
            </a:pPr>
            <a:r>
              <a:rPr lang="en-AU" sz="800" b="1" i="1">
                <a:solidFill>
                  <a:srgbClr val="00B050"/>
                </a:solidFill>
                <a:effectLst/>
                <a:latin typeface="+mj-lt"/>
                <a:ea typeface="Aptos" panose="020B0004020202020204" pitchFamily="34" charset="0"/>
              </a:rPr>
              <a:t>         WHERE status = 'FAILED' </a:t>
            </a:r>
          </a:p>
          <a:p>
            <a:pPr>
              <a:buNone/>
            </a:pPr>
            <a:r>
              <a:rPr lang="en-AU" sz="800" b="1" i="1">
                <a:solidFill>
                  <a:srgbClr val="00B050"/>
                </a:solidFill>
                <a:effectLst/>
                <a:latin typeface="+mj-lt"/>
                <a:ea typeface="Aptos" panose="020B0004020202020204" pitchFamily="34" charset="0"/>
              </a:rPr>
              <a:t>           AND </a:t>
            </a:r>
            <a:r>
              <a:rPr lang="en-AU" sz="800" b="1" i="1" err="1">
                <a:solidFill>
                  <a:srgbClr val="00B050"/>
                </a:solidFill>
                <a:effectLst/>
                <a:latin typeface="+mj-lt"/>
                <a:ea typeface="Aptos" panose="020B0004020202020204" pitchFamily="34" charset="0"/>
              </a:rPr>
              <a:t>execution_ts</a:t>
            </a:r>
            <a:r>
              <a:rPr lang="en-AU" sz="800" b="1" i="1">
                <a:solidFill>
                  <a:srgbClr val="00B050"/>
                </a:solidFill>
                <a:effectLst/>
                <a:latin typeface="+mj-lt"/>
                <a:ea typeface="Aptos" panose="020B0004020202020204" pitchFamily="34" charset="0"/>
              </a:rPr>
              <a:t> &gt;= DATEADD('hour', -1, CURRENT_TIMESTAMP())</a:t>
            </a:r>
          </a:p>
          <a:p>
            <a:pPr>
              <a:buNone/>
            </a:pPr>
            <a:r>
              <a:rPr lang="en-AU" sz="800" b="1" i="1">
                <a:solidFill>
                  <a:srgbClr val="00B050"/>
                </a:solidFill>
                <a:effectLst/>
                <a:latin typeface="+mj-lt"/>
                <a:ea typeface="Aptos" panose="020B0004020202020204" pitchFamily="34" charset="0"/>
              </a:rPr>
              <a:t>     )</a:t>
            </a:r>
          </a:p>
          <a:p>
            <a:pPr>
              <a:buNone/>
            </a:pPr>
            <a:r>
              <a:rPr lang="en-AU" sz="800" b="1" i="1">
                <a:solidFill>
                  <a:srgbClr val="00B050"/>
                </a:solidFill>
                <a:effectLst/>
                <a:latin typeface="+mj-lt"/>
                <a:ea typeface="Aptos" panose="020B0004020202020204" pitchFamily="34" charset="0"/>
              </a:rPr>
              <a:t>  )</a:t>
            </a:r>
          </a:p>
          <a:p>
            <a:pPr>
              <a:buNone/>
            </a:pPr>
            <a:r>
              <a:rPr lang="en-AU" sz="800" b="1" i="1">
                <a:solidFill>
                  <a:srgbClr val="00B050"/>
                </a:solidFill>
                <a:effectLst/>
                <a:latin typeface="+mj-lt"/>
                <a:ea typeface="Aptos" panose="020B0004020202020204" pitchFamily="34" charset="0"/>
              </a:rPr>
              <a:t>  THEN CALL SYSTEM$SEND_EMAIL(</a:t>
            </a:r>
          </a:p>
          <a:p>
            <a:pPr>
              <a:buNone/>
            </a:pPr>
            <a:r>
              <a:rPr lang="en-AU" sz="800" b="1" i="1">
                <a:solidFill>
                  <a:srgbClr val="00B050"/>
                </a:solidFill>
                <a:effectLst/>
                <a:latin typeface="+mj-lt"/>
                <a:ea typeface="Aptos" panose="020B0004020202020204" pitchFamily="34" charset="0"/>
              </a:rPr>
              <a:t>    '</a:t>
            </a:r>
            <a:r>
              <a:rPr lang="en-AU" sz="800" b="1" i="1" err="1">
                <a:solidFill>
                  <a:srgbClr val="00B050"/>
                </a:solidFill>
                <a:effectLst/>
                <a:latin typeface="+mj-lt"/>
                <a:ea typeface="Aptos" panose="020B0004020202020204" pitchFamily="34" charset="0"/>
              </a:rPr>
              <a:t>owl_pipeline_email_int</a:t>
            </a:r>
            <a:r>
              <a:rPr lang="en-AU" sz="800" b="1" i="1">
                <a:solidFill>
                  <a:srgbClr val="00B050"/>
                </a:solidFill>
                <a:effectLst/>
                <a:latin typeface="+mj-lt"/>
                <a:ea typeface="Aptos" panose="020B0004020202020204" pitchFamily="34" charset="0"/>
              </a:rPr>
              <a:t>',</a:t>
            </a:r>
          </a:p>
          <a:p>
            <a:pPr>
              <a:buNone/>
            </a:pPr>
            <a:r>
              <a:rPr lang="en-AU" sz="800" b="1" i="1">
                <a:solidFill>
                  <a:srgbClr val="00B050"/>
                </a:solidFill>
                <a:effectLst/>
                <a:latin typeface="+mj-lt"/>
                <a:ea typeface="Aptos" panose="020B0004020202020204" pitchFamily="34" charset="0"/>
              </a:rPr>
              <a:t>    '</a:t>
            </a:r>
            <a:r>
              <a:rPr lang="en-AU" sz="800" b="1" i="1">
                <a:solidFill>
                  <a:srgbClr val="00B050"/>
                </a:solidFill>
                <a:ea typeface="Aptos" panose="020B0004020202020204" pitchFamily="34" charset="0"/>
              </a:rPr>
              <a:t> fcsai_support_groupL2@westpac.com.au</a:t>
            </a:r>
            <a:r>
              <a:rPr lang="en-AU" sz="800" b="1" i="1">
                <a:solidFill>
                  <a:srgbClr val="00B050"/>
                </a:solidFill>
                <a:effectLst/>
                <a:latin typeface="+mj-lt"/>
                <a:ea typeface="Aptos" panose="020B0004020202020204" pitchFamily="34" charset="0"/>
              </a:rPr>
              <a:t>',</a:t>
            </a:r>
          </a:p>
          <a:p>
            <a:pPr>
              <a:buNone/>
            </a:pPr>
            <a:r>
              <a:rPr lang="en-AU" sz="800" b="1" i="1">
                <a:solidFill>
                  <a:srgbClr val="00B050"/>
                </a:solidFill>
                <a:effectLst/>
                <a:latin typeface="+mj-lt"/>
                <a:ea typeface="Aptos" panose="020B0004020202020204" pitchFamily="34" charset="0"/>
              </a:rPr>
              <a:t>    </a:t>
            </a:r>
            <a:r>
              <a:rPr lang="en-AU" sz="800" b="1" i="1">
                <a:solidFill>
                  <a:srgbClr val="00B050"/>
                </a:solidFill>
                <a:latin typeface="+mj-lt"/>
                <a:ea typeface="Aptos" panose="020B0004020202020204" pitchFamily="34" charset="0"/>
              </a:rPr>
              <a:t>‘</a:t>
            </a:r>
            <a:r>
              <a:rPr lang="en-AU" sz="800" b="1" i="1">
                <a:solidFill>
                  <a:srgbClr val="00B050"/>
                </a:solidFill>
                <a:effectLst/>
                <a:latin typeface="+mj-lt"/>
                <a:ea typeface="Aptos" panose="020B0004020202020204" pitchFamily="34" charset="0"/>
              </a:rPr>
              <a:t>ALERT: Ontology OWL Pipeline Ingestion Failure Detected',</a:t>
            </a:r>
          </a:p>
          <a:p>
            <a:pPr>
              <a:buNone/>
            </a:pPr>
            <a:r>
              <a:rPr lang="en-AU" sz="800" b="1" i="1">
                <a:solidFill>
                  <a:srgbClr val="00B050"/>
                </a:solidFill>
                <a:effectLst/>
                <a:latin typeface="+mj-lt"/>
                <a:ea typeface="Aptos" panose="020B0004020202020204" pitchFamily="34" charset="0"/>
              </a:rPr>
              <a:t>    'The Snowflake processing engine encountered file structure mismatches or structural exceptions during parsing within the last hour.\n\</a:t>
            </a:r>
            <a:r>
              <a:rPr lang="en-AU" sz="800" b="1" i="1" err="1">
                <a:solidFill>
                  <a:srgbClr val="00B050"/>
                </a:solidFill>
                <a:effectLst/>
                <a:latin typeface="+mj-lt"/>
                <a:ea typeface="Aptos" panose="020B0004020202020204" pitchFamily="34" charset="0"/>
              </a:rPr>
              <a:t>nPlease</a:t>
            </a:r>
            <a:r>
              <a:rPr lang="en-AU" sz="800" b="1" i="1">
                <a:solidFill>
                  <a:srgbClr val="00B050"/>
                </a:solidFill>
                <a:effectLst/>
                <a:latin typeface="+mj-lt"/>
                <a:ea typeface="Aptos" panose="020B0004020202020204" pitchFamily="34" charset="0"/>
              </a:rPr>
              <a:t> review failed executions by running:\</a:t>
            </a:r>
            <a:r>
              <a:rPr lang="en-AU" sz="800" b="1" i="1" err="1">
                <a:solidFill>
                  <a:srgbClr val="00B050"/>
                </a:solidFill>
                <a:effectLst/>
                <a:latin typeface="+mj-lt"/>
                <a:ea typeface="Aptos" panose="020B0004020202020204" pitchFamily="34" charset="0"/>
              </a:rPr>
              <a:t>nSELECT</a:t>
            </a:r>
            <a:r>
              <a:rPr lang="en-AU" sz="800" b="1" i="1">
                <a:solidFill>
                  <a:srgbClr val="00B050"/>
                </a:solidFill>
                <a:effectLst/>
                <a:latin typeface="+mj-lt"/>
                <a:ea typeface="Aptos" panose="020B0004020202020204" pitchFamily="34" charset="0"/>
              </a:rPr>
              <a:t> * FROM </a:t>
            </a:r>
            <a:r>
              <a:rPr lang="en-AU" sz="800" b="1" i="1" err="1">
                <a:solidFill>
                  <a:srgbClr val="00B050"/>
                </a:solidFill>
                <a:effectLst/>
                <a:latin typeface="+mj-lt"/>
                <a:ea typeface="Aptos" panose="020B0004020202020204" pitchFamily="34" charset="0"/>
              </a:rPr>
              <a:t>pipeline_audit_log</a:t>
            </a:r>
            <a:r>
              <a:rPr lang="en-AU" sz="800" b="1" i="1">
                <a:solidFill>
                  <a:srgbClr val="00B050"/>
                </a:solidFill>
                <a:effectLst/>
                <a:latin typeface="+mj-lt"/>
                <a:ea typeface="Aptos" panose="020B0004020202020204" pitchFamily="34" charset="0"/>
              </a:rPr>
              <a:t> WHERE status = ''FAILED'' ORDER BY </a:t>
            </a:r>
            <a:r>
              <a:rPr lang="en-AU" sz="800" b="1" i="1" err="1">
                <a:solidFill>
                  <a:srgbClr val="00B050"/>
                </a:solidFill>
                <a:effectLst/>
                <a:latin typeface="+mj-lt"/>
                <a:ea typeface="Aptos" panose="020B0004020202020204" pitchFamily="34" charset="0"/>
              </a:rPr>
              <a:t>execution_ts</a:t>
            </a:r>
            <a:r>
              <a:rPr lang="en-AU" sz="800" b="1" i="1">
                <a:solidFill>
                  <a:srgbClr val="00B050"/>
                </a:solidFill>
                <a:effectLst/>
                <a:latin typeface="+mj-lt"/>
                <a:ea typeface="Aptos" panose="020B0004020202020204" pitchFamily="34" charset="0"/>
              </a:rPr>
              <a:t> DESC;'</a:t>
            </a:r>
          </a:p>
          <a:p>
            <a:pPr>
              <a:buNone/>
            </a:pPr>
            <a:r>
              <a:rPr lang="en-AU" sz="800" b="1" i="1">
                <a:solidFill>
                  <a:srgbClr val="00B050"/>
                </a:solidFill>
                <a:effectLst/>
                <a:latin typeface="+mj-lt"/>
                <a:ea typeface="Aptos" panose="020B0004020202020204" pitchFamily="34" charset="0"/>
              </a:rPr>
              <a:t>  );</a:t>
            </a:r>
          </a:p>
          <a:p>
            <a:pPr>
              <a:buNone/>
            </a:pPr>
            <a:r>
              <a:rPr lang="en-AU" sz="800">
                <a:effectLst/>
                <a:latin typeface="+mj-lt"/>
                <a:ea typeface="Aptos" panose="020B0004020202020204" pitchFamily="34" charset="0"/>
              </a:rPr>
              <a:t> </a:t>
            </a:r>
          </a:p>
          <a:p>
            <a:pPr>
              <a:buNone/>
            </a:pPr>
            <a:r>
              <a:rPr lang="en-AU" sz="800">
                <a:effectLst/>
                <a:latin typeface="+mj-lt"/>
                <a:ea typeface="Aptos" panose="020B0004020202020204" pitchFamily="34" charset="0"/>
              </a:rPr>
              <a:t>-- 3. Alerts are created in a suspended state; resume it to activate</a:t>
            </a:r>
          </a:p>
          <a:p>
            <a:pPr>
              <a:buNone/>
            </a:pPr>
            <a:r>
              <a:rPr lang="en-AU" sz="800" b="1" i="1">
                <a:solidFill>
                  <a:srgbClr val="00B050"/>
                </a:solidFill>
                <a:effectLst/>
                <a:latin typeface="+mj-lt"/>
                <a:ea typeface="Aptos" panose="020B0004020202020204" pitchFamily="34" charset="0"/>
              </a:rPr>
              <a:t>ALTER ALERT </a:t>
            </a:r>
            <a:r>
              <a:rPr lang="en-AU" sz="800" b="1" i="1" err="1">
                <a:solidFill>
                  <a:srgbClr val="00B050"/>
                </a:solidFill>
                <a:effectLst/>
                <a:latin typeface="+mj-lt"/>
                <a:ea typeface="Aptos" panose="020B0004020202020204" pitchFamily="34" charset="0"/>
              </a:rPr>
              <a:t>alert_owl_ingestion_failures</a:t>
            </a:r>
            <a:r>
              <a:rPr lang="en-AU" sz="800" b="1" i="1">
                <a:solidFill>
                  <a:srgbClr val="00B050"/>
                </a:solidFill>
                <a:effectLst/>
                <a:latin typeface="+mj-lt"/>
                <a:ea typeface="Aptos" panose="020B0004020202020204" pitchFamily="34" charset="0"/>
              </a:rPr>
              <a:t> RESUME;</a:t>
            </a:r>
            <a:endParaRPr lang="en-AU" sz="800" b="1" i="1">
              <a:solidFill>
                <a:srgbClr val="00B050"/>
              </a:solidFill>
              <a:latin typeface="+mj-lt"/>
            </a:endParaRPr>
          </a:p>
        </p:txBody>
      </p:sp>
    </p:spTree>
    <p:extLst>
      <p:ext uri="{BB962C8B-B14F-4D97-AF65-F5344CB8AC3E}">
        <p14:creationId xmlns:p14="http://schemas.microsoft.com/office/powerpoint/2010/main" val="1347285427"/>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1964F7F1-EB58-8B3E-6609-54272C6D42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18360A-D516-AB49-4591-4EE27C3E0F69}"/>
              </a:ext>
            </a:extLst>
          </p:cNvPr>
          <p:cNvSpPr txBox="1"/>
          <p:nvPr/>
        </p:nvSpPr>
        <p:spPr>
          <a:xfrm>
            <a:off x="164120" y="90142"/>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Snowflake</a:t>
            </a:r>
            <a:r>
              <a:rPr kumimoji="0" sz="3000" b="1" i="0" u="none" strike="noStrike" kern="1200" cap="none" spc="0" normalizeH="0" baseline="0" noProof="0">
                <a:ln>
                  <a:noFill/>
                </a:ln>
                <a:effectLst/>
                <a:uLnTx/>
                <a:uFillTx/>
                <a:latin typeface="Calibri"/>
                <a:ea typeface="+mn-ea"/>
                <a:cs typeface="+mn-cs"/>
              </a:rPr>
              <a:t> </a:t>
            </a:r>
            <a:r>
              <a:rPr kumimoji="0" lang="en-AU" sz="3000" b="1" i="0" u="none" strike="noStrike" kern="1200" cap="none" spc="0" normalizeH="0" baseline="0" noProof="0">
                <a:ln>
                  <a:noFill/>
                </a:ln>
                <a:effectLst/>
                <a:uLnTx/>
                <a:uFillTx/>
                <a:latin typeface="Calibri"/>
                <a:ea typeface="+mn-ea"/>
                <a:cs typeface="+mn-cs"/>
              </a:rPr>
              <a:t>– Ontology OWL – Turtle &lt;</a:t>
            </a:r>
            <a:r>
              <a:rPr kumimoji="0" lang="en-AU" sz="3000" b="0" i="0" u="none" strike="noStrike" kern="1200" cap="none" spc="0" normalizeH="0" baseline="0" noProof="0">
                <a:ln>
                  <a:noFill/>
                </a:ln>
                <a:effectLst/>
                <a:uLnTx/>
                <a:uFillTx/>
                <a:latin typeface="Aptos" panose="02110004020202020204"/>
                <a:ea typeface="+mn-ea"/>
                <a:cs typeface="+mn-cs"/>
              </a:rPr>
              <a:t> Terse RDF Triple Language </a:t>
            </a:r>
            <a:r>
              <a:rPr kumimoji="0" lang="en-AU" sz="3000" b="1" i="0" u="none" strike="noStrike" kern="1200" cap="none" spc="0" normalizeH="0" baseline="0" noProof="0">
                <a:ln>
                  <a:noFill/>
                </a:ln>
                <a:effectLst/>
                <a:uLnTx/>
                <a:uFillTx/>
                <a:latin typeface="Calibri"/>
                <a:ea typeface="+mn-ea"/>
                <a:cs typeface="+mn-cs"/>
              </a:rPr>
              <a:t>&gt;</a:t>
            </a:r>
            <a:endParaRPr kumimoji="0" sz="3000" b="1" i="0" u="none" strike="noStrike" kern="1200" cap="none" spc="0" normalizeH="0" baseline="0" noProof="0">
              <a:ln>
                <a:noFill/>
              </a:ln>
              <a:effectLst/>
              <a:uLnTx/>
              <a:uFillTx/>
              <a:latin typeface="Calibri"/>
              <a:ea typeface="+mn-ea"/>
              <a:cs typeface="+mn-cs"/>
            </a:endParaRPr>
          </a:p>
        </p:txBody>
      </p:sp>
      <p:sp>
        <p:nvSpPr>
          <p:cNvPr id="4" name="TextBox 3">
            <a:extLst>
              <a:ext uri="{FF2B5EF4-FFF2-40B4-BE49-F238E27FC236}">
                <a16:creationId xmlns:a16="http://schemas.microsoft.com/office/drawing/2014/main" id="{AB693A9C-A66D-1466-7B98-FEB535ED4764}"/>
              </a:ext>
            </a:extLst>
          </p:cNvPr>
          <p:cNvSpPr txBox="1"/>
          <p:nvPr/>
        </p:nvSpPr>
        <p:spPr>
          <a:xfrm>
            <a:off x="164119" y="742011"/>
            <a:ext cx="11536813" cy="707886"/>
          </a:xfrm>
          <a:prstGeom prst="rect">
            <a:avLst/>
          </a:prstGeom>
          <a:noFill/>
        </p:spPr>
        <p:txBody>
          <a:bodyPr wrap="square">
            <a:spAutoFit/>
          </a:bodyPr>
          <a:lstStyle/>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AU" sz="1000" b="0" i="0" u="none" strike="noStrike" kern="1200" cap="none" spc="0" normalizeH="0" baseline="0" noProof="0">
                <a:ln>
                  <a:noFill/>
                </a:ln>
                <a:effectLst/>
                <a:uLnTx/>
                <a:uFillTx/>
                <a:latin typeface="Aptos" panose="02110004020202020204"/>
                <a:ea typeface="+mn-ea"/>
                <a:cs typeface="+mn-cs"/>
              </a:rPr>
              <a:t>Store your .owl ontology file on an external stage and process it directly inside a Snowflake stored procedure. </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AU" sz="1000" b="0" i="0" u="none" strike="noStrike" kern="1200" cap="none" spc="0" normalizeH="0" baseline="0" noProof="0">
                <a:ln>
                  <a:noFill/>
                </a:ln>
                <a:effectLst/>
                <a:uLnTx/>
                <a:uFillTx/>
                <a:latin typeface="Aptos" panose="02110004020202020204"/>
                <a:ea typeface="+mn-ea"/>
                <a:cs typeface="+mn-cs"/>
              </a:rPr>
              <a:t>As an OWL file is unstructured RDF/XML or Turtle &lt;Terse RDF Triple Language&gt; data, we cannot query it using traditional SQL COPY INTO commands. </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AU" sz="1000" b="0" i="0" u="none" strike="noStrike" kern="1200" cap="none" spc="0" normalizeH="0" baseline="0" noProof="0">
                <a:ln>
                  <a:noFill/>
                </a:ln>
                <a:effectLst/>
                <a:uLnTx/>
                <a:uFillTx/>
                <a:latin typeface="Aptos" panose="02110004020202020204"/>
                <a:ea typeface="+mn-ea"/>
                <a:cs typeface="+mn-cs"/>
              </a:rPr>
              <a:t>We would use a Python stored procedure leveraging the </a:t>
            </a:r>
            <a:r>
              <a:rPr kumimoji="0" lang="en-AU" sz="1000" b="0" i="0" u="none" strike="noStrike" kern="1200" cap="none" spc="0" normalizeH="0" baseline="0" noProof="0" err="1">
                <a:ln>
                  <a:noFill/>
                </a:ln>
                <a:effectLst/>
                <a:uLnTx/>
                <a:uFillTx/>
                <a:latin typeface="Aptos" panose="02110004020202020204"/>
                <a:ea typeface="+mn-ea"/>
                <a:cs typeface="+mn-cs"/>
              </a:rPr>
              <a:t>SnowflakeFile</a:t>
            </a:r>
            <a:r>
              <a:rPr kumimoji="0" lang="en-AU" sz="1000" b="0" i="0" u="none" strike="noStrike" kern="1200" cap="none" spc="0" normalizeH="0" baseline="0" noProof="0">
                <a:ln>
                  <a:noFill/>
                </a:ln>
                <a:effectLst/>
                <a:uLnTx/>
                <a:uFillTx/>
                <a:latin typeface="Aptos" panose="02110004020202020204"/>
                <a:ea typeface="+mn-ea"/>
                <a:cs typeface="+mn-cs"/>
              </a:rPr>
              <a:t> class to stream and parse the file directly from the stage.</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a:tabLst/>
              <a:defRPr/>
            </a:pPr>
            <a:r>
              <a:rPr kumimoji="0" lang="en-AU" sz="1000" b="0" i="0" u="none" strike="noStrike" kern="1200" cap="none" spc="0" normalizeH="0" baseline="0" noProof="0">
                <a:ln>
                  <a:noFill/>
                </a:ln>
                <a:effectLst/>
                <a:uLnTx/>
                <a:uFillTx/>
                <a:latin typeface="Aptos" panose="02110004020202020204"/>
                <a:ea typeface="+mn-ea"/>
                <a:cs typeface="+mn-cs"/>
              </a:rPr>
              <a:t>We would create a </a:t>
            </a:r>
            <a:r>
              <a:rPr kumimoji="0" lang="en-AU" sz="1000" b="0" i="0" u="none" strike="noStrike" kern="1200" cap="none" spc="0" normalizeH="0" baseline="0" noProof="0" err="1">
                <a:ln>
                  <a:noFill/>
                </a:ln>
                <a:effectLst/>
                <a:uLnTx/>
                <a:uFillTx/>
                <a:latin typeface="Aptos" panose="02110004020202020204"/>
                <a:ea typeface="+mn-ea"/>
                <a:cs typeface="+mn-cs"/>
              </a:rPr>
              <a:t>treamlit</a:t>
            </a:r>
            <a:r>
              <a:rPr kumimoji="0" lang="en-AU" sz="1000" b="0" i="0" u="none" strike="noStrike" kern="1200" cap="none" spc="0" normalizeH="0" baseline="0" noProof="0">
                <a:ln>
                  <a:noFill/>
                </a:ln>
                <a:effectLst/>
                <a:uLnTx/>
                <a:uFillTx/>
                <a:latin typeface="Aptos" panose="02110004020202020204"/>
                <a:ea typeface="+mn-ea"/>
                <a:cs typeface="+mn-cs"/>
              </a:rPr>
              <a:t> app that exposed this OWL file to the end user via the UI to enable editing via UI to make it easier. This could be a Snowflake WebApp as well.</a:t>
            </a:r>
          </a:p>
        </p:txBody>
      </p:sp>
      <p:sp>
        <p:nvSpPr>
          <p:cNvPr id="8" name="TextBox 7">
            <a:extLst>
              <a:ext uri="{FF2B5EF4-FFF2-40B4-BE49-F238E27FC236}">
                <a16:creationId xmlns:a16="http://schemas.microsoft.com/office/drawing/2014/main" id="{15A1F1DF-78E8-E874-5B86-A3783F0114D3}"/>
              </a:ext>
            </a:extLst>
          </p:cNvPr>
          <p:cNvSpPr txBox="1"/>
          <p:nvPr/>
        </p:nvSpPr>
        <p:spPr>
          <a:xfrm>
            <a:off x="164118" y="1771791"/>
            <a:ext cx="4374015" cy="4016484"/>
          </a:xfrm>
          <a:prstGeom prst="rect">
            <a:avLst/>
          </a:prstGeom>
          <a:noFill/>
          <a:ln>
            <a:solidFill>
              <a:schemeClr val="tx1"/>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1) PE, EXTERNAL VOLUME AND STAGE CREATION </a:t>
            </a:r>
            <a:r>
              <a:rPr kumimoji="0" lang="en-AU" sz="800" b="0" i="0" u="none" strike="noStrike" kern="1200" cap="none" spc="0" normalizeH="0" baseline="0" noProof="0">
                <a:ln>
                  <a:noFill/>
                </a:ln>
                <a:effectLst/>
                <a:uLnTx/>
                <a:uFillTx/>
                <a:latin typeface="Aptos" panose="02110004020202020204"/>
                <a:ea typeface="+mn-ea"/>
                <a:cs typeface="+mn-cs"/>
                <a:sym typeface="Wingdings" panose="05000000000000000000" pitchFamily="2" charset="2"/>
              </a:rPr>
              <a:t> 1 ONE-OFF TASK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800" b="0" i="0" u="none" strike="noStrike" kern="1200" cap="none" spc="0" normalizeH="0" baseline="0" noProof="0">
              <a:ln>
                <a:noFill/>
              </a:ln>
              <a:effectLst/>
              <a:uLnTx/>
              <a:uFillTx/>
              <a:latin typeface="Aptos" panose="02110004020202020204"/>
              <a:ea typeface="+mn-ea"/>
              <a:cs typeface="+mn-cs"/>
              <a:sym typeface="Wingdings" panose="05000000000000000000" pitchFamily="2" charset="2"/>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sym typeface="Wingdings" panose="05000000000000000000" pitchFamily="2" charset="2"/>
              </a:rPr>
              <a:t>2) Sample Stored Procedure parsing of .owl (RDF format based)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CREATE OR REPLACE PROCEDURE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parse_owl_ontology</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file_relative_path</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STRING)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RETURNS STRING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LANGUAGE PYTHON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RUNTIME_VERSION = '3.10'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PACKAGES = ('snowflake-</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snowpark</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-python') -- Add standard python xml packages if needed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HANDLER = 'main'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from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snowflake.snowpark.files</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import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SnowflakeFile</a:t>
            </a:r>
            <a:endParaRPr kumimoji="0" lang="en-AU" sz="800" b="1" i="1" u="none" strike="noStrike" kern="1200" cap="none" spc="0" normalizeH="0" baseline="0" noProof="0">
              <a:ln>
                <a:noFill/>
              </a:ln>
              <a:solidFill>
                <a:srgbClr val="00B050"/>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import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xml.etree.ElementTree</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as ET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def main(session,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file_relative_path</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 1. Generate the absolute stage path</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stage_file_url</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 f"@</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fcsai_external_owl_stage</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file_relative_path</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 2. Open and stream the file directly from the external stage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with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SnowflakeFile.open</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stage_file_url</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'r') as file: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 Read file contents as a string or pass to an XML parser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file_content</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file.read</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 Example: Simple parsing logic (e.g., counting character length)</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 could also use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ET.fromstring</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file_content</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to navigate RDF nodes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file_length</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len</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file_content</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return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f"Successfully</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processed OWL file. Size: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file_length</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 characters."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8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ptos" panose="02110004020202020204"/>
                <a:ea typeface="+mn-ea"/>
                <a:cs typeface="+mn-cs"/>
              </a:rPr>
              <a:t>3)  Execution </a:t>
            </a:r>
            <a:r>
              <a:rPr kumimoji="0" lang="en-AU" sz="800" b="0" i="0" u="none" strike="noStrike" kern="1200" cap="none" spc="0" normalizeH="0" baseline="0" noProof="0">
                <a:ln>
                  <a:noFill/>
                </a:ln>
                <a:effectLst/>
                <a:uLnTx/>
                <a:uFillTx/>
                <a:latin typeface="Aptos" panose="02110004020202020204"/>
                <a:ea typeface="+mn-ea"/>
                <a:cs typeface="+mn-cs"/>
                <a:sym typeface="Wingdings" panose="05000000000000000000" pitchFamily="2" charset="2"/>
              </a:rPr>
              <a:t> </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CALL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parse_owl_ontology</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fi_cusacctxndev.owl</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a:t>
            </a:r>
          </a:p>
        </p:txBody>
      </p:sp>
      <p:sp>
        <p:nvSpPr>
          <p:cNvPr id="13" name="TextBox 12">
            <a:extLst>
              <a:ext uri="{FF2B5EF4-FFF2-40B4-BE49-F238E27FC236}">
                <a16:creationId xmlns:a16="http://schemas.microsoft.com/office/drawing/2014/main" id="{EF936E35-71DC-BCDD-3285-66C46C8D0224}"/>
              </a:ext>
            </a:extLst>
          </p:cNvPr>
          <p:cNvSpPr txBox="1"/>
          <p:nvPr/>
        </p:nvSpPr>
        <p:spPr>
          <a:xfrm>
            <a:off x="253848" y="6325743"/>
            <a:ext cx="6096000"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effectLst/>
                <a:uLnTx/>
                <a:uFillTx/>
                <a:latin typeface="Arial" panose="020B0604020202020204" pitchFamily="34" charset="0"/>
                <a:ea typeface="Times New Roman" panose="02020603050405020304" pitchFamily="18" charset="0"/>
                <a:cs typeface="+mn-cs"/>
              </a:rPr>
              <a:t>If  </a:t>
            </a:r>
            <a:r>
              <a:rPr kumimoji="0" lang="en-AU" sz="800" b="0" i="0" u="none" strike="noStrike" kern="1200" cap="none" spc="0" normalizeH="0" baseline="0" noProof="0">
                <a:ln>
                  <a:noFill/>
                </a:ln>
                <a:effectLst/>
                <a:uLnTx/>
                <a:uFillTx/>
                <a:latin typeface="Arial" panose="020B0604020202020204" pitchFamily="34" charset="0"/>
                <a:ea typeface="+mn-ea"/>
                <a:cs typeface="+mn-cs"/>
              </a:rPr>
              <a:t>there is a need for dedicated semantic web packages like </a:t>
            </a:r>
            <a:r>
              <a:rPr kumimoji="0" lang="en-AU" sz="800" b="0" i="0" u="none" strike="noStrike" kern="1200" cap="none" spc="0" normalizeH="0" baseline="0" noProof="0" err="1">
                <a:ln>
                  <a:noFill/>
                </a:ln>
                <a:effectLst/>
                <a:uLnTx/>
                <a:uFillTx/>
                <a:latin typeface="Arial" panose="020B0604020202020204" pitchFamily="34" charset="0"/>
                <a:ea typeface="+mn-ea"/>
                <a:cs typeface="+mn-cs"/>
              </a:rPr>
              <a:t>rdflib</a:t>
            </a:r>
            <a:r>
              <a:rPr kumimoji="0" lang="en-AU" sz="800" b="0" i="0" u="none" strike="noStrike" kern="1200" cap="none" spc="0" normalizeH="0" baseline="0" noProof="0">
                <a:ln>
                  <a:noFill/>
                </a:ln>
                <a:effectLst/>
                <a:uLnTx/>
                <a:uFillTx/>
                <a:latin typeface="Arial" panose="020B0604020202020204" pitchFamily="34" charset="0"/>
                <a:ea typeface="+mn-ea"/>
                <a:cs typeface="+mn-cs"/>
              </a:rPr>
              <a:t> to parse the graph nodes, use them via the Snowflake Anaconda Channel. If not, download to Artifactory, run ISG Scan, upload it to stage, and include it in procedure's IMPORTS</a:t>
            </a:r>
            <a:r>
              <a:rPr kumimoji="0" lang="en-AU" sz="800" b="0" i="0" u="none" strike="noStrike" kern="1200" cap="none" spc="0" normalizeH="0" baseline="0" noProof="0">
                <a:ln>
                  <a:noFill/>
                </a:ln>
                <a:effectLst/>
                <a:uLnTx/>
                <a:uFillTx/>
                <a:latin typeface="Arial" panose="020B0604020202020204" pitchFamily="34" charset="0"/>
                <a:ea typeface="Times New Roman" panose="02020603050405020304" pitchFamily="18" charset="0"/>
                <a:cs typeface="+mn-cs"/>
              </a:rPr>
              <a:t> clause</a:t>
            </a:r>
            <a:endParaRPr kumimoji="0" lang="en-AU" sz="800" b="0" i="0" u="none" strike="noStrike" kern="1200" cap="none" spc="0" normalizeH="0" baseline="0" noProof="0">
              <a:ln>
                <a:noFill/>
              </a:ln>
              <a:effectLst/>
              <a:uLnTx/>
              <a:uFillTx/>
              <a:latin typeface="Aptos" panose="02110004020202020204"/>
              <a:ea typeface="+mn-ea"/>
              <a:cs typeface="+mn-cs"/>
            </a:endParaRPr>
          </a:p>
        </p:txBody>
      </p:sp>
      <p:sp>
        <p:nvSpPr>
          <p:cNvPr id="15" name="Arrow: Right 14">
            <a:extLst>
              <a:ext uri="{FF2B5EF4-FFF2-40B4-BE49-F238E27FC236}">
                <a16:creationId xmlns:a16="http://schemas.microsoft.com/office/drawing/2014/main" id="{39DF4123-53CD-483A-1845-7A9350249ED9}"/>
              </a:ext>
            </a:extLst>
          </p:cNvPr>
          <p:cNvSpPr/>
          <p:nvPr/>
        </p:nvSpPr>
        <p:spPr>
          <a:xfrm>
            <a:off x="4597400" y="3547534"/>
            <a:ext cx="1253067" cy="22860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chemeClr val="tx1"/>
              </a:solidFill>
              <a:effectLst/>
              <a:uLnTx/>
              <a:uFillTx/>
              <a:latin typeface="Aptos" panose="02110004020202020204"/>
              <a:ea typeface="+mn-ea"/>
              <a:cs typeface="+mn-cs"/>
            </a:endParaRPr>
          </a:p>
        </p:txBody>
      </p:sp>
      <p:sp>
        <p:nvSpPr>
          <p:cNvPr id="18" name="TextBox 17">
            <a:extLst>
              <a:ext uri="{FF2B5EF4-FFF2-40B4-BE49-F238E27FC236}">
                <a16:creationId xmlns:a16="http://schemas.microsoft.com/office/drawing/2014/main" id="{DB22001C-E50C-DB78-2815-74C5A67FD6D6}"/>
              </a:ext>
            </a:extLst>
          </p:cNvPr>
          <p:cNvSpPr txBox="1"/>
          <p:nvPr/>
        </p:nvSpPr>
        <p:spPr>
          <a:xfrm>
            <a:off x="5932525" y="1771791"/>
            <a:ext cx="5988542" cy="3662541"/>
          </a:xfrm>
          <a:prstGeom prst="rect">
            <a:avLst/>
          </a:prstGeom>
          <a:noFill/>
          <a:ln>
            <a:solidFill>
              <a:schemeClr val="tx1"/>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800" b="0" i="0" u="sng" strike="noStrike" kern="1200" cap="none" spc="0" normalizeH="0" baseline="0" noProof="0">
                <a:ln>
                  <a:noFill/>
                </a:ln>
                <a:effectLst/>
                <a:uLnTx/>
                <a:uFillTx/>
                <a:latin typeface="Aptos" panose="02110004020202020204"/>
                <a:ea typeface="+mn-ea"/>
                <a:cs typeface="+mn-cs"/>
              </a:rPr>
              <a:t>Samples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800" b="0" i="0" u="sng" strike="noStrike" kern="1200" cap="none" spc="0" normalizeH="0" baseline="0" noProof="0">
              <a:ln>
                <a:noFill/>
              </a:ln>
              <a:effectLst/>
              <a:uLnTx/>
              <a:uFillTx/>
              <a:latin typeface="Aptos"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effectLst/>
                <a:uLnTx/>
                <a:uFillTx/>
                <a:latin typeface="Aptos" panose="02110004020202020204"/>
                <a:ea typeface="+mn-ea"/>
                <a:cs typeface="+mn-cs"/>
              </a:rPr>
              <a:t>Multi-Relationship OWL File (finance_ontology_v2.ttl)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effectLst/>
                <a:uLnTx/>
                <a:uFillTx/>
                <a:latin typeface="Aptos" panose="0211000402020202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effectLst/>
                <a:uLnTx/>
                <a:uFillTx/>
                <a:latin typeface="Aptos" panose="02110004020202020204"/>
                <a:ea typeface="+mn-ea"/>
                <a:cs typeface="+mn-cs"/>
              </a:rPr>
              <a:t>Database Architecture (Star Schema)  </a:t>
            </a: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effectLst/>
                <a:uLnTx/>
                <a:uFillTx/>
                <a:latin typeface="Aptos" panose="02110004020202020204"/>
                <a:ea typeface="+mn-ea"/>
                <a:cs typeface="+mn-cs"/>
              </a:rPr>
              <a:t>CREATE INDIVIDUAL ENTITY TABLES HERE (FACTS / DIMENSIONS or NODES / EDGES) – Base tables to store RAW data and Relationships</a:t>
            </a: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effectLst/>
                <a:uLnTx/>
                <a:uFillTx/>
                <a:latin typeface="Aptos" panose="02110004020202020204"/>
                <a:ea typeface="+mn-ea"/>
                <a:cs typeface="+mn-cs"/>
              </a:rPr>
              <a:t>FOR SIMPLE RELATIONSHIPS - Use Semi-Structured Arrays</a:t>
            </a: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effectLst/>
                <a:uLnTx/>
                <a:uFillTx/>
                <a:latin typeface="Aptos" panose="02110004020202020204"/>
                <a:ea typeface="+mn-ea"/>
                <a:cs typeface="+mn-cs"/>
              </a:rPr>
              <a:t>Stored Procedure with Dynamic Array Aggregation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a:ln>
                <a:noFill/>
              </a:ln>
              <a:effectLst/>
              <a:uLnTx/>
              <a:uFillTx/>
              <a:latin typeface="Aptos"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effectLst/>
                <a:uLnTx/>
                <a:uFillTx/>
                <a:latin typeface="Aptos" panose="02110004020202020204"/>
                <a:ea typeface="+mn-ea"/>
                <a:cs typeface="+mn-cs"/>
              </a:rPr>
              <a:t>Querying the Many-to-Many Output Table</a:t>
            </a: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CALL </a:t>
            </a:r>
            <a:r>
              <a:rPr kumimoji="0" lang="en-AU" sz="800" b="1" i="1" u="none" strike="noStrike" kern="1200" cap="none" spc="0" normalizeH="0" baseline="0" noProof="0" err="1">
                <a:ln>
                  <a:noFill/>
                </a:ln>
                <a:solidFill>
                  <a:srgbClr val="00B050"/>
                </a:solidFill>
                <a:effectLst/>
                <a:uLnTx/>
                <a:uFillTx/>
                <a:latin typeface="Aptos" panose="02110004020202020204"/>
                <a:ea typeface="+mn-ea"/>
                <a:cs typeface="+mn-cs"/>
              </a:rPr>
              <a:t>ingest_owl_to_star_schema</a:t>
            </a:r>
            <a:r>
              <a:rPr kumimoji="0" lang="en-AU" sz="800" b="1" i="1" u="none" strike="noStrike" kern="1200" cap="none" spc="0" normalizeH="0" baseline="0" noProof="0">
                <a:ln>
                  <a:noFill/>
                </a:ln>
                <a:solidFill>
                  <a:srgbClr val="00B050"/>
                </a:solidFill>
                <a:effectLst/>
                <a:uLnTx/>
                <a:uFillTx/>
                <a:latin typeface="Aptos" panose="02110004020202020204"/>
                <a:ea typeface="+mn-ea"/>
                <a:cs typeface="+mn-cs"/>
              </a:rPr>
              <a:t>('finance_ontology_v2.ttl')</a:t>
            </a:r>
          </a:p>
        </p:txBody>
      </p:sp>
      <p:graphicFrame>
        <p:nvGraphicFramePr>
          <p:cNvPr id="20" name="Object 19">
            <a:extLst>
              <a:ext uri="{FF2B5EF4-FFF2-40B4-BE49-F238E27FC236}">
                <a16:creationId xmlns:a16="http://schemas.microsoft.com/office/drawing/2014/main" id="{9107FEE0-7B45-1005-4A9F-5788781EE333}"/>
              </a:ext>
            </a:extLst>
          </p:cNvPr>
          <p:cNvGraphicFramePr>
            <a:graphicFrameLocks noChangeAspect="1"/>
          </p:cNvGraphicFramePr>
          <p:nvPr/>
        </p:nvGraphicFramePr>
        <p:xfrm>
          <a:off x="6075098" y="2279586"/>
          <a:ext cx="1646237" cy="517525"/>
        </p:xfrm>
        <a:graphic>
          <a:graphicData uri="http://schemas.openxmlformats.org/presentationml/2006/ole">
            <mc:AlternateContent xmlns:mc="http://schemas.openxmlformats.org/markup-compatibility/2006">
              <mc:Choice xmlns:v="urn:schemas-microsoft-com:vml" Requires="v">
                <p:oleObj name="Packager Shell Object" showAsIcon="1" r:id="rId4" imgW="1646162" imgH="517998" progId="Package">
                  <p:embed/>
                </p:oleObj>
              </mc:Choice>
              <mc:Fallback>
                <p:oleObj name="Packager Shell Object" showAsIcon="1" r:id="rId4" imgW="1646162" imgH="517998" progId="Package">
                  <p:embed/>
                  <p:pic>
                    <p:nvPicPr>
                      <p:cNvPr id="20" name="Object 19">
                        <a:extLst>
                          <a:ext uri="{FF2B5EF4-FFF2-40B4-BE49-F238E27FC236}">
                            <a16:creationId xmlns:a16="http://schemas.microsoft.com/office/drawing/2014/main" id="{9107FEE0-7B45-1005-4A9F-5788781EE333}"/>
                          </a:ext>
                        </a:extLst>
                      </p:cNvPr>
                      <p:cNvPicPr/>
                      <p:nvPr/>
                    </p:nvPicPr>
                    <p:blipFill>
                      <a:blip r:embed="rId5"/>
                      <a:stretch>
                        <a:fillRect/>
                      </a:stretch>
                    </p:blipFill>
                    <p:spPr>
                      <a:xfrm>
                        <a:off x="6075098" y="2279586"/>
                        <a:ext cx="1646237" cy="517525"/>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BE40B579-88B3-F336-DB0D-E2C84AD09C7E}"/>
              </a:ext>
            </a:extLst>
          </p:cNvPr>
          <p:cNvGraphicFramePr>
            <a:graphicFrameLocks noChangeAspect="1"/>
          </p:cNvGraphicFramePr>
          <p:nvPr/>
        </p:nvGraphicFramePr>
        <p:xfrm>
          <a:off x="6075098" y="3681713"/>
          <a:ext cx="2095500" cy="517525"/>
        </p:xfrm>
        <a:graphic>
          <a:graphicData uri="http://schemas.openxmlformats.org/presentationml/2006/ole">
            <mc:AlternateContent xmlns:mc="http://schemas.openxmlformats.org/markup-compatibility/2006">
              <mc:Choice xmlns:v="urn:schemas-microsoft-com:vml" Requires="v">
                <p:oleObj name="Packager Shell Object" showAsIcon="1" r:id="rId6" imgW="2095732" imgH="517998" progId="Package">
                  <p:embed/>
                </p:oleObj>
              </mc:Choice>
              <mc:Fallback>
                <p:oleObj name="Packager Shell Object" showAsIcon="1" r:id="rId6" imgW="2095732" imgH="517998" progId="Package">
                  <p:embed/>
                  <p:pic>
                    <p:nvPicPr>
                      <p:cNvPr id="21" name="Object 20">
                        <a:extLst>
                          <a:ext uri="{FF2B5EF4-FFF2-40B4-BE49-F238E27FC236}">
                            <a16:creationId xmlns:a16="http://schemas.microsoft.com/office/drawing/2014/main" id="{BE40B579-88B3-F336-DB0D-E2C84AD09C7E}"/>
                          </a:ext>
                        </a:extLst>
                      </p:cNvPr>
                      <p:cNvPicPr/>
                      <p:nvPr/>
                    </p:nvPicPr>
                    <p:blipFill>
                      <a:blip r:embed="rId7"/>
                      <a:stretch>
                        <a:fillRect/>
                      </a:stretch>
                    </p:blipFill>
                    <p:spPr>
                      <a:xfrm>
                        <a:off x="6075098" y="3681713"/>
                        <a:ext cx="2095500" cy="517525"/>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9F1C859A-893B-2A2F-6A16-48DFE81FB697}"/>
              </a:ext>
            </a:extLst>
          </p:cNvPr>
          <p:cNvGraphicFramePr>
            <a:graphicFrameLocks noChangeAspect="1"/>
          </p:cNvGraphicFramePr>
          <p:nvPr/>
        </p:nvGraphicFramePr>
        <p:xfrm>
          <a:off x="6349848" y="4546142"/>
          <a:ext cx="1700213" cy="517525"/>
        </p:xfrm>
        <a:graphic>
          <a:graphicData uri="http://schemas.openxmlformats.org/presentationml/2006/ole">
            <mc:AlternateContent xmlns:mc="http://schemas.openxmlformats.org/markup-compatibility/2006">
              <mc:Choice xmlns:v="urn:schemas-microsoft-com:vml" Requires="v">
                <p:oleObj name="Packager Shell Object" showAsIcon="1" r:id="rId8" imgW="1699452" imgH="517998" progId="Package">
                  <p:embed/>
                </p:oleObj>
              </mc:Choice>
              <mc:Fallback>
                <p:oleObj name="Packager Shell Object" showAsIcon="1" r:id="rId8" imgW="1699452" imgH="517998" progId="Package">
                  <p:embed/>
                  <p:pic>
                    <p:nvPicPr>
                      <p:cNvPr id="22" name="Object 21">
                        <a:extLst>
                          <a:ext uri="{FF2B5EF4-FFF2-40B4-BE49-F238E27FC236}">
                            <a16:creationId xmlns:a16="http://schemas.microsoft.com/office/drawing/2014/main" id="{9F1C859A-893B-2A2F-6A16-48DFE81FB697}"/>
                          </a:ext>
                        </a:extLst>
                      </p:cNvPr>
                      <p:cNvPicPr/>
                      <p:nvPr/>
                    </p:nvPicPr>
                    <p:blipFill>
                      <a:blip r:embed="rId9"/>
                      <a:stretch>
                        <a:fillRect/>
                      </a:stretch>
                    </p:blipFill>
                    <p:spPr>
                      <a:xfrm>
                        <a:off x="6349848" y="4546142"/>
                        <a:ext cx="1700213" cy="517525"/>
                      </a:xfrm>
                      <a:prstGeom prst="rect">
                        <a:avLst/>
                      </a:prstGeom>
                    </p:spPr>
                  </p:pic>
                </p:oleObj>
              </mc:Fallback>
            </mc:AlternateContent>
          </a:graphicData>
        </a:graphic>
      </p:graphicFrame>
    </p:spTree>
    <p:extLst>
      <p:ext uri="{BB962C8B-B14F-4D97-AF65-F5344CB8AC3E}">
        <p14:creationId xmlns:p14="http://schemas.microsoft.com/office/powerpoint/2010/main" val="2732512236"/>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ABB0FBA5-9D08-3D87-6501-CBEE5E8350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5E786C-2BD7-5BA1-FAD4-8A3F14D6348C}"/>
              </a:ext>
            </a:extLst>
          </p:cNvPr>
          <p:cNvSpPr txBox="1"/>
          <p:nvPr/>
        </p:nvSpPr>
        <p:spPr>
          <a:xfrm>
            <a:off x="164120" y="90142"/>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Snowflake</a:t>
            </a:r>
            <a:r>
              <a:rPr kumimoji="0" sz="3000" b="1" i="0" u="none" strike="noStrike" kern="1200" cap="none" spc="0" normalizeH="0" baseline="0" noProof="0">
                <a:ln>
                  <a:noFill/>
                </a:ln>
                <a:effectLst/>
                <a:uLnTx/>
                <a:uFillTx/>
                <a:latin typeface="Calibri"/>
                <a:ea typeface="+mn-ea"/>
                <a:cs typeface="+mn-cs"/>
              </a:rPr>
              <a:t> </a:t>
            </a:r>
            <a:r>
              <a:rPr kumimoji="0" lang="en-AU" sz="3000" b="1" i="0" u="none" strike="noStrike" kern="1200" cap="none" spc="0" normalizeH="0" baseline="0" noProof="0">
                <a:ln>
                  <a:noFill/>
                </a:ln>
                <a:effectLst/>
                <a:uLnTx/>
                <a:uFillTx/>
                <a:latin typeface="Calibri"/>
                <a:ea typeface="+mn-ea"/>
                <a:cs typeface="+mn-cs"/>
              </a:rPr>
              <a:t>– Ontology with OWL (Options)</a:t>
            </a:r>
            <a:endParaRPr kumimoji="0" sz="3000" b="1" i="0" u="none" strike="noStrike" kern="1200" cap="none" spc="0" normalizeH="0" baseline="0" noProof="0">
              <a:ln>
                <a:noFill/>
              </a:ln>
              <a:effectLst/>
              <a:uLnTx/>
              <a:uFillTx/>
              <a:latin typeface="Calibri"/>
              <a:ea typeface="+mn-ea"/>
              <a:cs typeface="+mn-cs"/>
            </a:endParaRPr>
          </a:p>
        </p:txBody>
      </p:sp>
      <p:sp>
        <p:nvSpPr>
          <p:cNvPr id="10" name="TextBox 9">
            <a:extLst>
              <a:ext uri="{FF2B5EF4-FFF2-40B4-BE49-F238E27FC236}">
                <a16:creationId xmlns:a16="http://schemas.microsoft.com/office/drawing/2014/main" id="{98DB0081-EF66-FB1C-4D10-776254914EF0}"/>
              </a:ext>
            </a:extLst>
          </p:cNvPr>
          <p:cNvSpPr txBox="1"/>
          <p:nvPr/>
        </p:nvSpPr>
        <p:spPr>
          <a:xfrm>
            <a:off x="270933" y="855742"/>
            <a:ext cx="5063067" cy="4801314"/>
          </a:xfrm>
          <a:prstGeom prst="rect">
            <a:avLst/>
          </a:prstGeom>
          <a:noFill/>
          <a:ln>
            <a:solidFill>
              <a:schemeClr val="tx1"/>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RDF (Resource Description Framework) is a standard model for representing graph-structured data, and it can be expressed in multiple serialization formats beyond </a:t>
            </a:r>
            <a:r>
              <a:rPr kumimoji="0" lang="en-AU" sz="900" b="1" i="0" u="none" strike="noStrike" kern="1200" cap="none" spc="0" normalizeH="0" baseline="0" noProof="0">
                <a:ln>
                  <a:noFill/>
                </a:ln>
                <a:effectLst/>
                <a:uLnTx/>
                <a:uFillTx/>
                <a:latin typeface="Aptos Display" panose="02110004020202020204"/>
                <a:ea typeface="+mn-ea"/>
                <a:cs typeface="+mn-cs"/>
              </a:rPr>
              <a:t>Turtle</a:t>
            </a:r>
            <a:r>
              <a:rPr kumimoji="0" lang="en-AU" sz="900" b="0" i="0" u="none" strike="noStrike" kern="1200" cap="none" spc="0" normalizeH="0" baseline="0" noProof="0">
                <a:ln>
                  <a:noFill/>
                </a:ln>
                <a:effectLst/>
                <a:uLnTx/>
                <a:uFillTx/>
                <a:latin typeface="Aptos Display" panose="02110004020202020204"/>
                <a:ea typeface="+mn-ea"/>
                <a:cs typeface="+mn-cs"/>
              </a:rPr>
              <a:t> and </a:t>
            </a:r>
            <a:r>
              <a:rPr kumimoji="0" lang="en-AU" sz="900" b="1" i="0" u="none" strike="noStrike" kern="1200" cap="none" spc="0" normalizeH="0" baseline="0" noProof="0">
                <a:ln>
                  <a:noFill/>
                </a:ln>
                <a:effectLst/>
                <a:uLnTx/>
                <a:uFillTx/>
                <a:latin typeface="Aptos Display" panose="02110004020202020204"/>
                <a:ea typeface="+mn-ea"/>
                <a:cs typeface="+mn-cs"/>
              </a:rPr>
              <a:t>RDF/XML</a:t>
            </a:r>
            <a:r>
              <a:rPr kumimoji="0" lang="en-AU" sz="900" b="0" i="0" u="none" strike="noStrike" kern="1200" cap="none" spc="0" normalizeH="0" baseline="0" noProof="0">
                <a:ln>
                  <a:noFill/>
                </a:ln>
                <a:effectLst/>
                <a:uLnTx/>
                <a:uFillTx/>
                <a:latin typeface="Aptos Display"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Display"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Display" panose="02110004020202020204"/>
                <a:ea typeface="+mn-ea"/>
                <a:cs typeface="+mn-cs"/>
              </a:rPr>
              <a:t>1. N-Triples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A </a:t>
            </a:r>
            <a:r>
              <a:rPr kumimoji="0" lang="en-AU" sz="900" b="1" i="0" u="none" strike="noStrike" kern="1200" cap="none" spc="0" normalizeH="0" baseline="0" noProof="0">
                <a:ln>
                  <a:noFill/>
                </a:ln>
                <a:effectLst/>
                <a:uLnTx/>
                <a:uFillTx/>
                <a:latin typeface="Aptos Display" panose="02110004020202020204"/>
                <a:ea typeface="+mn-ea"/>
                <a:cs typeface="+mn-cs"/>
              </a:rPr>
              <a:t>line-based, plain text format</a:t>
            </a:r>
            <a:r>
              <a:rPr kumimoji="0" lang="en-AU" sz="900" b="0" i="0" u="none" strike="noStrike" kern="1200" cap="none" spc="0" normalizeH="0" baseline="0" noProof="0">
                <a:ln>
                  <a:noFill/>
                </a:ln>
                <a:effectLst/>
                <a:uLnTx/>
                <a:uFillTx/>
                <a:latin typeface="Aptos Display" panose="02110004020202020204"/>
                <a:ea typeface="+mn-ea"/>
                <a:cs typeface="+mn-cs"/>
              </a:rPr>
              <a:t> for RDF.</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Each line is a single RDF triple (subject predicate object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Ideal for </a:t>
            </a:r>
            <a:r>
              <a:rPr kumimoji="0" lang="en-AU" sz="900" b="1" i="0" u="none" strike="noStrike" kern="1200" cap="none" spc="0" normalizeH="0" baseline="0" noProof="0">
                <a:ln>
                  <a:noFill/>
                </a:ln>
                <a:effectLst/>
                <a:uLnTx/>
                <a:uFillTx/>
                <a:latin typeface="Aptos Display" panose="02110004020202020204"/>
                <a:ea typeface="+mn-ea"/>
                <a:cs typeface="+mn-cs"/>
              </a:rPr>
              <a:t>large datasets</a:t>
            </a:r>
            <a:r>
              <a:rPr kumimoji="0" lang="en-AU" sz="900" b="0" i="0" u="none" strike="noStrike" kern="1200" cap="none" spc="0" normalizeH="0" baseline="0" noProof="0">
                <a:ln>
                  <a:noFill/>
                </a:ln>
                <a:effectLst/>
                <a:uLnTx/>
                <a:uFillTx/>
                <a:latin typeface="Aptos Display" panose="02110004020202020204"/>
                <a:ea typeface="+mn-ea"/>
                <a:cs typeface="+mn-cs"/>
              </a:rPr>
              <a:t> and </a:t>
            </a:r>
            <a:r>
              <a:rPr kumimoji="0" lang="en-AU" sz="900" b="1" i="0" u="none" strike="noStrike" kern="1200" cap="none" spc="0" normalizeH="0" baseline="0" noProof="0">
                <a:ln>
                  <a:noFill/>
                </a:ln>
                <a:effectLst/>
                <a:uLnTx/>
                <a:uFillTx/>
                <a:latin typeface="Aptos Display" panose="02110004020202020204"/>
                <a:ea typeface="+mn-ea"/>
                <a:cs typeface="+mn-cs"/>
              </a:rPr>
              <a:t>streaming applications</a:t>
            </a:r>
            <a:r>
              <a:rPr kumimoji="0" lang="en-AU" sz="900" b="0" i="0" u="none" strike="noStrike" kern="1200" cap="none" spc="0" normalizeH="0" baseline="0" noProof="0">
                <a:ln>
                  <a:noFill/>
                </a:ln>
                <a:effectLst/>
                <a:uLnTx/>
                <a:uFillTx/>
                <a:latin typeface="Aptos Display" panose="02110004020202020204"/>
                <a:ea typeface="+mn-ea"/>
                <a:cs typeface="+mn-cs"/>
              </a:rPr>
              <a:t> because of its simplicity.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Display"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Display" panose="02110004020202020204"/>
                <a:ea typeface="+mn-ea"/>
                <a:cs typeface="+mn-cs"/>
              </a:rPr>
              <a:t>2. N-Quads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Extension of N-Triples, adds a fourth element: </a:t>
            </a:r>
            <a:r>
              <a:rPr kumimoji="0" lang="en-AU" sz="900" b="1" i="0" u="none" strike="noStrike" kern="1200" cap="none" spc="0" normalizeH="0" baseline="0" noProof="0">
                <a:ln>
                  <a:noFill/>
                </a:ln>
                <a:effectLst/>
                <a:uLnTx/>
                <a:uFillTx/>
                <a:latin typeface="Aptos Display" panose="02110004020202020204"/>
                <a:ea typeface="+mn-ea"/>
                <a:cs typeface="+mn-cs"/>
              </a:rPr>
              <a:t>graph context</a:t>
            </a:r>
            <a:r>
              <a:rPr kumimoji="0" lang="en-AU" sz="900" b="0" i="0" u="none" strike="noStrike" kern="1200" cap="none" spc="0" normalizeH="0" baseline="0" noProof="0">
                <a:ln>
                  <a:noFill/>
                </a:ln>
                <a:effectLst/>
                <a:uLnTx/>
                <a:uFillTx/>
                <a:latin typeface="Aptos Display"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Suitable for storing multiple RDF graphs in a single file.</a:t>
            </a:r>
            <a:br>
              <a:rPr kumimoji="0" lang="en-AU" sz="900" b="0" i="0" u="none" strike="noStrike" kern="1200" cap="none" spc="0" normalizeH="0" baseline="0" noProof="0">
                <a:ln>
                  <a:noFill/>
                </a:ln>
                <a:effectLst/>
                <a:uLnTx/>
                <a:uFillTx/>
                <a:latin typeface="Aptos Display" panose="02110004020202020204"/>
                <a:ea typeface="+mn-ea"/>
                <a:cs typeface="+mn-cs"/>
              </a:rPr>
            </a:br>
            <a:endParaRPr kumimoji="0" lang="en-AU" sz="900" b="0" i="0" u="none" strike="noStrike" kern="1200" cap="none" spc="0" normalizeH="0" baseline="0" noProof="0">
              <a:ln>
                <a:noFill/>
              </a:ln>
              <a:effectLst/>
              <a:uLnTx/>
              <a:uFillTx/>
              <a:latin typeface="Aptos Display"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Display" panose="02110004020202020204"/>
                <a:ea typeface="+mn-ea"/>
                <a:cs typeface="+mn-cs"/>
              </a:rPr>
              <a:t>3. JSON-LD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RDF represented as </a:t>
            </a:r>
            <a:r>
              <a:rPr kumimoji="0" lang="en-AU" sz="900" b="1" i="0" u="none" strike="noStrike" kern="1200" cap="none" spc="0" normalizeH="0" baseline="0" noProof="0">
                <a:ln>
                  <a:noFill/>
                </a:ln>
                <a:effectLst/>
                <a:uLnTx/>
                <a:uFillTx/>
                <a:latin typeface="Aptos Display" panose="02110004020202020204"/>
                <a:ea typeface="+mn-ea"/>
                <a:cs typeface="+mn-cs"/>
              </a:rPr>
              <a:t>JSON</a:t>
            </a:r>
            <a:r>
              <a:rPr kumimoji="0" lang="en-AU" sz="900" b="0" i="0" u="none" strike="noStrike" kern="1200" cap="none" spc="0" normalizeH="0" baseline="0" noProof="0">
                <a:ln>
                  <a:noFill/>
                </a:ln>
                <a:effectLst/>
                <a:uLnTx/>
                <a:uFillTx/>
                <a:latin typeface="Aptos Display" panose="02110004020202020204"/>
                <a:ea typeface="+mn-ea"/>
                <a:cs typeface="+mn-cs"/>
              </a:rPr>
              <a:t>, making it easier to integrate with web applications.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Supports </a:t>
            </a:r>
            <a:r>
              <a:rPr kumimoji="0" lang="en-AU" sz="900" b="1" i="0" u="none" strike="noStrike" kern="1200" cap="none" spc="0" normalizeH="0" baseline="0" noProof="0">
                <a:ln>
                  <a:noFill/>
                </a:ln>
                <a:effectLst/>
                <a:uLnTx/>
                <a:uFillTx/>
                <a:latin typeface="Aptos Display" panose="02110004020202020204"/>
                <a:ea typeface="+mn-ea"/>
                <a:cs typeface="+mn-cs"/>
              </a:rPr>
              <a:t>linked data principles</a:t>
            </a:r>
            <a:r>
              <a:rPr kumimoji="0" lang="en-AU" sz="900" b="0" i="0" u="none" strike="noStrike" kern="1200" cap="none" spc="0" normalizeH="0" baseline="0" noProof="0">
                <a:ln>
                  <a:noFill/>
                </a:ln>
                <a:effectLst/>
                <a:uLnTx/>
                <a:uFillTx/>
                <a:latin typeface="Aptos Display" panose="02110004020202020204"/>
                <a:ea typeface="+mn-ea"/>
                <a:cs typeface="+mn-cs"/>
              </a:rPr>
              <a:t> and context definitions to map JSON keys to RDF predicates.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Display"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Display" panose="02110004020202020204"/>
                <a:ea typeface="+mn-ea"/>
                <a:cs typeface="+mn-cs"/>
              </a:rPr>
              <a:t>4. </a:t>
            </a:r>
            <a:r>
              <a:rPr kumimoji="0" lang="en-AU" sz="900" b="1" i="0" u="none" strike="noStrike" kern="1200" cap="none" spc="0" normalizeH="0" baseline="0" noProof="0" err="1">
                <a:ln>
                  <a:noFill/>
                </a:ln>
                <a:effectLst/>
                <a:uLnTx/>
                <a:uFillTx/>
                <a:latin typeface="Aptos Display" panose="02110004020202020204"/>
                <a:ea typeface="+mn-ea"/>
                <a:cs typeface="+mn-cs"/>
              </a:rPr>
              <a:t>RDFa</a:t>
            </a:r>
            <a:r>
              <a:rPr kumimoji="0" lang="en-AU" sz="900" b="1" i="0" u="none" strike="noStrike" kern="1200" cap="none" spc="0" normalizeH="0" baseline="0" noProof="0">
                <a:ln>
                  <a:noFill/>
                </a:ln>
                <a:effectLst/>
                <a:uLnTx/>
                <a:uFillTx/>
                <a:latin typeface="Aptos Display" panose="02110004020202020204"/>
                <a:ea typeface="+mn-ea"/>
                <a:cs typeface="+mn-cs"/>
              </a:rPr>
              <a:t> (RDF in Attributes)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Embeds RDF statements </a:t>
            </a:r>
            <a:r>
              <a:rPr kumimoji="0" lang="en-AU" sz="900" b="1" i="0" u="none" strike="noStrike" kern="1200" cap="none" spc="0" normalizeH="0" baseline="0" noProof="0">
                <a:ln>
                  <a:noFill/>
                </a:ln>
                <a:effectLst/>
                <a:uLnTx/>
                <a:uFillTx/>
                <a:latin typeface="Aptos Display" panose="02110004020202020204"/>
                <a:ea typeface="+mn-ea"/>
                <a:cs typeface="+mn-cs"/>
              </a:rPr>
              <a:t>directly in HTML or XHTML</a:t>
            </a:r>
            <a:r>
              <a:rPr kumimoji="0" lang="en-AU" sz="900" b="0" i="0" u="none" strike="noStrike" kern="1200" cap="none" spc="0" normalizeH="0" baseline="0" noProof="0">
                <a:ln>
                  <a:noFill/>
                </a:ln>
                <a:effectLst/>
                <a:uLnTx/>
                <a:uFillTx/>
                <a:latin typeface="Aptos Display" panose="02110004020202020204"/>
                <a:ea typeface="+mn-ea"/>
                <a:cs typeface="+mn-cs"/>
              </a:rPr>
              <a:t> using attributes like about, property, </a:t>
            </a:r>
            <a:r>
              <a:rPr kumimoji="0" lang="en-AU" sz="900" b="0" i="0" u="none" strike="noStrike" kern="1200" cap="none" spc="0" normalizeH="0" baseline="0" noProof="0" err="1">
                <a:ln>
                  <a:noFill/>
                </a:ln>
                <a:effectLst/>
                <a:uLnTx/>
                <a:uFillTx/>
                <a:latin typeface="Aptos Display" panose="02110004020202020204"/>
                <a:ea typeface="+mn-ea"/>
                <a:cs typeface="+mn-cs"/>
              </a:rPr>
              <a:t>typeof</a:t>
            </a:r>
            <a:r>
              <a:rPr kumimoji="0" lang="en-AU" sz="900" b="0" i="0" u="none" strike="noStrike" kern="1200" cap="none" spc="0" normalizeH="0" baseline="0" noProof="0">
                <a:ln>
                  <a:noFill/>
                </a:ln>
                <a:effectLst/>
                <a:uLnTx/>
                <a:uFillTx/>
                <a:latin typeface="Aptos Display"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Useful for </a:t>
            </a:r>
            <a:r>
              <a:rPr kumimoji="0" lang="en-AU" sz="900" b="1" i="0" u="none" strike="noStrike" kern="1200" cap="none" spc="0" normalizeH="0" baseline="0" noProof="0">
                <a:ln>
                  <a:noFill/>
                </a:ln>
                <a:effectLst/>
                <a:uLnTx/>
                <a:uFillTx/>
                <a:latin typeface="Aptos Display" panose="02110004020202020204"/>
                <a:ea typeface="+mn-ea"/>
                <a:cs typeface="+mn-cs"/>
              </a:rPr>
              <a:t>publishing semantic data on the web</a:t>
            </a:r>
            <a:r>
              <a:rPr kumimoji="0" lang="en-AU" sz="900" b="0" i="0" u="none" strike="noStrike" kern="1200" cap="none" spc="0" normalizeH="0" baseline="0" noProof="0">
                <a:ln>
                  <a:noFill/>
                </a:ln>
                <a:effectLst/>
                <a:uLnTx/>
                <a:uFillTx/>
                <a:latin typeface="Aptos Display" panose="02110004020202020204"/>
                <a:ea typeface="+mn-ea"/>
                <a:cs typeface="+mn-cs"/>
              </a:rPr>
              <a:t>.</a:t>
            </a:r>
            <a:br>
              <a:rPr kumimoji="0" lang="en-AU" sz="900" b="0" i="0" u="none" strike="noStrike" kern="1200" cap="none" spc="0" normalizeH="0" baseline="0" noProof="0">
                <a:ln>
                  <a:noFill/>
                </a:ln>
                <a:effectLst/>
                <a:uLnTx/>
                <a:uFillTx/>
                <a:latin typeface="Aptos Display" panose="02110004020202020204"/>
                <a:ea typeface="+mn-ea"/>
                <a:cs typeface="+mn-cs"/>
              </a:rPr>
            </a:br>
            <a:endParaRPr kumimoji="0" lang="en-AU" sz="900" b="0" i="0" u="none" strike="noStrike" kern="1200" cap="none" spc="0" normalizeH="0" baseline="0" noProof="0">
              <a:ln>
                <a:noFill/>
              </a:ln>
              <a:effectLst/>
              <a:uLnTx/>
              <a:uFillTx/>
              <a:latin typeface="Aptos Display"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Display" panose="02110004020202020204"/>
                <a:ea typeface="+mn-ea"/>
                <a:cs typeface="+mn-cs"/>
              </a:rPr>
              <a:t>5. </a:t>
            </a:r>
            <a:r>
              <a:rPr kumimoji="0" lang="en-AU" sz="900" b="1" i="0" u="none" strike="noStrike" kern="1200" cap="none" spc="0" normalizeH="0" baseline="0" noProof="0" err="1">
                <a:ln>
                  <a:noFill/>
                </a:ln>
                <a:effectLst/>
                <a:uLnTx/>
                <a:uFillTx/>
                <a:latin typeface="Aptos Display" panose="02110004020202020204"/>
                <a:ea typeface="+mn-ea"/>
                <a:cs typeface="+mn-cs"/>
              </a:rPr>
              <a:t>TriG</a:t>
            </a:r>
            <a:endParaRPr kumimoji="0" lang="en-AU" sz="900" b="1" i="0" u="none" strike="noStrike" kern="1200" cap="none" spc="0" normalizeH="0" baseline="0" noProof="0">
              <a:ln>
                <a:noFill/>
              </a:ln>
              <a:effectLst/>
              <a:uLnTx/>
              <a:uFillTx/>
              <a:latin typeface="Aptos Display"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Extends Turtle to support </a:t>
            </a:r>
            <a:r>
              <a:rPr kumimoji="0" lang="en-AU" sz="900" b="1" i="0" u="none" strike="noStrike" kern="1200" cap="none" spc="0" normalizeH="0" baseline="0" noProof="0">
                <a:ln>
                  <a:noFill/>
                </a:ln>
                <a:effectLst/>
                <a:uLnTx/>
                <a:uFillTx/>
                <a:latin typeface="Aptos Display" panose="02110004020202020204"/>
                <a:ea typeface="+mn-ea"/>
                <a:cs typeface="+mn-cs"/>
              </a:rPr>
              <a:t>multiple named graphs</a:t>
            </a:r>
            <a:r>
              <a:rPr kumimoji="0" lang="en-AU" sz="900" b="0" i="0" u="none" strike="noStrike" kern="1200" cap="none" spc="0" normalizeH="0" baseline="0" noProof="0">
                <a:ln>
                  <a:noFill/>
                </a:ln>
                <a:effectLst/>
                <a:uLnTx/>
                <a:uFillTx/>
                <a:latin typeface="Aptos Display" panose="02110004020202020204"/>
                <a:ea typeface="+mn-ea"/>
                <a:cs typeface="+mn-cs"/>
              </a:rPr>
              <a:t> in a single file.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Helpful for datasets that contain </a:t>
            </a:r>
            <a:r>
              <a:rPr kumimoji="0" lang="en-AU" sz="900" b="1" i="0" u="none" strike="noStrike" kern="1200" cap="none" spc="0" normalizeH="0" baseline="0" noProof="0">
                <a:ln>
                  <a:noFill/>
                </a:ln>
                <a:effectLst/>
                <a:uLnTx/>
                <a:uFillTx/>
                <a:latin typeface="Aptos Display" panose="02110004020202020204"/>
                <a:ea typeface="+mn-ea"/>
                <a:cs typeface="+mn-cs"/>
              </a:rPr>
              <a:t>graph collections</a:t>
            </a:r>
            <a:r>
              <a:rPr kumimoji="0" lang="en-AU" sz="900" b="0" i="0" u="none" strike="noStrike" kern="1200" cap="none" spc="0" normalizeH="0" baseline="0" noProof="0">
                <a:ln>
                  <a:noFill/>
                </a:ln>
                <a:effectLst/>
                <a:uLnTx/>
                <a:uFillTx/>
                <a:latin typeface="Aptos Display"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Display"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Display" panose="02110004020202020204"/>
                <a:ea typeface="+mn-ea"/>
                <a:cs typeface="+mn-cs"/>
              </a:rPr>
              <a:t>6. HDT (Header, Dictionary, Triples)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Binary RDF format optimized for </a:t>
            </a:r>
            <a:r>
              <a:rPr kumimoji="0" lang="en-AU" sz="900" b="1" i="0" u="none" strike="noStrike" kern="1200" cap="none" spc="0" normalizeH="0" baseline="0" noProof="0">
                <a:ln>
                  <a:noFill/>
                </a:ln>
                <a:effectLst/>
                <a:uLnTx/>
                <a:uFillTx/>
                <a:latin typeface="Aptos Display" panose="02110004020202020204"/>
                <a:ea typeface="+mn-ea"/>
                <a:cs typeface="+mn-cs"/>
              </a:rPr>
              <a:t>compression and fast querying</a:t>
            </a:r>
            <a:r>
              <a:rPr kumimoji="0" lang="en-AU" sz="900" b="0" i="0" u="none" strike="noStrike" kern="1200" cap="none" spc="0" normalizeH="0" baseline="0" noProof="0">
                <a:ln>
                  <a:noFill/>
                </a:ln>
                <a:effectLst/>
                <a:uLnTx/>
                <a:uFillTx/>
                <a:latin typeface="Aptos Display"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Commonly used when working with </a:t>
            </a:r>
            <a:r>
              <a:rPr kumimoji="0" lang="en-AU" sz="900" b="1" i="0" u="none" strike="noStrike" kern="1200" cap="none" spc="0" normalizeH="0" baseline="0" noProof="0">
                <a:ln>
                  <a:noFill/>
                </a:ln>
                <a:effectLst/>
                <a:uLnTx/>
                <a:uFillTx/>
                <a:latin typeface="Aptos Display" panose="02110004020202020204"/>
                <a:ea typeface="+mn-ea"/>
                <a:cs typeface="+mn-cs"/>
              </a:rPr>
              <a:t>very large RDF datasets</a:t>
            </a:r>
            <a:r>
              <a:rPr kumimoji="0" lang="en-AU" sz="900" b="0" i="0" u="none" strike="noStrike" kern="1200" cap="none" spc="0" normalizeH="0" baseline="0" noProof="0">
                <a:ln>
                  <a:noFill/>
                </a:ln>
                <a:effectLst/>
                <a:uLnTx/>
                <a:uFillTx/>
                <a:latin typeface="Aptos Display" panose="021100040202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Display"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sng" strike="noStrike" kern="1200" cap="none" spc="0" normalizeH="0" baseline="0" noProof="0">
                <a:ln>
                  <a:noFill/>
                </a:ln>
                <a:effectLst/>
                <a:uLnTx/>
                <a:uFillTx/>
                <a:latin typeface="Aptos Display" panose="02110004020202020204"/>
                <a:ea typeface="+mn-ea"/>
                <a:cs typeface="+mn-cs"/>
              </a:rPr>
              <a:t>Summary</a:t>
            </a:r>
            <a:endParaRPr kumimoji="0" lang="en-AU" sz="900" b="0" i="0" u="none" strike="noStrike" kern="1200" cap="none" spc="0" normalizeH="0" baseline="0" noProof="0">
              <a:ln>
                <a:noFill/>
              </a:ln>
              <a:effectLst/>
              <a:uLnTx/>
              <a:uFillTx/>
              <a:latin typeface="Aptos Display"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panose="02110004020202020204"/>
                <a:ea typeface="+mn-ea"/>
                <a:cs typeface="+mn-cs"/>
              </a:rPr>
              <a:t>Turtle/N-Triples/Trig</a:t>
            </a:r>
            <a:r>
              <a:rPr kumimoji="0" lang="en-AU" sz="900" b="0" i="0" u="none" strike="noStrike" kern="1200" cap="none" spc="0" normalizeH="0" baseline="0" noProof="0">
                <a:ln>
                  <a:noFill/>
                </a:ln>
                <a:effectLst/>
                <a:uLnTx/>
                <a:uFillTx/>
                <a:latin typeface="Aptos" panose="02110004020202020204"/>
                <a:ea typeface="+mn-ea"/>
                <a:cs typeface="+mn-cs"/>
              </a:rPr>
              <a:t>: Text-based, readable, developer-friendly.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panose="02110004020202020204"/>
                <a:ea typeface="+mn-ea"/>
                <a:cs typeface="+mn-cs"/>
              </a:rPr>
              <a:t>RDF/XML</a:t>
            </a:r>
            <a:r>
              <a:rPr kumimoji="0" lang="en-AU" sz="900" b="0" i="0" u="none" strike="noStrike" kern="1200" cap="none" spc="0" normalizeH="0" baseline="0" noProof="0">
                <a:ln>
                  <a:noFill/>
                </a:ln>
                <a:effectLst/>
                <a:uLnTx/>
                <a:uFillTx/>
                <a:latin typeface="Aptos" panose="02110004020202020204"/>
                <a:ea typeface="+mn-ea"/>
                <a:cs typeface="+mn-cs"/>
              </a:rPr>
              <a:t>: Legacy, XML-oriented applications.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panose="02110004020202020204"/>
                <a:ea typeface="+mn-ea"/>
                <a:cs typeface="+mn-cs"/>
              </a:rPr>
              <a:t>JSON-LD</a:t>
            </a:r>
            <a:r>
              <a:rPr kumimoji="0" lang="en-AU" sz="900" b="0" i="0" u="none" strike="noStrike" kern="1200" cap="none" spc="0" normalizeH="0" baseline="0" noProof="0">
                <a:ln>
                  <a:noFill/>
                </a:ln>
                <a:effectLst/>
                <a:uLnTx/>
                <a:uFillTx/>
                <a:latin typeface="Aptos" panose="02110004020202020204"/>
                <a:ea typeface="+mn-ea"/>
                <a:cs typeface="+mn-cs"/>
              </a:rPr>
              <a:t>: Web-friendly, integrates with JavaScript and APIs.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err="1">
                <a:ln>
                  <a:noFill/>
                </a:ln>
                <a:effectLst/>
                <a:uLnTx/>
                <a:uFillTx/>
                <a:latin typeface="Aptos" panose="02110004020202020204"/>
                <a:ea typeface="+mn-ea"/>
                <a:cs typeface="+mn-cs"/>
              </a:rPr>
              <a:t>RDFa</a:t>
            </a:r>
            <a:r>
              <a:rPr kumimoji="0" lang="en-AU" sz="900" b="0" i="0" u="none" strike="noStrike" kern="1200" cap="none" spc="0" normalizeH="0" baseline="0" noProof="0">
                <a:ln>
                  <a:noFill/>
                </a:ln>
                <a:effectLst/>
                <a:uLnTx/>
                <a:uFillTx/>
                <a:latin typeface="Aptos" panose="02110004020202020204"/>
                <a:ea typeface="+mn-ea"/>
                <a:cs typeface="+mn-cs"/>
              </a:rPr>
              <a:t>: Embedded in HTML for semantic web publishing.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panose="02110004020202020204"/>
                <a:ea typeface="+mn-ea"/>
                <a:cs typeface="+mn-cs"/>
              </a:rPr>
              <a:t>HDT</a:t>
            </a:r>
            <a:r>
              <a:rPr kumimoji="0" lang="en-AU" sz="900" b="0" i="0" u="none" strike="noStrike" kern="1200" cap="none" spc="0" normalizeH="0" baseline="0" noProof="0">
                <a:ln>
                  <a:noFill/>
                </a:ln>
                <a:effectLst/>
                <a:uLnTx/>
                <a:uFillTx/>
                <a:latin typeface="Aptos" panose="02110004020202020204"/>
                <a:ea typeface="+mn-ea"/>
                <a:cs typeface="+mn-cs"/>
              </a:rPr>
              <a:t>: Efficient for storage and querying massive RDF graphs.</a:t>
            </a:r>
          </a:p>
        </p:txBody>
      </p:sp>
      <p:sp>
        <p:nvSpPr>
          <p:cNvPr id="12" name="TextBox 11">
            <a:extLst>
              <a:ext uri="{FF2B5EF4-FFF2-40B4-BE49-F238E27FC236}">
                <a16:creationId xmlns:a16="http://schemas.microsoft.com/office/drawing/2014/main" id="{3BC3C8B1-5911-3026-7D35-7BF116E7C219}"/>
              </a:ext>
            </a:extLst>
          </p:cNvPr>
          <p:cNvSpPr txBox="1"/>
          <p:nvPr/>
        </p:nvSpPr>
        <p:spPr>
          <a:xfrm>
            <a:off x="5616653" y="855742"/>
            <a:ext cx="6304414" cy="3000821"/>
          </a:xfrm>
          <a:prstGeom prst="rect">
            <a:avLst/>
          </a:prstGeom>
          <a:noFill/>
          <a:ln>
            <a:solidFill>
              <a:schemeClr val="tx1"/>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sng" strike="noStrike" kern="1200" cap="none" spc="0" normalizeH="0" baseline="0" noProof="0">
                <a:ln>
                  <a:noFill/>
                </a:ln>
                <a:effectLst/>
                <a:uLnTx/>
                <a:uFillTx/>
                <a:latin typeface="Aptos Display" panose="02110004020202020204"/>
                <a:ea typeface="+mn-ea"/>
                <a:cs typeface="+mn-cs"/>
              </a:rPr>
              <a:t>Sample representation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1" i="0" u="sng" strike="noStrike" kern="1200" cap="none" spc="0" normalizeH="0" baseline="0" noProof="0">
              <a:ln>
                <a:noFill/>
              </a:ln>
              <a:effectLst/>
              <a:uLnTx/>
              <a:uFillTx/>
              <a:latin typeface="Aptos Display"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Display" panose="02110004020202020204"/>
                <a:ea typeface="+mn-ea"/>
                <a:cs typeface="+mn-cs"/>
              </a:rPr>
              <a:t>1. Turtle (Terse RDF Triple Language)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Aptos Display" panose="02110004020202020204"/>
                <a:ea typeface="+mn-ea"/>
                <a:cs typeface="+mn-cs"/>
              </a:rPr>
              <a:t>@prefix bank: &lt;http://example.org/bank#&gt;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Aptos Display" panose="02110004020202020204"/>
                <a:ea typeface="+mn-ea"/>
                <a:cs typeface="+mn-cs"/>
              </a:rPr>
              <a:t>bank:Customer123 a </a:t>
            </a:r>
            <a:r>
              <a:rPr kumimoji="0" lang="en-AU" sz="900" b="0" i="1" u="none" strike="noStrike" kern="1200" cap="none" spc="0" normalizeH="0" baseline="0" noProof="0" err="1">
                <a:ln>
                  <a:noFill/>
                </a:ln>
                <a:effectLst/>
                <a:uLnTx/>
                <a:uFillTx/>
                <a:latin typeface="Aptos Display" panose="02110004020202020204"/>
                <a:ea typeface="+mn-ea"/>
                <a:cs typeface="+mn-cs"/>
              </a:rPr>
              <a:t>bank:Customer</a:t>
            </a:r>
            <a:r>
              <a:rPr kumimoji="0" lang="en-AU" sz="900" b="0" i="1" u="none" strike="noStrike" kern="1200" cap="none" spc="0" normalizeH="0" baseline="0" noProof="0">
                <a:ln>
                  <a:noFill/>
                </a:ln>
                <a:effectLst/>
                <a:uLnTx/>
                <a:uFillTx/>
                <a:latin typeface="Aptos Display" panose="02110004020202020204"/>
                <a:ea typeface="+mn-ea"/>
                <a:cs typeface="+mn-cs"/>
              </a:rPr>
              <a: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err="1">
                <a:ln>
                  <a:noFill/>
                </a:ln>
                <a:effectLst/>
                <a:uLnTx/>
                <a:uFillTx/>
                <a:latin typeface="Aptos Display" panose="02110004020202020204"/>
                <a:ea typeface="+mn-ea"/>
                <a:cs typeface="+mn-cs"/>
              </a:rPr>
              <a:t>bank:hasAccount</a:t>
            </a:r>
            <a:r>
              <a:rPr kumimoji="0" lang="en-AU" sz="900" b="0" i="1" u="none" strike="noStrike" kern="1200" cap="none" spc="0" normalizeH="0" baseline="0" noProof="0">
                <a:ln>
                  <a:noFill/>
                </a:ln>
                <a:effectLst/>
                <a:uLnTx/>
                <a:uFillTx/>
                <a:latin typeface="Aptos Display" panose="02110004020202020204"/>
                <a:ea typeface="+mn-ea"/>
                <a:cs typeface="+mn-cs"/>
              </a:rPr>
              <a:t> bank:Account456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err="1">
                <a:ln>
                  <a:noFill/>
                </a:ln>
                <a:effectLst/>
                <a:uLnTx/>
                <a:uFillTx/>
                <a:latin typeface="Aptos Display" panose="02110004020202020204"/>
                <a:ea typeface="+mn-ea"/>
                <a:cs typeface="+mn-cs"/>
              </a:rPr>
              <a:t>bank:ownsDevice</a:t>
            </a:r>
            <a:r>
              <a:rPr kumimoji="0" lang="en-AU" sz="900" b="0" i="1" u="none" strike="noStrike" kern="1200" cap="none" spc="0" normalizeH="0" baseline="0" noProof="0">
                <a:ln>
                  <a:noFill/>
                </a:ln>
                <a:effectLst/>
                <a:uLnTx/>
                <a:uFillTx/>
                <a:latin typeface="Aptos Display" panose="02110004020202020204"/>
                <a:ea typeface="+mn-ea"/>
                <a:cs typeface="+mn-cs"/>
              </a:rPr>
              <a:t> bank:Device789 .</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AU" sz="900" b="0" i="0" u="none" strike="noStrike" kern="1200" cap="none" spc="0" normalizeH="0" baseline="0" noProof="0">
                <a:ln>
                  <a:noFill/>
                </a:ln>
                <a:effectLst/>
                <a:uLnTx/>
                <a:uFillTx/>
                <a:latin typeface="Aptos Display" panose="02110004020202020204"/>
                <a:ea typeface="+mn-ea"/>
                <a:cs typeface="+mn-cs"/>
              </a:rPr>
            </a:br>
            <a:r>
              <a:rPr kumimoji="0" lang="en-AU" sz="900" b="1" i="0" u="none" strike="noStrike" kern="1200" cap="none" spc="0" normalizeH="0" baseline="0" noProof="0">
                <a:ln>
                  <a:noFill/>
                </a:ln>
                <a:effectLst/>
                <a:uLnTx/>
                <a:uFillTx/>
                <a:latin typeface="Aptos Display" panose="02110004020202020204"/>
                <a:ea typeface="+mn-ea"/>
                <a:cs typeface="+mn-cs"/>
              </a:rPr>
              <a:t>2. RDF/XML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Aptos Display" panose="02110004020202020204"/>
                <a:ea typeface="+mn-ea"/>
                <a:cs typeface="+mn-cs"/>
              </a:rPr>
              <a:t>&lt;</a:t>
            </a:r>
            <a:r>
              <a:rPr kumimoji="0" lang="en-AU" sz="900" b="0" i="1" u="none" strike="noStrike" kern="1200" cap="none" spc="0" normalizeH="0" baseline="0" noProof="0" err="1">
                <a:ln>
                  <a:noFill/>
                </a:ln>
                <a:effectLst/>
                <a:uLnTx/>
                <a:uFillTx/>
                <a:latin typeface="Aptos Display" panose="02110004020202020204"/>
                <a:ea typeface="+mn-ea"/>
                <a:cs typeface="+mn-cs"/>
              </a:rPr>
              <a:t>rdf:RDF</a:t>
            </a:r>
            <a:r>
              <a:rPr kumimoji="0" lang="en-AU" sz="900" b="0" i="1" u="none" strike="noStrike" kern="1200" cap="none" spc="0" normalizeH="0" baseline="0" noProof="0">
                <a:ln>
                  <a:noFill/>
                </a:ln>
                <a:effectLst/>
                <a:uLnTx/>
                <a:uFillTx/>
                <a:latin typeface="Aptos Display" panose="02110004020202020204"/>
                <a:ea typeface="+mn-ea"/>
                <a:cs typeface="+mn-cs"/>
              </a:rPr>
              <a:t> </a:t>
            </a:r>
            <a:r>
              <a:rPr kumimoji="0" lang="en-AU" sz="900" b="0" i="1" u="none" strike="noStrike" kern="1200" cap="none" spc="0" normalizeH="0" baseline="0" noProof="0" err="1">
                <a:ln>
                  <a:noFill/>
                </a:ln>
                <a:effectLst/>
                <a:uLnTx/>
                <a:uFillTx/>
                <a:latin typeface="Aptos Display" panose="02110004020202020204"/>
                <a:ea typeface="+mn-ea"/>
                <a:cs typeface="+mn-cs"/>
              </a:rPr>
              <a:t>xmlns:rdf</a:t>
            </a:r>
            <a:r>
              <a:rPr kumimoji="0" lang="en-AU" sz="900" b="0" i="1" u="none" strike="noStrike" kern="1200" cap="none" spc="0" normalizeH="0" baseline="0" noProof="0">
                <a:ln>
                  <a:noFill/>
                </a:ln>
                <a:effectLst/>
                <a:uLnTx/>
                <a:uFillTx/>
                <a:latin typeface="Aptos Display" panose="02110004020202020204"/>
                <a:ea typeface="+mn-ea"/>
                <a:cs typeface="+mn-cs"/>
              </a:rPr>
              <a:t>="http://www.w3.org/1999/02/22-rdf-syntax-ns#" </a:t>
            </a:r>
            <a:r>
              <a:rPr kumimoji="0" lang="en-AU" sz="900" b="0" i="1" u="none" strike="noStrike" kern="1200" cap="none" spc="0" normalizeH="0" baseline="0" noProof="0" err="1">
                <a:ln>
                  <a:noFill/>
                </a:ln>
                <a:effectLst/>
                <a:uLnTx/>
                <a:uFillTx/>
                <a:latin typeface="Aptos Display" panose="02110004020202020204"/>
                <a:ea typeface="+mn-ea"/>
                <a:cs typeface="+mn-cs"/>
              </a:rPr>
              <a:t>xmlns:bank</a:t>
            </a:r>
            <a:r>
              <a:rPr kumimoji="0" lang="en-AU" sz="900" b="0" i="1" u="none" strike="noStrike" kern="1200" cap="none" spc="0" normalizeH="0" baseline="0" noProof="0">
                <a:ln>
                  <a:noFill/>
                </a:ln>
                <a:effectLst/>
                <a:uLnTx/>
                <a:uFillTx/>
                <a:latin typeface="Aptos Display" panose="02110004020202020204"/>
                <a:ea typeface="+mn-ea"/>
                <a:cs typeface="+mn-cs"/>
              </a:rPr>
              <a:t>="http://example.org/bank#"&gt; &lt;</a:t>
            </a:r>
            <a:r>
              <a:rPr kumimoji="0" lang="en-AU" sz="900" b="0" i="1" u="none" strike="noStrike" kern="1200" cap="none" spc="0" normalizeH="0" baseline="0" noProof="0" err="1">
                <a:ln>
                  <a:noFill/>
                </a:ln>
                <a:effectLst/>
                <a:uLnTx/>
                <a:uFillTx/>
                <a:latin typeface="Aptos Display" panose="02110004020202020204"/>
                <a:ea typeface="+mn-ea"/>
                <a:cs typeface="+mn-cs"/>
              </a:rPr>
              <a:t>bank:Customer</a:t>
            </a:r>
            <a:r>
              <a:rPr kumimoji="0" lang="en-AU" sz="900" b="0" i="1" u="none" strike="noStrike" kern="1200" cap="none" spc="0" normalizeH="0" baseline="0" noProof="0">
                <a:ln>
                  <a:noFill/>
                </a:ln>
                <a:effectLst/>
                <a:uLnTx/>
                <a:uFillTx/>
                <a:latin typeface="Aptos Display" panose="02110004020202020204"/>
                <a:ea typeface="+mn-ea"/>
                <a:cs typeface="+mn-cs"/>
              </a:rPr>
              <a:t> </a:t>
            </a:r>
            <a:r>
              <a:rPr kumimoji="0" lang="en-AU" sz="900" b="0" i="1" u="none" strike="noStrike" kern="1200" cap="none" spc="0" normalizeH="0" baseline="0" noProof="0" err="1">
                <a:ln>
                  <a:noFill/>
                </a:ln>
                <a:effectLst/>
                <a:uLnTx/>
                <a:uFillTx/>
                <a:latin typeface="Aptos Display" panose="02110004020202020204"/>
                <a:ea typeface="+mn-ea"/>
                <a:cs typeface="+mn-cs"/>
              </a:rPr>
              <a:t>rdf:about</a:t>
            </a:r>
            <a:r>
              <a:rPr kumimoji="0" lang="en-AU" sz="900" b="0" i="1" u="none" strike="noStrike" kern="1200" cap="none" spc="0" normalizeH="0" baseline="0" noProof="0">
                <a:ln>
                  <a:noFill/>
                </a:ln>
                <a:effectLst/>
                <a:uLnTx/>
                <a:uFillTx/>
                <a:latin typeface="Aptos Display" panose="02110004020202020204"/>
                <a:ea typeface="+mn-ea"/>
                <a:cs typeface="+mn-cs"/>
              </a:rPr>
              <a:t>="http://example.org/bank#Customer123"&gt;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Aptos Display" panose="02110004020202020204"/>
                <a:ea typeface="+mn-ea"/>
                <a:cs typeface="+mn-cs"/>
              </a:rPr>
              <a:t>&lt;</a:t>
            </a:r>
            <a:r>
              <a:rPr kumimoji="0" lang="en-AU" sz="900" b="0" i="1" u="none" strike="noStrike" kern="1200" cap="none" spc="0" normalizeH="0" baseline="0" noProof="0" err="1">
                <a:ln>
                  <a:noFill/>
                </a:ln>
                <a:effectLst/>
                <a:uLnTx/>
                <a:uFillTx/>
                <a:latin typeface="Aptos Display" panose="02110004020202020204"/>
                <a:ea typeface="+mn-ea"/>
                <a:cs typeface="+mn-cs"/>
              </a:rPr>
              <a:t>bank:hasAccount</a:t>
            </a:r>
            <a:r>
              <a:rPr kumimoji="0" lang="en-AU" sz="900" b="0" i="1" u="none" strike="noStrike" kern="1200" cap="none" spc="0" normalizeH="0" baseline="0" noProof="0">
                <a:ln>
                  <a:noFill/>
                </a:ln>
                <a:effectLst/>
                <a:uLnTx/>
                <a:uFillTx/>
                <a:latin typeface="Aptos Display" panose="02110004020202020204"/>
                <a:ea typeface="+mn-ea"/>
                <a:cs typeface="+mn-cs"/>
              </a:rPr>
              <a:t> </a:t>
            </a:r>
            <a:r>
              <a:rPr kumimoji="0" lang="en-AU" sz="900" b="0" i="1" u="none" strike="noStrike" kern="1200" cap="none" spc="0" normalizeH="0" baseline="0" noProof="0" err="1">
                <a:ln>
                  <a:noFill/>
                </a:ln>
                <a:effectLst/>
                <a:uLnTx/>
                <a:uFillTx/>
                <a:latin typeface="Aptos Display" panose="02110004020202020204"/>
                <a:ea typeface="+mn-ea"/>
                <a:cs typeface="+mn-cs"/>
              </a:rPr>
              <a:t>rdf:resource</a:t>
            </a:r>
            <a:r>
              <a:rPr kumimoji="0" lang="en-AU" sz="900" b="0" i="1" u="none" strike="noStrike" kern="1200" cap="none" spc="0" normalizeH="0" baseline="0" noProof="0">
                <a:ln>
                  <a:noFill/>
                </a:ln>
                <a:effectLst/>
                <a:uLnTx/>
                <a:uFillTx/>
                <a:latin typeface="Aptos Display" panose="02110004020202020204"/>
                <a:ea typeface="+mn-ea"/>
                <a:cs typeface="+mn-cs"/>
              </a:rPr>
              <a:t>="http://example.org/bank#Account456"/&gt;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Aptos Display" panose="02110004020202020204"/>
                <a:ea typeface="+mn-ea"/>
                <a:cs typeface="+mn-cs"/>
              </a:rPr>
              <a:t>&lt;</a:t>
            </a:r>
            <a:r>
              <a:rPr kumimoji="0" lang="en-AU" sz="900" b="0" i="1" u="none" strike="noStrike" kern="1200" cap="none" spc="0" normalizeH="0" baseline="0" noProof="0" err="1">
                <a:ln>
                  <a:noFill/>
                </a:ln>
                <a:effectLst/>
                <a:uLnTx/>
                <a:uFillTx/>
                <a:latin typeface="Aptos Display" panose="02110004020202020204"/>
                <a:ea typeface="+mn-ea"/>
                <a:cs typeface="+mn-cs"/>
              </a:rPr>
              <a:t>bank:ownsDevice</a:t>
            </a:r>
            <a:r>
              <a:rPr kumimoji="0" lang="en-AU" sz="900" b="0" i="1" u="none" strike="noStrike" kern="1200" cap="none" spc="0" normalizeH="0" baseline="0" noProof="0">
                <a:ln>
                  <a:noFill/>
                </a:ln>
                <a:effectLst/>
                <a:uLnTx/>
                <a:uFillTx/>
                <a:latin typeface="Aptos Display" panose="02110004020202020204"/>
                <a:ea typeface="+mn-ea"/>
                <a:cs typeface="+mn-cs"/>
              </a:rPr>
              <a:t> </a:t>
            </a:r>
            <a:r>
              <a:rPr kumimoji="0" lang="en-AU" sz="900" b="0" i="1" u="none" strike="noStrike" kern="1200" cap="none" spc="0" normalizeH="0" baseline="0" noProof="0" err="1">
                <a:ln>
                  <a:noFill/>
                </a:ln>
                <a:effectLst/>
                <a:uLnTx/>
                <a:uFillTx/>
                <a:latin typeface="Aptos Display" panose="02110004020202020204"/>
                <a:ea typeface="+mn-ea"/>
                <a:cs typeface="+mn-cs"/>
              </a:rPr>
              <a:t>rdf:resource</a:t>
            </a:r>
            <a:r>
              <a:rPr kumimoji="0" lang="en-AU" sz="900" b="0" i="1" u="none" strike="noStrike" kern="1200" cap="none" spc="0" normalizeH="0" baseline="0" noProof="0">
                <a:ln>
                  <a:noFill/>
                </a:ln>
                <a:effectLst/>
                <a:uLnTx/>
                <a:uFillTx/>
                <a:latin typeface="Aptos Display" panose="02110004020202020204"/>
                <a:ea typeface="+mn-ea"/>
                <a:cs typeface="+mn-cs"/>
              </a:rPr>
              <a:t>="http://example.org/bank#Device789"/&gt;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Aptos Display" panose="02110004020202020204"/>
                <a:ea typeface="+mn-ea"/>
                <a:cs typeface="+mn-cs"/>
              </a:rPr>
              <a:t>&lt;/</a:t>
            </a:r>
            <a:r>
              <a:rPr kumimoji="0" lang="en-AU" sz="900" b="0" i="1" u="none" strike="noStrike" kern="1200" cap="none" spc="0" normalizeH="0" baseline="0" noProof="0" err="1">
                <a:ln>
                  <a:noFill/>
                </a:ln>
                <a:effectLst/>
                <a:uLnTx/>
                <a:uFillTx/>
                <a:latin typeface="Aptos Display" panose="02110004020202020204"/>
                <a:ea typeface="+mn-ea"/>
                <a:cs typeface="+mn-cs"/>
              </a:rPr>
              <a:t>bank:Customer</a:t>
            </a:r>
            <a:r>
              <a:rPr kumimoji="0" lang="en-AU" sz="900" b="0" i="1" u="none" strike="noStrike" kern="1200" cap="none" spc="0" normalizeH="0" baseline="0" noProof="0">
                <a:ln>
                  <a:noFill/>
                </a:ln>
                <a:effectLst/>
                <a:uLnTx/>
                <a:uFillTx/>
                <a:latin typeface="Aptos Display" panose="02110004020202020204"/>
                <a:ea typeface="+mn-ea"/>
                <a:cs typeface="+mn-cs"/>
              </a:rPr>
              <a:t>&gt;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Aptos Display" panose="02110004020202020204"/>
                <a:ea typeface="+mn-ea"/>
                <a:cs typeface="+mn-cs"/>
              </a:rPr>
              <a:t>&lt;/</a:t>
            </a:r>
            <a:r>
              <a:rPr kumimoji="0" lang="en-AU" sz="900" b="0" i="1" u="none" strike="noStrike" kern="1200" cap="none" spc="0" normalizeH="0" baseline="0" noProof="0" err="1">
                <a:ln>
                  <a:noFill/>
                </a:ln>
                <a:effectLst/>
                <a:uLnTx/>
                <a:uFillTx/>
                <a:latin typeface="Aptos Display" panose="02110004020202020204"/>
                <a:ea typeface="+mn-ea"/>
                <a:cs typeface="+mn-cs"/>
              </a:rPr>
              <a:t>rdf:RDF</a:t>
            </a:r>
            <a:r>
              <a:rPr kumimoji="0" lang="en-AU" sz="900" b="0" i="1" u="none" strike="noStrike" kern="1200" cap="none" spc="0" normalizeH="0" baseline="0" noProof="0">
                <a:ln>
                  <a:noFill/>
                </a:ln>
                <a:effectLst/>
                <a:uLnTx/>
                <a:uFillTx/>
                <a:latin typeface="Aptos Display" panose="02110004020202020204"/>
                <a:ea typeface="+mn-ea"/>
                <a:cs typeface="+mn-cs"/>
              </a:rPr>
              <a:t>&gt;</a:t>
            </a:r>
          </a:p>
          <a:p>
            <a:pPr marL="0" marR="0" lvl="0" indent="0" algn="l" defTabSz="457200" rtl="0" eaLnBrk="1" fontAlgn="auto" latinLnBrk="0" hangingPunct="1">
              <a:lnSpc>
                <a:spcPct val="100000"/>
              </a:lnSpc>
              <a:spcBef>
                <a:spcPts val="0"/>
              </a:spcBef>
              <a:spcAft>
                <a:spcPts val="0"/>
              </a:spcAft>
              <a:buClrTx/>
              <a:buSzTx/>
              <a:buFontTx/>
              <a:buNone/>
              <a:tabLst/>
              <a:defRPr/>
            </a:pPr>
            <a:br>
              <a:rPr kumimoji="0" lang="en-AU" sz="900" b="0" i="0" u="none" strike="noStrike" kern="1200" cap="none" spc="0" normalizeH="0" baseline="0" noProof="0">
                <a:ln>
                  <a:noFill/>
                </a:ln>
                <a:effectLst/>
                <a:uLnTx/>
                <a:uFillTx/>
                <a:latin typeface="Aptos Display" panose="02110004020202020204"/>
                <a:ea typeface="+mn-ea"/>
                <a:cs typeface="+mn-cs"/>
              </a:rPr>
            </a:br>
            <a:r>
              <a:rPr kumimoji="0" lang="en-AU" sz="900" b="1" i="0" u="none" strike="noStrike" kern="1200" cap="none" spc="0" normalizeH="0" baseline="0" noProof="0">
                <a:ln>
                  <a:noFill/>
                </a:ln>
                <a:effectLst/>
                <a:uLnTx/>
                <a:uFillTx/>
                <a:latin typeface="Aptos Display" panose="02110004020202020204"/>
                <a:ea typeface="+mn-ea"/>
                <a:cs typeface="+mn-cs"/>
              </a:rPr>
              <a:t>3. N-Triples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Aptos Display" panose="02110004020202020204"/>
                <a:ea typeface="+mn-ea"/>
                <a:cs typeface="+mn-cs"/>
              </a:rPr>
              <a:t>&lt;http://example.org/bank#Customer123&gt; &lt;http://example.org/bank#hasAccount&gt;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Aptos Display" panose="02110004020202020204"/>
                <a:ea typeface="+mn-ea"/>
                <a:cs typeface="+mn-cs"/>
              </a:rPr>
              <a:t>&lt;http://example.org/bank#Account456&gt;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Aptos Display" panose="02110004020202020204"/>
                <a:ea typeface="+mn-ea"/>
                <a:cs typeface="+mn-cs"/>
              </a:rPr>
              <a:t>&lt;http://example.org/bank#Customer123&gt; &lt;http://example.org/bank#ownsDevice&gt;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1" u="none" strike="noStrike" kern="1200" cap="none" spc="0" normalizeH="0" baseline="0" noProof="0">
                <a:ln>
                  <a:noFill/>
                </a:ln>
                <a:effectLst/>
                <a:uLnTx/>
                <a:uFillTx/>
                <a:latin typeface="Aptos Display" panose="02110004020202020204"/>
                <a:ea typeface="+mn-ea"/>
                <a:cs typeface="+mn-cs"/>
              </a:rPr>
              <a:t>&lt;http://example.org/bank#Device789&gt; .</a:t>
            </a:r>
          </a:p>
        </p:txBody>
      </p:sp>
      <p:sp>
        <p:nvSpPr>
          <p:cNvPr id="16" name="TextBox 15">
            <a:extLst>
              <a:ext uri="{FF2B5EF4-FFF2-40B4-BE49-F238E27FC236}">
                <a16:creationId xmlns:a16="http://schemas.microsoft.com/office/drawing/2014/main" id="{9BE9D8AA-75D2-19A4-E8B7-FC9F02A73990}"/>
              </a:ext>
            </a:extLst>
          </p:cNvPr>
          <p:cNvSpPr txBox="1"/>
          <p:nvPr/>
        </p:nvSpPr>
        <p:spPr>
          <a:xfrm>
            <a:off x="270932" y="6002258"/>
            <a:ext cx="10803467"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effectLst/>
                <a:uLnTx/>
                <a:uFillTx/>
                <a:latin typeface="Aptos" panose="02110004020202020204"/>
                <a:ea typeface="+mn-ea"/>
                <a:cs typeface="+mn-cs"/>
              </a:rPr>
              <a:t>We need to pin down which standard model we want to use for representing graph-structured data, it can be expressed in multiple serialization formats.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effectLst/>
                <a:uLnTx/>
                <a:uFillTx/>
                <a:latin typeface="Aptos" panose="02110004020202020204"/>
                <a:ea typeface="+mn-ea"/>
                <a:cs typeface="+mn-cs"/>
              </a:rPr>
              <a:t>Selection of any of these won't impact how it can be leveraged in Snowflake and how Snowflake will run these.</a:t>
            </a:r>
            <a:endParaRPr kumimoji="0" lang="en-AU" sz="900" b="1" i="0" u="none" strike="noStrike" kern="1200" cap="none" spc="0" normalizeH="0" baseline="0" noProof="0">
              <a:ln>
                <a:noFill/>
              </a:ln>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601FCC0E-0B9C-DC13-6610-573D11C0B252}"/>
              </a:ext>
            </a:extLst>
          </p:cNvPr>
          <p:cNvSpPr txBox="1"/>
          <p:nvPr/>
        </p:nvSpPr>
        <p:spPr>
          <a:xfrm>
            <a:off x="5616653" y="3984532"/>
            <a:ext cx="6304414" cy="1615827"/>
          </a:xfrm>
          <a:prstGeom prst="rect">
            <a:avLst/>
          </a:prstGeom>
          <a:noFill/>
          <a:ln>
            <a:solidFill>
              <a:schemeClr val="tx1"/>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sng" strike="noStrike" kern="1200" cap="none" spc="0" normalizeH="0" baseline="0" noProof="0">
                <a:ln>
                  <a:noFill/>
                </a:ln>
                <a:effectLst/>
                <a:uLnTx/>
                <a:uFillTx/>
                <a:latin typeface="Aptos Display" panose="02110004020202020204"/>
                <a:ea typeface="+mn-ea"/>
                <a:cs typeface="+mn-cs"/>
              </a:rPr>
              <a:t>How to generate Ontology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sng" strike="noStrike" kern="1200" cap="none" spc="0" normalizeH="0" baseline="0" noProof="0">
              <a:ln>
                <a:noFill/>
              </a:ln>
              <a:effectLst/>
              <a:uLnTx/>
              <a:uFillTx/>
              <a:latin typeface="Aptos Display"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Display" panose="02110004020202020204"/>
                <a:ea typeface="+mn-ea"/>
                <a:cs typeface="+mn-cs"/>
              </a:rPr>
              <a:t>Use natural language or diagrams to generate OWL file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sng" strike="noStrike" kern="1200" cap="none" spc="0" normalizeH="0" baseline="0" noProof="0">
              <a:ln>
                <a:noFill/>
              </a:ln>
              <a:effectLst/>
              <a:uLnTx/>
              <a:uFillTx/>
              <a:latin typeface="Aptos Display"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a:ln>
                  <a:noFill/>
                </a:ln>
                <a:effectLst/>
                <a:uLnTx/>
                <a:uFillTx/>
                <a:latin typeface="Aptos Display" panose="02110004020202020204"/>
                <a:ea typeface="+mn-ea"/>
                <a:cs typeface="+mn-cs"/>
              </a:rPr>
              <a:t>LLMs / CLIs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a:ln>
                  <a:noFill/>
                </a:ln>
                <a:effectLst/>
                <a:uLnTx/>
                <a:uFillTx/>
                <a:latin typeface="Aptos Display" panose="02110004020202020204"/>
                <a:ea typeface="+mn-ea"/>
                <a:cs typeface="+mn-cs"/>
              </a:rPr>
              <a:t>W3C RDF Validator tool</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err="1">
                <a:ln>
                  <a:noFill/>
                </a:ln>
                <a:effectLst/>
                <a:uLnTx/>
                <a:uFillTx/>
                <a:latin typeface="Aptos Display" panose="02110004020202020204"/>
                <a:ea typeface="+mn-ea"/>
                <a:cs typeface="+mn-cs"/>
              </a:rPr>
              <a:t>FluentEditor</a:t>
            </a:r>
            <a:endParaRPr kumimoji="0" lang="en-AU" sz="900" b="0" i="0" u="none" strike="noStrike" kern="1200" cap="none" spc="0" normalizeH="0" baseline="0" noProof="0">
              <a:ln>
                <a:noFill/>
              </a:ln>
              <a:effectLst/>
              <a:uLnTx/>
              <a:uFillTx/>
              <a:latin typeface="Aptos Display"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err="1">
                <a:ln>
                  <a:noFill/>
                </a:ln>
                <a:effectLst/>
                <a:uLnTx/>
                <a:uFillTx/>
                <a:latin typeface="Aptos Display" panose="02110004020202020204"/>
                <a:ea typeface="+mn-ea"/>
                <a:cs typeface="+mn-cs"/>
              </a:rPr>
              <a:t>Chowlk</a:t>
            </a:r>
            <a:r>
              <a:rPr kumimoji="0" lang="en-AU" sz="900" b="0" i="0" u="none" strike="noStrike" kern="1200" cap="none" spc="0" normalizeH="0" baseline="0" noProof="0">
                <a:ln>
                  <a:noFill/>
                </a:ln>
                <a:effectLst/>
                <a:uLnTx/>
                <a:uFillTx/>
                <a:latin typeface="Aptos Display" panose="02110004020202020204"/>
                <a:ea typeface="+mn-ea"/>
                <a:cs typeface="+mn-cs"/>
              </a:rPr>
              <a:t>  (Diagram to OWL)</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err="1">
                <a:ln>
                  <a:noFill/>
                </a:ln>
                <a:effectLst/>
                <a:uLnTx/>
                <a:uFillTx/>
                <a:latin typeface="Aptos Display" panose="02110004020202020204"/>
                <a:ea typeface="+mn-ea"/>
                <a:cs typeface="+mn-cs"/>
              </a:rPr>
              <a:t>AceWiki</a:t>
            </a:r>
            <a:r>
              <a:rPr kumimoji="0" lang="en-AU" sz="900" b="0" i="0" u="none" strike="noStrike" kern="1200" cap="none" spc="0" normalizeH="0" baseline="0" noProof="0">
                <a:ln>
                  <a:noFill/>
                </a:ln>
                <a:effectLst/>
                <a:uLnTx/>
                <a:uFillTx/>
                <a:latin typeface="Aptos Display" panose="02110004020202020204"/>
                <a:ea typeface="+mn-ea"/>
                <a:cs typeface="+mn-cs"/>
              </a:rPr>
              <a:t> / ACE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err="1">
                <a:ln>
                  <a:noFill/>
                </a:ln>
                <a:effectLst/>
                <a:uLnTx/>
                <a:uFillTx/>
                <a:latin typeface="Aptos Display" panose="02110004020202020204"/>
                <a:ea typeface="+mn-ea"/>
                <a:cs typeface="+mn-cs"/>
              </a:rPr>
              <a:t>Pritege</a:t>
            </a:r>
            <a:endParaRPr kumimoji="0" lang="en-AU" sz="900" b="0" i="0" u="none" strike="noStrike" kern="1200" cap="none" spc="0" normalizeH="0" baseline="0" noProof="0">
              <a:ln>
                <a:noFill/>
              </a:ln>
              <a:effectLst/>
              <a:uLnTx/>
              <a:uFillTx/>
              <a:latin typeface="Aptos Display"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err="1">
                <a:ln>
                  <a:noFill/>
                </a:ln>
                <a:effectLst/>
                <a:uLnTx/>
                <a:uFillTx/>
                <a:latin typeface="Aptos Display" panose="02110004020202020204"/>
                <a:ea typeface="+mn-ea"/>
                <a:cs typeface="+mn-cs"/>
              </a:rPr>
              <a:t>RDFlib</a:t>
            </a:r>
            <a:r>
              <a:rPr kumimoji="0" lang="en-AU" sz="900" b="0" i="0" u="none" strike="noStrike" kern="1200" cap="none" spc="0" normalizeH="0" baseline="0" noProof="0">
                <a:ln>
                  <a:noFill/>
                </a:ln>
                <a:effectLst/>
                <a:uLnTx/>
                <a:uFillTx/>
                <a:latin typeface="Aptos Display" panose="02110004020202020204"/>
                <a:ea typeface="+mn-ea"/>
                <a:cs typeface="+mn-cs"/>
              </a:rPr>
              <a:t> (Python Library)  </a:t>
            </a:r>
          </a:p>
        </p:txBody>
      </p:sp>
    </p:spTree>
    <p:extLst>
      <p:ext uri="{BB962C8B-B14F-4D97-AF65-F5344CB8AC3E}">
        <p14:creationId xmlns:p14="http://schemas.microsoft.com/office/powerpoint/2010/main" val="1526096939"/>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B2CFB8EB-9F12-F679-7BBA-FAE254854D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D2B62C8-EA70-2224-D72E-E6F744910901}"/>
              </a:ext>
            </a:extLst>
          </p:cNvPr>
          <p:cNvSpPr txBox="1"/>
          <p:nvPr/>
        </p:nvSpPr>
        <p:spPr>
          <a:xfrm>
            <a:off x="164120" y="90142"/>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Snowflake</a:t>
            </a:r>
            <a:r>
              <a:rPr kumimoji="0" sz="3000" b="1" i="0" u="none" strike="noStrike" kern="1200" cap="none" spc="0" normalizeH="0" baseline="0" noProof="0">
                <a:ln>
                  <a:noFill/>
                </a:ln>
                <a:effectLst/>
                <a:uLnTx/>
                <a:uFillTx/>
                <a:latin typeface="Calibri"/>
                <a:ea typeface="+mn-ea"/>
                <a:cs typeface="+mn-cs"/>
              </a:rPr>
              <a:t> </a:t>
            </a:r>
            <a:r>
              <a:rPr kumimoji="0" lang="en-AU" sz="3000" b="1" i="0" u="none" strike="noStrike" kern="1200" cap="none" spc="0" normalizeH="0" baseline="0" noProof="0">
                <a:ln>
                  <a:noFill/>
                </a:ln>
                <a:effectLst/>
                <a:uLnTx/>
                <a:uFillTx/>
                <a:latin typeface="Calibri"/>
                <a:ea typeface="+mn-ea"/>
                <a:cs typeface="+mn-cs"/>
              </a:rPr>
              <a:t>– Extension to MCP ***</a:t>
            </a:r>
            <a:endParaRPr kumimoji="0" sz="3000" b="1" i="0" u="none" strike="noStrike" kern="1200" cap="none" spc="0" normalizeH="0" baseline="0" noProof="0">
              <a:ln>
                <a:noFill/>
              </a:ln>
              <a:effectLst/>
              <a:uLnTx/>
              <a:uFillTx/>
              <a:latin typeface="Calibri"/>
              <a:ea typeface="+mn-ea"/>
              <a:cs typeface="+mn-cs"/>
            </a:endParaRPr>
          </a:p>
        </p:txBody>
      </p:sp>
      <p:sp>
        <p:nvSpPr>
          <p:cNvPr id="5" name="TextBox 4">
            <a:extLst>
              <a:ext uri="{FF2B5EF4-FFF2-40B4-BE49-F238E27FC236}">
                <a16:creationId xmlns:a16="http://schemas.microsoft.com/office/drawing/2014/main" id="{D0BAF7AF-D559-30EA-B20D-15A281095EA8}"/>
              </a:ext>
            </a:extLst>
          </p:cNvPr>
          <p:cNvSpPr txBox="1"/>
          <p:nvPr/>
        </p:nvSpPr>
        <p:spPr>
          <a:xfrm>
            <a:off x="194885" y="727773"/>
            <a:ext cx="11649981" cy="461665"/>
          </a:xfrm>
          <a:prstGeom prst="rect">
            <a:avLst/>
          </a:prstGeom>
          <a:noFill/>
        </p:spPr>
        <p:txBody>
          <a:bodyPr wrap="square">
            <a:spAutoFit/>
          </a:bodyPr>
          <a:lstStyle/>
          <a:p>
            <a:r>
              <a:rPr lang="en-AU" sz="1200" b="0" i="0">
                <a:effectLst/>
                <a:latin typeface="Mona Sans VF"/>
              </a:rPr>
              <a:t>A complete MCP (Model Context Protocol) server implementation for graph analytics can be the next extension to this. </a:t>
            </a:r>
            <a:br>
              <a:rPr lang="en-AU" sz="1200" b="0" i="0">
                <a:effectLst/>
                <a:latin typeface="Mona Sans VF"/>
              </a:rPr>
            </a:br>
            <a:r>
              <a:rPr lang="en-AU" sz="1200" b="0" i="0">
                <a:effectLst/>
                <a:latin typeface="Mona Sans VF"/>
              </a:rPr>
              <a:t>This can enable </a:t>
            </a:r>
            <a:r>
              <a:rPr lang="en-AU" sz="1200" b="0" i="0" err="1">
                <a:effectLst/>
                <a:latin typeface="Mona Sans VF"/>
              </a:rPr>
              <a:t>NetworkX</a:t>
            </a:r>
            <a:r>
              <a:rPr lang="en-AU" sz="1200" b="0" i="0">
                <a:effectLst/>
                <a:latin typeface="Mona Sans VF"/>
              </a:rPr>
              <a:t>-powered graph analytics tools that integrate with Cortex Agent.</a:t>
            </a:r>
            <a:endParaRPr lang="en-AU" sz="1200"/>
          </a:p>
        </p:txBody>
      </p:sp>
      <p:sp>
        <p:nvSpPr>
          <p:cNvPr id="9" name="Rectangle: Rounded Corners 8">
            <a:extLst>
              <a:ext uri="{FF2B5EF4-FFF2-40B4-BE49-F238E27FC236}">
                <a16:creationId xmlns:a16="http://schemas.microsoft.com/office/drawing/2014/main" id="{53CD2546-8F7C-E715-2092-005F8CC82BCC}"/>
              </a:ext>
            </a:extLst>
          </p:cNvPr>
          <p:cNvSpPr/>
          <p:nvPr/>
        </p:nvSpPr>
        <p:spPr>
          <a:xfrm>
            <a:off x="457201" y="1759952"/>
            <a:ext cx="7484534" cy="4563533"/>
          </a:xfrm>
          <a:prstGeom prst="roundRect">
            <a:avLst/>
          </a:prstGeom>
          <a:solidFill>
            <a:schemeClr val="tx2">
              <a:lumMod val="10000"/>
              <a:lumOff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AU" sz="1200">
                <a:solidFill>
                  <a:schemeClr val="tx1"/>
                </a:solidFill>
              </a:rPr>
              <a:t>SNOWFLAKE</a:t>
            </a:r>
          </a:p>
        </p:txBody>
      </p:sp>
      <p:sp>
        <p:nvSpPr>
          <p:cNvPr id="10" name="Rectangle: Rounded Corners 9">
            <a:extLst>
              <a:ext uri="{FF2B5EF4-FFF2-40B4-BE49-F238E27FC236}">
                <a16:creationId xmlns:a16="http://schemas.microsoft.com/office/drawing/2014/main" id="{86B8BC16-9568-F7FB-B34A-FE5723355B63}"/>
              </a:ext>
            </a:extLst>
          </p:cNvPr>
          <p:cNvSpPr/>
          <p:nvPr/>
        </p:nvSpPr>
        <p:spPr>
          <a:xfrm>
            <a:off x="2256366" y="5521380"/>
            <a:ext cx="2091268" cy="592667"/>
          </a:xfrm>
          <a:prstGeom prst="roundRect">
            <a:avLst/>
          </a:prstGeom>
          <a:solidFill>
            <a:schemeClr val="accent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1000">
                <a:solidFill>
                  <a:schemeClr val="bg1"/>
                </a:solidFill>
              </a:rPr>
              <a:t>Cortex Agent (Service Functions)</a:t>
            </a:r>
          </a:p>
        </p:txBody>
      </p:sp>
      <p:sp>
        <p:nvSpPr>
          <p:cNvPr id="12" name="Rectangle: Rounded Corners 11">
            <a:extLst>
              <a:ext uri="{FF2B5EF4-FFF2-40B4-BE49-F238E27FC236}">
                <a16:creationId xmlns:a16="http://schemas.microsoft.com/office/drawing/2014/main" id="{CF02061B-9947-F60E-CB1A-75E5B45D3203}"/>
              </a:ext>
            </a:extLst>
          </p:cNvPr>
          <p:cNvSpPr/>
          <p:nvPr/>
        </p:nvSpPr>
        <p:spPr>
          <a:xfrm>
            <a:off x="1083733" y="2313023"/>
            <a:ext cx="6323566" cy="2641601"/>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AU" sz="1200">
                <a:solidFill>
                  <a:schemeClr val="bg1"/>
                </a:solidFill>
              </a:rPr>
              <a:t>Snowflake SPCS (Container Services)</a:t>
            </a:r>
          </a:p>
        </p:txBody>
      </p:sp>
      <p:sp>
        <p:nvSpPr>
          <p:cNvPr id="14" name="Rectangle: Rounded Corners 13">
            <a:extLst>
              <a:ext uri="{FF2B5EF4-FFF2-40B4-BE49-F238E27FC236}">
                <a16:creationId xmlns:a16="http://schemas.microsoft.com/office/drawing/2014/main" id="{5813FB47-F8E6-EFD6-8DF9-3E546E052D75}"/>
              </a:ext>
            </a:extLst>
          </p:cNvPr>
          <p:cNvSpPr/>
          <p:nvPr/>
        </p:nvSpPr>
        <p:spPr>
          <a:xfrm>
            <a:off x="1329265" y="2813669"/>
            <a:ext cx="5808424" cy="1785355"/>
          </a:xfrm>
          <a:prstGeom prst="roundRect">
            <a:avLst/>
          </a:prstGeom>
          <a:solidFill>
            <a:schemeClr val="tx2">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AU" sz="1100">
                <a:solidFill>
                  <a:schemeClr val="bg1"/>
                </a:solidFill>
              </a:rPr>
              <a:t>Docker Container</a:t>
            </a:r>
          </a:p>
        </p:txBody>
      </p:sp>
      <p:sp>
        <p:nvSpPr>
          <p:cNvPr id="16" name="Rectangle: Rounded Corners 15">
            <a:extLst>
              <a:ext uri="{FF2B5EF4-FFF2-40B4-BE49-F238E27FC236}">
                <a16:creationId xmlns:a16="http://schemas.microsoft.com/office/drawing/2014/main" id="{6024C38E-7185-352C-E0AC-2845CB61EA85}"/>
              </a:ext>
            </a:extLst>
          </p:cNvPr>
          <p:cNvSpPr/>
          <p:nvPr/>
        </p:nvSpPr>
        <p:spPr>
          <a:xfrm>
            <a:off x="1540933" y="3286693"/>
            <a:ext cx="5330610" cy="1092202"/>
          </a:xfrm>
          <a:prstGeom prst="roundRect">
            <a:avLst/>
          </a:prstGeom>
          <a:solidFill>
            <a:schemeClr val="accent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1000">
                <a:solidFill>
                  <a:schemeClr val="bg1"/>
                </a:solidFill>
              </a:rPr>
              <a:t>Python Setup</a:t>
            </a:r>
          </a:p>
          <a:p>
            <a:pPr marL="171450" indent="-171450">
              <a:buFont typeface="Arial" panose="020B0604020202020204" pitchFamily="34" charset="0"/>
              <a:buChar char="•"/>
            </a:pPr>
            <a:r>
              <a:rPr lang="en-AU" sz="1000" err="1">
                <a:solidFill>
                  <a:schemeClr val="bg1"/>
                </a:solidFill>
              </a:rPr>
              <a:t>FastMCP</a:t>
            </a:r>
            <a:r>
              <a:rPr lang="en-AU" sz="1000">
                <a:solidFill>
                  <a:schemeClr val="bg1"/>
                </a:solidFill>
              </a:rPr>
              <a:t> framework</a:t>
            </a:r>
          </a:p>
          <a:p>
            <a:pPr marL="171450" indent="-171450">
              <a:buFont typeface="Arial" panose="020B0604020202020204" pitchFamily="34" charset="0"/>
              <a:buChar char="•"/>
            </a:pPr>
            <a:r>
              <a:rPr lang="en-AU" sz="1000" err="1">
                <a:solidFill>
                  <a:schemeClr val="bg1"/>
                </a:solidFill>
              </a:rPr>
              <a:t>NetworkX</a:t>
            </a:r>
            <a:r>
              <a:rPr lang="en-AU" sz="1000">
                <a:solidFill>
                  <a:schemeClr val="bg1"/>
                </a:solidFill>
              </a:rPr>
              <a:t> graph analytics</a:t>
            </a:r>
          </a:p>
          <a:p>
            <a:pPr marL="628650" lvl="1" indent="-171450">
              <a:buFont typeface="Arial" panose="020B0604020202020204" pitchFamily="34" charset="0"/>
              <a:buChar char="•"/>
            </a:pPr>
            <a:r>
              <a:rPr lang="en-AU" sz="1000">
                <a:solidFill>
                  <a:schemeClr val="bg1"/>
                </a:solidFill>
              </a:rPr>
              <a:t>Not limited to but options (</a:t>
            </a:r>
            <a:r>
              <a:rPr lang="en-US" sz="1000" err="1">
                <a:solidFill>
                  <a:schemeClr val="bg1"/>
                </a:solidFill>
              </a:rPr>
              <a:t>graph_shortest_path</a:t>
            </a:r>
            <a:r>
              <a:rPr lang="en-US" sz="1000">
                <a:solidFill>
                  <a:schemeClr val="bg1"/>
                </a:solidFill>
              </a:rPr>
              <a:t>, </a:t>
            </a:r>
            <a:r>
              <a:rPr lang="en-US" sz="1000" err="1">
                <a:solidFill>
                  <a:schemeClr val="bg1"/>
                </a:solidFill>
              </a:rPr>
              <a:t>graph_community_detection</a:t>
            </a:r>
            <a:r>
              <a:rPr lang="en-US" sz="1000">
                <a:solidFill>
                  <a:schemeClr val="bg1"/>
                </a:solidFill>
              </a:rPr>
              <a:t>)</a:t>
            </a:r>
            <a:endParaRPr lang="en-AU" sz="1000">
              <a:solidFill>
                <a:schemeClr val="bg1"/>
              </a:solidFill>
            </a:endParaRPr>
          </a:p>
          <a:p>
            <a:pPr marL="171450" indent="-171450">
              <a:buFont typeface="Arial" panose="020B0604020202020204" pitchFamily="34" charset="0"/>
              <a:buChar char="•"/>
            </a:pPr>
            <a:r>
              <a:rPr lang="en-AU" sz="1000">
                <a:solidFill>
                  <a:schemeClr val="bg1"/>
                </a:solidFill>
              </a:rPr>
              <a:t>HTTP endpoints (port 5000)</a:t>
            </a:r>
          </a:p>
          <a:p>
            <a:pPr marL="171450" indent="-171450">
              <a:buFont typeface="Arial" panose="020B0604020202020204" pitchFamily="34" charset="0"/>
              <a:buChar char="•"/>
            </a:pPr>
            <a:r>
              <a:rPr lang="en-AU" sz="1000">
                <a:solidFill>
                  <a:schemeClr val="bg1"/>
                </a:solidFill>
              </a:rPr>
              <a:t>Custom tools </a:t>
            </a:r>
          </a:p>
        </p:txBody>
      </p:sp>
      <p:sp>
        <p:nvSpPr>
          <p:cNvPr id="19" name="Arrow: Up-Down 18">
            <a:extLst>
              <a:ext uri="{FF2B5EF4-FFF2-40B4-BE49-F238E27FC236}">
                <a16:creationId xmlns:a16="http://schemas.microsoft.com/office/drawing/2014/main" id="{AF28A07F-0830-A159-47FB-14536FDD3061}"/>
              </a:ext>
            </a:extLst>
          </p:cNvPr>
          <p:cNvSpPr/>
          <p:nvPr/>
        </p:nvSpPr>
        <p:spPr>
          <a:xfrm>
            <a:off x="3124200" y="4984709"/>
            <a:ext cx="143933" cy="500646"/>
          </a:xfrm>
          <a:prstGeom prst="upDownArrow">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endParaRPr>
          </a:p>
        </p:txBody>
      </p:sp>
      <p:sp>
        <p:nvSpPr>
          <p:cNvPr id="23" name="TextBox 22">
            <a:extLst>
              <a:ext uri="{FF2B5EF4-FFF2-40B4-BE49-F238E27FC236}">
                <a16:creationId xmlns:a16="http://schemas.microsoft.com/office/drawing/2014/main" id="{3CE72C1F-1FCB-ABEB-1565-0B348A755EC7}"/>
              </a:ext>
            </a:extLst>
          </p:cNvPr>
          <p:cNvSpPr txBox="1"/>
          <p:nvPr/>
        </p:nvSpPr>
        <p:spPr>
          <a:xfrm>
            <a:off x="3289299" y="4981114"/>
            <a:ext cx="6117166" cy="369332"/>
          </a:xfrm>
          <a:prstGeom prst="rect">
            <a:avLst/>
          </a:prstGeom>
          <a:noFill/>
        </p:spPr>
        <p:txBody>
          <a:bodyPr wrap="square">
            <a:spAutoFit/>
          </a:bodyPr>
          <a:lstStyle/>
          <a:p>
            <a:pPr algn="l">
              <a:buNone/>
            </a:pPr>
            <a:r>
              <a:rPr lang="en-AU" b="0" i="0">
                <a:effectLst/>
                <a:latin typeface="Monaspace Neon"/>
              </a:rPr>
              <a:t>HTTPs</a:t>
            </a:r>
          </a:p>
        </p:txBody>
      </p:sp>
      <p:sp>
        <p:nvSpPr>
          <p:cNvPr id="33" name="TextBox 32">
            <a:extLst>
              <a:ext uri="{FF2B5EF4-FFF2-40B4-BE49-F238E27FC236}">
                <a16:creationId xmlns:a16="http://schemas.microsoft.com/office/drawing/2014/main" id="{35D595E8-A768-DDBE-2B2C-52A5E6F221B9}"/>
              </a:ext>
            </a:extLst>
          </p:cNvPr>
          <p:cNvSpPr txBox="1"/>
          <p:nvPr/>
        </p:nvSpPr>
        <p:spPr>
          <a:xfrm>
            <a:off x="8399085" y="1940906"/>
            <a:ext cx="3259515" cy="461665"/>
          </a:xfrm>
          <a:prstGeom prst="rect">
            <a:avLst/>
          </a:prstGeom>
          <a:noFill/>
        </p:spPr>
        <p:txBody>
          <a:bodyPr wrap="square">
            <a:spAutoFit/>
          </a:bodyPr>
          <a:lstStyle/>
          <a:p>
            <a:r>
              <a:rPr lang="en-AU" sz="1200" b="1" i="0">
                <a:effectLst/>
                <a:latin typeface="Mona Sans VF"/>
              </a:rPr>
              <a:t>This has not </a:t>
            </a:r>
            <a:r>
              <a:rPr lang="en-AU" sz="1200" b="1">
                <a:latin typeface="Mona Sans VF"/>
              </a:rPr>
              <a:t>been built &amp; tested. </a:t>
            </a:r>
            <a:br>
              <a:rPr lang="en-AU" sz="1200" b="1">
                <a:latin typeface="Mona Sans VF"/>
              </a:rPr>
            </a:br>
            <a:r>
              <a:rPr lang="en-AU" sz="1200" b="1">
                <a:latin typeface="Mona Sans VF"/>
              </a:rPr>
              <a:t>On paper &lt;as a concept&gt; sounds achievable.</a:t>
            </a:r>
            <a:endParaRPr lang="en-AU" sz="1200" b="1"/>
          </a:p>
        </p:txBody>
      </p:sp>
    </p:spTree>
    <p:extLst>
      <p:ext uri="{BB962C8B-B14F-4D97-AF65-F5344CB8AC3E}">
        <p14:creationId xmlns:p14="http://schemas.microsoft.com/office/powerpoint/2010/main" val="4038490149"/>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E5061939-544A-BAE0-014C-8D20F25E41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7D0DFD-688B-D8CD-6945-81A3E02CC2E4}"/>
              </a:ext>
            </a:extLst>
          </p:cNvPr>
          <p:cNvSpPr txBox="1"/>
          <p:nvPr/>
        </p:nvSpPr>
        <p:spPr>
          <a:xfrm>
            <a:off x="914400" y="2011680"/>
            <a:ext cx="1005840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a:ln>
                  <a:noFill/>
                </a:ln>
                <a:effectLst/>
                <a:uLnTx/>
                <a:uFillTx/>
                <a:latin typeface="Aptos" panose="02110004020202020204"/>
                <a:ea typeface="+mn-ea"/>
                <a:cs typeface="+mn-cs"/>
              </a:rPr>
              <a:t>Solution</a:t>
            </a:r>
            <a:endParaRPr kumimoji="0" sz="4000" b="1" i="0" u="none" strike="noStrike" kern="1200" cap="none" spc="0" normalizeH="0" baseline="0" noProof="0">
              <a:ln>
                <a:noFill/>
              </a:ln>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E90A2B8C-8158-049C-0D4B-6D919D34FD13}"/>
              </a:ext>
            </a:extLst>
          </p:cNvPr>
          <p:cNvSpPr/>
          <p:nvPr/>
        </p:nvSpPr>
        <p:spPr>
          <a:xfrm>
            <a:off x="4419752" y="2821094"/>
            <a:ext cx="3047695" cy="36576"/>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D11B9F07-5B2D-5969-6F82-1C75EF599C54}"/>
              </a:ext>
            </a:extLst>
          </p:cNvPr>
          <p:cNvSpPr txBox="1"/>
          <p:nvPr/>
        </p:nvSpPr>
        <p:spPr>
          <a:xfrm>
            <a:off x="5059441" y="2938129"/>
            <a:ext cx="6096000" cy="3231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500" b="1" i="0" u="none" strike="noStrike" kern="1200" cap="none" spc="0" normalizeH="0" baseline="0" noProof="0">
                <a:ln>
                  <a:noFill/>
                </a:ln>
                <a:effectLst/>
                <a:uLnTx/>
                <a:uFillTx/>
                <a:latin typeface="Calibri"/>
                <a:ea typeface="+mn-ea"/>
                <a:cs typeface="+mn-cs"/>
              </a:rPr>
              <a:t>UI - Visualisation</a:t>
            </a:r>
          </a:p>
        </p:txBody>
      </p:sp>
    </p:spTree>
    <p:extLst>
      <p:ext uri="{BB962C8B-B14F-4D97-AF65-F5344CB8AC3E}">
        <p14:creationId xmlns:p14="http://schemas.microsoft.com/office/powerpoint/2010/main" val="1552303084"/>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10E30041-89DC-9226-699D-9D1AD32988DF}"/>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D0E41B2-CBDB-2285-193C-DB5745AABB46}"/>
              </a:ext>
            </a:extLst>
          </p:cNvPr>
          <p:cNvGraphicFramePr>
            <a:graphicFrameLocks noGrp="1"/>
          </p:cNvGraphicFramePr>
          <p:nvPr>
            <p:extLst>
              <p:ext uri="{D42A27DB-BD31-4B8C-83A1-F6EECF244321}">
                <p14:modId xmlns:p14="http://schemas.microsoft.com/office/powerpoint/2010/main" val="162635720"/>
              </p:ext>
            </p:extLst>
          </p:nvPr>
        </p:nvGraphicFramePr>
        <p:xfrm>
          <a:off x="203199" y="822278"/>
          <a:ext cx="11734801" cy="5074920"/>
        </p:xfrm>
        <a:graphic>
          <a:graphicData uri="http://schemas.openxmlformats.org/drawingml/2006/table">
            <a:tbl>
              <a:tblPr firstRow="1" bandRow="1">
                <a:tableStyleId>{5C22544A-7EE6-4342-B048-85BDC9FD1C3A}</a:tableStyleId>
              </a:tblPr>
              <a:tblGrid>
                <a:gridCol w="3644085">
                  <a:extLst>
                    <a:ext uri="{9D8B030D-6E8A-4147-A177-3AD203B41FA5}">
                      <a16:colId xmlns:a16="http://schemas.microsoft.com/office/drawing/2014/main" val="191090848"/>
                    </a:ext>
                  </a:extLst>
                </a:gridCol>
                <a:gridCol w="3610677">
                  <a:extLst>
                    <a:ext uri="{9D8B030D-6E8A-4147-A177-3AD203B41FA5}">
                      <a16:colId xmlns:a16="http://schemas.microsoft.com/office/drawing/2014/main" val="787868451"/>
                    </a:ext>
                  </a:extLst>
                </a:gridCol>
                <a:gridCol w="4480039">
                  <a:extLst>
                    <a:ext uri="{9D8B030D-6E8A-4147-A177-3AD203B41FA5}">
                      <a16:colId xmlns:a16="http://schemas.microsoft.com/office/drawing/2014/main" val="108364535"/>
                    </a:ext>
                  </a:extLst>
                </a:gridCol>
              </a:tblGrid>
              <a:tr h="224202">
                <a:tc gridSpan="3">
                  <a:txBody>
                    <a:bodyPr/>
                    <a:lstStyle/>
                    <a:p>
                      <a:pPr marL="0" indent="0">
                        <a:buFont typeface="Arial" panose="020B0604020202020204" pitchFamily="34" charset="0"/>
                        <a:buNone/>
                      </a:pP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rPr>
                        <a:t>HANDS ON POC </a:t>
                      </a: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sym typeface="Wingdings" panose="05000000000000000000" pitchFamily="2" charset="2"/>
                        </a:rPr>
                        <a:t>(</a:t>
                      </a: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rPr>
                        <a:t>NEO4J VS TIGER GRAPH)   </a:t>
                      </a:r>
                      <a:r>
                        <a:rPr lang="en-AU" sz="900" b="0">
                          <a:solidFill>
                            <a:schemeClr val="tx1"/>
                          </a:solidFill>
                          <a:effectLst/>
                          <a:latin typeface="Aptos" panose="020B0004020202020204" pitchFamily="34" charset="0"/>
                          <a:ea typeface="Aptos" panose="020B0004020202020204" pitchFamily="34" charset="0"/>
                          <a:cs typeface="Aptos" panose="020B0004020202020204" pitchFamily="34" charset="0"/>
                          <a:sym typeface="Wingdings" panose="05000000000000000000" pitchFamily="2" charset="2"/>
                        </a:rPr>
                        <a:t>   </a:t>
                      </a:r>
                      <a:r>
                        <a:rPr lang="en-AU" sz="900">
                          <a:solidFill>
                            <a:schemeClr val="tx1"/>
                          </a:solidFill>
                          <a:hlinkClick r:id="rId3">
                            <a:extLst>
                              <a:ext uri="{A12FA001-AC4F-418D-AE19-62706E023703}">
                                <ahyp:hlinkClr xmlns:ahyp="http://schemas.microsoft.com/office/drawing/2018/hyperlinkcolor" val="tx"/>
                              </a:ext>
                            </a:extLst>
                          </a:hlinkClick>
                        </a:rPr>
                        <a:t>Graph, </a:t>
                      </a:r>
                      <a:r>
                        <a:rPr lang="en-AU" sz="900" err="1">
                          <a:solidFill>
                            <a:schemeClr val="tx1"/>
                          </a:solidFill>
                          <a:hlinkClick r:id="rId3">
                            <a:extLst>
                              <a:ext uri="{A12FA001-AC4F-418D-AE19-62706E023703}">
                                <ahyp:hlinkClr xmlns:ahyp="http://schemas.microsoft.com/office/drawing/2018/hyperlinkcolor" val="tx"/>
                              </a:ext>
                            </a:extLst>
                          </a:hlinkClick>
                        </a:rPr>
                        <a:t>GraphRAG</a:t>
                      </a:r>
                      <a:r>
                        <a:rPr lang="en-AU" sz="900">
                          <a:solidFill>
                            <a:schemeClr val="tx1"/>
                          </a:solidFill>
                          <a:hlinkClick r:id="rId3">
                            <a:extLst>
                              <a:ext uri="{A12FA001-AC4F-418D-AE19-62706E023703}">
                                <ahyp:hlinkClr xmlns:ahyp="http://schemas.microsoft.com/office/drawing/2018/hyperlinkcolor" val="tx"/>
                              </a:ext>
                            </a:extLst>
                          </a:hlinkClick>
                        </a:rPr>
                        <a:t> - Analytics - CTO Strategy and Architecture - Westpac Enterprise Confluence</a:t>
                      </a:r>
                      <a:endParaRPr lang="en-AU" sz="9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sz="800"/>
                    </a:p>
                  </a:txBody>
                  <a:tcPr>
                    <a:solidFill>
                      <a:schemeClr val="tx2">
                        <a:lumMod val="10000"/>
                        <a:lumOff val="90000"/>
                      </a:schemeClr>
                    </a:solidFill>
                  </a:tcPr>
                </a:tc>
                <a:tc hMerge="1">
                  <a:txBody>
                    <a:bodyPr/>
                    <a:lstStyle/>
                    <a:p>
                      <a:pPr marL="0" indent="0">
                        <a:buFont typeface="Arial" panose="020B0604020202020204" pitchFamily="34" charset="0"/>
                        <a:buNone/>
                      </a:pPr>
                      <a:endParaRPr lang="en-AU" sz="900">
                        <a:solidFill>
                          <a:schemeClr val="tx1"/>
                        </a:solidFill>
                      </a:endParaRPr>
                    </a:p>
                  </a:txBody>
                  <a:tcPr>
                    <a:solidFill>
                      <a:schemeClr val="tx2">
                        <a:lumMod val="50000"/>
                        <a:lumOff val="50000"/>
                      </a:schemeClr>
                    </a:solidFill>
                  </a:tcPr>
                </a:tc>
                <a:extLst>
                  <a:ext uri="{0D108BD9-81ED-4DB2-BD59-A6C34878D82A}">
                    <a16:rowId xmlns:a16="http://schemas.microsoft.com/office/drawing/2014/main" val="3488761819"/>
                  </a:ext>
                </a:extLst>
              </a:tr>
              <a:tr h="161317">
                <a:tc>
                  <a:txBody>
                    <a:bodyPr/>
                    <a:lstStyle/>
                    <a:p>
                      <a:pPr algn="ctr"/>
                      <a:r>
                        <a:rPr lang="en-AU" sz="900" b="1" u="sng"/>
                        <a:t>NEO4j</a:t>
                      </a:r>
                      <a:endParaRPr lang="en-AU"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pPr algn="ctr"/>
                      <a:r>
                        <a:rPr lang="en-AU" sz="900" b="1" u="sng" err="1">
                          <a:sym typeface="Wingdings" panose="05000000000000000000" pitchFamily="2" charset="2"/>
                        </a:rPr>
                        <a:t>TigerGraph</a:t>
                      </a:r>
                      <a:r>
                        <a:rPr lang="en-AU" sz="900" b="0" u="none">
                          <a:sym typeface="Wingdings" panose="05000000000000000000" pitchFamily="2" charset="2"/>
                        </a:rPr>
                        <a:t> </a:t>
                      </a:r>
                      <a:endParaRPr lang="en-AU" sz="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tc>
                  <a:txBody>
                    <a:bodyPr/>
                    <a:lstStyle/>
                    <a:p>
                      <a:pPr algn="ctr"/>
                      <a:r>
                        <a:rPr lang="en-AU" sz="900" b="1"/>
                        <a:t>Snowflake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lumOff val="50000"/>
                      </a:schemeClr>
                    </a:solidFill>
                  </a:tcPr>
                </a:tc>
                <a:extLst>
                  <a:ext uri="{0D108BD9-81ED-4DB2-BD59-A6C34878D82A}">
                    <a16:rowId xmlns:a16="http://schemas.microsoft.com/office/drawing/2014/main" val="2102529381"/>
                  </a:ext>
                </a:extLst>
              </a:tr>
              <a:tr h="874453">
                <a:tc>
                  <a:txBody>
                    <a:bodyPr/>
                    <a:lstStyle/>
                    <a:p>
                      <a:r>
                        <a:rPr lang="en-AU" sz="900" b="1" i="0" kern="1200">
                          <a:solidFill>
                            <a:schemeClr val="dk1"/>
                          </a:solidFill>
                          <a:effectLst/>
                          <a:latin typeface="+mn-lt"/>
                          <a:ea typeface="+mn-ea"/>
                          <a:cs typeface="+mn-cs"/>
                        </a:rPr>
                        <a:t>Neo4j Bloom</a:t>
                      </a:r>
                      <a:r>
                        <a:rPr lang="en-AU" sz="900" b="0" i="0" kern="1200">
                          <a:solidFill>
                            <a:schemeClr val="dk1"/>
                          </a:solidFill>
                          <a:effectLst/>
                          <a:latin typeface="+mn-lt"/>
                          <a:ea typeface="+mn-ea"/>
                          <a:cs typeface="+mn-cs"/>
                        </a:rPr>
                        <a:t> is the Graph Visualization for</a:t>
                      </a:r>
                      <a:r>
                        <a:rPr lang="en-AU" sz="900" b="1" i="0" kern="1200">
                          <a:solidFill>
                            <a:schemeClr val="dk1"/>
                          </a:solidFill>
                          <a:effectLst/>
                          <a:latin typeface="+mn-lt"/>
                          <a:ea typeface="+mn-ea"/>
                          <a:cs typeface="+mn-cs"/>
                        </a:rPr>
                        <a:t> Python (neo4j-viz)</a:t>
                      </a:r>
                      <a:r>
                        <a:rPr lang="en-AU" sz="900" b="0" i="0" kern="1200">
                          <a:solidFill>
                            <a:schemeClr val="dk1"/>
                          </a:solidFill>
                          <a:effectLst/>
                          <a:latin typeface="+mn-lt"/>
                          <a:ea typeface="+mn-ea"/>
                          <a:cs typeface="+mn-cs"/>
                        </a:rPr>
                        <a:t> library. </a:t>
                      </a:r>
                    </a:p>
                    <a:p>
                      <a:endParaRPr lang="en-AU" sz="900" b="0" i="0" kern="1200">
                        <a:solidFill>
                          <a:schemeClr val="dk1"/>
                        </a:solidFill>
                        <a:effectLst/>
                        <a:latin typeface="+mn-lt"/>
                        <a:ea typeface="+mn-ea"/>
                        <a:cs typeface="+mn-cs"/>
                      </a:endParaRPr>
                    </a:p>
                    <a:p>
                      <a:r>
                        <a:rPr lang="en-AU" sz="900" b="1" i="0" u="sng" kern="1200">
                          <a:solidFill>
                            <a:schemeClr val="dk1"/>
                          </a:solidFill>
                          <a:effectLst/>
                          <a:latin typeface="+mn-lt"/>
                          <a:ea typeface="+mn-ea"/>
                          <a:cs typeface="+mn-cs"/>
                        </a:rPr>
                        <a:t>Native &amp; Integrated Alternatives (Within Snowflake)</a:t>
                      </a:r>
                      <a:endParaRPr lang="en-AU" sz="900" b="0" i="0" kern="1200">
                        <a:solidFill>
                          <a:schemeClr val="dk1"/>
                        </a:solidFill>
                        <a:effectLst/>
                        <a:latin typeface="+mn-lt"/>
                        <a:ea typeface="+mn-ea"/>
                        <a:cs typeface="+mn-cs"/>
                      </a:endParaRPr>
                    </a:p>
                    <a:p>
                      <a:pPr marL="171450" indent="-171450">
                        <a:buFont typeface="Arial" panose="020B0604020202020204" pitchFamily="34" charset="0"/>
                        <a:buChar char="•"/>
                      </a:pPr>
                      <a:r>
                        <a:rPr lang="en-AU" sz="900" b="0" i="0" kern="1200">
                          <a:solidFill>
                            <a:srgbClr val="00B050"/>
                          </a:solidFill>
                          <a:effectLst/>
                          <a:latin typeface="+mn-lt"/>
                          <a:ea typeface="+mn-ea"/>
                          <a:cs typeface="+mn-cs"/>
                        </a:rPr>
                        <a:t>Neo4j Graph Visualization for Python (neo4j-viz): Available in the official Snowflake Anaconda repository, this library enables interactive exploration (zooming, panning, moving nodes, hovering) within </a:t>
                      </a:r>
                      <a:r>
                        <a:rPr lang="en-AU" sz="900" b="0" i="0" kern="1200" err="1">
                          <a:solidFill>
                            <a:srgbClr val="00B050"/>
                          </a:solidFill>
                          <a:effectLst/>
                          <a:latin typeface="+mn-lt"/>
                          <a:ea typeface="+mn-ea"/>
                          <a:cs typeface="+mn-cs"/>
                        </a:rPr>
                        <a:t>Jupyter</a:t>
                      </a:r>
                      <a:r>
                        <a:rPr lang="en-AU" sz="900" b="0" i="0" kern="1200">
                          <a:solidFill>
                            <a:srgbClr val="00B050"/>
                          </a:solidFill>
                          <a:effectLst/>
                          <a:latin typeface="+mn-lt"/>
                          <a:ea typeface="+mn-ea"/>
                          <a:cs typeface="+mn-cs"/>
                        </a:rPr>
                        <a:t> Notebooks in Snowflake. It is the recommended tool for visualizing graph projections.</a:t>
                      </a:r>
                    </a:p>
                    <a:p>
                      <a:pPr marL="171450" indent="-171450">
                        <a:buFont typeface="Arial" panose="020B0604020202020204" pitchFamily="34" charset="0"/>
                        <a:buChar char="•"/>
                      </a:pPr>
                      <a:r>
                        <a:rPr lang="en-AU" sz="900" b="0" i="0" kern="1200" err="1">
                          <a:solidFill>
                            <a:schemeClr val="dk1"/>
                          </a:solidFill>
                          <a:effectLst/>
                          <a:latin typeface="+mn-lt"/>
                          <a:ea typeface="+mn-ea"/>
                          <a:cs typeface="+mn-cs"/>
                        </a:rPr>
                        <a:t>NeoDash</a:t>
                      </a:r>
                      <a:r>
                        <a:rPr lang="en-AU" sz="900" b="0" i="0" kern="1200">
                          <a:solidFill>
                            <a:schemeClr val="dk1"/>
                          </a:solidFill>
                          <a:effectLst/>
                          <a:latin typeface="+mn-lt"/>
                          <a:ea typeface="+mn-ea"/>
                          <a:cs typeface="+mn-cs"/>
                        </a:rPr>
                        <a:t> (Dashboarding): A web-based, low-code tool that connects to Neo4j via Bolt to create interactive dashboards with graph, table, and chart views. It is highly customizable and can be used to display graph results.</a:t>
                      </a:r>
                    </a:p>
                    <a:p>
                      <a:r>
                        <a:rPr lang="en-AU" sz="900" b="0" i="0" kern="1200">
                          <a:solidFill>
                            <a:schemeClr val="dk1"/>
                          </a:solidFill>
                          <a:effectLst/>
                          <a:latin typeface="+mn-lt"/>
                          <a:ea typeface="+mn-ea"/>
                          <a:cs typeface="+mn-cs"/>
                        </a:rPr>
                        <a:t> </a:t>
                      </a:r>
                    </a:p>
                    <a:p>
                      <a:r>
                        <a:rPr lang="en-AU" sz="900" b="1" i="0" u="sng" kern="1200">
                          <a:solidFill>
                            <a:schemeClr val="dk1"/>
                          </a:solidFill>
                          <a:effectLst/>
                          <a:latin typeface="+mn-lt"/>
                          <a:ea typeface="+mn-ea"/>
                          <a:cs typeface="+mn-cs"/>
                        </a:rPr>
                        <a:t>Specialized Graph Visualization Tools (External)</a:t>
                      </a:r>
                      <a:endParaRPr lang="en-AU" sz="900" b="0" i="0" kern="1200">
                        <a:solidFill>
                          <a:schemeClr val="dk1"/>
                        </a:solidFill>
                        <a:effectLst/>
                        <a:latin typeface="+mn-lt"/>
                        <a:ea typeface="+mn-ea"/>
                        <a:cs typeface="+mn-cs"/>
                      </a:endParaRPr>
                    </a:p>
                    <a:p>
                      <a:pPr marL="171450" indent="-171450">
                        <a:buFont typeface="Arial" panose="020B0604020202020204" pitchFamily="34" charset="0"/>
                        <a:buChar char="•"/>
                      </a:pPr>
                      <a:r>
                        <a:rPr lang="en-AU" sz="900" b="0" i="0" kern="1200" err="1">
                          <a:solidFill>
                            <a:srgbClr val="00B050"/>
                          </a:solidFill>
                          <a:effectLst/>
                          <a:latin typeface="+mn-lt"/>
                          <a:ea typeface="+mn-ea"/>
                          <a:cs typeface="+mn-cs"/>
                        </a:rPr>
                        <a:t>Linkurious</a:t>
                      </a:r>
                      <a:r>
                        <a:rPr lang="en-AU" sz="900" b="0" i="0" kern="1200">
                          <a:solidFill>
                            <a:srgbClr val="00B050"/>
                          </a:solidFill>
                          <a:effectLst/>
                          <a:latin typeface="+mn-lt"/>
                          <a:ea typeface="+mn-ea"/>
                          <a:cs typeface="+mn-cs"/>
                        </a:rPr>
                        <a:t> Enterprise: A powerful, user-friendly alternative designed for collaborative graph exploration, analysis, and investigation (e.g., fraud detection).</a:t>
                      </a:r>
                    </a:p>
                    <a:p>
                      <a:pPr marL="171450" indent="-171450">
                        <a:buFont typeface="Arial" panose="020B0604020202020204" pitchFamily="34" charset="0"/>
                        <a:buChar char="•"/>
                      </a:pPr>
                      <a:r>
                        <a:rPr lang="en-AU" sz="900" b="0" i="0" kern="1200" err="1">
                          <a:solidFill>
                            <a:schemeClr val="dk1"/>
                          </a:solidFill>
                          <a:effectLst/>
                          <a:latin typeface="+mn-lt"/>
                          <a:ea typeface="+mn-ea"/>
                          <a:cs typeface="+mn-cs"/>
                        </a:rPr>
                        <a:t>GraphAware</a:t>
                      </a:r>
                      <a:r>
                        <a:rPr lang="en-AU" sz="900" b="0" i="0" kern="1200">
                          <a:solidFill>
                            <a:schemeClr val="dk1"/>
                          </a:solidFill>
                          <a:effectLst/>
                          <a:latin typeface="+mn-lt"/>
                          <a:ea typeface="+mn-ea"/>
                          <a:cs typeface="+mn-cs"/>
                        </a:rPr>
                        <a:t> Hume: Combines graph visualization with knowledge graph management, offering advanced exploration and NLP features.</a:t>
                      </a:r>
                    </a:p>
                    <a:p>
                      <a:pPr marL="171450" indent="-171450">
                        <a:buFont typeface="Arial" panose="020B0604020202020204" pitchFamily="34" charset="0"/>
                        <a:buChar char="•"/>
                      </a:pPr>
                      <a:r>
                        <a:rPr lang="en-AU" sz="900" b="0" i="0" kern="1200" err="1">
                          <a:solidFill>
                            <a:schemeClr val="dk1"/>
                          </a:solidFill>
                          <a:effectLst/>
                          <a:latin typeface="+mn-lt"/>
                          <a:ea typeface="+mn-ea"/>
                          <a:cs typeface="+mn-cs"/>
                        </a:rPr>
                        <a:t>SemSpect</a:t>
                      </a:r>
                      <a:r>
                        <a:rPr lang="en-AU" sz="900" b="0" i="0" kern="1200">
                          <a:solidFill>
                            <a:schemeClr val="dk1"/>
                          </a:solidFill>
                          <a:effectLst/>
                          <a:latin typeface="+mn-lt"/>
                          <a:ea typeface="+mn-ea"/>
                          <a:cs typeface="+mn-cs"/>
                        </a:rPr>
                        <a:t>: A tool for visualizing large-scale graphs, focusing on a top-down, schema-based approach.</a:t>
                      </a:r>
                    </a:p>
                    <a:p>
                      <a:pPr marL="171450" indent="-171450">
                        <a:buFont typeface="Arial" panose="020B0604020202020204" pitchFamily="34" charset="0"/>
                        <a:buChar char="•"/>
                      </a:pPr>
                      <a:r>
                        <a:rPr lang="en-AU" sz="900" b="0" i="0" kern="1200">
                          <a:solidFill>
                            <a:schemeClr val="dk1"/>
                          </a:solidFill>
                          <a:effectLst/>
                          <a:latin typeface="+mn-lt"/>
                          <a:ea typeface="+mn-ea"/>
                          <a:cs typeface="+mn-cs"/>
                        </a:rPr>
                        <a:t>Gephi: A leading open-source tool for graph visualization and network analysis. </a:t>
                      </a:r>
                      <a:br>
                        <a:rPr lang="en-AU" sz="900" b="0" i="0" kern="1200">
                          <a:solidFill>
                            <a:schemeClr val="dk1"/>
                          </a:solidFill>
                          <a:effectLst/>
                          <a:latin typeface="+mn-lt"/>
                          <a:ea typeface="+mn-ea"/>
                          <a:cs typeface="+mn-cs"/>
                        </a:rPr>
                      </a:br>
                      <a:endParaRPr lang="en-AU" sz="900" b="0" i="0" kern="1200">
                        <a:solidFill>
                          <a:schemeClr val="dk1"/>
                        </a:solidFill>
                        <a:effectLst/>
                        <a:latin typeface="+mn-lt"/>
                        <a:ea typeface="+mn-ea"/>
                        <a:cs typeface="+mn-cs"/>
                      </a:endParaRPr>
                    </a:p>
                    <a:p>
                      <a:r>
                        <a:rPr lang="en-AU" sz="900" b="1" i="0" u="sng" kern="1200">
                          <a:solidFill>
                            <a:schemeClr val="dk1"/>
                          </a:solidFill>
                          <a:effectLst/>
                          <a:latin typeface="+mn-lt"/>
                          <a:ea typeface="+mn-ea"/>
                          <a:cs typeface="+mn-cs"/>
                        </a:rPr>
                        <a:t>Developer &amp; Library-Based Options</a:t>
                      </a:r>
                      <a:endParaRPr lang="en-AU" sz="900" b="0" i="0" kern="1200">
                        <a:solidFill>
                          <a:schemeClr val="dk1"/>
                        </a:solidFill>
                        <a:effectLst/>
                        <a:latin typeface="+mn-lt"/>
                        <a:ea typeface="+mn-ea"/>
                        <a:cs typeface="+mn-cs"/>
                      </a:endParaRPr>
                    </a:p>
                    <a:p>
                      <a:pPr marL="171450" indent="-171450">
                        <a:buFont typeface="Arial" panose="020B0604020202020204" pitchFamily="34" charset="0"/>
                        <a:buChar char="•"/>
                      </a:pPr>
                      <a:r>
                        <a:rPr lang="en-AU" sz="900" b="0" i="0" kern="1200">
                          <a:solidFill>
                            <a:srgbClr val="00B050"/>
                          </a:solidFill>
                          <a:effectLst/>
                          <a:latin typeface="+mn-lt"/>
                          <a:ea typeface="+mn-ea"/>
                          <a:cs typeface="+mn-cs"/>
                        </a:rPr>
                        <a:t>Neo4j Visualization Library (NVL): A TypeScript/React library that powers the new Neo4j Browser and Bloom, available for developers to build custom embedded visualizations.</a:t>
                      </a:r>
                    </a:p>
                    <a:p>
                      <a:pPr marL="171450" indent="-171450">
                        <a:buFont typeface="Arial" panose="020B0604020202020204" pitchFamily="34" charset="0"/>
                        <a:buChar char="•"/>
                      </a:pPr>
                      <a:r>
                        <a:rPr lang="en-AU" sz="900" b="0" i="0" kern="1200">
                          <a:solidFill>
                            <a:schemeClr val="dk1"/>
                          </a:solidFill>
                          <a:effectLst/>
                          <a:latin typeface="+mn-lt"/>
                          <a:ea typeface="+mn-ea"/>
                          <a:cs typeface="+mn-cs"/>
                        </a:rPr>
                        <a:t>Cytoscape.js: A widely used, open-source JavaScript library for advanced graph rendering.</a:t>
                      </a:r>
                    </a:p>
                    <a:p>
                      <a:pPr marL="171450" indent="-171450">
                        <a:buFont typeface="Arial" panose="020B0604020202020204" pitchFamily="34" charset="0"/>
                        <a:buChar char="•"/>
                      </a:pPr>
                      <a:r>
                        <a:rPr lang="en-AU" sz="900" b="0" i="0" kern="1200" err="1">
                          <a:solidFill>
                            <a:schemeClr val="dk1"/>
                          </a:solidFill>
                          <a:effectLst/>
                          <a:latin typeface="+mn-lt"/>
                          <a:ea typeface="+mn-ea"/>
                          <a:cs typeface="+mn-cs"/>
                        </a:rPr>
                        <a:t>Cosmograph</a:t>
                      </a:r>
                      <a:r>
                        <a:rPr lang="en-AU" sz="900" b="0" i="0" kern="1200">
                          <a:solidFill>
                            <a:schemeClr val="dk1"/>
                          </a:solidFill>
                          <a:effectLst/>
                          <a:latin typeface="+mn-lt"/>
                          <a:ea typeface="+mn-ea"/>
                          <a:cs typeface="+mn-cs"/>
                        </a:rPr>
                        <a:t>: A performant WebGL-based library, good for rendering large graphs.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171450" indent="-171450">
                        <a:buFont typeface="Arial" panose="020B0604020202020204" pitchFamily="34" charset="0"/>
                        <a:buChar char="•"/>
                      </a:pPr>
                      <a:r>
                        <a:rPr lang="en-AU" sz="900" b="1" i="0" kern="1200" err="1">
                          <a:solidFill>
                            <a:schemeClr val="dk1"/>
                          </a:solidFill>
                          <a:effectLst/>
                          <a:latin typeface="+mn-lt"/>
                          <a:ea typeface="+mn-ea"/>
                          <a:cs typeface="+mn-cs"/>
                        </a:rPr>
                        <a:t>GraphStudio</a:t>
                      </a:r>
                      <a:r>
                        <a:rPr lang="en-AU" sz="900" b="1" i="0" kern="1200">
                          <a:solidFill>
                            <a:schemeClr val="dk1"/>
                          </a:solidFill>
                          <a:effectLst/>
                          <a:latin typeface="+mn-lt"/>
                          <a:ea typeface="+mn-ea"/>
                          <a:cs typeface="+mn-cs"/>
                        </a:rPr>
                        <a:t> (Built-in GUI):</a:t>
                      </a:r>
                      <a:endParaRPr lang="en-AU" sz="900" b="0" i="0" kern="1200">
                        <a:solidFill>
                          <a:schemeClr val="dk1"/>
                        </a:solidFill>
                        <a:effectLst/>
                        <a:latin typeface="+mn-lt"/>
                        <a:ea typeface="+mn-ea"/>
                        <a:cs typeface="+mn-cs"/>
                      </a:endParaRPr>
                    </a:p>
                    <a:p>
                      <a:pPr marL="628650" lvl="1" indent="-171450">
                        <a:buFont typeface="Arial" panose="020B0604020202020204" pitchFamily="34" charset="0"/>
                        <a:buChar char="•"/>
                      </a:pPr>
                      <a:r>
                        <a:rPr lang="en-AU" sz="900" b="1" i="0" kern="1200">
                          <a:solidFill>
                            <a:srgbClr val="00B050"/>
                          </a:solidFill>
                          <a:effectLst/>
                          <a:latin typeface="+mn-lt"/>
                          <a:ea typeface="+mn-ea"/>
                          <a:cs typeface="+mn-cs"/>
                        </a:rPr>
                        <a:t>Explore Graph:</a:t>
                      </a:r>
                      <a:r>
                        <a:rPr lang="en-AU" sz="900" b="0" i="0" kern="1200">
                          <a:solidFill>
                            <a:srgbClr val="00B050"/>
                          </a:solidFill>
                          <a:effectLst/>
                          <a:latin typeface="+mn-lt"/>
                          <a:ea typeface="+mn-ea"/>
                          <a:cs typeface="+mn-cs"/>
                        </a:rPr>
                        <a:t> This feature allows to query and visualize data,, showing nodes (vertices) and lines (edges).</a:t>
                      </a:r>
                    </a:p>
                    <a:p>
                      <a:pPr marL="628650" lvl="1" indent="-171450">
                        <a:buFont typeface="Arial" panose="020B0604020202020204" pitchFamily="34" charset="0"/>
                        <a:buChar char="•"/>
                      </a:pPr>
                      <a:r>
                        <a:rPr lang="en-AU" sz="900" b="1" i="0" kern="1200">
                          <a:solidFill>
                            <a:srgbClr val="00B050"/>
                          </a:solidFill>
                          <a:effectLst/>
                          <a:latin typeface="+mn-lt"/>
                          <a:ea typeface="+mn-ea"/>
                          <a:cs typeface="+mn-cs"/>
                        </a:rPr>
                        <a:t>Interactive Exploration:</a:t>
                      </a:r>
                      <a:r>
                        <a:rPr lang="en-AU" sz="900" b="0" i="0" kern="1200">
                          <a:solidFill>
                            <a:srgbClr val="00B050"/>
                          </a:solidFill>
                          <a:effectLst/>
                          <a:latin typeface="+mn-lt"/>
                          <a:ea typeface="+mn-ea"/>
                          <a:cs typeface="+mn-cs"/>
                        </a:rPr>
                        <a:t> can select specific vertices to explore connections, hover for attribute details, and adjust the layout.</a:t>
                      </a:r>
                    </a:p>
                    <a:p>
                      <a:pPr marL="628650" lvl="1" indent="-171450">
                        <a:buFont typeface="Arial" panose="020B0604020202020204" pitchFamily="34" charset="0"/>
                        <a:buChar char="•"/>
                      </a:pPr>
                      <a:r>
                        <a:rPr lang="en-AU" sz="900" b="1" i="0" kern="1200">
                          <a:solidFill>
                            <a:srgbClr val="00B050"/>
                          </a:solidFill>
                          <a:effectLst/>
                          <a:latin typeface="+mn-lt"/>
                          <a:ea typeface="+mn-ea"/>
                          <a:cs typeface="+mn-cs"/>
                        </a:rPr>
                        <a:t>Schema Visualization:</a:t>
                      </a:r>
                      <a:r>
                        <a:rPr lang="en-AU" sz="900" b="0" i="0" kern="1200">
                          <a:solidFill>
                            <a:srgbClr val="00B050"/>
                          </a:solidFill>
                          <a:effectLst/>
                          <a:latin typeface="+mn-lt"/>
                          <a:ea typeface="+mn-ea"/>
                          <a:cs typeface="+mn-cs"/>
                        </a:rPr>
                        <a:t> View the structure of graph data.</a:t>
                      </a:r>
                      <a:br>
                        <a:rPr lang="en-AU" sz="900" b="0" i="0" kern="1200">
                          <a:solidFill>
                            <a:schemeClr val="dk1"/>
                          </a:solidFill>
                          <a:effectLst/>
                          <a:latin typeface="+mn-lt"/>
                          <a:ea typeface="+mn-ea"/>
                          <a:cs typeface="+mn-cs"/>
                        </a:rPr>
                      </a:br>
                      <a:endParaRPr lang="en-AU" sz="900" b="0" i="0" kern="1200">
                        <a:solidFill>
                          <a:schemeClr val="dk1"/>
                        </a:solidFill>
                        <a:effectLst/>
                        <a:latin typeface="+mn-lt"/>
                        <a:ea typeface="+mn-ea"/>
                        <a:cs typeface="+mn-cs"/>
                      </a:endParaRPr>
                    </a:p>
                    <a:p>
                      <a:pPr marL="171450" indent="-171450">
                        <a:buFont typeface="Arial" panose="020B0604020202020204" pitchFamily="34" charset="0"/>
                        <a:buChar char="•"/>
                      </a:pPr>
                      <a:r>
                        <a:rPr lang="en-AU" sz="900" b="1" i="0" kern="1200" err="1">
                          <a:solidFill>
                            <a:schemeClr val="dk1"/>
                          </a:solidFill>
                          <a:effectLst/>
                          <a:latin typeface="+mn-lt"/>
                          <a:ea typeface="+mn-ea"/>
                          <a:cs typeface="+mn-cs"/>
                        </a:rPr>
                        <a:t>pyTigerGraph</a:t>
                      </a:r>
                      <a:r>
                        <a:rPr lang="en-AU" sz="900" b="1" i="0" kern="1200">
                          <a:solidFill>
                            <a:schemeClr val="dk1"/>
                          </a:solidFill>
                          <a:effectLst/>
                          <a:latin typeface="+mn-lt"/>
                          <a:ea typeface="+mn-ea"/>
                          <a:cs typeface="+mn-cs"/>
                        </a:rPr>
                        <a:t> (Python SDK):</a:t>
                      </a:r>
                      <a:endParaRPr lang="en-AU" sz="900" b="0" i="0" kern="1200">
                        <a:solidFill>
                          <a:schemeClr val="dk1"/>
                        </a:solidFill>
                        <a:effectLst/>
                        <a:latin typeface="+mn-lt"/>
                        <a:ea typeface="+mn-ea"/>
                        <a:cs typeface="+mn-cs"/>
                      </a:endParaRPr>
                    </a:p>
                    <a:p>
                      <a:pPr marL="628650" lvl="1" indent="-171450">
                        <a:buFont typeface="Arial" panose="020B0604020202020204" pitchFamily="34" charset="0"/>
                        <a:buChar char="•"/>
                      </a:pPr>
                      <a:r>
                        <a:rPr lang="en-AU" sz="900" b="0" i="0" kern="1200">
                          <a:solidFill>
                            <a:schemeClr val="dk1"/>
                          </a:solidFill>
                          <a:effectLst/>
                          <a:latin typeface="+mn-lt"/>
                          <a:ea typeface="+mn-ea"/>
                          <a:cs typeface="+mn-cs"/>
                        </a:rPr>
                        <a:t>Use the </a:t>
                      </a:r>
                      <a:r>
                        <a:rPr lang="en-AU" sz="900" b="0" i="0" kern="1200" err="1">
                          <a:solidFill>
                            <a:schemeClr val="dk1"/>
                          </a:solidFill>
                          <a:effectLst/>
                          <a:latin typeface="+mn-lt"/>
                          <a:ea typeface="+mn-ea"/>
                          <a:cs typeface="+mn-cs"/>
                        </a:rPr>
                        <a:t>drawSchema</a:t>
                      </a:r>
                      <a:r>
                        <a:rPr lang="en-AU" sz="900" b="0" i="0" kern="1200">
                          <a:solidFill>
                            <a:schemeClr val="dk1"/>
                          </a:solidFill>
                          <a:effectLst/>
                          <a:latin typeface="+mn-lt"/>
                          <a:ea typeface="+mn-ea"/>
                          <a:cs typeface="+mn-cs"/>
                        </a:rPr>
                        <a:t>() function to visualize the graph structure directly in </a:t>
                      </a:r>
                      <a:r>
                        <a:rPr lang="en-AU" sz="900" b="0" i="0" kern="1200" err="1">
                          <a:solidFill>
                            <a:schemeClr val="dk1"/>
                          </a:solidFill>
                          <a:effectLst/>
                          <a:latin typeface="+mn-lt"/>
                          <a:ea typeface="+mn-ea"/>
                          <a:cs typeface="+mn-cs"/>
                        </a:rPr>
                        <a:t>Jupyter</a:t>
                      </a:r>
                      <a:r>
                        <a:rPr lang="en-AU" sz="900" b="0" i="0" kern="1200">
                          <a:solidFill>
                            <a:schemeClr val="dk1"/>
                          </a:solidFill>
                          <a:effectLst/>
                          <a:latin typeface="+mn-lt"/>
                          <a:ea typeface="+mn-ea"/>
                          <a:cs typeface="+mn-cs"/>
                        </a:rPr>
                        <a:t> Notebooks.</a:t>
                      </a:r>
                      <a:br>
                        <a:rPr lang="en-AU" sz="900" b="0" i="0" kern="1200">
                          <a:solidFill>
                            <a:schemeClr val="dk1"/>
                          </a:solidFill>
                          <a:effectLst/>
                          <a:latin typeface="+mn-lt"/>
                          <a:ea typeface="+mn-ea"/>
                          <a:cs typeface="+mn-cs"/>
                        </a:rPr>
                      </a:br>
                      <a:endParaRPr lang="en-AU" sz="900" b="0" i="0" kern="1200">
                        <a:solidFill>
                          <a:schemeClr val="dk1"/>
                        </a:solidFill>
                        <a:effectLst/>
                        <a:latin typeface="+mn-lt"/>
                        <a:ea typeface="+mn-ea"/>
                        <a:cs typeface="+mn-cs"/>
                      </a:endParaRPr>
                    </a:p>
                    <a:p>
                      <a:pPr marL="171450" indent="-171450">
                        <a:buFont typeface="Arial" panose="020B0604020202020204" pitchFamily="34" charset="0"/>
                        <a:buChar char="•"/>
                      </a:pPr>
                      <a:r>
                        <a:rPr lang="en-AU" sz="900" b="1" i="0" kern="1200">
                          <a:solidFill>
                            <a:schemeClr val="dk1"/>
                          </a:solidFill>
                          <a:effectLst/>
                          <a:latin typeface="+mn-lt"/>
                          <a:ea typeface="+mn-ea"/>
                          <a:cs typeface="+mn-cs"/>
                        </a:rPr>
                        <a:t>Third-Party Tools (For complex/embedded visualization):</a:t>
                      </a:r>
                      <a:endParaRPr lang="en-AU" sz="900" b="0" i="0" kern="1200">
                        <a:solidFill>
                          <a:schemeClr val="dk1"/>
                        </a:solidFill>
                        <a:effectLst/>
                        <a:latin typeface="+mn-lt"/>
                        <a:ea typeface="+mn-ea"/>
                        <a:cs typeface="+mn-cs"/>
                      </a:endParaRPr>
                    </a:p>
                    <a:p>
                      <a:pPr marL="628650" lvl="1" indent="-171450">
                        <a:buFont typeface="Arial" panose="020B0604020202020204" pitchFamily="34" charset="0"/>
                        <a:buChar char="•"/>
                      </a:pPr>
                      <a:r>
                        <a:rPr lang="en-AU" sz="900" b="1" i="0" kern="1200" err="1">
                          <a:solidFill>
                            <a:schemeClr val="dk1"/>
                          </a:solidFill>
                          <a:effectLst/>
                          <a:latin typeface="+mn-lt"/>
                          <a:ea typeface="+mn-ea"/>
                          <a:cs typeface="+mn-cs"/>
                        </a:rPr>
                        <a:t>ReGraph</a:t>
                      </a:r>
                      <a:r>
                        <a:rPr lang="en-AU" sz="900" b="1" i="0" kern="1200">
                          <a:solidFill>
                            <a:schemeClr val="dk1"/>
                          </a:solidFill>
                          <a:effectLst/>
                          <a:latin typeface="+mn-lt"/>
                          <a:ea typeface="+mn-ea"/>
                          <a:cs typeface="+mn-cs"/>
                        </a:rPr>
                        <a:t>:</a:t>
                      </a:r>
                      <a:r>
                        <a:rPr lang="en-AU" sz="900" b="0" i="0" kern="1200">
                          <a:solidFill>
                            <a:schemeClr val="dk1"/>
                          </a:solidFill>
                          <a:effectLst/>
                          <a:latin typeface="+mn-lt"/>
                          <a:ea typeface="+mn-ea"/>
                          <a:cs typeface="+mn-cs"/>
                        </a:rPr>
                        <a:t> React SDK for building advanced network visualizations.</a:t>
                      </a:r>
                    </a:p>
                    <a:p>
                      <a:pPr marL="628650" lvl="1" indent="-171450">
                        <a:buFont typeface="Arial" panose="020B0604020202020204" pitchFamily="34" charset="0"/>
                        <a:buChar char="•"/>
                      </a:pPr>
                      <a:r>
                        <a:rPr lang="en-AU" sz="900" b="1" i="0" kern="1200" err="1">
                          <a:solidFill>
                            <a:schemeClr val="dk1"/>
                          </a:solidFill>
                          <a:effectLst/>
                          <a:latin typeface="+mn-lt"/>
                          <a:ea typeface="+mn-ea"/>
                          <a:cs typeface="+mn-cs"/>
                        </a:rPr>
                        <a:t>KeyLines</a:t>
                      </a:r>
                      <a:r>
                        <a:rPr lang="en-AU" sz="900" b="1" i="0" kern="1200">
                          <a:solidFill>
                            <a:schemeClr val="dk1"/>
                          </a:solidFill>
                          <a:effectLst/>
                          <a:latin typeface="+mn-lt"/>
                          <a:ea typeface="+mn-ea"/>
                          <a:cs typeface="+mn-cs"/>
                        </a:rPr>
                        <a:t>:</a:t>
                      </a:r>
                      <a:r>
                        <a:rPr lang="en-AU" sz="900" b="0" i="0" kern="1200">
                          <a:solidFill>
                            <a:schemeClr val="dk1"/>
                          </a:solidFill>
                          <a:effectLst/>
                          <a:latin typeface="+mn-lt"/>
                          <a:ea typeface="+mn-ea"/>
                          <a:cs typeface="+mn-cs"/>
                        </a:rPr>
                        <a:t> JavaScript SDK for building web-based graph apps.</a:t>
                      </a:r>
                    </a:p>
                    <a:p>
                      <a:pPr marL="628650" lvl="1" indent="-171450">
                        <a:buFont typeface="Arial" panose="020B0604020202020204" pitchFamily="34" charset="0"/>
                        <a:buChar char="•"/>
                      </a:pPr>
                      <a:r>
                        <a:rPr lang="en-AU" sz="900" b="1" i="0" kern="1200" err="1">
                          <a:solidFill>
                            <a:schemeClr val="dk1"/>
                          </a:solidFill>
                          <a:effectLst/>
                          <a:latin typeface="+mn-lt"/>
                          <a:ea typeface="+mn-ea"/>
                          <a:cs typeface="+mn-cs"/>
                        </a:rPr>
                        <a:t>KronoGraph</a:t>
                      </a:r>
                      <a:r>
                        <a:rPr lang="en-AU" sz="900" b="1" i="0" kern="1200">
                          <a:solidFill>
                            <a:schemeClr val="dk1"/>
                          </a:solidFill>
                          <a:effectLst/>
                          <a:latin typeface="+mn-lt"/>
                          <a:ea typeface="+mn-ea"/>
                          <a:cs typeface="+mn-cs"/>
                        </a:rPr>
                        <a:t>:</a:t>
                      </a:r>
                      <a:r>
                        <a:rPr lang="en-AU" sz="900" b="0" i="0" kern="1200">
                          <a:solidFill>
                            <a:schemeClr val="dk1"/>
                          </a:solidFill>
                          <a:effectLst/>
                          <a:latin typeface="+mn-lt"/>
                          <a:ea typeface="+mn-ea"/>
                          <a:cs typeface="+mn-cs"/>
                        </a:rPr>
                        <a:t> For timeline-based visualizations.</a:t>
                      </a:r>
                      <a:br>
                        <a:rPr lang="en-AU" sz="900" b="0" i="0" kern="1200">
                          <a:solidFill>
                            <a:schemeClr val="dk1"/>
                          </a:solidFill>
                          <a:effectLst/>
                          <a:latin typeface="+mn-lt"/>
                          <a:ea typeface="+mn-ea"/>
                          <a:cs typeface="+mn-cs"/>
                        </a:rPr>
                      </a:br>
                      <a:endParaRPr lang="en-AU" sz="900" b="0" i="0" kern="1200">
                        <a:solidFill>
                          <a:schemeClr val="dk1"/>
                        </a:solidFill>
                        <a:effectLst/>
                        <a:latin typeface="+mn-lt"/>
                        <a:ea typeface="+mn-ea"/>
                        <a:cs typeface="+mn-cs"/>
                      </a:endParaRPr>
                    </a:p>
                    <a:p>
                      <a:pPr marL="171450" indent="-171450">
                        <a:buFont typeface="Arial" panose="020B0604020202020204" pitchFamily="34" charset="0"/>
                        <a:buChar char="•"/>
                      </a:pPr>
                      <a:r>
                        <a:rPr lang="en-AU" sz="900" b="1" i="0" kern="1200" err="1">
                          <a:solidFill>
                            <a:schemeClr val="dk1"/>
                          </a:solidFill>
                          <a:effectLst/>
                          <a:latin typeface="+mn-lt"/>
                          <a:ea typeface="+mn-ea"/>
                          <a:cs typeface="+mn-cs"/>
                        </a:rPr>
                        <a:t>TigerGraph</a:t>
                      </a:r>
                      <a:r>
                        <a:rPr lang="en-AU" sz="900" b="1" i="0" kern="1200">
                          <a:solidFill>
                            <a:schemeClr val="dk1"/>
                          </a:solidFill>
                          <a:effectLst/>
                          <a:latin typeface="+mn-lt"/>
                          <a:ea typeface="+mn-ea"/>
                          <a:cs typeface="+mn-cs"/>
                        </a:rPr>
                        <a:t> Insights:</a:t>
                      </a:r>
                      <a:r>
                        <a:rPr lang="en-AU" sz="900" b="0" i="0" kern="1200">
                          <a:solidFill>
                            <a:schemeClr val="dk1"/>
                          </a:solidFill>
                          <a:effectLst/>
                          <a:latin typeface="+mn-lt"/>
                          <a:ea typeface="+mn-ea"/>
                          <a:cs typeface="+mn-cs"/>
                        </a:rPr>
                        <a:t> A low-code tool for creating interactive dashboards, allowing for visual data exploration through widgets.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lang="en-AU" sz="900" b="1" i="0" u="sng" kern="1200">
                          <a:solidFill>
                            <a:schemeClr val="dk1"/>
                          </a:solidFill>
                          <a:effectLst/>
                          <a:latin typeface="+mn-lt"/>
                          <a:ea typeface="+mn-ea"/>
                          <a:cs typeface="+mn-cs"/>
                        </a:rPr>
                        <a:t>Native &amp; Integrated Alternatives (Within Snowflake)</a:t>
                      </a:r>
                      <a:br>
                        <a:rPr lang="en-AU" sz="900" b="1" i="0" u="sng" kern="1200">
                          <a:solidFill>
                            <a:schemeClr val="dk1"/>
                          </a:solidFill>
                          <a:effectLst/>
                          <a:latin typeface="+mn-lt"/>
                          <a:ea typeface="+mn-ea"/>
                          <a:cs typeface="+mn-cs"/>
                        </a:rPr>
                      </a:br>
                      <a:endParaRPr lang="en-AU" sz="900" b="0" i="0" kern="1200">
                        <a:solidFill>
                          <a:schemeClr val="dk1"/>
                        </a:solidFill>
                        <a:effectLst/>
                        <a:latin typeface="+mn-lt"/>
                        <a:ea typeface="+mn-ea"/>
                        <a:cs typeface="+mn-cs"/>
                      </a:endParaRPr>
                    </a:p>
                    <a:p>
                      <a:pPr marL="171450" indent="-171450">
                        <a:buFont typeface="Arial" panose="020B0604020202020204" pitchFamily="34" charset="0"/>
                        <a:buChar char="•"/>
                      </a:pPr>
                      <a:r>
                        <a:rPr lang="en-AU" sz="900" b="0" i="0" kern="1200">
                          <a:solidFill>
                            <a:srgbClr val="00B050"/>
                          </a:solidFill>
                          <a:effectLst/>
                          <a:latin typeface="+mn-lt"/>
                          <a:ea typeface="+mn-ea"/>
                          <a:cs typeface="+mn-cs"/>
                        </a:rPr>
                        <a:t>Neo4j Graph Visualization for Python (neo4j-viz): Available in the official Snowflake Anaconda repository, this library enables interactive exploration (zooming, panning, moving nodes, hovering) within </a:t>
                      </a:r>
                      <a:r>
                        <a:rPr lang="en-AU" sz="900" b="0" i="0" kern="1200" err="1">
                          <a:solidFill>
                            <a:srgbClr val="00B050"/>
                          </a:solidFill>
                          <a:effectLst/>
                          <a:latin typeface="+mn-lt"/>
                          <a:ea typeface="+mn-ea"/>
                          <a:cs typeface="+mn-cs"/>
                        </a:rPr>
                        <a:t>Jupyter</a:t>
                      </a:r>
                      <a:r>
                        <a:rPr lang="en-AU" sz="900" b="0" i="0" kern="1200">
                          <a:solidFill>
                            <a:srgbClr val="00B050"/>
                          </a:solidFill>
                          <a:effectLst/>
                          <a:latin typeface="+mn-lt"/>
                          <a:ea typeface="+mn-ea"/>
                          <a:cs typeface="+mn-cs"/>
                        </a:rPr>
                        <a:t> Notebooks in Snowflake. It is the recommended tool for visualizing graph projections.</a:t>
                      </a:r>
                    </a:p>
                    <a:p>
                      <a:pPr marL="171450" indent="-171450">
                        <a:buFont typeface="Arial" panose="020B0604020202020204" pitchFamily="34" charset="0"/>
                        <a:buChar char="•"/>
                      </a:pPr>
                      <a:r>
                        <a:rPr lang="en-AU" sz="900" b="0" i="0" kern="1200" err="1">
                          <a:solidFill>
                            <a:srgbClr val="00B050"/>
                          </a:solidFill>
                          <a:effectLst/>
                          <a:latin typeface="+mn-lt"/>
                          <a:ea typeface="+mn-ea"/>
                          <a:cs typeface="+mn-cs"/>
                        </a:rPr>
                        <a:t>Streamlit</a:t>
                      </a:r>
                      <a:r>
                        <a:rPr lang="en-AU" sz="900" b="0" i="0" kern="1200">
                          <a:solidFill>
                            <a:srgbClr val="00B050"/>
                          </a:solidFill>
                          <a:effectLst/>
                          <a:latin typeface="+mn-lt"/>
                          <a:ea typeface="+mn-ea"/>
                          <a:cs typeface="+mn-cs"/>
                        </a:rPr>
                        <a:t> in Snowflake: can build custom, web-based applications inside Snowflake that use the neo4j-viz library to visualize graph data.</a:t>
                      </a:r>
                    </a:p>
                    <a:p>
                      <a:pPr marL="171450" indent="-171450">
                        <a:buFont typeface="Arial" panose="020B0604020202020204" pitchFamily="34" charset="0"/>
                        <a:buChar char="•"/>
                      </a:pPr>
                      <a:r>
                        <a:rPr lang="en-AU" sz="900" b="0" i="0" kern="1200">
                          <a:solidFill>
                            <a:srgbClr val="00B050"/>
                          </a:solidFill>
                          <a:effectLst/>
                          <a:latin typeface="+mn-lt"/>
                          <a:ea typeface="+mn-ea"/>
                          <a:cs typeface="+mn-cs"/>
                        </a:rPr>
                        <a:t>Snowflake App Runtime with python </a:t>
                      </a:r>
                    </a:p>
                    <a:p>
                      <a:pPr marL="171450" indent="-171450">
                        <a:buFont typeface="Arial" panose="020B0604020202020204" pitchFamily="34" charset="0"/>
                        <a:buChar char="•"/>
                      </a:pPr>
                      <a:r>
                        <a:rPr lang="en-AU" sz="900" b="0" i="0" kern="1200" err="1">
                          <a:solidFill>
                            <a:schemeClr val="dk1"/>
                          </a:solidFill>
                          <a:effectLst/>
                          <a:latin typeface="+mn-lt"/>
                          <a:ea typeface="+mn-ea"/>
                          <a:cs typeface="+mn-cs"/>
                        </a:rPr>
                        <a:t>NeoDash</a:t>
                      </a:r>
                      <a:r>
                        <a:rPr lang="en-AU" sz="900" b="0" i="0" kern="1200">
                          <a:solidFill>
                            <a:schemeClr val="dk1"/>
                          </a:solidFill>
                          <a:effectLst/>
                          <a:latin typeface="+mn-lt"/>
                          <a:ea typeface="+mn-ea"/>
                          <a:cs typeface="+mn-cs"/>
                        </a:rPr>
                        <a:t> (Dashboarding): A web-based, low-code tool that connects to Neo4j via Bolt to create interactive dashboards with graph, table, and chart views. It is highly customizable and can be used to display graph results. </a:t>
                      </a:r>
                    </a:p>
                    <a:p>
                      <a:pPr marL="171450" indent="-171450">
                        <a:buFont typeface="Arial" panose="020B0604020202020204" pitchFamily="34" charset="0"/>
                        <a:buChar char="•"/>
                      </a:pPr>
                      <a:r>
                        <a:rPr lang="en-AU" sz="900" b="0" i="0" kern="1200">
                          <a:solidFill>
                            <a:schemeClr val="dk1"/>
                          </a:solidFill>
                          <a:effectLst/>
                          <a:latin typeface="+mn-lt"/>
                          <a:ea typeface="+mn-ea"/>
                          <a:cs typeface="+mn-cs"/>
                        </a:rPr>
                        <a:t>Snowflake App Runtime builds Node.js apps (with a focus on Next.js). </a:t>
                      </a:r>
                      <a:endParaRPr lang="en-AU" sz="900" b="0" i="0" kern="1200">
                        <a:solidFill>
                          <a:srgbClr val="00B050"/>
                        </a:solidFill>
                        <a:effectLst/>
                        <a:latin typeface="+mn-lt"/>
                        <a:ea typeface="+mn-ea"/>
                        <a:cs typeface="+mn-cs"/>
                      </a:endParaRPr>
                    </a:p>
                    <a:p>
                      <a:pPr marL="0" indent="0">
                        <a:buFont typeface="Arial" panose="020B0604020202020204" pitchFamily="34" charset="0"/>
                        <a:buNone/>
                      </a:pPr>
                      <a:endParaRPr lang="en-AU" sz="900" b="0" i="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95152237"/>
                  </a:ext>
                </a:extLst>
              </a:tr>
            </a:tbl>
          </a:graphicData>
        </a:graphic>
      </p:graphicFrame>
      <p:sp>
        <p:nvSpPr>
          <p:cNvPr id="11" name="TextBox 10">
            <a:extLst>
              <a:ext uri="{FF2B5EF4-FFF2-40B4-BE49-F238E27FC236}">
                <a16:creationId xmlns:a16="http://schemas.microsoft.com/office/drawing/2014/main" id="{E4528AC3-C7F6-9F73-D364-8B4BE37A00A3}"/>
              </a:ext>
            </a:extLst>
          </p:cNvPr>
          <p:cNvSpPr txBox="1"/>
          <p:nvPr/>
        </p:nvSpPr>
        <p:spPr>
          <a:xfrm>
            <a:off x="54425" y="157259"/>
            <a:ext cx="60960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Calibri"/>
                <a:ea typeface="+mn-ea"/>
                <a:cs typeface="+mn-cs"/>
              </a:rPr>
              <a:t>UI - Visualisation</a:t>
            </a:r>
          </a:p>
        </p:txBody>
      </p:sp>
      <p:sp>
        <p:nvSpPr>
          <p:cNvPr id="13" name="TextBox 12">
            <a:extLst>
              <a:ext uri="{FF2B5EF4-FFF2-40B4-BE49-F238E27FC236}">
                <a16:creationId xmlns:a16="http://schemas.microsoft.com/office/drawing/2014/main" id="{950328BA-EA72-1C53-516A-41CE0E29756C}"/>
              </a:ext>
            </a:extLst>
          </p:cNvPr>
          <p:cNvSpPr txBox="1"/>
          <p:nvPr/>
        </p:nvSpPr>
        <p:spPr>
          <a:xfrm>
            <a:off x="325359" y="6092326"/>
            <a:ext cx="9394374" cy="553998"/>
          </a:xfrm>
          <a:prstGeom prst="rect">
            <a:avLst/>
          </a:prstGeom>
          <a:noFill/>
        </p:spPr>
        <p:txBody>
          <a:bodyPr wrap="square">
            <a:spAutoFit/>
          </a:bodyPr>
          <a:lstStyle/>
          <a:p>
            <a:pPr lvl="0">
              <a:defRPr/>
            </a:pPr>
            <a:r>
              <a:rPr kumimoji="0" lang="en-AU" sz="1000" b="1" i="0" u="none" strike="noStrike" kern="1200" cap="none" spc="0" normalizeH="0" baseline="0" noProof="0">
                <a:ln>
                  <a:noFill/>
                </a:ln>
                <a:effectLst/>
                <a:uLnTx/>
                <a:uFillTx/>
                <a:latin typeface="Calibri"/>
                <a:ea typeface="+mn-ea"/>
                <a:cs typeface="+mn-cs"/>
              </a:rPr>
              <a:t>Entries in GREEN have been </a:t>
            </a:r>
            <a:r>
              <a:rPr kumimoji="0" lang="en-AU" sz="1000" b="1" i="0" u="none" strike="noStrike" kern="1200" cap="none" spc="0" normalizeH="0" baseline="0" noProof="0" err="1">
                <a:ln>
                  <a:noFill/>
                </a:ln>
                <a:effectLst/>
                <a:uLnTx/>
                <a:uFillTx/>
                <a:latin typeface="Calibri"/>
                <a:ea typeface="+mn-ea"/>
                <a:cs typeface="+mn-cs"/>
              </a:rPr>
              <a:t>POCd</a:t>
            </a:r>
            <a:r>
              <a:rPr lang="en-AU" sz="1000" b="1">
                <a:latin typeface="Calibri"/>
              </a:rPr>
              <a:t> with workable examples and outcomes captured here  </a:t>
            </a:r>
            <a:r>
              <a:rPr lang="en-AU" sz="1000" b="1">
                <a:latin typeface="Calibri"/>
                <a:sym typeface="Wingdings" panose="05000000000000000000" pitchFamily="2" charset="2"/>
              </a:rPr>
              <a:t> </a:t>
            </a:r>
            <a:br>
              <a:rPr lang="en-AU" sz="1000" b="1">
                <a:latin typeface="Calibri"/>
                <a:sym typeface="Wingdings" panose="05000000000000000000" pitchFamily="2" charset="2"/>
              </a:rPr>
            </a:br>
            <a:r>
              <a:rPr lang="en-AU" sz="1000" b="1">
                <a:latin typeface="Calibri"/>
                <a:sym typeface="Wingdings" panose="05000000000000000000" pitchFamily="2" charset="2"/>
              </a:rPr>
              <a:t>VISUALISATION (NEO4J &amp; TIGERGRAPH) </a:t>
            </a:r>
            <a:r>
              <a:rPr lang="en-AU" sz="1000">
                <a:hlinkClick r:id="rId3">
                  <a:extLst>
                    <a:ext uri="{A12FA001-AC4F-418D-AE19-62706E023703}">
                      <ahyp:hlinkClr xmlns:ahyp="http://schemas.microsoft.com/office/drawing/2018/hyperlinkcolor" val="tx"/>
                    </a:ext>
                  </a:extLst>
                </a:hlinkClick>
              </a:rPr>
              <a:t>Graph, </a:t>
            </a:r>
            <a:r>
              <a:rPr lang="en-AU" sz="1000" err="1">
                <a:hlinkClick r:id="rId3">
                  <a:extLst>
                    <a:ext uri="{A12FA001-AC4F-418D-AE19-62706E023703}">
                      <ahyp:hlinkClr xmlns:ahyp="http://schemas.microsoft.com/office/drawing/2018/hyperlinkcolor" val="tx"/>
                    </a:ext>
                  </a:extLst>
                </a:hlinkClick>
              </a:rPr>
              <a:t>GraphRAG</a:t>
            </a:r>
            <a:r>
              <a:rPr lang="en-AU" sz="1000">
                <a:hlinkClick r:id="rId3">
                  <a:extLst>
                    <a:ext uri="{A12FA001-AC4F-418D-AE19-62706E023703}">
                      <ahyp:hlinkClr xmlns:ahyp="http://schemas.microsoft.com/office/drawing/2018/hyperlinkcolor" val="tx"/>
                    </a:ext>
                  </a:extLst>
                </a:hlinkClick>
              </a:rPr>
              <a:t> - Analytics - CTO Strategy and Architecture - Westpac Enterprise Confluence</a:t>
            </a:r>
            <a:br>
              <a:rPr lang="en-AU" sz="1000"/>
            </a:br>
            <a:r>
              <a:rPr lang="en-AU" sz="1000" b="1">
                <a:latin typeface="Calibri"/>
                <a:sym typeface="Wingdings" panose="05000000000000000000" pitchFamily="2" charset="2"/>
              </a:rPr>
              <a:t>VISUALISATION (SNOWFLAKE) </a:t>
            </a:r>
            <a:r>
              <a:rPr lang="en-AU" sz="1000">
                <a:hlinkClick r:id="rId4">
                  <a:extLst>
                    <a:ext uri="{A12FA001-AC4F-418D-AE19-62706E023703}">
                      <ahyp:hlinkClr xmlns:ahyp="http://schemas.microsoft.com/office/drawing/2018/hyperlinkcolor" val="tx"/>
                    </a:ext>
                  </a:extLst>
                </a:hlinkClick>
              </a:rPr>
              <a:t>Snowflake ML, Agentic Framework - CTO Strategy and Architecture - Westpac Enterprise Confluence</a:t>
            </a:r>
            <a:endParaRPr kumimoji="0" lang="en-AU" sz="1000" b="1" i="0" u="none" strike="noStrike" kern="1200" cap="none" spc="0" normalizeH="0" baseline="0" noProof="0">
              <a:ln>
                <a:noFill/>
              </a:ln>
              <a:effectLst/>
              <a:uLnTx/>
              <a:uFillTx/>
              <a:latin typeface="Calibri"/>
              <a:ea typeface="+mn-ea"/>
              <a:cs typeface="+mn-cs"/>
            </a:endParaRPr>
          </a:p>
        </p:txBody>
      </p:sp>
    </p:spTree>
    <p:extLst>
      <p:ext uri="{BB962C8B-B14F-4D97-AF65-F5344CB8AC3E}">
        <p14:creationId xmlns:p14="http://schemas.microsoft.com/office/powerpoint/2010/main" val="210939854"/>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a:extLst>
            <a:ext uri="{FF2B5EF4-FFF2-40B4-BE49-F238E27FC236}">
              <a16:creationId xmlns:a16="http://schemas.microsoft.com/office/drawing/2014/main" id="{D1186F5B-8637-709D-4D4E-8122E69C27C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E4A60C8-2692-5B8C-BB41-27F878336091}"/>
              </a:ext>
            </a:extLst>
          </p:cNvPr>
          <p:cNvSpPr txBox="1"/>
          <p:nvPr/>
        </p:nvSpPr>
        <p:spPr>
          <a:xfrm>
            <a:off x="54425" y="13326"/>
            <a:ext cx="60960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solidFill>
                  <a:prstClr val="black"/>
                </a:solidFill>
                <a:effectLst/>
                <a:uLnTx/>
                <a:uFillTx/>
                <a:latin typeface="Calibri"/>
                <a:ea typeface="+mn-ea"/>
                <a:cs typeface="+mn-cs"/>
              </a:rPr>
              <a:t>UI - Visualisation</a:t>
            </a:r>
          </a:p>
        </p:txBody>
      </p:sp>
      <p:pic>
        <p:nvPicPr>
          <p:cNvPr id="3" name="Picture 2">
            <a:extLst>
              <a:ext uri="{FF2B5EF4-FFF2-40B4-BE49-F238E27FC236}">
                <a16:creationId xmlns:a16="http://schemas.microsoft.com/office/drawing/2014/main" id="{651576A6-7E7C-3F45-9323-318021C1863C}"/>
              </a:ext>
            </a:extLst>
          </p:cNvPr>
          <p:cNvPicPr>
            <a:picLocks noChangeAspect="1"/>
          </p:cNvPicPr>
          <p:nvPr/>
        </p:nvPicPr>
        <p:blipFill>
          <a:blip r:embed="rId3"/>
          <a:stretch>
            <a:fillRect/>
          </a:stretch>
        </p:blipFill>
        <p:spPr>
          <a:xfrm>
            <a:off x="54425" y="853438"/>
            <a:ext cx="4288974" cy="5847301"/>
          </a:xfrm>
          <a:prstGeom prst="rect">
            <a:avLst/>
          </a:prstGeom>
        </p:spPr>
      </p:pic>
      <p:pic>
        <p:nvPicPr>
          <p:cNvPr id="5" name="Picture 4">
            <a:extLst>
              <a:ext uri="{FF2B5EF4-FFF2-40B4-BE49-F238E27FC236}">
                <a16:creationId xmlns:a16="http://schemas.microsoft.com/office/drawing/2014/main" id="{42782DEA-8BAF-7590-EB74-484CF4F9F0F0}"/>
              </a:ext>
            </a:extLst>
          </p:cNvPr>
          <p:cNvPicPr>
            <a:picLocks noChangeAspect="1"/>
          </p:cNvPicPr>
          <p:nvPr/>
        </p:nvPicPr>
        <p:blipFill>
          <a:blip r:embed="rId4"/>
          <a:stretch>
            <a:fillRect/>
          </a:stretch>
        </p:blipFill>
        <p:spPr>
          <a:xfrm>
            <a:off x="5655733" y="76202"/>
            <a:ext cx="6265334" cy="2556933"/>
          </a:xfrm>
          <a:prstGeom prst="rect">
            <a:avLst/>
          </a:prstGeom>
        </p:spPr>
      </p:pic>
      <p:pic>
        <p:nvPicPr>
          <p:cNvPr id="8" name="Picture 7">
            <a:extLst>
              <a:ext uri="{FF2B5EF4-FFF2-40B4-BE49-F238E27FC236}">
                <a16:creationId xmlns:a16="http://schemas.microsoft.com/office/drawing/2014/main" id="{3E955EED-A74F-577C-4610-D365BA34293E}"/>
              </a:ext>
            </a:extLst>
          </p:cNvPr>
          <p:cNvPicPr>
            <a:picLocks noChangeAspect="1"/>
          </p:cNvPicPr>
          <p:nvPr/>
        </p:nvPicPr>
        <p:blipFill>
          <a:blip r:embed="rId5"/>
          <a:stretch>
            <a:fillRect/>
          </a:stretch>
        </p:blipFill>
        <p:spPr>
          <a:xfrm>
            <a:off x="5655733" y="2794000"/>
            <a:ext cx="6265334" cy="2122250"/>
          </a:xfrm>
          <a:prstGeom prst="rect">
            <a:avLst/>
          </a:prstGeom>
        </p:spPr>
      </p:pic>
      <p:pic>
        <p:nvPicPr>
          <p:cNvPr id="10" name="Picture 9">
            <a:extLst>
              <a:ext uri="{FF2B5EF4-FFF2-40B4-BE49-F238E27FC236}">
                <a16:creationId xmlns:a16="http://schemas.microsoft.com/office/drawing/2014/main" id="{6D61FBC1-B049-6089-429B-5EB050EA64BE}"/>
              </a:ext>
            </a:extLst>
          </p:cNvPr>
          <p:cNvPicPr>
            <a:picLocks noChangeAspect="1"/>
          </p:cNvPicPr>
          <p:nvPr/>
        </p:nvPicPr>
        <p:blipFill>
          <a:blip r:embed="rId6"/>
          <a:stretch>
            <a:fillRect/>
          </a:stretch>
        </p:blipFill>
        <p:spPr>
          <a:xfrm>
            <a:off x="5655733" y="5012267"/>
            <a:ext cx="6265334" cy="1688473"/>
          </a:xfrm>
          <a:prstGeom prst="rect">
            <a:avLst/>
          </a:prstGeom>
        </p:spPr>
      </p:pic>
      <p:sp>
        <p:nvSpPr>
          <p:cNvPr id="14" name="TextBox 13">
            <a:extLst>
              <a:ext uri="{FF2B5EF4-FFF2-40B4-BE49-F238E27FC236}">
                <a16:creationId xmlns:a16="http://schemas.microsoft.com/office/drawing/2014/main" id="{DF1D184F-6682-768E-7DD0-22D1807FE531}"/>
              </a:ext>
            </a:extLst>
          </p:cNvPr>
          <p:cNvSpPr txBox="1"/>
          <p:nvPr/>
        </p:nvSpPr>
        <p:spPr>
          <a:xfrm>
            <a:off x="0" y="607217"/>
            <a:ext cx="6096000" cy="2462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solidFill>
                  <a:prstClr val="black"/>
                </a:solidFill>
                <a:effectLst/>
                <a:uLnTx/>
                <a:uFillTx/>
                <a:latin typeface="Calibri"/>
                <a:ea typeface="+mn-ea"/>
                <a:cs typeface="+mn-cs"/>
              </a:rPr>
              <a:t>User Interaction Options</a:t>
            </a:r>
          </a:p>
        </p:txBody>
      </p:sp>
      <p:sp>
        <p:nvSpPr>
          <p:cNvPr id="16" name="TextBox 15">
            <a:extLst>
              <a:ext uri="{FF2B5EF4-FFF2-40B4-BE49-F238E27FC236}">
                <a16:creationId xmlns:a16="http://schemas.microsoft.com/office/drawing/2014/main" id="{180B93F1-0E48-192E-B5C4-450A2FBFE26F}"/>
              </a:ext>
            </a:extLst>
          </p:cNvPr>
          <p:cNvSpPr txBox="1"/>
          <p:nvPr/>
        </p:nvSpPr>
        <p:spPr>
          <a:xfrm>
            <a:off x="4707467" y="607216"/>
            <a:ext cx="4951458" cy="2462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solidFill>
                  <a:prstClr val="black"/>
                </a:solidFill>
                <a:effectLst/>
                <a:uLnTx/>
                <a:uFillTx/>
                <a:latin typeface="Calibri"/>
                <a:ea typeface="+mn-ea"/>
                <a:cs typeface="+mn-cs"/>
              </a:rPr>
              <a:t>Output</a:t>
            </a:r>
          </a:p>
        </p:txBody>
      </p:sp>
    </p:spTree>
    <p:extLst>
      <p:ext uri="{BB962C8B-B14F-4D97-AF65-F5344CB8AC3E}">
        <p14:creationId xmlns:p14="http://schemas.microsoft.com/office/powerpoint/2010/main" val="1041956338"/>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TextBox 2"/>
          <p:cNvSpPr txBox="1"/>
          <p:nvPr/>
        </p:nvSpPr>
        <p:spPr>
          <a:xfrm>
            <a:off x="228600" y="149012"/>
            <a:ext cx="10972800" cy="553998"/>
          </a:xfrm>
          <a:prstGeom prst="rect">
            <a:avLst/>
          </a:prstGeom>
          <a:noFill/>
        </p:spPr>
        <p:txBody>
          <a:bodyPr wrap="square">
            <a:spAutoFit/>
          </a:bodyPr>
          <a:lstStyle/>
          <a:p>
            <a:pPr>
              <a:defRPr/>
            </a:pPr>
            <a:r>
              <a:rPr kumimoji="0" sz="3000" b="1" i="0" u="none" strike="noStrike" kern="1200" cap="none" spc="0" normalizeH="0" baseline="0" noProof="0">
                <a:ln>
                  <a:noFill/>
                </a:ln>
                <a:effectLst/>
                <a:uLnTx/>
                <a:uFillTx/>
                <a:latin typeface="Aptos" panose="02110004020202020204"/>
                <a:ea typeface="+mn-ea"/>
                <a:cs typeface="+mn-cs"/>
              </a:rPr>
              <a:t>End-to-End Architecture</a:t>
            </a:r>
            <a:r>
              <a:rPr kumimoji="0" lang="en-AU" sz="3000" b="1" i="0" u="none" strike="noStrike" kern="1200" cap="none" spc="0" normalizeH="0" baseline="0" noProof="0">
                <a:ln>
                  <a:noFill/>
                </a:ln>
                <a:effectLst/>
                <a:uLnTx/>
                <a:uFillTx/>
                <a:latin typeface="Aptos" panose="02110004020202020204"/>
                <a:ea typeface="+mn-ea"/>
                <a:cs typeface="+mn-cs"/>
              </a:rPr>
              <a:t> (REAL-TIME Only)</a:t>
            </a:r>
            <a:endParaRPr kumimoji="0" sz="3000" b="1" i="0" u="none" strike="noStrike" kern="1200" cap="none" spc="0" normalizeH="0" baseline="0" noProof="0">
              <a:ln>
                <a:noFill/>
              </a:ln>
              <a:effectLst/>
              <a:uLnTx/>
              <a:uFillTx/>
              <a:latin typeface="Aptos" panose="02110004020202020204"/>
              <a:ea typeface="+mn-ea"/>
              <a:cs typeface="+mn-cs"/>
            </a:endParaRPr>
          </a:p>
        </p:txBody>
      </p:sp>
      <p:sp>
        <p:nvSpPr>
          <p:cNvPr id="4" name="Rounded Rectangle 3"/>
          <p:cNvSpPr/>
          <p:nvPr/>
        </p:nvSpPr>
        <p:spPr>
          <a:xfrm>
            <a:off x="198117" y="1005840"/>
            <a:ext cx="2011680" cy="5303520"/>
          </a:xfrm>
          <a:prstGeom prst="roundRect">
            <a:avLst/>
          </a:prstGeom>
          <a:solidFill>
            <a:schemeClr val="tx2">
              <a:lumMod val="10000"/>
              <a:lumOff val="90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p:cNvSpPr txBox="1"/>
          <p:nvPr/>
        </p:nvSpPr>
        <p:spPr>
          <a:xfrm>
            <a:off x="243837" y="1165368"/>
            <a:ext cx="1828800" cy="276999"/>
          </a:xfrm>
          <a:prstGeom prst="rect">
            <a:avLst/>
          </a:prstGeom>
          <a:noFill/>
        </p:spPr>
        <p:txBody>
          <a:bodyPr wrap="square">
            <a:spAutoFit/>
          </a:bodyPr>
          <a:lstStyle>
            <a:defPPr>
              <a:defRPr lang="en-US"/>
            </a:defPPr>
            <a:lvl1pPr algn="ctr">
              <a:defRPr sz="1200" b="1">
                <a:solidFill>
                  <a:srgbClr val="0096D6"/>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rgbClr val="0096D6"/>
                </a:solidFill>
                <a:effectLst/>
                <a:uLnTx/>
                <a:uFillTx/>
                <a:latin typeface="Aptos" panose="02110004020202020204"/>
                <a:ea typeface="+mn-ea"/>
                <a:cs typeface="+mn-cs"/>
              </a:rPr>
              <a:t>DATA SOURCES</a:t>
            </a:r>
          </a:p>
        </p:txBody>
      </p:sp>
      <p:sp>
        <p:nvSpPr>
          <p:cNvPr id="6" name="Rounded Rectangle 5"/>
          <p:cNvSpPr/>
          <p:nvPr/>
        </p:nvSpPr>
        <p:spPr>
          <a:xfrm>
            <a:off x="380997" y="1645920"/>
            <a:ext cx="1645920" cy="6400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RDBMS</a:t>
            </a:r>
            <a:br>
              <a:rPr lang="en-AU" sz="900" b="1">
                <a:solidFill>
                  <a:schemeClr val="tx1"/>
                </a:solidFill>
                <a:latin typeface="Aptos" panose="02110004020202020204"/>
              </a:rPr>
            </a:br>
            <a:r>
              <a:rPr sz="900" b="1">
                <a:solidFill>
                  <a:schemeClr val="tx1"/>
                </a:solidFill>
                <a:latin typeface="Aptos" panose="02110004020202020204"/>
              </a:rPr>
              <a:t>(CDC)</a:t>
            </a:r>
          </a:p>
        </p:txBody>
      </p:sp>
      <p:sp>
        <p:nvSpPr>
          <p:cNvPr id="7" name="Rounded Rectangle 6"/>
          <p:cNvSpPr/>
          <p:nvPr/>
        </p:nvSpPr>
        <p:spPr>
          <a:xfrm>
            <a:off x="380997" y="2468880"/>
            <a:ext cx="1645920" cy="6400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PostgreSQL
(JDBC)</a:t>
            </a:r>
          </a:p>
        </p:txBody>
      </p:sp>
      <p:sp>
        <p:nvSpPr>
          <p:cNvPr id="8" name="Rounded Rectangle 7"/>
          <p:cNvSpPr/>
          <p:nvPr/>
        </p:nvSpPr>
        <p:spPr>
          <a:xfrm>
            <a:off x="380997" y="3291840"/>
            <a:ext cx="1645920" cy="6400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REST APIs</a:t>
            </a:r>
          </a:p>
        </p:txBody>
      </p:sp>
      <p:sp>
        <p:nvSpPr>
          <p:cNvPr id="9" name="Rounded Rectangle 8"/>
          <p:cNvSpPr/>
          <p:nvPr/>
        </p:nvSpPr>
        <p:spPr>
          <a:xfrm>
            <a:off x="380997" y="4114800"/>
            <a:ext cx="1645920" cy="6400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File Systems
(CSV/JSON)</a:t>
            </a:r>
          </a:p>
        </p:txBody>
      </p:sp>
      <p:sp>
        <p:nvSpPr>
          <p:cNvPr id="10" name="Rounded Rectangle 9"/>
          <p:cNvSpPr/>
          <p:nvPr/>
        </p:nvSpPr>
        <p:spPr>
          <a:xfrm>
            <a:off x="2751667" y="1005840"/>
            <a:ext cx="5943600" cy="5303520"/>
          </a:xfrm>
          <a:prstGeom prst="roundRect">
            <a:avLst/>
          </a:prstGeom>
          <a:solidFill>
            <a:schemeClr val="tx2">
              <a:lumMod val="10000"/>
              <a:lumOff val="90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prstClr val="white"/>
              </a:solidFill>
              <a:latin typeface="Aptos" panose="02110004020202020204"/>
            </a:endParaRPr>
          </a:p>
        </p:txBody>
      </p:sp>
      <p:sp>
        <p:nvSpPr>
          <p:cNvPr id="11" name="TextBox 10"/>
          <p:cNvSpPr txBox="1"/>
          <p:nvPr/>
        </p:nvSpPr>
        <p:spPr>
          <a:xfrm>
            <a:off x="2834640" y="1097280"/>
            <a:ext cx="5760720" cy="36576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96D6"/>
                </a:solidFill>
                <a:effectLst/>
                <a:uLnTx/>
                <a:uFillTx/>
                <a:latin typeface="Aptos" panose="02110004020202020204"/>
                <a:ea typeface="+mn-ea"/>
                <a:cs typeface="+mn-cs"/>
              </a:rPr>
              <a:t>☸ AKS CLUSTER  —  Confluent Platform (Self-Managed)</a:t>
            </a:r>
          </a:p>
        </p:txBody>
      </p:sp>
      <p:sp>
        <p:nvSpPr>
          <p:cNvPr id="12" name="Rounded Rectangle 11"/>
          <p:cNvSpPr/>
          <p:nvPr/>
        </p:nvSpPr>
        <p:spPr>
          <a:xfrm>
            <a:off x="3017520" y="1691640"/>
            <a:ext cx="1645920" cy="10972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Kafka Connect
(Source)
─────────
</a:t>
            </a:r>
            <a:r>
              <a:rPr sz="900" b="1" err="1">
                <a:solidFill>
                  <a:schemeClr val="tx1"/>
                </a:solidFill>
                <a:latin typeface="Aptos" panose="02110004020202020204"/>
              </a:rPr>
              <a:t>Debezium</a:t>
            </a:r>
            <a:r>
              <a:rPr sz="900" b="1">
                <a:solidFill>
                  <a:schemeClr val="tx1"/>
                </a:solidFill>
                <a:latin typeface="Aptos" panose="02110004020202020204"/>
              </a:rPr>
              <a:t> CDC
JDBC Polling</a:t>
            </a:r>
          </a:p>
        </p:txBody>
      </p:sp>
      <p:sp>
        <p:nvSpPr>
          <p:cNvPr id="13" name="Rounded Rectangle 12"/>
          <p:cNvSpPr/>
          <p:nvPr/>
        </p:nvSpPr>
        <p:spPr>
          <a:xfrm>
            <a:off x="3017520" y="3017520"/>
            <a:ext cx="1645920" cy="73152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Schema Registry
(Avro / JSON Schema)</a:t>
            </a:r>
          </a:p>
        </p:txBody>
      </p:sp>
      <p:sp>
        <p:nvSpPr>
          <p:cNvPr id="14" name="Rounded Rectangle 13"/>
          <p:cNvSpPr/>
          <p:nvPr/>
        </p:nvSpPr>
        <p:spPr>
          <a:xfrm>
            <a:off x="5029200" y="1691640"/>
            <a:ext cx="2011680" cy="205740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b="1">
              <a:solidFill>
                <a:schemeClr val="tx1"/>
              </a:solidFill>
              <a:latin typeface="Aptos" panose="02110004020202020204"/>
            </a:endParaRPr>
          </a:p>
        </p:txBody>
      </p:sp>
      <p:sp>
        <p:nvSpPr>
          <p:cNvPr id="15" name="TextBox 14"/>
          <p:cNvSpPr txBox="1"/>
          <p:nvPr/>
        </p:nvSpPr>
        <p:spPr>
          <a:xfrm>
            <a:off x="5120640" y="1737360"/>
            <a:ext cx="1828800" cy="246221"/>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effectLst/>
                <a:uLnTx/>
                <a:uFillTx/>
                <a:latin typeface="Aptos" panose="02110004020202020204"/>
                <a:ea typeface="+mn-ea"/>
                <a:cs typeface="+mn-cs"/>
              </a:rPr>
              <a:t>KAFKA BROKERS</a:t>
            </a:r>
          </a:p>
        </p:txBody>
      </p:sp>
      <p:sp>
        <p:nvSpPr>
          <p:cNvPr id="16" name="Rounded Rectangle 15"/>
          <p:cNvSpPr/>
          <p:nvPr/>
        </p:nvSpPr>
        <p:spPr>
          <a:xfrm>
            <a:off x="5212080" y="2148840"/>
            <a:ext cx="502920" cy="50292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chemeClr val="tx1"/>
                </a:solidFill>
                <a:latin typeface="Aptos" panose="02110004020202020204"/>
              </a:rPr>
              <a:t>Broker 1</a:t>
            </a:r>
          </a:p>
        </p:txBody>
      </p:sp>
      <p:sp>
        <p:nvSpPr>
          <p:cNvPr id="17" name="Rounded Rectangle 16"/>
          <p:cNvSpPr/>
          <p:nvPr/>
        </p:nvSpPr>
        <p:spPr>
          <a:xfrm>
            <a:off x="5806440" y="2148840"/>
            <a:ext cx="502920" cy="50292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chemeClr val="tx1"/>
                </a:solidFill>
                <a:latin typeface="Aptos" panose="02110004020202020204"/>
              </a:rPr>
              <a:t>Broker 2</a:t>
            </a:r>
          </a:p>
        </p:txBody>
      </p:sp>
      <p:sp>
        <p:nvSpPr>
          <p:cNvPr id="18" name="Rounded Rectangle 17"/>
          <p:cNvSpPr/>
          <p:nvPr/>
        </p:nvSpPr>
        <p:spPr>
          <a:xfrm>
            <a:off x="6400800" y="2148840"/>
            <a:ext cx="502920" cy="50292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chemeClr val="tx1"/>
                </a:solidFill>
                <a:latin typeface="Aptos" panose="02110004020202020204"/>
              </a:rPr>
              <a:t>Broker 3</a:t>
            </a:r>
          </a:p>
        </p:txBody>
      </p:sp>
      <p:sp>
        <p:nvSpPr>
          <p:cNvPr id="19" name="Rounded Rectangle 18"/>
          <p:cNvSpPr/>
          <p:nvPr/>
        </p:nvSpPr>
        <p:spPr>
          <a:xfrm>
            <a:off x="5178212" y="2834640"/>
            <a:ext cx="1737360" cy="73152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 Topics
cdc.* | jdbc.*</a:t>
            </a:r>
          </a:p>
        </p:txBody>
      </p:sp>
      <p:sp>
        <p:nvSpPr>
          <p:cNvPr id="20" name="Rounded Rectangle 19"/>
          <p:cNvSpPr/>
          <p:nvPr/>
        </p:nvSpPr>
        <p:spPr>
          <a:xfrm>
            <a:off x="5029200" y="4023360"/>
            <a:ext cx="2011680" cy="10972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b="1">
              <a:solidFill>
                <a:schemeClr val="tx1"/>
              </a:solidFill>
              <a:latin typeface="Aptos" panose="02110004020202020204"/>
            </a:endParaRPr>
          </a:p>
        </p:txBody>
      </p:sp>
      <p:sp>
        <p:nvSpPr>
          <p:cNvPr id="21" name="TextBox 20"/>
          <p:cNvSpPr txBox="1"/>
          <p:nvPr/>
        </p:nvSpPr>
        <p:spPr>
          <a:xfrm>
            <a:off x="5120640" y="4069080"/>
            <a:ext cx="1828800" cy="246221"/>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err="1">
                <a:ln>
                  <a:noFill/>
                </a:ln>
                <a:effectLst/>
                <a:uLnTx/>
                <a:uFillTx/>
                <a:latin typeface="Aptos" panose="02110004020202020204"/>
                <a:ea typeface="+mn-ea"/>
                <a:cs typeface="+mn-cs"/>
              </a:rPr>
              <a:t>KRaft</a:t>
            </a:r>
            <a:r>
              <a:rPr kumimoji="0" lang="en-AU" sz="1000" b="1" i="0" u="none" strike="noStrike" kern="1200" cap="none" spc="0" normalizeH="0" baseline="0" noProof="0">
                <a:ln>
                  <a:noFill/>
                </a:ln>
                <a:effectLst/>
                <a:uLnTx/>
                <a:uFillTx/>
                <a:latin typeface="Aptos" panose="02110004020202020204"/>
                <a:ea typeface="+mn-ea"/>
                <a:cs typeface="+mn-cs"/>
              </a:rPr>
              <a:t> Controllers</a:t>
            </a:r>
          </a:p>
        </p:txBody>
      </p:sp>
      <p:sp>
        <p:nvSpPr>
          <p:cNvPr id="22" name="Rounded Rectangle 21"/>
          <p:cNvSpPr/>
          <p:nvPr/>
        </p:nvSpPr>
        <p:spPr>
          <a:xfrm>
            <a:off x="5212080" y="4434840"/>
            <a:ext cx="502920" cy="45720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700" b="1">
                <a:solidFill>
                  <a:schemeClr val="tx1"/>
                </a:solidFill>
                <a:latin typeface="Aptos" panose="02110004020202020204"/>
              </a:rPr>
              <a:t>Ctrl 1</a:t>
            </a:r>
          </a:p>
        </p:txBody>
      </p:sp>
      <p:sp>
        <p:nvSpPr>
          <p:cNvPr id="23" name="Rounded Rectangle 22"/>
          <p:cNvSpPr/>
          <p:nvPr/>
        </p:nvSpPr>
        <p:spPr>
          <a:xfrm>
            <a:off x="5806440" y="4434840"/>
            <a:ext cx="502920" cy="45720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700" b="1">
                <a:solidFill>
                  <a:schemeClr val="tx1"/>
                </a:solidFill>
                <a:latin typeface="Aptos" panose="02110004020202020204"/>
              </a:rPr>
              <a:t>Ctrl 2</a:t>
            </a:r>
          </a:p>
        </p:txBody>
      </p:sp>
      <p:sp>
        <p:nvSpPr>
          <p:cNvPr id="24" name="Rounded Rectangle 23"/>
          <p:cNvSpPr/>
          <p:nvPr/>
        </p:nvSpPr>
        <p:spPr>
          <a:xfrm>
            <a:off x="6400800" y="4434840"/>
            <a:ext cx="502920" cy="45720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700" b="1">
                <a:solidFill>
                  <a:schemeClr val="tx1"/>
                </a:solidFill>
                <a:latin typeface="Aptos" panose="02110004020202020204"/>
              </a:rPr>
              <a:t>Ctrl 3</a:t>
            </a:r>
          </a:p>
        </p:txBody>
      </p:sp>
      <p:sp>
        <p:nvSpPr>
          <p:cNvPr id="25" name="Rounded Rectangle 24"/>
          <p:cNvSpPr/>
          <p:nvPr/>
        </p:nvSpPr>
        <p:spPr>
          <a:xfrm>
            <a:off x="7406640" y="1691640"/>
            <a:ext cx="1097280" cy="10972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Kafka
Connect
(Sink)
─────
Snowflake
Connector</a:t>
            </a:r>
          </a:p>
        </p:txBody>
      </p:sp>
      <p:sp>
        <p:nvSpPr>
          <p:cNvPr id="26" name="Rounded Rectangle 25"/>
          <p:cNvSpPr/>
          <p:nvPr/>
        </p:nvSpPr>
        <p:spPr>
          <a:xfrm>
            <a:off x="7406640" y="3017520"/>
            <a:ext cx="1097280" cy="73152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 DLQ
Dead Letter
Queue</a:t>
            </a:r>
          </a:p>
        </p:txBody>
      </p:sp>
      <p:sp>
        <p:nvSpPr>
          <p:cNvPr id="27" name="Rounded Rectangle 26"/>
          <p:cNvSpPr/>
          <p:nvPr/>
        </p:nvSpPr>
        <p:spPr>
          <a:xfrm>
            <a:off x="3017520" y="5360414"/>
            <a:ext cx="5486400" cy="446025"/>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 Confluent for Kubernetes (CFK) Operator  —  Manages all Confluent components</a:t>
            </a:r>
          </a:p>
        </p:txBody>
      </p:sp>
      <p:sp>
        <p:nvSpPr>
          <p:cNvPr id="28" name="Rounded Rectangle 27"/>
          <p:cNvSpPr/>
          <p:nvPr/>
        </p:nvSpPr>
        <p:spPr>
          <a:xfrm>
            <a:off x="3017520" y="4114800"/>
            <a:ext cx="1645920" cy="100584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b="1">
              <a:solidFill>
                <a:schemeClr val="tx1"/>
              </a:solidFill>
              <a:latin typeface="Aptos" panose="02110004020202020204"/>
            </a:endParaRPr>
          </a:p>
        </p:txBody>
      </p:sp>
      <p:sp>
        <p:nvSpPr>
          <p:cNvPr id="29" name="TextBox 28"/>
          <p:cNvSpPr txBox="1"/>
          <p:nvPr/>
        </p:nvSpPr>
        <p:spPr>
          <a:xfrm>
            <a:off x="3108960" y="4304454"/>
            <a:ext cx="1463040" cy="646331"/>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panose="02110004020202020204"/>
                <a:ea typeface="+mn-ea"/>
                <a:cs typeface="+mn-cs"/>
              </a:rPr>
              <a:t>Monitoring
Prometheus
Grafana
Control </a:t>
            </a:r>
            <a:r>
              <a:rPr kumimoji="0" lang="en-AU" sz="900" b="1" i="0" u="none" strike="noStrike" kern="1200" cap="none" spc="0" normalizeH="0" baseline="0" noProof="0" err="1">
                <a:ln>
                  <a:noFill/>
                </a:ln>
                <a:effectLst/>
                <a:uLnTx/>
                <a:uFillTx/>
                <a:latin typeface="Aptos" panose="02110004020202020204"/>
                <a:ea typeface="+mn-ea"/>
                <a:cs typeface="+mn-cs"/>
              </a:rPr>
              <a:t>Center</a:t>
            </a:r>
            <a:endParaRPr kumimoji="0" lang="en-AU" sz="900" b="1" i="0" u="none" strike="noStrike" kern="1200" cap="none" spc="0" normalizeH="0" baseline="0" noProof="0">
              <a:ln>
                <a:noFill/>
              </a:ln>
              <a:effectLst/>
              <a:uLnTx/>
              <a:uFillTx/>
              <a:latin typeface="Aptos" panose="02110004020202020204"/>
              <a:ea typeface="+mn-ea"/>
              <a:cs typeface="+mn-cs"/>
            </a:endParaRPr>
          </a:p>
        </p:txBody>
      </p:sp>
      <p:sp>
        <p:nvSpPr>
          <p:cNvPr id="30" name="Rounded Rectangle 29"/>
          <p:cNvSpPr/>
          <p:nvPr/>
        </p:nvSpPr>
        <p:spPr>
          <a:xfrm>
            <a:off x="9321802" y="1005840"/>
            <a:ext cx="2743200" cy="5303520"/>
          </a:xfrm>
          <a:prstGeom prst="roundRect">
            <a:avLst/>
          </a:prstGeom>
          <a:solidFill>
            <a:schemeClr val="tx2">
              <a:lumMod val="10000"/>
              <a:lumOff val="90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prstClr val="white"/>
              </a:solidFill>
              <a:latin typeface="Aptos" panose="02110004020202020204"/>
            </a:endParaRPr>
          </a:p>
        </p:txBody>
      </p:sp>
      <p:sp>
        <p:nvSpPr>
          <p:cNvPr id="31" name="TextBox 30"/>
          <p:cNvSpPr txBox="1"/>
          <p:nvPr/>
        </p:nvSpPr>
        <p:spPr>
          <a:xfrm>
            <a:off x="9413242" y="1097280"/>
            <a:ext cx="2560320" cy="36576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rgbClr val="29B5E8"/>
                </a:solidFill>
                <a:effectLst/>
                <a:uLnTx/>
                <a:uFillTx/>
                <a:latin typeface="Aptos" panose="02110004020202020204"/>
                <a:ea typeface="+mn-ea"/>
                <a:cs typeface="+mn-cs"/>
              </a:rPr>
              <a:t>❄️ SNOWFLAKE</a:t>
            </a:r>
          </a:p>
        </p:txBody>
      </p:sp>
      <p:sp>
        <p:nvSpPr>
          <p:cNvPr id="32" name="Rounded Rectangle 31"/>
          <p:cNvSpPr/>
          <p:nvPr/>
        </p:nvSpPr>
        <p:spPr>
          <a:xfrm>
            <a:off x="9504682" y="1691640"/>
            <a:ext cx="2377440" cy="73152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900" b="1">
                <a:solidFill>
                  <a:schemeClr val="tx1"/>
                </a:solidFill>
                <a:latin typeface="Aptos" panose="02110004020202020204"/>
              </a:rPr>
              <a:t>Snowpipe
Streaming
(Ingestion Method)</a:t>
            </a:r>
          </a:p>
        </p:txBody>
      </p:sp>
      <p:sp>
        <p:nvSpPr>
          <p:cNvPr id="33" name="Rounded Rectangle 32"/>
          <p:cNvSpPr/>
          <p:nvPr/>
        </p:nvSpPr>
        <p:spPr>
          <a:xfrm>
            <a:off x="9504682" y="2651760"/>
            <a:ext cx="2377440" cy="91440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Managed Iceberg Tables
──────────────
</a:t>
            </a:r>
            <a:r>
              <a:rPr sz="900" b="1" err="1">
                <a:solidFill>
                  <a:schemeClr val="tx1"/>
                </a:solidFill>
                <a:latin typeface="Aptos" panose="02110004020202020204"/>
              </a:rPr>
              <a:t>iceberg_lakehouse.raw</a:t>
            </a:r>
            <a:endParaRPr sz="900" b="1">
              <a:solidFill>
                <a:schemeClr val="tx1"/>
              </a:solidFill>
              <a:latin typeface="Aptos" panose="02110004020202020204"/>
            </a:endParaRPr>
          </a:p>
        </p:txBody>
      </p:sp>
      <p:sp>
        <p:nvSpPr>
          <p:cNvPr id="34" name="Rounded Rectangle 33"/>
          <p:cNvSpPr/>
          <p:nvPr/>
        </p:nvSpPr>
        <p:spPr>
          <a:xfrm>
            <a:off x="9504682" y="3794760"/>
            <a:ext cx="2377440" cy="6400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External Volume
(Azure Blob Storage)</a:t>
            </a:r>
          </a:p>
        </p:txBody>
      </p:sp>
      <p:sp>
        <p:nvSpPr>
          <p:cNvPr id="35" name="Rounded Rectangle 34"/>
          <p:cNvSpPr/>
          <p:nvPr/>
        </p:nvSpPr>
        <p:spPr>
          <a:xfrm>
            <a:off x="9504682" y="4663440"/>
            <a:ext cx="2377440" cy="6400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 Key-Pair Auth
</a:t>
            </a:r>
            <a:r>
              <a:rPr sz="900" b="1" err="1">
                <a:solidFill>
                  <a:schemeClr val="tx1"/>
                </a:solidFill>
                <a:latin typeface="Aptos" panose="02110004020202020204"/>
              </a:rPr>
              <a:t>kafka_svc_user</a:t>
            </a:r>
            <a:endParaRPr sz="900" b="1">
              <a:solidFill>
                <a:schemeClr val="tx1"/>
              </a:solidFill>
              <a:latin typeface="Aptos" panose="02110004020202020204"/>
            </a:endParaRPr>
          </a:p>
        </p:txBody>
      </p:sp>
      <p:sp>
        <p:nvSpPr>
          <p:cNvPr id="36" name="Rounded Rectangle 35"/>
          <p:cNvSpPr/>
          <p:nvPr/>
        </p:nvSpPr>
        <p:spPr>
          <a:xfrm>
            <a:off x="9504682" y="5532120"/>
            <a:ext cx="2377440" cy="54864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900" b="1">
                <a:solidFill>
                  <a:schemeClr val="tx1"/>
                </a:solidFill>
                <a:latin typeface="Aptos" panose="02110004020202020204"/>
              </a:rPr>
              <a:t>Analytics &amp; BI
(Query Layer)</a:t>
            </a:r>
          </a:p>
        </p:txBody>
      </p:sp>
      <p:cxnSp>
        <p:nvCxnSpPr>
          <p:cNvPr id="40" name="Connector 39"/>
          <p:cNvCxnSpPr>
            <a:cxnSpLocks/>
          </p:cNvCxnSpPr>
          <p:nvPr/>
        </p:nvCxnSpPr>
        <p:spPr>
          <a:xfrm flipV="1">
            <a:off x="2209797" y="2297854"/>
            <a:ext cx="807723" cy="9144"/>
          </a:xfrm>
          <a:prstGeom prst="line">
            <a:avLst/>
          </a:prstGeom>
          <a:ln w="254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a:cxnSpLocks/>
          </p:cNvCxnSpPr>
          <p:nvPr/>
        </p:nvCxnSpPr>
        <p:spPr>
          <a:xfrm>
            <a:off x="4663440" y="2263140"/>
            <a:ext cx="36576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840480" y="2788920"/>
            <a:ext cx="0" cy="2286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a:cxnSpLocks/>
          </p:cNvCxnSpPr>
          <p:nvPr/>
        </p:nvCxnSpPr>
        <p:spPr>
          <a:xfrm>
            <a:off x="7040880" y="2240280"/>
            <a:ext cx="36576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955279" y="2788920"/>
            <a:ext cx="0" cy="2286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a:cxnSpLocks/>
          </p:cNvCxnSpPr>
          <p:nvPr/>
        </p:nvCxnSpPr>
        <p:spPr>
          <a:xfrm flipV="1">
            <a:off x="8503920" y="2235202"/>
            <a:ext cx="1000762" cy="5078"/>
          </a:xfrm>
          <a:prstGeom prst="line">
            <a:avLst/>
          </a:prstGeom>
          <a:ln w="31750">
            <a:solidFill>
              <a:srgbClr val="29B5E8"/>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072637" y="1866053"/>
            <a:ext cx="822960" cy="415498"/>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effectLst/>
                <a:uLnTx/>
                <a:uFillTx/>
                <a:latin typeface="Aptos" panose="02110004020202020204"/>
                <a:ea typeface="+mn-ea"/>
                <a:cs typeface="+mn-cs"/>
              </a:rPr>
              <a:t>CDC</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effectLst/>
                <a:uLnTx/>
                <a:uFillTx/>
                <a:latin typeface="Aptos" panose="02110004020202020204"/>
                <a:ea typeface="+mn-ea"/>
                <a:cs typeface="+mn-cs"/>
              </a:rPr>
              <a:t>JDBC</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effectLst/>
                <a:uLnTx/>
                <a:uFillTx/>
                <a:latin typeface="Aptos" panose="02110004020202020204"/>
                <a:ea typeface="+mn-ea"/>
                <a:cs typeface="+mn-cs"/>
              </a:rPr>
              <a:t>PUBLISH</a:t>
            </a:r>
          </a:p>
        </p:txBody>
      </p:sp>
      <p:sp>
        <p:nvSpPr>
          <p:cNvPr id="47" name="TextBox 46"/>
          <p:cNvSpPr txBox="1"/>
          <p:nvPr/>
        </p:nvSpPr>
        <p:spPr>
          <a:xfrm>
            <a:off x="4595706" y="2057401"/>
            <a:ext cx="457200" cy="200055"/>
          </a:xfrm>
          <a:prstGeom prst="rect">
            <a:avLst/>
          </a:prstGeom>
          <a:noFill/>
          <a:ln>
            <a:noFill/>
          </a:ln>
        </p:spPr>
        <p:txBody>
          <a:bodyPr wrap="square">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effectLst/>
                <a:uLnTx/>
                <a:uFillTx/>
                <a:latin typeface="Aptos" panose="02110004020202020204"/>
              </a:defRPr>
            </a:lvl1pPr>
          </a:lstStyle>
          <a:p>
            <a:r>
              <a:rPr lang="en-AU"/>
              <a:t>Avro</a:t>
            </a:r>
          </a:p>
        </p:txBody>
      </p:sp>
      <p:sp>
        <p:nvSpPr>
          <p:cNvPr id="48" name="TextBox 47"/>
          <p:cNvSpPr txBox="1"/>
          <p:nvPr/>
        </p:nvSpPr>
        <p:spPr>
          <a:xfrm>
            <a:off x="6995160" y="2006602"/>
            <a:ext cx="457200" cy="200055"/>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effectLst/>
                <a:uLnTx/>
                <a:uFillTx/>
                <a:latin typeface="Aptos" panose="02110004020202020204"/>
                <a:ea typeface="+mn-ea"/>
                <a:cs typeface="+mn-cs"/>
              </a:rPr>
              <a:t>Avro</a:t>
            </a:r>
          </a:p>
        </p:txBody>
      </p:sp>
      <p:sp>
        <p:nvSpPr>
          <p:cNvPr id="49" name="TextBox 48"/>
          <p:cNvSpPr txBox="1"/>
          <p:nvPr/>
        </p:nvSpPr>
        <p:spPr>
          <a:xfrm>
            <a:off x="8480214" y="1915162"/>
            <a:ext cx="1005840"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1" i="0" u="none" strike="noStrike" kern="1200" cap="none" spc="0" normalizeH="0" baseline="0" noProof="0">
                <a:ln>
                  <a:noFill/>
                </a:ln>
                <a:effectLst/>
                <a:uLnTx/>
                <a:uFillTx/>
                <a:latin typeface="Aptos" panose="02110004020202020204"/>
                <a:ea typeface="+mn-ea"/>
                <a:cs typeface="+mn-cs"/>
              </a:rPr>
              <a:t>Snow pipe
Streaming</a:t>
            </a:r>
          </a:p>
        </p:txBody>
      </p:sp>
      <p:sp>
        <p:nvSpPr>
          <p:cNvPr id="50" name="TextBox 49"/>
          <p:cNvSpPr txBox="1"/>
          <p:nvPr/>
        </p:nvSpPr>
        <p:spPr>
          <a:xfrm>
            <a:off x="5982546" y="3794760"/>
            <a:ext cx="731520" cy="200055"/>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effectLst/>
                <a:uLnTx/>
                <a:uFillTx/>
                <a:latin typeface="Aptos" panose="02110004020202020204"/>
                <a:ea typeface="+mn-ea"/>
                <a:cs typeface="+mn-cs"/>
              </a:rPr>
              <a:t>Quorum</a:t>
            </a:r>
          </a:p>
        </p:txBody>
      </p:sp>
      <p:cxnSp>
        <p:nvCxnSpPr>
          <p:cNvPr id="51" name="Connector 50"/>
          <p:cNvCxnSpPr/>
          <p:nvPr/>
        </p:nvCxnSpPr>
        <p:spPr>
          <a:xfrm>
            <a:off x="6035040" y="3749039"/>
            <a:ext cx="0" cy="27432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52" name="Rounded Rectangle 8">
            <a:extLst>
              <a:ext uri="{FF2B5EF4-FFF2-40B4-BE49-F238E27FC236}">
                <a16:creationId xmlns:a16="http://schemas.microsoft.com/office/drawing/2014/main" id="{8790405C-2B7B-5BDC-FC28-1EE2D7FE5591}"/>
              </a:ext>
            </a:extLst>
          </p:cNvPr>
          <p:cNvSpPr/>
          <p:nvPr/>
        </p:nvSpPr>
        <p:spPr>
          <a:xfrm>
            <a:off x="365759" y="4937760"/>
            <a:ext cx="1645920" cy="6400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Applications</a:t>
            </a:r>
            <a:r>
              <a:rPr sz="900" b="1">
                <a:solidFill>
                  <a:schemeClr val="tx1"/>
                </a:solidFill>
                <a:latin typeface="Aptos" panose="02110004020202020204"/>
              </a:rPr>
              <a:t>
(</a:t>
            </a:r>
            <a:r>
              <a:rPr lang="en-AU" sz="900" b="1">
                <a:solidFill>
                  <a:schemeClr val="tx1"/>
                </a:solidFill>
                <a:latin typeface="Aptos" panose="02110004020202020204"/>
              </a:rPr>
              <a:t>XML</a:t>
            </a:r>
            <a:r>
              <a:rPr sz="900" b="1">
                <a:solidFill>
                  <a:schemeClr val="tx1"/>
                </a:solidFill>
                <a:latin typeface="Aptos" panose="02110004020202020204"/>
              </a:rPr>
              <a:t>/JSON)</a:t>
            </a:r>
          </a:p>
        </p:txBody>
      </p:sp>
      <p:sp>
        <p:nvSpPr>
          <p:cNvPr id="60" name="Star: 5 Points 59">
            <a:extLst>
              <a:ext uri="{FF2B5EF4-FFF2-40B4-BE49-F238E27FC236}">
                <a16:creationId xmlns:a16="http://schemas.microsoft.com/office/drawing/2014/main" id="{E22000B1-A1AA-6F1B-BE98-7BDA9444B7B7}"/>
              </a:ext>
            </a:extLst>
          </p:cNvPr>
          <p:cNvSpPr/>
          <p:nvPr/>
        </p:nvSpPr>
        <p:spPr>
          <a:xfrm>
            <a:off x="11277600" y="748454"/>
            <a:ext cx="423334" cy="365760"/>
          </a:xfrm>
          <a:prstGeom prst="star5">
            <a:avLst/>
          </a:prstGeom>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7" name="Star: 5 Points 36">
            <a:extLst>
              <a:ext uri="{FF2B5EF4-FFF2-40B4-BE49-F238E27FC236}">
                <a16:creationId xmlns:a16="http://schemas.microsoft.com/office/drawing/2014/main" id="{654442AC-7900-234C-5A5B-FD0DE87143C9}"/>
              </a:ext>
            </a:extLst>
          </p:cNvPr>
          <p:cNvSpPr/>
          <p:nvPr/>
        </p:nvSpPr>
        <p:spPr>
          <a:xfrm>
            <a:off x="7743612" y="766065"/>
            <a:ext cx="423334" cy="365760"/>
          </a:xfrm>
          <a:prstGeom prst="star5">
            <a:avLst/>
          </a:prstGeom>
          <a:solidFill>
            <a:schemeClr val="accent5">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71B7A147-52B3-3B34-62C4-583752C862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2F12E5-0EC0-8EDD-B178-1CC9C967051E}"/>
              </a:ext>
            </a:extLst>
          </p:cNvPr>
          <p:cNvSpPr txBox="1"/>
          <p:nvPr/>
        </p:nvSpPr>
        <p:spPr>
          <a:xfrm>
            <a:off x="550336" y="182880"/>
            <a:ext cx="10972800"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3000" b="1" i="0" u="none" strike="noStrike" kern="1200" cap="none" spc="0" normalizeH="0" baseline="0" noProof="0">
                <a:ln>
                  <a:noFill/>
                </a:ln>
                <a:effectLst/>
                <a:uLnTx/>
                <a:uFillTx/>
                <a:latin typeface="Aptos" panose="02110004020202020204"/>
                <a:ea typeface="+mn-ea"/>
                <a:cs typeface="+mn-cs"/>
              </a:rPr>
              <a:t>Confluent Kafka Solution</a:t>
            </a:r>
            <a:endParaRPr kumimoji="0" sz="3000" b="1" i="0" u="none" strike="noStrike" kern="1200" cap="none" spc="0" normalizeH="0" baseline="0" noProof="0">
              <a:ln>
                <a:noFill/>
              </a:ln>
              <a:effectLst/>
              <a:uLnTx/>
              <a:uFillTx/>
              <a:latin typeface="Aptos" panose="02110004020202020204"/>
              <a:ea typeface="+mn-ea"/>
              <a:cs typeface="+mn-cs"/>
            </a:endParaRPr>
          </a:p>
        </p:txBody>
      </p:sp>
      <p:sp>
        <p:nvSpPr>
          <p:cNvPr id="10" name="Rounded Rectangle 9">
            <a:extLst>
              <a:ext uri="{FF2B5EF4-FFF2-40B4-BE49-F238E27FC236}">
                <a16:creationId xmlns:a16="http://schemas.microsoft.com/office/drawing/2014/main" id="{47266CC5-7BEA-86B4-F368-AC17D18B9D44}"/>
              </a:ext>
            </a:extLst>
          </p:cNvPr>
          <p:cNvSpPr/>
          <p:nvPr/>
        </p:nvSpPr>
        <p:spPr>
          <a:xfrm>
            <a:off x="245534" y="944867"/>
            <a:ext cx="5943600" cy="5303520"/>
          </a:xfrm>
          <a:prstGeom prst="roundRect">
            <a:avLst/>
          </a:prstGeom>
          <a:solidFill>
            <a:schemeClr val="tx2">
              <a:lumMod val="10000"/>
              <a:lumOff val="90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prstClr val="white"/>
              </a:solidFill>
              <a:latin typeface="Aptos" panose="02110004020202020204"/>
            </a:endParaRPr>
          </a:p>
        </p:txBody>
      </p:sp>
      <p:sp>
        <p:nvSpPr>
          <p:cNvPr id="11" name="TextBox 10">
            <a:extLst>
              <a:ext uri="{FF2B5EF4-FFF2-40B4-BE49-F238E27FC236}">
                <a16:creationId xmlns:a16="http://schemas.microsoft.com/office/drawing/2014/main" id="{F14C4C56-FCA9-133D-ADC3-DBED35262031}"/>
              </a:ext>
            </a:extLst>
          </p:cNvPr>
          <p:cNvSpPr txBox="1"/>
          <p:nvPr/>
        </p:nvSpPr>
        <p:spPr>
          <a:xfrm>
            <a:off x="328507" y="1036307"/>
            <a:ext cx="5760720" cy="36576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96D6"/>
                </a:solidFill>
                <a:effectLst/>
                <a:uLnTx/>
                <a:uFillTx/>
                <a:latin typeface="Aptos" panose="02110004020202020204"/>
                <a:ea typeface="+mn-ea"/>
                <a:cs typeface="+mn-cs"/>
              </a:rPr>
              <a:t>☸ AKS CLUSTER  —  Confluent Platform (Self-Managed)</a:t>
            </a:r>
          </a:p>
        </p:txBody>
      </p:sp>
      <p:sp>
        <p:nvSpPr>
          <p:cNvPr id="12" name="Rounded Rectangle 11">
            <a:extLst>
              <a:ext uri="{FF2B5EF4-FFF2-40B4-BE49-F238E27FC236}">
                <a16:creationId xmlns:a16="http://schemas.microsoft.com/office/drawing/2014/main" id="{0B5E3080-F201-6538-3100-82E3B653D975}"/>
              </a:ext>
            </a:extLst>
          </p:cNvPr>
          <p:cNvSpPr/>
          <p:nvPr/>
        </p:nvSpPr>
        <p:spPr>
          <a:xfrm>
            <a:off x="511387" y="1630667"/>
            <a:ext cx="1645920" cy="10972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Kafka Connect
(Source)
─────────
</a:t>
            </a:r>
            <a:r>
              <a:rPr sz="900" b="1" err="1">
                <a:solidFill>
                  <a:schemeClr val="tx1"/>
                </a:solidFill>
                <a:latin typeface="Aptos" panose="02110004020202020204"/>
              </a:rPr>
              <a:t>Debezium</a:t>
            </a:r>
            <a:r>
              <a:rPr sz="900" b="1">
                <a:solidFill>
                  <a:schemeClr val="tx1"/>
                </a:solidFill>
                <a:latin typeface="Aptos" panose="02110004020202020204"/>
              </a:rPr>
              <a:t> CDC
JDBC Polling</a:t>
            </a:r>
          </a:p>
        </p:txBody>
      </p:sp>
      <p:sp>
        <p:nvSpPr>
          <p:cNvPr id="13" name="Rounded Rectangle 12">
            <a:extLst>
              <a:ext uri="{FF2B5EF4-FFF2-40B4-BE49-F238E27FC236}">
                <a16:creationId xmlns:a16="http://schemas.microsoft.com/office/drawing/2014/main" id="{8AC854D5-C92D-CE95-4F41-94F6A82CEF0F}"/>
              </a:ext>
            </a:extLst>
          </p:cNvPr>
          <p:cNvSpPr/>
          <p:nvPr/>
        </p:nvSpPr>
        <p:spPr>
          <a:xfrm>
            <a:off x="511387" y="2956547"/>
            <a:ext cx="1645920" cy="73152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Schema Registry
(Avro / JSON Schema)</a:t>
            </a:r>
          </a:p>
        </p:txBody>
      </p:sp>
      <p:sp>
        <p:nvSpPr>
          <p:cNvPr id="14" name="Rounded Rectangle 13">
            <a:extLst>
              <a:ext uri="{FF2B5EF4-FFF2-40B4-BE49-F238E27FC236}">
                <a16:creationId xmlns:a16="http://schemas.microsoft.com/office/drawing/2014/main" id="{2CF4AE9C-C99D-7FCD-0C1B-4688B1A09D27}"/>
              </a:ext>
            </a:extLst>
          </p:cNvPr>
          <p:cNvSpPr/>
          <p:nvPr/>
        </p:nvSpPr>
        <p:spPr>
          <a:xfrm>
            <a:off x="2523067" y="1630667"/>
            <a:ext cx="2011680" cy="205740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b="1">
              <a:solidFill>
                <a:schemeClr val="tx1"/>
              </a:solidFill>
              <a:latin typeface="Aptos" panose="02110004020202020204"/>
            </a:endParaRPr>
          </a:p>
        </p:txBody>
      </p:sp>
      <p:sp>
        <p:nvSpPr>
          <p:cNvPr id="15" name="TextBox 14">
            <a:extLst>
              <a:ext uri="{FF2B5EF4-FFF2-40B4-BE49-F238E27FC236}">
                <a16:creationId xmlns:a16="http://schemas.microsoft.com/office/drawing/2014/main" id="{7AF6829F-80B8-371D-05EC-54BF46220822}"/>
              </a:ext>
            </a:extLst>
          </p:cNvPr>
          <p:cNvSpPr txBox="1"/>
          <p:nvPr/>
        </p:nvSpPr>
        <p:spPr>
          <a:xfrm>
            <a:off x="2614507" y="1676387"/>
            <a:ext cx="1828800" cy="246221"/>
          </a:xfrm>
          <a:prstGeom prst="rect">
            <a:avLst/>
          </a:prstGeom>
          <a:solidFill>
            <a:schemeClr val="accent1">
              <a:lumMod val="60000"/>
              <a:lumOff val="40000"/>
            </a:schemeClr>
          </a:solid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a:ln>
                  <a:noFill/>
                </a:ln>
                <a:effectLst/>
                <a:uLnTx/>
                <a:uFillTx/>
                <a:latin typeface="Aptos" panose="02110004020202020204"/>
                <a:ea typeface="+mn-ea"/>
                <a:cs typeface="+mn-cs"/>
              </a:rPr>
              <a:t>KAFKA BROKERS</a:t>
            </a:r>
          </a:p>
        </p:txBody>
      </p:sp>
      <p:sp>
        <p:nvSpPr>
          <p:cNvPr id="16" name="Rounded Rectangle 15">
            <a:extLst>
              <a:ext uri="{FF2B5EF4-FFF2-40B4-BE49-F238E27FC236}">
                <a16:creationId xmlns:a16="http://schemas.microsoft.com/office/drawing/2014/main" id="{4FF0E22A-F85B-B366-F738-EF9CEC480B20}"/>
              </a:ext>
            </a:extLst>
          </p:cNvPr>
          <p:cNvSpPr/>
          <p:nvPr/>
        </p:nvSpPr>
        <p:spPr>
          <a:xfrm>
            <a:off x="2705947" y="2087867"/>
            <a:ext cx="502920" cy="50292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chemeClr val="tx1"/>
                </a:solidFill>
                <a:latin typeface="Aptos" panose="02110004020202020204"/>
              </a:rPr>
              <a:t>Broker 1</a:t>
            </a:r>
          </a:p>
        </p:txBody>
      </p:sp>
      <p:sp>
        <p:nvSpPr>
          <p:cNvPr id="17" name="Rounded Rectangle 16">
            <a:extLst>
              <a:ext uri="{FF2B5EF4-FFF2-40B4-BE49-F238E27FC236}">
                <a16:creationId xmlns:a16="http://schemas.microsoft.com/office/drawing/2014/main" id="{03BACDF5-645C-FFD9-FB28-2FE880492A11}"/>
              </a:ext>
            </a:extLst>
          </p:cNvPr>
          <p:cNvSpPr/>
          <p:nvPr/>
        </p:nvSpPr>
        <p:spPr>
          <a:xfrm>
            <a:off x="3300307" y="2087867"/>
            <a:ext cx="502920" cy="50292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chemeClr val="tx1"/>
                </a:solidFill>
                <a:latin typeface="Aptos" panose="02110004020202020204"/>
              </a:rPr>
              <a:t>Broker 2</a:t>
            </a:r>
          </a:p>
        </p:txBody>
      </p:sp>
      <p:sp>
        <p:nvSpPr>
          <p:cNvPr id="18" name="Rounded Rectangle 17">
            <a:extLst>
              <a:ext uri="{FF2B5EF4-FFF2-40B4-BE49-F238E27FC236}">
                <a16:creationId xmlns:a16="http://schemas.microsoft.com/office/drawing/2014/main" id="{88062050-BC0A-D214-DC66-0EFC4A5A3AB9}"/>
              </a:ext>
            </a:extLst>
          </p:cNvPr>
          <p:cNvSpPr/>
          <p:nvPr/>
        </p:nvSpPr>
        <p:spPr>
          <a:xfrm>
            <a:off x="3894667" y="2087867"/>
            <a:ext cx="502920" cy="50292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700" b="1">
                <a:solidFill>
                  <a:schemeClr val="tx1"/>
                </a:solidFill>
                <a:latin typeface="Aptos" panose="02110004020202020204"/>
              </a:rPr>
              <a:t>Broker 3</a:t>
            </a:r>
          </a:p>
        </p:txBody>
      </p:sp>
      <p:sp>
        <p:nvSpPr>
          <p:cNvPr id="19" name="Rounded Rectangle 18">
            <a:extLst>
              <a:ext uri="{FF2B5EF4-FFF2-40B4-BE49-F238E27FC236}">
                <a16:creationId xmlns:a16="http://schemas.microsoft.com/office/drawing/2014/main" id="{1104B588-0183-F783-F5E8-E6EBADA89D50}"/>
              </a:ext>
            </a:extLst>
          </p:cNvPr>
          <p:cNvSpPr/>
          <p:nvPr/>
        </p:nvSpPr>
        <p:spPr>
          <a:xfrm>
            <a:off x="2672079" y="2773667"/>
            <a:ext cx="1737360" cy="73152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 Topics
cdc.* | jdbc.*</a:t>
            </a:r>
          </a:p>
        </p:txBody>
      </p:sp>
      <p:sp>
        <p:nvSpPr>
          <p:cNvPr id="20" name="Rounded Rectangle 19">
            <a:extLst>
              <a:ext uri="{FF2B5EF4-FFF2-40B4-BE49-F238E27FC236}">
                <a16:creationId xmlns:a16="http://schemas.microsoft.com/office/drawing/2014/main" id="{282F0B92-8E99-809C-F30D-B836FEDB83D7}"/>
              </a:ext>
            </a:extLst>
          </p:cNvPr>
          <p:cNvSpPr/>
          <p:nvPr/>
        </p:nvSpPr>
        <p:spPr>
          <a:xfrm>
            <a:off x="2523067" y="3962387"/>
            <a:ext cx="2011680" cy="10972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b="1">
              <a:solidFill>
                <a:schemeClr val="tx1"/>
              </a:solidFill>
              <a:latin typeface="Aptos" panose="02110004020202020204"/>
            </a:endParaRPr>
          </a:p>
        </p:txBody>
      </p:sp>
      <p:sp>
        <p:nvSpPr>
          <p:cNvPr id="21" name="TextBox 20">
            <a:extLst>
              <a:ext uri="{FF2B5EF4-FFF2-40B4-BE49-F238E27FC236}">
                <a16:creationId xmlns:a16="http://schemas.microsoft.com/office/drawing/2014/main" id="{E60A3902-37ED-E245-4C31-9F7AF5BA0FEE}"/>
              </a:ext>
            </a:extLst>
          </p:cNvPr>
          <p:cNvSpPr txBox="1"/>
          <p:nvPr/>
        </p:nvSpPr>
        <p:spPr>
          <a:xfrm>
            <a:off x="2614507" y="4008107"/>
            <a:ext cx="1828800" cy="246221"/>
          </a:xfrm>
          <a:prstGeom prst="rect">
            <a:avLst/>
          </a:prstGeom>
          <a:solidFill>
            <a:schemeClr val="accent1">
              <a:lumMod val="60000"/>
              <a:lumOff val="40000"/>
            </a:schemeClr>
          </a:solid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000" b="1" i="0" u="none" strike="noStrike" kern="1200" cap="none" spc="0" normalizeH="0" baseline="0" noProof="0" err="1">
                <a:ln>
                  <a:noFill/>
                </a:ln>
                <a:effectLst/>
                <a:uLnTx/>
                <a:uFillTx/>
                <a:latin typeface="Aptos" panose="02110004020202020204"/>
                <a:ea typeface="+mn-ea"/>
                <a:cs typeface="+mn-cs"/>
              </a:rPr>
              <a:t>KRaft</a:t>
            </a:r>
            <a:r>
              <a:rPr kumimoji="0" lang="en-AU" sz="1000" b="1" i="0" u="none" strike="noStrike" kern="1200" cap="none" spc="0" normalizeH="0" baseline="0" noProof="0">
                <a:ln>
                  <a:noFill/>
                </a:ln>
                <a:effectLst/>
                <a:uLnTx/>
                <a:uFillTx/>
                <a:latin typeface="Aptos" panose="02110004020202020204"/>
                <a:ea typeface="+mn-ea"/>
                <a:cs typeface="+mn-cs"/>
              </a:rPr>
              <a:t> Controllers</a:t>
            </a:r>
          </a:p>
        </p:txBody>
      </p:sp>
      <p:sp>
        <p:nvSpPr>
          <p:cNvPr id="22" name="Rounded Rectangle 21">
            <a:extLst>
              <a:ext uri="{FF2B5EF4-FFF2-40B4-BE49-F238E27FC236}">
                <a16:creationId xmlns:a16="http://schemas.microsoft.com/office/drawing/2014/main" id="{F24AC9CC-A40D-E245-48DF-CE4CA9168363}"/>
              </a:ext>
            </a:extLst>
          </p:cNvPr>
          <p:cNvSpPr/>
          <p:nvPr/>
        </p:nvSpPr>
        <p:spPr>
          <a:xfrm>
            <a:off x="2705947" y="4373867"/>
            <a:ext cx="502920" cy="45720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700" b="1">
                <a:solidFill>
                  <a:schemeClr val="tx1"/>
                </a:solidFill>
                <a:latin typeface="Aptos" panose="02110004020202020204"/>
              </a:rPr>
              <a:t>Ctrl 1</a:t>
            </a:r>
          </a:p>
        </p:txBody>
      </p:sp>
      <p:sp>
        <p:nvSpPr>
          <p:cNvPr id="23" name="Rounded Rectangle 22">
            <a:extLst>
              <a:ext uri="{FF2B5EF4-FFF2-40B4-BE49-F238E27FC236}">
                <a16:creationId xmlns:a16="http://schemas.microsoft.com/office/drawing/2014/main" id="{0C0BD7C8-6746-D484-6591-4510C3EC8FDA}"/>
              </a:ext>
            </a:extLst>
          </p:cNvPr>
          <p:cNvSpPr/>
          <p:nvPr/>
        </p:nvSpPr>
        <p:spPr>
          <a:xfrm>
            <a:off x="3300307" y="4373867"/>
            <a:ext cx="502920" cy="45720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700" b="1">
                <a:solidFill>
                  <a:schemeClr val="tx1"/>
                </a:solidFill>
                <a:latin typeface="Aptos" panose="02110004020202020204"/>
              </a:rPr>
              <a:t>Ctrl 2</a:t>
            </a:r>
          </a:p>
        </p:txBody>
      </p:sp>
      <p:sp>
        <p:nvSpPr>
          <p:cNvPr id="24" name="Rounded Rectangle 23">
            <a:extLst>
              <a:ext uri="{FF2B5EF4-FFF2-40B4-BE49-F238E27FC236}">
                <a16:creationId xmlns:a16="http://schemas.microsoft.com/office/drawing/2014/main" id="{F00C474E-9FEB-E1C8-FA89-3F42B4694CF8}"/>
              </a:ext>
            </a:extLst>
          </p:cNvPr>
          <p:cNvSpPr/>
          <p:nvPr/>
        </p:nvSpPr>
        <p:spPr>
          <a:xfrm>
            <a:off x="3894667" y="4373867"/>
            <a:ext cx="502920" cy="457200"/>
          </a:xfrm>
          <a:prstGeom prst="roundRect">
            <a:avLst/>
          </a:prstGeom>
          <a:solidFill>
            <a:schemeClr val="tx2">
              <a:lumMod val="10000"/>
              <a:lumOff val="9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700" b="1">
                <a:solidFill>
                  <a:schemeClr val="tx1"/>
                </a:solidFill>
                <a:latin typeface="Aptos" panose="02110004020202020204"/>
              </a:rPr>
              <a:t>Ctrl 3</a:t>
            </a:r>
          </a:p>
        </p:txBody>
      </p:sp>
      <p:sp>
        <p:nvSpPr>
          <p:cNvPr id="25" name="Rounded Rectangle 24">
            <a:extLst>
              <a:ext uri="{FF2B5EF4-FFF2-40B4-BE49-F238E27FC236}">
                <a16:creationId xmlns:a16="http://schemas.microsoft.com/office/drawing/2014/main" id="{F5251EAD-7188-5BF6-75C4-16BB33F63C11}"/>
              </a:ext>
            </a:extLst>
          </p:cNvPr>
          <p:cNvSpPr/>
          <p:nvPr/>
        </p:nvSpPr>
        <p:spPr>
          <a:xfrm>
            <a:off x="4900507" y="1630667"/>
            <a:ext cx="1097280" cy="109728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chemeClr val="tx1"/>
                </a:solidFill>
                <a:latin typeface="Aptos" panose="02110004020202020204"/>
              </a:rPr>
              <a:t>Kafka
Connect
(Sink)
─────
Snowflake
Connector</a:t>
            </a:r>
          </a:p>
        </p:txBody>
      </p:sp>
      <p:sp>
        <p:nvSpPr>
          <p:cNvPr id="26" name="Rounded Rectangle 25">
            <a:extLst>
              <a:ext uri="{FF2B5EF4-FFF2-40B4-BE49-F238E27FC236}">
                <a16:creationId xmlns:a16="http://schemas.microsoft.com/office/drawing/2014/main" id="{9B3DEE75-DDDC-9E53-818B-3D51533A80D7}"/>
              </a:ext>
            </a:extLst>
          </p:cNvPr>
          <p:cNvSpPr/>
          <p:nvPr/>
        </p:nvSpPr>
        <p:spPr>
          <a:xfrm>
            <a:off x="4900507" y="2956547"/>
            <a:ext cx="1097280" cy="73152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AU" sz="900" b="1">
                <a:solidFill>
                  <a:schemeClr val="tx1"/>
                </a:solidFill>
                <a:latin typeface="Aptos" panose="02110004020202020204"/>
              </a:rPr>
              <a:t> DLQ
Dead Letter
Queue</a:t>
            </a:r>
          </a:p>
        </p:txBody>
      </p:sp>
      <p:sp>
        <p:nvSpPr>
          <p:cNvPr id="27" name="Rounded Rectangle 26">
            <a:extLst>
              <a:ext uri="{FF2B5EF4-FFF2-40B4-BE49-F238E27FC236}">
                <a16:creationId xmlns:a16="http://schemas.microsoft.com/office/drawing/2014/main" id="{22683077-48FF-DB74-36BB-D6BCECEB8F00}"/>
              </a:ext>
            </a:extLst>
          </p:cNvPr>
          <p:cNvSpPr/>
          <p:nvPr/>
        </p:nvSpPr>
        <p:spPr>
          <a:xfrm>
            <a:off x="511387" y="5242547"/>
            <a:ext cx="5486400" cy="50292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chemeClr val="tx1"/>
                </a:solidFill>
                <a:effectLst/>
                <a:uLnTx/>
                <a:uFillTx/>
                <a:latin typeface="Aptos" panose="02110004020202020204"/>
                <a:ea typeface="+mn-ea"/>
                <a:cs typeface="+mn-cs"/>
              </a:rPr>
              <a:t>⚙️  Confluent for Kubernetes (CFK) Operator  —  Manages all Confluent components</a:t>
            </a:r>
          </a:p>
        </p:txBody>
      </p:sp>
      <p:sp>
        <p:nvSpPr>
          <p:cNvPr id="28" name="Rounded Rectangle 27">
            <a:extLst>
              <a:ext uri="{FF2B5EF4-FFF2-40B4-BE49-F238E27FC236}">
                <a16:creationId xmlns:a16="http://schemas.microsoft.com/office/drawing/2014/main" id="{D1631F91-8173-9424-85B5-9F8066AE7F71}"/>
              </a:ext>
            </a:extLst>
          </p:cNvPr>
          <p:cNvSpPr/>
          <p:nvPr/>
        </p:nvSpPr>
        <p:spPr>
          <a:xfrm>
            <a:off x="511387" y="4053827"/>
            <a:ext cx="1645920" cy="1005840"/>
          </a:xfrm>
          <a:prstGeom prst="roundRect">
            <a:avLst/>
          </a:prstGeom>
          <a:solidFill>
            <a:schemeClr val="accent1">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900" b="1">
              <a:solidFill>
                <a:schemeClr val="tx1"/>
              </a:solidFill>
              <a:latin typeface="Aptos" panose="02110004020202020204"/>
            </a:endParaRPr>
          </a:p>
        </p:txBody>
      </p:sp>
      <p:sp>
        <p:nvSpPr>
          <p:cNvPr id="29" name="TextBox 28">
            <a:extLst>
              <a:ext uri="{FF2B5EF4-FFF2-40B4-BE49-F238E27FC236}">
                <a16:creationId xmlns:a16="http://schemas.microsoft.com/office/drawing/2014/main" id="{687FAC41-D658-3383-974C-1FE2EBD43824}"/>
              </a:ext>
            </a:extLst>
          </p:cNvPr>
          <p:cNvSpPr txBox="1"/>
          <p:nvPr/>
        </p:nvSpPr>
        <p:spPr>
          <a:xfrm>
            <a:off x="602827" y="4255190"/>
            <a:ext cx="1463040" cy="646331"/>
          </a:xfrm>
          <a:prstGeom prst="rect">
            <a:avLst/>
          </a:prstGeom>
          <a:solidFill>
            <a:schemeClr val="accent1">
              <a:lumMod val="60000"/>
              <a:lumOff val="40000"/>
            </a:schemeClr>
          </a:solid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900" b="1" i="0" u="none" strike="noStrike" kern="1200" cap="none" spc="0" normalizeH="0" baseline="0" noProof="0">
                <a:ln>
                  <a:noFill/>
                </a:ln>
                <a:effectLst/>
                <a:uLnTx/>
                <a:uFillTx/>
                <a:latin typeface="Aptos" panose="02110004020202020204"/>
                <a:ea typeface="+mn-ea"/>
                <a:cs typeface="+mn-cs"/>
              </a:rPr>
              <a:t>Monitoring
Prometheus
Grafana
Control </a:t>
            </a:r>
            <a:r>
              <a:rPr kumimoji="0" lang="en-AU" sz="900" b="1" i="0" u="none" strike="noStrike" kern="1200" cap="none" spc="0" normalizeH="0" baseline="0" noProof="0" err="1">
                <a:ln>
                  <a:noFill/>
                </a:ln>
                <a:effectLst/>
                <a:uLnTx/>
                <a:uFillTx/>
                <a:latin typeface="Aptos" panose="02110004020202020204"/>
                <a:ea typeface="+mn-ea"/>
                <a:cs typeface="+mn-cs"/>
              </a:rPr>
              <a:t>Center</a:t>
            </a:r>
            <a:endParaRPr kumimoji="0" lang="en-AU" sz="900" b="1" i="0" u="none" strike="noStrike" kern="1200" cap="none" spc="0" normalizeH="0" baseline="0" noProof="0">
              <a:ln>
                <a:noFill/>
              </a:ln>
              <a:effectLst/>
              <a:uLnTx/>
              <a:uFillTx/>
              <a:latin typeface="Aptos" panose="02110004020202020204"/>
              <a:ea typeface="+mn-ea"/>
              <a:cs typeface="+mn-cs"/>
            </a:endParaRPr>
          </a:p>
        </p:txBody>
      </p:sp>
      <p:cxnSp>
        <p:nvCxnSpPr>
          <p:cNvPr id="41" name="Connector 40">
            <a:extLst>
              <a:ext uri="{FF2B5EF4-FFF2-40B4-BE49-F238E27FC236}">
                <a16:creationId xmlns:a16="http://schemas.microsoft.com/office/drawing/2014/main" id="{D7666628-F235-414F-E765-4BAF867E20F5}"/>
              </a:ext>
            </a:extLst>
          </p:cNvPr>
          <p:cNvCxnSpPr>
            <a:cxnSpLocks/>
          </p:cNvCxnSpPr>
          <p:nvPr/>
        </p:nvCxnSpPr>
        <p:spPr>
          <a:xfrm>
            <a:off x="2157307" y="2202167"/>
            <a:ext cx="36576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Connector 41">
            <a:extLst>
              <a:ext uri="{FF2B5EF4-FFF2-40B4-BE49-F238E27FC236}">
                <a16:creationId xmlns:a16="http://schemas.microsoft.com/office/drawing/2014/main" id="{C908B152-7D34-CDBA-7B6B-1AF1ECFF6A4C}"/>
              </a:ext>
            </a:extLst>
          </p:cNvPr>
          <p:cNvCxnSpPr/>
          <p:nvPr/>
        </p:nvCxnSpPr>
        <p:spPr>
          <a:xfrm>
            <a:off x="1334347" y="2727947"/>
            <a:ext cx="0" cy="2286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Connector 42">
            <a:extLst>
              <a:ext uri="{FF2B5EF4-FFF2-40B4-BE49-F238E27FC236}">
                <a16:creationId xmlns:a16="http://schemas.microsoft.com/office/drawing/2014/main" id="{3C1B6F5B-7039-2A3B-259C-F98C2AB239BE}"/>
              </a:ext>
            </a:extLst>
          </p:cNvPr>
          <p:cNvCxnSpPr>
            <a:cxnSpLocks/>
          </p:cNvCxnSpPr>
          <p:nvPr/>
        </p:nvCxnSpPr>
        <p:spPr>
          <a:xfrm>
            <a:off x="4534747" y="2179307"/>
            <a:ext cx="36576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Connector 43">
            <a:extLst>
              <a:ext uri="{FF2B5EF4-FFF2-40B4-BE49-F238E27FC236}">
                <a16:creationId xmlns:a16="http://schemas.microsoft.com/office/drawing/2014/main" id="{6EB83E61-FA86-A14F-C2FC-F81B701E7104}"/>
              </a:ext>
            </a:extLst>
          </p:cNvPr>
          <p:cNvCxnSpPr/>
          <p:nvPr/>
        </p:nvCxnSpPr>
        <p:spPr>
          <a:xfrm>
            <a:off x="5449146" y="2727947"/>
            <a:ext cx="0" cy="2286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A21851D9-8065-535E-1844-3253120E9BA3}"/>
              </a:ext>
            </a:extLst>
          </p:cNvPr>
          <p:cNvSpPr txBox="1"/>
          <p:nvPr/>
        </p:nvSpPr>
        <p:spPr>
          <a:xfrm>
            <a:off x="2089573" y="1996428"/>
            <a:ext cx="457200" cy="200055"/>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effectLst/>
                <a:uLnTx/>
                <a:uFillTx/>
                <a:latin typeface="Aptos" panose="02110004020202020204"/>
                <a:ea typeface="+mn-ea"/>
                <a:cs typeface="+mn-cs"/>
              </a:rPr>
              <a:t>Avro</a:t>
            </a:r>
          </a:p>
        </p:txBody>
      </p:sp>
      <p:sp>
        <p:nvSpPr>
          <p:cNvPr id="48" name="TextBox 47">
            <a:extLst>
              <a:ext uri="{FF2B5EF4-FFF2-40B4-BE49-F238E27FC236}">
                <a16:creationId xmlns:a16="http://schemas.microsoft.com/office/drawing/2014/main" id="{A86C57CC-2DD4-AF31-89AF-2CC69489F042}"/>
              </a:ext>
            </a:extLst>
          </p:cNvPr>
          <p:cNvSpPr txBox="1"/>
          <p:nvPr/>
        </p:nvSpPr>
        <p:spPr>
          <a:xfrm>
            <a:off x="4489027" y="1945629"/>
            <a:ext cx="457200" cy="200055"/>
          </a:xfrm>
          <a:prstGeom prst="rect">
            <a:avLst/>
          </a:prstGeom>
          <a:noFill/>
          <a:ln>
            <a:no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effectLst/>
                <a:uLnTx/>
                <a:uFillTx/>
                <a:latin typeface="Aptos" panose="02110004020202020204"/>
                <a:ea typeface="+mn-ea"/>
                <a:cs typeface="+mn-cs"/>
              </a:rPr>
              <a:t>Avro</a:t>
            </a:r>
          </a:p>
        </p:txBody>
      </p:sp>
      <p:sp>
        <p:nvSpPr>
          <p:cNvPr id="50" name="TextBox 49">
            <a:extLst>
              <a:ext uri="{FF2B5EF4-FFF2-40B4-BE49-F238E27FC236}">
                <a16:creationId xmlns:a16="http://schemas.microsoft.com/office/drawing/2014/main" id="{844B73AC-C02E-2B85-9483-B480977985FC}"/>
              </a:ext>
            </a:extLst>
          </p:cNvPr>
          <p:cNvSpPr txBox="1"/>
          <p:nvPr/>
        </p:nvSpPr>
        <p:spPr>
          <a:xfrm>
            <a:off x="3476413" y="3733787"/>
            <a:ext cx="731520" cy="200055"/>
          </a:xfrm>
          <a:prstGeom prst="rect">
            <a:avLst/>
          </a:prstGeom>
          <a:solidFill>
            <a:schemeClr val="accent1">
              <a:lumMod val="60000"/>
              <a:lumOff val="40000"/>
            </a:schemeClr>
          </a:solidFill>
          <a:ln>
            <a:solidFill>
              <a:schemeClr val="tx1"/>
            </a:solid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700" b="0" i="0" u="none" strike="noStrike" kern="1200" cap="none" spc="0" normalizeH="0" baseline="0" noProof="0">
                <a:ln>
                  <a:noFill/>
                </a:ln>
                <a:effectLst/>
                <a:uLnTx/>
                <a:uFillTx/>
                <a:latin typeface="Aptos" panose="02110004020202020204"/>
                <a:ea typeface="+mn-ea"/>
                <a:cs typeface="+mn-cs"/>
              </a:rPr>
              <a:t>Quorum</a:t>
            </a:r>
          </a:p>
        </p:txBody>
      </p:sp>
      <p:cxnSp>
        <p:nvCxnSpPr>
          <p:cNvPr id="51" name="Connector 50">
            <a:extLst>
              <a:ext uri="{FF2B5EF4-FFF2-40B4-BE49-F238E27FC236}">
                <a16:creationId xmlns:a16="http://schemas.microsoft.com/office/drawing/2014/main" id="{EB1C07F1-6612-5190-20D0-A28D0F9300AD}"/>
              </a:ext>
            </a:extLst>
          </p:cNvPr>
          <p:cNvCxnSpPr/>
          <p:nvPr/>
        </p:nvCxnSpPr>
        <p:spPr>
          <a:xfrm>
            <a:off x="3528907" y="3688066"/>
            <a:ext cx="0" cy="27432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7" name="Star: 5 Points 36">
            <a:extLst>
              <a:ext uri="{FF2B5EF4-FFF2-40B4-BE49-F238E27FC236}">
                <a16:creationId xmlns:a16="http://schemas.microsoft.com/office/drawing/2014/main" id="{82AACC63-A7AF-C493-E3D6-B9EF371B3452}"/>
              </a:ext>
            </a:extLst>
          </p:cNvPr>
          <p:cNvSpPr/>
          <p:nvPr/>
        </p:nvSpPr>
        <p:spPr>
          <a:xfrm>
            <a:off x="5237479" y="705092"/>
            <a:ext cx="423334" cy="365760"/>
          </a:xfrm>
          <a:prstGeom prst="star5">
            <a:avLst/>
          </a:prstGeom>
          <a:solidFill>
            <a:schemeClr val="accent5">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 name="Star: 5 Points 37">
            <a:extLst>
              <a:ext uri="{FF2B5EF4-FFF2-40B4-BE49-F238E27FC236}">
                <a16:creationId xmlns:a16="http://schemas.microsoft.com/office/drawing/2014/main" id="{5D16C4FB-8CAF-F002-157C-DE7317E1FC73}"/>
              </a:ext>
            </a:extLst>
          </p:cNvPr>
          <p:cNvSpPr/>
          <p:nvPr/>
        </p:nvSpPr>
        <p:spPr>
          <a:xfrm>
            <a:off x="140548" y="214879"/>
            <a:ext cx="423334" cy="365760"/>
          </a:xfrm>
          <a:prstGeom prst="star5">
            <a:avLst/>
          </a:prstGeom>
          <a:solidFill>
            <a:schemeClr val="accent5">
              <a:lumMod val="40000"/>
              <a:lumOff val="60000"/>
            </a:schemeClr>
          </a:solidFill>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TextBox 38">
            <a:extLst>
              <a:ext uri="{FF2B5EF4-FFF2-40B4-BE49-F238E27FC236}">
                <a16:creationId xmlns:a16="http://schemas.microsoft.com/office/drawing/2014/main" id="{71B83846-C9B4-4D82-F6A0-C7687CE2E95D}"/>
              </a:ext>
            </a:extLst>
          </p:cNvPr>
          <p:cNvSpPr txBox="1"/>
          <p:nvPr/>
        </p:nvSpPr>
        <p:spPr>
          <a:xfrm>
            <a:off x="6439746" y="182880"/>
            <a:ext cx="5632029" cy="6555641"/>
          </a:xfrm>
          <a:prstGeom prst="rect">
            <a:avLst/>
          </a:prstGeom>
          <a:noFill/>
          <a:ln>
            <a:solidFill>
              <a:schemeClr val="tx1"/>
            </a:solid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Aptos" panose="02110004020202020204"/>
                <a:ea typeface="+mn-ea"/>
                <a:cs typeface="+mn-cs"/>
              </a:rPr>
              <a:t>☸ AKS CLUSTER  —  Confluent Platform (Self-Managed)</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a:ln>
                  <a:noFill/>
                </a:ln>
                <a:effectLst/>
                <a:uLnTx/>
                <a:uFillTx/>
                <a:latin typeface="Aptos" panose="02110004020202020204"/>
                <a:ea typeface="+mn-ea"/>
                <a:cs typeface="+mn-cs"/>
              </a:rPr>
              <a:t>Self‑managed Confluent Kafka on AKS, Sydney region, 3 brokers, multi‑AZ, ~50 TPS)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a:ln>
                  <a:noFill/>
                </a:ln>
                <a:effectLst/>
                <a:uLnTx/>
                <a:uFillTx/>
                <a:latin typeface="Aptos" panose="02110004020202020204"/>
                <a:ea typeface="+mn-ea"/>
                <a:cs typeface="+mn-cs"/>
              </a:rPr>
              <a:t>Ingress = 35 </a:t>
            </a:r>
            <a:r>
              <a:rPr kumimoji="0" lang="en-AU" sz="900" b="0" i="0" u="none" strike="noStrike" kern="1200" cap="none" spc="0" normalizeH="0" baseline="0" noProof="0" err="1">
                <a:ln>
                  <a:noFill/>
                </a:ln>
                <a:effectLst/>
                <a:uLnTx/>
                <a:uFillTx/>
                <a:latin typeface="Aptos" panose="02110004020202020204"/>
                <a:ea typeface="+mn-ea"/>
                <a:cs typeface="+mn-cs"/>
              </a:rPr>
              <a:t>msgs</a:t>
            </a:r>
            <a:r>
              <a:rPr kumimoji="0" lang="en-AU" sz="900" b="0" i="0" u="none" strike="noStrike" kern="1200" cap="none" spc="0" normalizeH="0" baseline="0" noProof="0">
                <a:ln>
                  <a:noFill/>
                </a:ln>
                <a:effectLst/>
                <a:uLnTx/>
                <a:uFillTx/>
                <a:latin typeface="Aptos" panose="02110004020202020204"/>
                <a:ea typeface="+mn-ea"/>
                <a:cs typeface="+mn-cs"/>
              </a:rPr>
              <a:t>/sec * 50 KB ≈ 1750 KB/sec With RF=3 → write amplification ≈ 5250 KB/sec</a:t>
            </a: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a:ln>
                  <a:noFill/>
                </a:ln>
                <a:effectLst/>
                <a:uLnTx/>
                <a:uFillTx/>
                <a:latin typeface="Aptos" panose="02110004020202020204"/>
                <a:ea typeface="+mn-ea"/>
                <a:cs typeface="+mn-cs"/>
              </a:rPr>
              <a:t>Per-broker sizing</a:t>
            </a: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a:ln>
                  <a:noFill/>
                </a:ln>
                <a:effectLst/>
                <a:uLnTx/>
                <a:uFillTx/>
                <a:latin typeface="Aptos" panose="02110004020202020204"/>
                <a:ea typeface="+mn-ea"/>
                <a:cs typeface="+mn-cs"/>
              </a:rPr>
              <a:t>Storage = throughput × retention × replication (100 GB per broker)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panose="02110004020202020204"/>
                <a:ea typeface="+mn-ea"/>
                <a:cs typeface="+mn-cs"/>
              </a:rPr>
              <a:t>Daily data ≈ 1750 KB/s × 86400 </a:t>
            </a:r>
            <a:br>
              <a:rPr kumimoji="0" lang="en-AU" sz="900" b="0" i="0" u="none" strike="noStrike" kern="1200" cap="none" spc="0" normalizeH="0" baseline="0" noProof="0">
                <a:ln>
                  <a:noFill/>
                </a:ln>
                <a:effectLst/>
                <a:uLnTx/>
                <a:uFillTx/>
                <a:latin typeface="Aptos" panose="02110004020202020204"/>
                <a:ea typeface="+mn-ea"/>
                <a:cs typeface="+mn-cs"/>
              </a:rPr>
            </a:br>
            <a:r>
              <a:rPr kumimoji="0" lang="en-AU" sz="900" b="0" i="0" u="none" strike="noStrike" kern="1200" cap="none" spc="0" normalizeH="0" baseline="0" noProof="0">
                <a:ln>
                  <a:noFill/>
                </a:ln>
                <a:effectLst/>
                <a:uLnTx/>
                <a:uFillTx/>
                <a:latin typeface="Aptos" panose="02110004020202020204"/>
                <a:ea typeface="+mn-ea"/>
                <a:cs typeface="+mn-cs"/>
              </a:rPr>
              <a:t>≈ 150 GB/day 7 days </a:t>
            </a:r>
            <a:br>
              <a:rPr kumimoji="0" lang="en-AU" sz="900" b="0" i="0" u="none" strike="noStrike" kern="1200" cap="none" spc="0" normalizeH="0" baseline="0" noProof="0">
                <a:ln>
                  <a:noFill/>
                </a:ln>
                <a:effectLst/>
                <a:uLnTx/>
                <a:uFillTx/>
                <a:latin typeface="Aptos" panose="02110004020202020204"/>
                <a:ea typeface="+mn-ea"/>
                <a:cs typeface="+mn-cs"/>
              </a:rPr>
            </a:br>
            <a:r>
              <a:rPr kumimoji="0" lang="en-AU" sz="900" b="0" i="0" u="none" strike="noStrike" kern="1200" cap="none" spc="0" normalizeH="0" baseline="0" noProof="0">
                <a:ln>
                  <a:noFill/>
                </a:ln>
                <a:effectLst/>
                <a:uLnTx/>
                <a:uFillTx/>
                <a:latin typeface="Aptos" panose="02110004020202020204"/>
                <a:ea typeface="+mn-ea"/>
                <a:cs typeface="+mn-cs"/>
              </a:rPr>
              <a:t>= ~150 GB With RF=3 → ~450 GB </a:t>
            </a:r>
            <a:br>
              <a:rPr kumimoji="0" lang="en-AU" sz="900" b="0" i="0" u="none" strike="noStrike" kern="1200" cap="none" spc="0" normalizeH="0" baseline="0" noProof="0">
                <a:ln>
                  <a:noFill/>
                </a:ln>
                <a:effectLst/>
                <a:uLnTx/>
                <a:uFillTx/>
                <a:latin typeface="Aptos" panose="02110004020202020204"/>
                <a:ea typeface="+mn-ea"/>
                <a:cs typeface="+mn-cs"/>
              </a:rPr>
            </a:br>
            <a:r>
              <a:rPr kumimoji="0" lang="en-AU" sz="900" b="0" i="0" u="none" strike="noStrike" kern="1200" cap="none" spc="0" normalizeH="0" baseline="0" noProof="0">
                <a:ln>
                  <a:noFill/>
                </a:ln>
                <a:effectLst/>
                <a:uLnTx/>
                <a:uFillTx/>
                <a:latin typeface="Aptos" panose="02110004020202020204"/>
                <a:ea typeface="+mn-ea"/>
                <a:cs typeface="+mn-cs"/>
              </a:rPr>
              <a:t>total cluster Per broker = ~150 GB +20% buffer → ~180 GB/broker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900" b="0" i="0" u="none" strike="noStrike" kern="1200" cap="none" spc="0" normalizeH="0" baseline="0" noProof="0">
                <a:ln>
                  <a:noFill/>
                </a:ln>
                <a:effectLst/>
                <a:uLnTx/>
                <a:uFillTx/>
                <a:latin typeface="Aptos" panose="02110004020202020204"/>
                <a:ea typeface="+mn-ea"/>
                <a:cs typeface="+mn-cs"/>
              </a:rPr>
              <a:t>AKS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sng" strike="noStrike" kern="1200" cap="none" spc="0" normalizeH="0" baseline="0" noProof="0">
                <a:ln>
                  <a:noFill/>
                </a:ln>
                <a:effectLst/>
                <a:uLnTx/>
                <a:uFillTx/>
                <a:latin typeface="Aptos" panose="02110004020202020204"/>
                <a:ea typeface="+mn-ea"/>
                <a:cs typeface="+mn-cs"/>
              </a:rPr>
              <a:t>Cluster design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panose="02110004020202020204"/>
                <a:ea typeface="+mn-ea"/>
                <a:cs typeface="+mn-cs"/>
              </a:rPr>
              <a:t>Brokers: 3</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panose="02110004020202020204"/>
                <a:ea typeface="+mn-ea"/>
                <a:cs typeface="+mn-cs"/>
              </a:rPr>
              <a:t>AZ: 3 (Sydney zones)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panose="02110004020202020204"/>
                <a:ea typeface="+mn-ea"/>
                <a:cs typeface="+mn-cs"/>
              </a:rPr>
              <a:t>Replication factor: 3</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panose="02110004020202020204"/>
                <a:ea typeface="+mn-ea"/>
                <a:cs typeface="+mn-cs"/>
              </a:rPr>
              <a:t>Partitions: 3–6 per topic</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900" b="0" i="0" u="none" strike="noStrike" kern="1200" cap="none" spc="0" normalizeH="0" baseline="0" noProof="0">
              <a:ln>
                <a:noFill/>
              </a:ln>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sng" strike="noStrike" kern="1200" cap="none" spc="0" normalizeH="0" baseline="0" noProof="0">
                <a:ln>
                  <a:noFill/>
                </a:ln>
                <a:effectLst/>
                <a:uLnTx/>
                <a:uFillTx/>
                <a:latin typeface="Aptos" panose="02110004020202020204"/>
                <a:ea typeface="+mn-ea"/>
                <a:cs typeface="+mn-cs"/>
              </a:rPr>
              <a:t>Per broker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panose="02110004020202020204"/>
                <a:ea typeface="+mn-ea"/>
                <a:cs typeface="+mn-cs"/>
              </a:rPr>
              <a:t>4 vCPU</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panose="02110004020202020204"/>
                <a:ea typeface="+mn-ea"/>
                <a:cs typeface="+mn-cs"/>
              </a:rPr>
              <a:t>8–16 GB RAM</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panose="02110004020202020204"/>
                <a:ea typeface="+mn-ea"/>
                <a:cs typeface="+mn-cs"/>
              </a:rPr>
              <a:t>100–200 GB Premium SSD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900" b="0" i="0" u="none" strike="noStrike" kern="1200" cap="none" spc="0" normalizeH="0" baseline="0" noProof="0">
                <a:ln>
                  <a:noFill/>
                </a:ln>
                <a:effectLst/>
                <a:uLnTx/>
                <a:uFillTx/>
                <a:latin typeface="Aptos" panose="02110004020202020204"/>
                <a:ea typeface="+mn-ea"/>
                <a:cs typeface="+mn-cs"/>
              </a:rPr>
              <a:t>1 pod per node</a:t>
            </a:r>
          </a:p>
        </p:txBody>
      </p:sp>
      <p:graphicFrame>
        <p:nvGraphicFramePr>
          <p:cNvPr id="54" name="Table 53">
            <a:extLst>
              <a:ext uri="{FF2B5EF4-FFF2-40B4-BE49-F238E27FC236}">
                <a16:creationId xmlns:a16="http://schemas.microsoft.com/office/drawing/2014/main" id="{DBCB6329-7EEE-3901-6313-A912944AB8F3}"/>
              </a:ext>
            </a:extLst>
          </p:cNvPr>
          <p:cNvGraphicFramePr>
            <a:graphicFrameLocks noGrp="1"/>
          </p:cNvGraphicFramePr>
          <p:nvPr>
            <p:extLst>
              <p:ext uri="{D42A27DB-BD31-4B8C-83A1-F6EECF244321}">
                <p14:modId xmlns:p14="http://schemas.microsoft.com/office/powerpoint/2010/main" val="1680713581"/>
              </p:ext>
            </p:extLst>
          </p:nvPr>
        </p:nvGraphicFramePr>
        <p:xfrm>
          <a:off x="6775027" y="862518"/>
          <a:ext cx="3056468" cy="1241250"/>
        </p:xfrm>
        <a:graphic>
          <a:graphicData uri="http://schemas.openxmlformats.org/drawingml/2006/table">
            <a:tbl>
              <a:tblPr/>
              <a:tblGrid>
                <a:gridCol w="1528234">
                  <a:extLst>
                    <a:ext uri="{9D8B030D-6E8A-4147-A177-3AD203B41FA5}">
                      <a16:colId xmlns:a16="http://schemas.microsoft.com/office/drawing/2014/main" val="671416576"/>
                    </a:ext>
                  </a:extLst>
                </a:gridCol>
                <a:gridCol w="1528234">
                  <a:extLst>
                    <a:ext uri="{9D8B030D-6E8A-4147-A177-3AD203B41FA5}">
                      <a16:colId xmlns:a16="http://schemas.microsoft.com/office/drawing/2014/main" val="2973161276"/>
                    </a:ext>
                  </a:extLst>
                </a:gridCol>
              </a:tblGrid>
              <a:tr h="248250">
                <a:tc>
                  <a:txBody>
                    <a:bodyPr/>
                    <a:lstStyle/>
                    <a:p>
                      <a:pPr>
                        <a:buNone/>
                      </a:pPr>
                      <a:r>
                        <a:rPr lang="en-AU" sz="900">
                          <a:solidFill>
                            <a:schemeClr val="bg1"/>
                          </a:solidFill>
                          <a:effectLst/>
                        </a:rPr>
                        <a:t>Parameter</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90000"/>
                        <a:lumOff val="10000"/>
                      </a:schemeClr>
                    </a:solidFill>
                  </a:tcPr>
                </a:tc>
                <a:tc>
                  <a:txBody>
                    <a:bodyPr/>
                    <a:lstStyle/>
                    <a:p>
                      <a:pPr>
                        <a:buNone/>
                      </a:pPr>
                      <a:r>
                        <a:rPr lang="en-AU" sz="900">
                          <a:solidFill>
                            <a:schemeClr val="bg1"/>
                          </a:solidFill>
                          <a:effectLst/>
                        </a:rPr>
                        <a:t>Assumption</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90000"/>
                        <a:lumOff val="10000"/>
                      </a:schemeClr>
                    </a:solidFill>
                  </a:tcPr>
                </a:tc>
                <a:extLst>
                  <a:ext uri="{0D108BD9-81ED-4DB2-BD59-A6C34878D82A}">
                    <a16:rowId xmlns:a16="http://schemas.microsoft.com/office/drawing/2014/main" val="347801918"/>
                  </a:ext>
                </a:extLst>
              </a:tr>
              <a:tr h="248250">
                <a:tc>
                  <a:txBody>
                    <a:bodyPr/>
                    <a:lstStyle/>
                    <a:p>
                      <a:pPr>
                        <a:buNone/>
                      </a:pPr>
                      <a:r>
                        <a:rPr lang="en-AU" sz="900">
                          <a:effectLst/>
                        </a:rPr>
                        <a:t>Message size</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tc>
                  <a:txBody>
                    <a:bodyPr/>
                    <a:lstStyle/>
                    <a:p>
                      <a:pPr>
                        <a:buNone/>
                      </a:pPr>
                      <a:r>
                        <a:rPr lang="en-AU" sz="900">
                          <a:effectLst/>
                        </a:rPr>
                        <a:t>50 KB (small events)</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002301471"/>
                  </a:ext>
                </a:extLst>
              </a:tr>
              <a:tr h="248250">
                <a:tc>
                  <a:txBody>
                    <a:bodyPr/>
                    <a:lstStyle/>
                    <a:p>
                      <a:pPr>
                        <a:buNone/>
                      </a:pPr>
                      <a:r>
                        <a:rPr lang="en-AU" sz="900">
                          <a:effectLst/>
                        </a:rPr>
                        <a:t>TPS</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tc>
                  <a:txBody>
                    <a:bodyPr/>
                    <a:lstStyle/>
                    <a:p>
                      <a:pPr>
                        <a:buNone/>
                      </a:pPr>
                      <a:r>
                        <a:rPr lang="en-AU" sz="900">
                          <a:effectLst/>
                        </a:rPr>
                        <a:t>35 </a:t>
                      </a:r>
                      <a:r>
                        <a:rPr lang="en-AU" sz="900" err="1">
                          <a:effectLst/>
                        </a:rPr>
                        <a:t>msgs</a:t>
                      </a:r>
                      <a:r>
                        <a:rPr lang="en-AU" sz="900">
                          <a:effectLst/>
                        </a:rPr>
                        <a:t>/sec</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236754172"/>
                  </a:ext>
                </a:extLst>
              </a:tr>
              <a:tr h="248250">
                <a:tc>
                  <a:txBody>
                    <a:bodyPr/>
                    <a:lstStyle/>
                    <a:p>
                      <a:pPr>
                        <a:buNone/>
                      </a:pPr>
                      <a:r>
                        <a:rPr lang="en-AU" sz="900">
                          <a:effectLst/>
                        </a:rPr>
                        <a:t>Replication factor</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tc>
                  <a:txBody>
                    <a:bodyPr/>
                    <a:lstStyle/>
                    <a:p>
                      <a:pPr>
                        <a:buNone/>
                      </a:pPr>
                      <a:r>
                        <a:rPr lang="en-AU" sz="900">
                          <a:effectLst/>
                        </a:rPr>
                        <a:t>3 (required for multi‑AZ)</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949137317"/>
                  </a:ext>
                </a:extLst>
              </a:tr>
              <a:tr h="248250">
                <a:tc>
                  <a:txBody>
                    <a:bodyPr/>
                    <a:lstStyle/>
                    <a:p>
                      <a:pPr>
                        <a:buNone/>
                      </a:pPr>
                      <a:r>
                        <a:rPr lang="en-AU" sz="900">
                          <a:effectLst/>
                        </a:rPr>
                        <a:t>Retention</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tc>
                  <a:txBody>
                    <a:bodyPr/>
                    <a:lstStyle/>
                    <a:p>
                      <a:pPr>
                        <a:buNone/>
                      </a:pPr>
                      <a:r>
                        <a:rPr lang="en-AU" sz="900">
                          <a:effectLst/>
                        </a:rPr>
                        <a:t>3–7 days</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013006250"/>
                  </a:ext>
                </a:extLst>
              </a:tr>
            </a:tbl>
          </a:graphicData>
        </a:graphic>
      </p:graphicFrame>
      <p:graphicFrame>
        <p:nvGraphicFramePr>
          <p:cNvPr id="55" name="Table 54">
            <a:extLst>
              <a:ext uri="{FF2B5EF4-FFF2-40B4-BE49-F238E27FC236}">
                <a16:creationId xmlns:a16="http://schemas.microsoft.com/office/drawing/2014/main" id="{327A5AF2-487D-F303-FD7B-75DAB0F83546}"/>
              </a:ext>
            </a:extLst>
          </p:cNvPr>
          <p:cNvGraphicFramePr>
            <a:graphicFrameLocks noGrp="1"/>
          </p:cNvGraphicFramePr>
          <p:nvPr>
            <p:extLst>
              <p:ext uri="{D42A27DB-BD31-4B8C-83A1-F6EECF244321}">
                <p14:modId xmlns:p14="http://schemas.microsoft.com/office/powerpoint/2010/main" val="2674620574"/>
              </p:ext>
            </p:extLst>
          </p:nvPr>
        </p:nvGraphicFramePr>
        <p:xfrm>
          <a:off x="6812281" y="2727947"/>
          <a:ext cx="3513668" cy="1143000"/>
        </p:xfrm>
        <a:graphic>
          <a:graphicData uri="http://schemas.openxmlformats.org/drawingml/2006/table">
            <a:tbl>
              <a:tblPr/>
              <a:tblGrid>
                <a:gridCol w="846784">
                  <a:extLst>
                    <a:ext uri="{9D8B030D-6E8A-4147-A177-3AD203B41FA5}">
                      <a16:colId xmlns:a16="http://schemas.microsoft.com/office/drawing/2014/main" val="1305918863"/>
                    </a:ext>
                  </a:extLst>
                </a:gridCol>
                <a:gridCol w="2666884">
                  <a:extLst>
                    <a:ext uri="{9D8B030D-6E8A-4147-A177-3AD203B41FA5}">
                      <a16:colId xmlns:a16="http://schemas.microsoft.com/office/drawing/2014/main" val="2816628282"/>
                    </a:ext>
                  </a:extLst>
                </a:gridCol>
              </a:tblGrid>
              <a:tr h="0">
                <a:tc>
                  <a:txBody>
                    <a:bodyPr/>
                    <a:lstStyle/>
                    <a:p>
                      <a:pPr>
                        <a:buNone/>
                      </a:pPr>
                      <a:r>
                        <a:rPr lang="en-AU" sz="900">
                          <a:solidFill>
                            <a:schemeClr val="bg1"/>
                          </a:solidFill>
                          <a:effectLst/>
                        </a:rPr>
                        <a:t>Resource</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90000"/>
                        <a:lumOff val="10000"/>
                      </a:schemeClr>
                    </a:solidFill>
                  </a:tcPr>
                </a:tc>
                <a:tc>
                  <a:txBody>
                    <a:bodyPr/>
                    <a:lstStyle/>
                    <a:p>
                      <a:pPr>
                        <a:buNone/>
                      </a:pPr>
                      <a:r>
                        <a:rPr lang="en-AU" sz="900">
                          <a:solidFill>
                            <a:schemeClr val="bg1"/>
                          </a:solidFill>
                          <a:effectLst/>
                        </a:rPr>
                        <a:t>Recommendation</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90000"/>
                        <a:lumOff val="10000"/>
                      </a:schemeClr>
                    </a:solidFill>
                  </a:tcPr>
                </a:tc>
                <a:extLst>
                  <a:ext uri="{0D108BD9-81ED-4DB2-BD59-A6C34878D82A}">
                    <a16:rowId xmlns:a16="http://schemas.microsoft.com/office/drawing/2014/main" val="626903515"/>
                  </a:ext>
                </a:extLst>
              </a:tr>
              <a:tr h="0">
                <a:tc>
                  <a:txBody>
                    <a:bodyPr/>
                    <a:lstStyle/>
                    <a:p>
                      <a:pPr>
                        <a:buNone/>
                      </a:pPr>
                      <a:r>
                        <a:rPr lang="en-AU" sz="900">
                          <a:effectLst/>
                        </a:rPr>
                        <a:t>vCPU</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tc>
                  <a:txBody>
                    <a:bodyPr/>
                    <a:lstStyle/>
                    <a:p>
                      <a:pPr>
                        <a:buNone/>
                      </a:pPr>
                      <a:r>
                        <a:rPr lang="en-AU" sz="900">
                          <a:effectLst/>
                        </a:rPr>
                        <a:t>4 cores</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375630624"/>
                  </a:ext>
                </a:extLst>
              </a:tr>
              <a:tr h="0">
                <a:tc>
                  <a:txBody>
                    <a:bodyPr/>
                    <a:lstStyle/>
                    <a:p>
                      <a:pPr>
                        <a:buNone/>
                      </a:pPr>
                      <a:r>
                        <a:rPr lang="en-AU" sz="900">
                          <a:effectLst/>
                        </a:rPr>
                        <a:t>Memory</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tc>
                  <a:txBody>
                    <a:bodyPr/>
                    <a:lstStyle/>
                    <a:p>
                      <a:pPr>
                        <a:buNone/>
                      </a:pPr>
                      <a:r>
                        <a:rPr lang="en-AU" sz="900">
                          <a:effectLst/>
                        </a:rPr>
                        <a:t>8–16 GB</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933094382"/>
                  </a:ext>
                </a:extLst>
              </a:tr>
              <a:tr h="0">
                <a:tc>
                  <a:txBody>
                    <a:bodyPr/>
                    <a:lstStyle/>
                    <a:p>
                      <a:pPr>
                        <a:buNone/>
                      </a:pPr>
                      <a:r>
                        <a:rPr lang="en-AU" sz="900">
                          <a:effectLst/>
                        </a:rPr>
                        <a:t>Disk</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tc>
                  <a:txBody>
                    <a:bodyPr/>
                    <a:lstStyle/>
                    <a:p>
                      <a:pPr>
                        <a:buNone/>
                      </a:pPr>
                      <a:r>
                        <a:rPr lang="en-AU" sz="900">
                          <a:effectLst/>
                        </a:rPr>
                        <a:t>100–200 GB SSD (Premium SSD / Managed disk)</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928712775"/>
                  </a:ext>
                </a:extLst>
              </a:tr>
              <a:tr h="0">
                <a:tc>
                  <a:txBody>
                    <a:bodyPr/>
                    <a:lstStyle/>
                    <a:p>
                      <a:pPr>
                        <a:buNone/>
                      </a:pPr>
                      <a:r>
                        <a:rPr lang="en-AU" sz="900">
                          <a:effectLst/>
                        </a:rPr>
                        <a:t>NIC</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tc>
                  <a:txBody>
                    <a:bodyPr/>
                    <a:lstStyle/>
                    <a:p>
                      <a:pPr>
                        <a:buNone/>
                      </a:pPr>
                      <a:r>
                        <a:rPr lang="en-AU" sz="900">
                          <a:effectLst/>
                        </a:rPr>
                        <a:t>Standard (1–5 Gbps is enough)</a:t>
                      </a:r>
                    </a:p>
                  </a:txBody>
                  <a:tcPr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462954605"/>
                  </a:ext>
                </a:extLst>
              </a:tr>
            </a:tbl>
          </a:graphicData>
        </a:graphic>
      </p:graphicFrame>
    </p:spTree>
    <p:extLst>
      <p:ext uri="{BB962C8B-B14F-4D97-AF65-F5344CB8AC3E}">
        <p14:creationId xmlns:p14="http://schemas.microsoft.com/office/powerpoint/2010/main" val="4237444820"/>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8.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9.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0.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1.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2.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3.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4.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5.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6.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7.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8.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9.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0.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1.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2.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3.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4.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5.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6.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7.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8.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9.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0.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1.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2.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3.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4.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5.xml><?xml version="1.0" encoding="utf-8"?>
<a:themeOverride xmlns:a="http://schemas.openxmlformats.org/drawingml/2006/main">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36</Slides>
  <Notes>21</Notes>
  <HiddenSlides>0</HiddenSlide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1</cp:revision>
  <dcterms:created xsi:type="dcterms:W3CDTF">2013-01-27T09:14:16Z</dcterms:created>
  <dcterms:modified xsi:type="dcterms:W3CDTF">2026-07-09T20:59:32Z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555cfae-cb2a-4680-b088-01ee30167f3b_Enabled">
    <vt:lpwstr>true</vt:lpwstr>
  </property>
  <property fmtid="{D5CDD505-2E9C-101B-9397-08002B2CF9AE}" pid="3" name="MSIP_Label_6555cfae-cb2a-4680-b088-01ee30167f3b_SetDate">
    <vt:lpwstr>2026-06-07T03:39:29Z</vt:lpwstr>
  </property>
  <property fmtid="{D5CDD505-2E9C-101B-9397-08002B2CF9AE}" pid="4" name="MSIP_Label_6555cfae-cb2a-4680-b088-01ee30167f3b_Method">
    <vt:lpwstr>Privileged</vt:lpwstr>
  </property>
  <property fmtid="{D5CDD505-2E9C-101B-9397-08002B2CF9AE}" pid="5" name="MSIP_Label_6555cfae-cb2a-4680-b088-01ee30167f3b_Name">
    <vt:lpwstr>General Business</vt:lpwstr>
  </property>
  <property fmtid="{D5CDD505-2E9C-101B-9397-08002B2CF9AE}" pid="6" name="MSIP_Label_6555cfae-cb2a-4680-b088-01ee30167f3b_SiteId">
    <vt:lpwstr>57c64fd4-66ca-49f5-ab38-2e67ef58e724</vt:lpwstr>
  </property>
  <property fmtid="{D5CDD505-2E9C-101B-9397-08002B2CF9AE}" pid="7" name="MSIP_Label_6555cfae-cb2a-4680-b088-01ee30167f3b_ActionId">
    <vt:lpwstr>18129918-4301-4a28-8a40-3c58cf573381</vt:lpwstr>
  </property>
  <property fmtid="{D5CDD505-2E9C-101B-9397-08002B2CF9AE}" pid="8" name="MSIP_Label_6555cfae-cb2a-4680-b088-01ee30167f3b_ContentBits">
    <vt:lpwstr>0</vt:lpwstr>
  </property>
  <property fmtid="{D5CDD505-2E9C-101B-9397-08002B2CF9AE}" pid="9" name="MSIP_Label_6555cfae-cb2a-4680-b088-01ee30167f3b_Tag">
    <vt:lpwstr>10, 0, 1, 1</vt:lpwstr>
  </property>
</Properties>
</file>